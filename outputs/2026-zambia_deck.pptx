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Rapid-cycle approaches using routine health management information system (HMIS) data can be used to:</a:t>
            </a:r>
          </a:p>
          <a:p>
            <a:pPr>
              <a:spcAft>
                <a:spcPts val="800"/>
              </a:spcAft>
            </a:pPr>
            <a:r>
              <a:rPr sz="1800">
                <a:solidFill>
                  <a:srgbClr val="D0CB17"/>
                </a:solidFill>
                <a:latin typeface="Calibri"/>
              </a:rPr>
              <a:t>• </a:t>
            </a:r>
            <a:r>
              <a:rPr sz="1800" b="1">
                <a:solidFill>
                  <a:srgbClr val="21568C"/>
                </a:solidFill>
                <a:latin typeface="Calibri"/>
              </a:rPr>
              <a:t>Evaluate the quality of HMIS data</a:t>
            </a:r>
            <a:r>
              <a:rPr sz="1800">
                <a:solidFill>
                  <a:srgbClr val="2C3E50"/>
                </a:solidFill>
                <a:latin typeface="Calibri"/>
              </a:rPr>
              <a:t> both at the national and sub-national levels to help address gaps in quality and completeness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the utilization of critical health services, enabling a rapid response to challenges and the opportunity to gain insights on the progress of reforms</a:t>
            </a:r>
          </a:p>
          <a:p>
            <a:pPr>
              <a:spcAft>
                <a:spcPts val="800"/>
              </a:spcAft>
            </a:pPr>
            <a:r>
              <a:rPr sz="1800">
                <a:solidFill>
                  <a:srgbClr val="D0CB17"/>
                </a:solidFill>
                <a:latin typeface="Calibri"/>
              </a:rPr>
              <a:t>• </a:t>
            </a:r>
            <a:r>
              <a:rPr sz="1800" b="1">
                <a:solidFill>
                  <a:srgbClr val="21568C"/>
                </a:solidFill>
                <a:latin typeface="Calibri"/>
              </a:rPr>
              <a:t>Compare service coverage trends</a:t>
            </a:r>
            <a:r>
              <a:rPr sz="1800">
                <a:solidFill>
                  <a:srgbClr val="2C3E50"/>
                </a:solidFill>
                <a:latin typeface="Calibri"/>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does it work?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has its own </a:t>
            </a:r>
            <a:r>
              <a:rPr sz="1800" b="1">
                <a:solidFill>
                  <a:srgbClr val="21568C"/>
                </a:solidFill>
                <a:latin typeface="Calibri"/>
              </a:rPr>
              <a:t>instance</a:t>
            </a:r>
            <a:r>
              <a:rPr sz="1800">
                <a:solidFill>
                  <a:srgbClr val="333333"/>
                </a:solidFill>
                <a:latin typeface="Calibri"/>
              </a:rPr>
              <a:t> of the FASTR analytics platform.</a:t>
            </a:r>
          </a:p>
          <a:p>
            <a:pPr>
              <a:spcAft>
                <a:spcPts val="1400"/>
              </a:spcAft>
            </a:pPr>
            <a:r>
              <a:rPr sz="1800">
                <a:solidFill>
                  <a:srgbClr val="333333"/>
                </a:solidFill>
                <a:latin typeface="Calibri"/>
              </a:rPr>
              <a:t>An instance contains:</a:t>
            </a:r>
          </a:p>
          <a:p>
            <a:pPr>
              <a:spcAft>
                <a:spcPts val="800"/>
              </a:spcAft>
            </a:pPr>
            <a:r>
              <a:rPr sz="1800">
                <a:solidFill>
                  <a:srgbClr val="D0CB17"/>
                </a:solidFill>
                <a:latin typeface="Calibri"/>
              </a:rPr>
              <a:t>• </a:t>
            </a:r>
            <a:r>
              <a:rPr sz="1800">
                <a:solidFill>
                  <a:srgbClr val="2C3E50"/>
                </a:solidFill>
                <a:latin typeface="Calibri"/>
              </a:rPr>
              <a:t>All registered users and their accounts</a:t>
            </a:r>
          </a:p>
          <a:p>
            <a:pPr>
              <a:spcAft>
                <a:spcPts val="800"/>
              </a:spcAft>
            </a:pPr>
            <a:r>
              <a:rPr sz="1800">
                <a:solidFill>
                  <a:srgbClr val="D0CB17"/>
                </a:solidFill>
                <a:latin typeface="Calibri"/>
              </a:rPr>
              <a:t>• </a:t>
            </a:r>
            <a:r>
              <a:rPr sz="1800">
                <a:solidFill>
                  <a:srgbClr val="2C3E50"/>
                </a:solidFill>
                <a:latin typeface="Calibri"/>
              </a:rPr>
              <a:t>The shared administrative structure (regions, districts, facilities)</a:t>
            </a:r>
          </a:p>
          <a:p>
            <a:pPr>
              <a:spcAft>
                <a:spcPts val="800"/>
              </a:spcAft>
            </a:pPr>
            <a:r>
              <a:rPr sz="1800">
                <a:solidFill>
                  <a:srgbClr val="D0CB17"/>
                </a:solidFill>
                <a:latin typeface="Calibri"/>
              </a:rPr>
              <a:t>• </a:t>
            </a:r>
            <a:r>
              <a:rPr sz="1800">
                <a:solidFill>
                  <a:srgbClr val="2C3E50"/>
                </a:solidFill>
                <a:latin typeface="Calibri"/>
              </a:rPr>
              <a:t>Indicator definitions and data sources</a:t>
            </a:r>
          </a:p>
          <a:p>
            <a:pPr>
              <a:spcAft>
                <a:spcPts val="800"/>
              </a:spcAft>
            </a:pPr>
            <a:r>
              <a:rPr sz="1800">
                <a:solidFill>
                  <a:srgbClr val="D0CB17"/>
                </a:solidFill>
                <a:latin typeface="Calibri"/>
              </a:rPr>
              <a:t>• </a:t>
            </a:r>
            <a:r>
              <a:rPr sz="1800">
                <a:solidFill>
                  <a:srgbClr val="2C3E50"/>
                </a:solidFill>
                <a:latin typeface="Calibri"/>
              </a:rPr>
              <a:t>All projects created for that country</a:t>
            </a:r>
          </a:p>
          <a:p>
            <a:pPr>
              <a:spcAft>
                <a:spcPts val="1400"/>
              </a:spcAft>
            </a:pPr>
            <a:r>
              <a:rPr sz="1800" b="1">
                <a:solidFill>
                  <a:srgbClr val="21568C"/>
                </a:solidFill>
                <a:latin typeface="Calibri"/>
              </a:rPr>
              <a:t>Think of an instance as your country's dedicated workspace.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There are two levels of permissions in the platform:</a:t>
            </a:r>
          </a:p>
          <a:p>
            <a:pPr>
              <a:spcAft>
                <a:spcPts val="1400"/>
              </a:spcAft>
            </a:pPr>
            <a:r>
              <a:rPr sz="1800" b="1">
                <a:solidFill>
                  <a:srgbClr val="21568C"/>
                </a:solidFill>
                <a:latin typeface="Calibri"/>
              </a:rPr>
              <a:t>Instance-level roles:</a:t>
            </a:r>
          </a:p>
          <a:p>
            <a:pPr>
              <a:spcAft>
                <a:spcPts val="800"/>
              </a:spcAft>
            </a:pPr>
            <a:r>
              <a:rPr sz="1800">
                <a:solidFill>
                  <a:srgbClr val="D0CB17"/>
                </a:solidFill>
                <a:latin typeface="Calibri"/>
              </a:rPr>
              <a:t>• </a:t>
            </a:r>
            <a:r>
              <a:rPr sz="1800" b="1">
                <a:solidFill>
                  <a:srgbClr val="21568C"/>
                </a:solidFill>
                <a:latin typeface="Calibri"/>
              </a:rPr>
              <a:t>Instance Administrators</a:t>
            </a:r>
            <a:r>
              <a:rPr sz="1800">
                <a:solidFill>
                  <a:srgbClr val="2C3E50"/>
                </a:solidFill>
                <a:latin typeface="Calibri"/>
              </a:rPr>
              <a:t> can add users, create projects, assign roles, upload data, import and configure modules, and run analyses</a:t>
            </a:r>
          </a:p>
          <a:p>
            <a:pPr>
              <a:spcAft>
                <a:spcPts val="1400"/>
              </a:spcAft>
            </a:pPr>
            <a:r>
              <a:rPr sz="1800" b="1">
                <a:solidFill>
                  <a:srgbClr val="21568C"/>
                </a:solidFill>
                <a:latin typeface="Calibri"/>
              </a:rPr>
              <a:t>Project-level roles:</a:t>
            </a:r>
          </a:p>
          <a:p>
            <a:pPr>
              <a:spcAft>
                <a:spcPts val="800"/>
              </a:spcAft>
            </a:pPr>
            <a:r>
              <a:rPr sz="1800">
                <a:solidFill>
                  <a:srgbClr val="D0CB17"/>
                </a:solidFill>
                <a:latin typeface="Calibri"/>
              </a:rPr>
              <a:t>• </a:t>
            </a:r>
            <a:r>
              <a:rPr sz="1800" b="1">
                <a:solidFill>
                  <a:srgbClr val="21568C"/>
                </a:solidFill>
                <a:latin typeface="Calibri"/>
              </a:rPr>
              <a:t>Project Editors</a:t>
            </a:r>
            <a:r>
              <a:rPr sz="1800">
                <a:solidFill>
                  <a:srgbClr val="2C3E50"/>
                </a:solidFill>
                <a:latin typeface="Calibri"/>
              </a:rPr>
              <a:t> can create visualizations, create reports, and download/export results</a:t>
            </a:r>
          </a:p>
          <a:p>
            <a:pPr>
              <a:spcAft>
                <a:spcPts val="800"/>
              </a:spcAft>
            </a:pPr>
            <a:r>
              <a:rPr sz="1800">
                <a:solidFill>
                  <a:srgbClr val="D0CB17"/>
                </a:solidFill>
                <a:latin typeface="Calibri"/>
              </a:rPr>
              <a:t>• </a:t>
            </a:r>
            <a:r>
              <a:rPr sz="1800" b="1">
                <a:solidFill>
                  <a:srgbClr val="21568C"/>
                </a:solidFill>
                <a:latin typeface="Calibri"/>
              </a:rPr>
              <a:t>Project Viewers</a:t>
            </a:r>
            <a:r>
              <a:rPr sz="1800">
                <a:solidFill>
                  <a:srgbClr val="2C3E50"/>
                </a:solidFill>
                <a:latin typeface="Calibri"/>
              </a:rPr>
              <a:t> can view visualizations, view reports, and download/export results</a:t>
            </a:r>
          </a:p>
          <a:p>
            <a:pPr>
              <a:spcAft>
                <a:spcPts val="1400"/>
              </a:spcAft>
            </a:pPr>
            <a:r>
              <a:rPr sz="1800" i="1">
                <a:solidFill>
                  <a:srgbClr val="1F9A9C"/>
                </a:solidFill>
                <a:latin typeface="Calibri"/>
              </a:rPr>
              <a:t>Administrators are assigned per instance; Editors and Viewers are assigned per project.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instance can contain </a:t>
            </a:r>
            <a:r>
              <a:rPr sz="1800" b="1">
                <a:solidFill>
                  <a:srgbClr val="21568C"/>
                </a:solidFill>
                <a:latin typeface="Calibri"/>
              </a:rPr>
              <a:t>multiple projects</a:t>
            </a:r>
            <a:r>
              <a:rPr sz="1800">
                <a:solidFill>
                  <a:srgbClr val="333333"/>
                </a:solidFill>
                <a:latin typeface="Calibri"/>
              </a:rPr>
              <a:t>.</a:t>
            </a:r>
          </a:p>
          <a:p>
            <a:pPr>
              <a:spcAft>
                <a:spcPts val="1400"/>
              </a:spcAft>
            </a:pPr>
            <a:r>
              <a:rPr sz="1800">
                <a:solidFill>
                  <a:srgbClr val="333333"/>
                </a:solidFill>
                <a:latin typeface="Calibri"/>
              </a:rPr>
              <a:t>A country may only need one project, or multiple projects can be used for:</a:t>
            </a:r>
          </a:p>
          <a:p>
            <a:pPr>
              <a:spcAft>
                <a:spcPts val="800"/>
              </a:spcAft>
            </a:pPr>
            <a:r>
              <a:rPr sz="1800">
                <a:solidFill>
                  <a:srgbClr val="D0CB17"/>
                </a:solidFill>
                <a:latin typeface="Calibri"/>
              </a:rPr>
              <a:t>• </a:t>
            </a:r>
            <a:r>
              <a:rPr sz="1800">
                <a:solidFill>
                  <a:srgbClr val="2C3E50"/>
                </a:solidFill>
                <a:latin typeface="Calibri"/>
              </a:rPr>
              <a:t>Different versions of analyses</a:t>
            </a:r>
          </a:p>
          <a:p>
            <a:pPr>
              <a:spcAft>
                <a:spcPts val="800"/>
              </a:spcAft>
            </a:pPr>
            <a:r>
              <a:rPr sz="1800">
                <a:solidFill>
                  <a:srgbClr val="D0CB17"/>
                </a:solidFill>
                <a:latin typeface="Calibri"/>
              </a:rPr>
              <a:t>• </a:t>
            </a:r>
            <a:r>
              <a:rPr sz="1800">
                <a:solidFill>
                  <a:srgbClr val="2C3E50"/>
                </a:solidFill>
                <a:latin typeface="Calibri"/>
              </a:rPr>
              <a:t>A demo or playground project</a:t>
            </a:r>
          </a:p>
          <a:p>
            <a:pPr>
              <a:spcAft>
                <a:spcPts val="800"/>
              </a:spcAft>
            </a:pPr>
            <a:r>
              <a:rPr sz="1800">
                <a:solidFill>
                  <a:srgbClr val="D0CB17"/>
                </a:solidFill>
                <a:latin typeface="Calibri"/>
              </a:rPr>
              <a:t>• </a:t>
            </a:r>
            <a:r>
              <a:rPr sz="1800">
                <a:solidFill>
                  <a:srgbClr val="2C3E50"/>
                </a:solidFill>
                <a:latin typeface="Calibri"/>
              </a:rPr>
              <a:t>Separate projects for different teams or programs</a:t>
            </a:r>
          </a:p>
          <a:p>
            <a:pPr>
              <a:spcAft>
                <a:spcPts val="1400"/>
              </a:spcAft>
            </a:pPr>
            <a:r>
              <a:rPr sz="1800" b="1">
                <a:solidFill>
                  <a:srgbClr val="21568C"/>
                </a:solidFill>
                <a:latin typeface="Calibri"/>
              </a:rPr>
              <a:t>Key questions when setting up:</a:t>
            </a:r>
          </a:p>
          <a:p>
            <a:pPr>
              <a:spcAft>
                <a:spcPts val="800"/>
              </a:spcAft>
            </a:pPr>
            <a:r>
              <a:rPr sz="1800">
                <a:solidFill>
                  <a:srgbClr val="D0CB17"/>
                </a:solidFill>
                <a:latin typeface="Calibri"/>
              </a:rPr>
              <a:t>• </a:t>
            </a:r>
            <a:r>
              <a:rPr sz="1800">
                <a:solidFill>
                  <a:srgbClr val="2C3E50"/>
                </a:solidFill>
                <a:latin typeface="Calibri"/>
              </a:rPr>
              <a:t>Who is the admin?</a:t>
            </a:r>
          </a:p>
          <a:p>
            <a:pPr>
              <a:spcAft>
                <a:spcPts val="800"/>
              </a:spcAft>
            </a:pPr>
            <a:r>
              <a:rPr sz="1800">
                <a:solidFill>
                  <a:srgbClr val="D0CB17"/>
                </a:solidFill>
                <a:latin typeface="Calibri"/>
              </a:rPr>
              <a:t>• </a:t>
            </a:r>
            <a:r>
              <a:rPr sz="1800">
                <a:solidFill>
                  <a:srgbClr val="2C3E50"/>
                </a:solidFill>
                <a:latin typeface="Calibri"/>
              </a:rPr>
              <a:t>Who can edit?</a:t>
            </a:r>
          </a:p>
          <a:p>
            <a:pPr>
              <a:spcAft>
                <a:spcPts val="800"/>
              </a:spcAft>
            </a:pPr>
            <a:r>
              <a:rPr sz="1800">
                <a:solidFill>
                  <a:srgbClr val="D0CB17"/>
                </a:solidFill>
                <a:latin typeface="Calibri"/>
              </a:rPr>
              <a:t>• </a:t>
            </a:r>
            <a:r>
              <a:rPr sz="1800">
                <a:solidFill>
                  <a:srgbClr val="2C3E50"/>
                </a:solidFill>
                <a:latin typeface="Calibri"/>
              </a:rPr>
              <a:t>Who can 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Steps:</a:t>
            </a:r>
          </a:p>
          <a:p>
            <a:pPr>
              <a:spcAft>
                <a:spcPts val="800"/>
              </a:spcAft>
            </a:pPr>
            <a:r>
              <a:rPr sz="1800">
                <a:solidFill>
                  <a:srgbClr val="D0CB17"/>
                </a:solidFill>
                <a:latin typeface="Calibri"/>
              </a:rPr>
              <a:t>• </a:t>
            </a:r>
            <a:r>
              <a:rPr sz="1800">
                <a:solidFill>
                  <a:srgbClr val="2C3E50"/>
                </a:solidFill>
                <a:latin typeface="Calibri"/>
              </a:rPr>
              <a:t>Go to your country analytics platform URL</a:t>
            </a:r>
          </a:p>
          <a:p>
            <a:pPr>
              <a:spcAft>
                <a:spcPts val="800"/>
              </a:spcAft>
            </a:pPr>
            <a:r>
              <a:rPr sz="1800">
                <a:solidFill>
                  <a:srgbClr val="D0CB17"/>
                </a:solidFill>
                <a:latin typeface="Calibri"/>
              </a:rPr>
              <a:t>• </a:t>
            </a:r>
            <a:r>
              <a:rPr sz="1800">
                <a:solidFill>
                  <a:srgbClr val="2C3E50"/>
                </a:solidFill>
                <a:latin typeface="Calibri"/>
              </a:rPr>
              <a:t>Click </a:t>
            </a:r>
            <a:r>
              <a:rPr sz="1800" b="1">
                <a:solidFill>
                  <a:srgbClr val="21568C"/>
                </a:solidFill>
                <a:latin typeface="Calibri"/>
              </a:rPr>
              <a:t>Sign up</a:t>
            </a:r>
            <a:r>
              <a:rPr sz="1800">
                <a:solidFill>
                  <a:srgbClr val="2C3E50"/>
                </a:solidFill>
                <a:latin typeface="Calibri"/>
              </a:rPr>
              <a:t> to create an account</a:t>
            </a:r>
          </a:p>
          <a:p>
            <a:pPr>
              <a:spcAft>
                <a:spcPts val="800"/>
              </a:spcAft>
            </a:pPr>
            <a:r>
              <a:rPr sz="1800">
                <a:solidFill>
                  <a:srgbClr val="D0CB17"/>
                </a:solidFill>
                <a:latin typeface="Calibri"/>
              </a:rPr>
              <a:t>• </a:t>
            </a:r>
            <a:r>
              <a:rPr sz="1800">
                <a:solidFill>
                  <a:srgbClr val="2C3E50"/>
                </a:solidFill>
                <a:latin typeface="Calibri"/>
              </a:rPr>
              <a:t>Enter your information (you may need to verify your email)</a:t>
            </a:r>
          </a:p>
          <a:p>
            <a:pPr>
              <a:spcAft>
                <a:spcPts val="800"/>
              </a:spcAft>
            </a:pPr>
            <a:r>
              <a:rPr sz="1800">
                <a:solidFill>
                  <a:srgbClr val="D0CB17"/>
                </a:solidFill>
                <a:latin typeface="Calibri"/>
              </a:rPr>
              <a:t>• </a:t>
            </a:r>
            <a:r>
              <a:rPr sz="1800">
                <a:solidFill>
                  <a:srgbClr val="2C3E50"/>
                </a:solidFill>
                <a:latin typeface="Calibri"/>
              </a:rPr>
              <a:t>After logging in, you will initially see a blank page with no projects</a:t>
            </a:r>
          </a:p>
          <a:p>
            <a:pPr>
              <a:spcAft>
                <a:spcPts val="800"/>
              </a:spcAft>
            </a:pPr>
            <a:r>
              <a:rPr sz="1800">
                <a:solidFill>
                  <a:srgbClr val="D0CB17"/>
                </a:solidFill>
                <a:latin typeface="Calibri"/>
              </a:rPr>
              <a:t>• </a:t>
            </a:r>
            <a:r>
              <a:rPr sz="1800">
                <a:solidFill>
                  <a:srgbClr val="2C3E50"/>
                </a:solidFill>
                <a:latin typeface="Calibri"/>
              </a:rPr>
              <a:t>You will be added to the group project for today's session</a:t>
            </a:r>
          </a:p>
          <a:p>
            <a:pPr>
              <a:spcAft>
                <a:spcPts val="1400"/>
              </a:spcAft>
            </a:pPr>
            <a:r>
              <a:rPr sz="1800" i="1">
                <a:solidFill>
                  <a:srgbClr val="1F9A9C"/>
                </a:solidFill>
                <a:latin typeface="Calibri"/>
              </a:rPr>
              <a:t>Facilitator will provide the platform URL and assist with login.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(district)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