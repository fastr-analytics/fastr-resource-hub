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926080"/>
            <a:ext cx="10362895" cy="1097280"/>
          </a:xfrm>
          <a:prstGeom prst="rect">
            <a:avLst/>
          </a:prstGeom>
          <a:noFill/>
        </p:spPr>
        <p:txBody>
          <a:bodyPr wrap="square"/>
          <a:lstStyle/>
          <a:p>
            <a:pPr algn="ctr">
              <a:defRPr sz="2800" b="1" i="0">
                <a:solidFill>
                  <a:srgbClr val="FFFFFF"/>
                </a:solidFill>
                <a:latin typeface="Poppins"/>
              </a:defRPr>
            </a:pPr>
            <a:r>
              <a:t>{{TITLE}}</a:t>
            </a:r>
          </a:p>
        </p:txBody>
      </p:sp>
      <p:sp>
        <p:nvSpPr>
          <p:cNvPr id="4" name="Rectangle 3"/>
          <p:cNvSpPr/>
          <p:nvPr/>
        </p:nvSpPr>
        <p:spPr>
          <a:xfrm>
            <a:off x="2743200" y="4114800"/>
            <a:ext cx="6705295"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Welcome and Opening Remarks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ecture.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Introductions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ople_group.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objectives of the workshop are to:</a:t>
            </a:r>
          </a:p>
          <a:p>
            <a:pPr>
              <a:spcAft>
                <a:spcPts val="800"/>
              </a:spcAft>
            </a:pPr>
            <a:r>
              <a:rPr sz="1800">
                <a:solidFill>
                  <a:srgbClr val="D0CB17"/>
                </a:solidFill>
                <a:latin typeface="Poppins"/>
              </a:rPr>
              <a:t>• </a:t>
            </a:r>
            <a:r>
              <a:rPr sz="1800" b="1">
                <a:solidFill>
                  <a:srgbClr val="21568C"/>
                </a:solidFill>
                <a:latin typeface="Poppins"/>
              </a:rPr>
              <a:t>Introduce the FASTR HMIS analysis platform</a:t>
            </a:r>
            <a:r>
              <a:rPr sz="1800">
                <a:solidFill>
                  <a:srgbClr val="2C3E50"/>
                </a:solidFill>
                <a:latin typeface="Poppins"/>
              </a:rPr>
              <a:t> - Familiarize participants with the platform's purpose, core features, and functionalities, including workflows, reporting options, and outputs</a:t>
            </a:r>
          </a:p>
          <a:p>
            <a:pPr>
              <a:spcAft>
                <a:spcPts val="800"/>
              </a:spcAft>
            </a:pPr>
            <a:r>
              <a:rPr sz="1800">
                <a:solidFill>
                  <a:srgbClr val="D0CB17"/>
                </a:solidFill>
                <a:latin typeface="Poppins"/>
              </a:rPr>
              <a:t>• </a:t>
            </a:r>
            <a:r>
              <a:rPr sz="1800" b="1">
                <a:solidFill>
                  <a:srgbClr val="21568C"/>
                </a:solidFill>
                <a:latin typeface="Poppins"/>
              </a:rPr>
              <a:t>Strengthen analytical and reporting skills</a:t>
            </a:r>
            <a:r>
              <a:rPr sz="1800">
                <a:solidFill>
                  <a:srgbClr val="2C3E50"/>
                </a:solidFill>
                <a:latin typeface="Poppins"/>
              </a:rPr>
              <a:t> - Enhance participants' capacity to manage data structures, customize visualizations, and produce tailored reports for diverse audiences</a:t>
            </a:r>
          </a:p>
          <a:p>
            <a:pPr>
              <a:spcAft>
                <a:spcPts val="800"/>
              </a:spcAft>
            </a:pPr>
            <a:r>
              <a:rPr sz="1800">
                <a:solidFill>
                  <a:srgbClr val="D0CB17"/>
                </a:solidFill>
                <a:latin typeface="Poppins"/>
              </a:rPr>
              <a:t>• </a:t>
            </a:r>
            <a:r>
              <a:rPr sz="1800" b="1">
                <a:solidFill>
                  <a:srgbClr val="21568C"/>
                </a:solidFill>
                <a:latin typeface="Poppins"/>
              </a:rPr>
              <a:t>Prepare MoH for participation in the multi-country workshop</a:t>
            </a:r>
            <a:r>
              <a:rPr sz="1800">
                <a:solidFill>
                  <a:srgbClr val="2C3E50"/>
                </a:solidFill>
                <a:latin typeface="Poppins"/>
              </a:rPr>
              <a:t> - Configure the FASTR analytics platform for Zambia; Produce the first quarterly report</a:t>
            </a:r>
          </a:p>
          <a:p>
            <a:pPr>
              <a:spcAft>
                <a:spcPts val="800"/>
              </a:spcAft>
            </a:pPr>
            <a:r>
              <a:rPr sz="1800">
                <a:solidFill>
                  <a:srgbClr val="D0CB17"/>
                </a:solidFill>
                <a:latin typeface="Poppins"/>
              </a:rPr>
              <a:t>• </a:t>
            </a:r>
            <a:r>
              <a:rPr sz="1800" b="1">
                <a:solidFill>
                  <a:srgbClr val="21568C"/>
                </a:solidFill>
                <a:latin typeface="Poppins"/>
              </a:rPr>
              <a:t>Adapt the FASTR phone survey questionnaire to the Zambian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Expectations for the Workshop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inned-notes.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Write on a sticky note and stick it on the flip chart:</a:t>
            </a:r>
          </a:p>
          <a:p>
            <a:pPr>
              <a:spcAft>
                <a:spcPts val="1000"/>
              </a:spcAft>
            </a:pPr>
            <a:r>
              <a:rPr sz="1800">
                <a:solidFill>
                  <a:srgbClr val="333333"/>
                </a:solidFill>
                <a:latin typeface="Poppins"/>
              </a:rPr>
              <a:t>What do you want to learn?</a:t>
            </a:r>
          </a:p>
          <a:p>
            <a:pPr>
              <a:spcAft>
                <a:spcPts val="1000"/>
              </a:spcAft>
            </a:pPr>
            <a:r>
              <a:rPr sz="1800">
                <a:solidFill>
                  <a:srgbClr val="333333"/>
                </a:solidFill>
                <a:latin typeface="Poppins"/>
              </a:rPr>
              <a:t>What questions about FASTR do you want answered?</a:t>
            </a:r>
          </a:p>
          <a:p>
            <a:pPr>
              <a:spcAft>
                <a:spcPts val="1000"/>
              </a:spcAft>
            </a:pPr>
            <a:r>
              <a:rPr sz="1800" i="1">
                <a:solidFill>
                  <a:srgbClr val="1F9A9C"/>
                </a:solidFill>
                <a:latin typeface="Poppins"/>
              </a:rPr>
              <a:t>We will review these on day 4 to see if we met our expectations.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a:p>
            <a:pPr>
              <a:spcAft>
                <a:spcPts val="1400"/>
              </a:spcAft>
            </a:pPr>
            <a:r>
              <a:rPr sz="1800" b="1">
                <a:solidFill>
                  <a:srgbClr val="21568C"/>
                </a:solidFill>
                <a:latin typeface="Poppins"/>
              </a:rP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512064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Workshop objectives and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09:35-10:15</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Identifying priority questions and indicators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10:15-11:00</a:t>
                      </a:r>
                    </a:p>
                  </a:txBody>
                  <a:tcPr/>
                </a:tc>
                <a:tc>
                  <a:txBody>
                    <a:bodyPr wrap="square"/>
                    <a:lstStyle/>
                    <a:p>
                      <a:r>
                        <a:rPr sz="1200">
                          <a:solidFill>
                            <a:srgbClr val="2C3E50"/>
                          </a:solidFill>
                          <a:latin typeface="Poppins"/>
                        </a:rPr>
                        <a:t>Identifying priority questions and indicators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11:00-12:00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Getting into the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12:00-12:30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5: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Closing</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16:00-16:30</a:t>
                      </a:r>
                    </a:p>
                  </a:txBody>
                  <a:tcPr/>
                </a:tc>
                <a:tc>
                  <a:txBody>
                    <a:bodyPr wrap="square"/>
                    <a:lstStyle/>
                    <a:p>
                      <a:r>
                        <a:rPr sz="1200">
                          <a:solidFill>
                            <a:srgbClr val="2C3E50"/>
                          </a:solidFill>
                          <a:latin typeface="Poppins"/>
                        </a:rPr>
                        <a:t>Reflections from participants</a:t>
                      </a:r>
                    </a:p>
                  </a:txBody>
                  <a:tcPr/>
                </a:tc>
                <a:tc>
                  <a:txBody>
                    <a:bodyPr wrap="square"/>
                    <a:lstStyle/>
                    <a:p>
                      <a:r>
                        <a:rPr sz="1200">
                          <a:solidFill>
                            <a:srgbClr val="2C3E50"/>
                          </a:solidFill>
                          <a:latin typeface="Poppins"/>
                        </a:rPr>
                        <a:t>Participants</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 Overview of the FASTR approach</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are we trying to achieve?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pid_cycle_analytics.png"/>
          <p:cNvPicPr>
            <a:picLocks noChangeAspect="1"/>
          </p:cNvPicPr>
          <p:nvPr/>
        </p:nvPicPr>
        <p:blipFill>
          <a:blip r:embed="rId2"/>
          <a:stretch>
            <a:fillRect/>
          </a:stretch>
        </p:blipFill>
        <p:spPr>
          <a:xfrm>
            <a:off x="1523847" y="1371600"/>
            <a:ext cx="9144000" cy="4042872"/>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Rapid cycle analytics accelerates improvements in RMNCAH-N outcomes by increasing the systematic use of data for decision 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can this be achieved?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echnical-Rapid-cycle-analytics--V3.png"/>
          <p:cNvPicPr>
            <a:picLocks noChangeAspect="1"/>
          </p:cNvPicPr>
          <p:nvPr/>
        </p:nvPicPr>
        <p:blipFill>
          <a:blip r:embed="rId2"/>
          <a:stretch>
            <a:fillRect/>
          </a:stretch>
        </p:blipFill>
        <p:spPr>
          <a:xfrm>
            <a:off x="1523847" y="1371600"/>
            <a:ext cx="9144000" cy="4739148"/>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Timely, rigorous, and low-cost approaches to monitoring PHC systems, underpinned by capacity building and data use support aligned with country demand and needs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hat_is_fastr.png"/>
          <p:cNvPicPr>
            <a:picLocks noChangeAspect="1"/>
          </p:cNvPicPr>
          <p:nvPr/>
        </p:nvPicPr>
        <p:blipFill>
          <a:blip r:embed="rId2"/>
          <a:stretch>
            <a:fillRect/>
          </a:stretch>
        </p:blipFill>
        <p:spPr>
          <a:xfrm>
            <a:off x="1523847" y="1371600"/>
            <a:ext cx="9144000" cy="603315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An approach to catalyzing continuous 'analyze, learn, strengthen, act' cycles to drive the systematic use of timely data for decision making.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the FASTR approach to 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Quarterly analyses of DHIS2 data, focusing on prioritized national indicators</a:t>
            </a:r>
          </a:p>
          <a:p>
            <a:pPr>
              <a:spcAft>
                <a:spcPts val="1200"/>
              </a:spcAft>
            </a:pPr>
            <a:r>
              <a:rPr sz="1800">
                <a:solidFill>
                  <a:srgbClr val="333333"/>
                </a:solidFill>
                <a:latin typeface="Poppins"/>
              </a:rPr>
              <a:t>Building sustainable tools to ensure that stakeholders who need to use data can generate the right analysis and visualizations, at the right time, on their indicators of interest</a:t>
            </a:r>
          </a:p>
          <a:p>
            <a:pPr>
              <a:spcAft>
                <a:spcPts val="1200"/>
              </a:spcAft>
            </a:pPr>
            <a:r>
              <a:rPr sz="1800">
                <a:solidFill>
                  <a:srgbClr val="333333"/>
                </a:solidFill>
                <a:latin typeface="Poppins"/>
              </a:rPr>
              <a:t>Combining analysis and visualization with capacity strengthening and data use support for sustainability and institutionalization</a:t>
            </a:r>
          </a:p>
        </p:txBody>
      </p:sp>
      <p:pic>
        <p:nvPicPr>
          <p:cNvPr id="5" name="Picture 4" descr="Steps to implement RMNCAH-N service chart.png"/>
          <p:cNvPicPr>
            <a:picLocks noChangeAspect="1"/>
          </p:cNvPicPr>
          <p:nvPr/>
        </p:nvPicPr>
        <p:blipFill>
          <a:blip r:embed="rId2"/>
          <a:stretch>
            <a:fillRect/>
          </a:stretch>
        </p:blipFill>
        <p:spPr>
          <a:xfrm>
            <a:off x="5029200" y="1280160"/>
            <a:ext cx="6400800" cy="726226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Demo – FASTR analysis platform</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2: Identifying priority questions and indicators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a data use case?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data use case is a specific scenario where data is utilized to achieve a particular goal or solve a problem.</a:t>
            </a:r>
          </a:p>
          <a:p>
            <a:pPr>
              <a:spcAft>
                <a:spcPts val="1400"/>
              </a:spcAft>
            </a:pPr>
            <a:r>
              <a:rPr sz="1800" b="1">
                <a:solidFill>
                  <a:srgbClr val="21568C"/>
                </a:solidFill>
                <a:latin typeface="Poppins"/>
              </a:rPr>
              <a:t>Why is defining a data use case important?</a:t>
            </a:r>
          </a:p>
          <a:p>
            <a:pPr>
              <a:spcAft>
                <a:spcPts val="800"/>
              </a:spcAft>
            </a:pPr>
            <a:r>
              <a:rPr sz="1800">
                <a:solidFill>
                  <a:srgbClr val="D0CB17"/>
                </a:solidFill>
                <a:latin typeface="Poppins"/>
              </a:rPr>
              <a:t>• </a:t>
            </a:r>
            <a:r>
              <a:rPr sz="1800">
                <a:solidFill>
                  <a:srgbClr val="2C3E50"/>
                </a:solidFill>
                <a:latin typeface="Poppins"/>
              </a:rPr>
              <a:t>Guides decision making by providing a clear framework for analysis</a:t>
            </a:r>
          </a:p>
          <a:p>
            <a:pPr>
              <a:spcAft>
                <a:spcPts val="800"/>
              </a:spcAft>
            </a:pPr>
            <a:r>
              <a:rPr sz="1800">
                <a:solidFill>
                  <a:srgbClr val="D0CB17"/>
                </a:solidFill>
                <a:latin typeface="Poppins"/>
              </a:rPr>
              <a:t>• </a:t>
            </a:r>
            <a:r>
              <a:rPr sz="1800">
                <a:solidFill>
                  <a:srgbClr val="2C3E50"/>
                </a:solidFill>
                <a:latin typeface="Poppins"/>
              </a:rPr>
              <a:t>Enhances efficiency by focusing analyses on a set of relevant key indicators to solve a specific data need</a:t>
            </a:r>
          </a:p>
          <a:p>
            <a:pPr>
              <a:spcAft>
                <a:spcPts val="800"/>
              </a:spcAft>
            </a:pPr>
            <a:r>
              <a:rPr sz="1800">
                <a:solidFill>
                  <a:srgbClr val="D0CB17"/>
                </a:solidFill>
                <a:latin typeface="Poppins"/>
              </a:rPr>
              <a:t>• </a:t>
            </a:r>
            <a:r>
              <a:rPr sz="1800">
                <a:solidFill>
                  <a:srgbClr val="2C3E50"/>
                </a:solidFill>
                <a:latin typeface="Poppins"/>
              </a:rPr>
              <a:t>Leads to better results by aligning data efforts with organizational goals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use case: Application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 content to be added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our common data use case that will be the focus of this workshop?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Following large shifts in resource availability from external sources, many countries are experiencing abrupt and dramatic reductions in financing</a:t>
            </a:r>
          </a:p>
          <a:p>
            <a:pPr>
              <a:spcAft>
                <a:spcPts val="800"/>
              </a:spcAft>
            </a:pPr>
            <a:r>
              <a:rPr sz="1800">
                <a:solidFill>
                  <a:srgbClr val="D0CB17"/>
                </a:solidFill>
                <a:latin typeface="Poppins"/>
              </a:rPr>
              <a:t>• </a:t>
            </a:r>
            <a:r>
              <a:rPr sz="1800">
                <a:solidFill>
                  <a:srgbClr val="2C3E50"/>
                </a:solidFill>
                <a:latin typeface="Poppins"/>
              </a:rPr>
              <a:t>Resulting in critical gaps in programs and systems</a:t>
            </a:r>
          </a:p>
          <a:p>
            <a:pPr>
              <a:spcAft>
                <a:spcPts val="800"/>
              </a:spcAft>
            </a:pPr>
            <a:r>
              <a:rPr sz="1800">
                <a:solidFill>
                  <a:srgbClr val="D0CB17"/>
                </a:solidFill>
                <a:latin typeface="Poppins"/>
              </a:rPr>
              <a:t>• </a:t>
            </a:r>
            <a:r>
              <a:rPr sz="1800">
                <a:solidFill>
                  <a:srgbClr val="2C3E50"/>
                </a:solidFill>
                <a:latin typeface="Poppins"/>
              </a:rPr>
              <a:t>Leading to potentially severe effects on service delivery and health outcomes for women, children and adolescents</a:t>
            </a:r>
          </a:p>
          <a:p>
            <a:pPr>
              <a:spcAft>
                <a:spcPts val="1400"/>
              </a:spcAft>
            </a:pPr>
            <a:r>
              <a:rPr sz="1800" b="1">
                <a:solidFill>
                  <a:srgbClr val="21568C"/>
                </a:solidFill>
                <a:latin typeface="Poppins"/>
              </a:rPr>
              <a:t>Key questions arising:</a:t>
            </a:r>
          </a:p>
          <a:p>
            <a:pPr>
              <a:spcAft>
                <a:spcPts val="800"/>
              </a:spcAft>
            </a:pPr>
            <a:r>
              <a:rPr sz="1800">
                <a:solidFill>
                  <a:srgbClr val="D0CB17"/>
                </a:solidFill>
                <a:latin typeface="Poppins"/>
              </a:rPr>
              <a:t>• </a:t>
            </a:r>
            <a:r>
              <a:rPr sz="1800">
                <a:solidFill>
                  <a:srgbClr val="2C3E50"/>
                </a:solidFill>
                <a:latin typeface="Poppins"/>
              </a:rPr>
              <a:t>What is the magnitude of the cuts, and what effect are they having on service delivery?</a:t>
            </a:r>
          </a:p>
          <a:p>
            <a:pPr>
              <a:spcAft>
                <a:spcPts val="800"/>
              </a:spcAft>
            </a:pPr>
            <a:r>
              <a:rPr sz="1800">
                <a:solidFill>
                  <a:srgbClr val="D0CB17"/>
                </a:solidFill>
                <a:latin typeface="Poppins"/>
              </a:rPr>
              <a:t>• </a:t>
            </a:r>
            <a:r>
              <a:rPr sz="1800">
                <a:solidFill>
                  <a:srgbClr val="2C3E50"/>
                </a:solidFill>
                <a:latin typeface="Poppins"/>
              </a:rPr>
              <a:t>What is the optimal way to prioritize remaining resources?</a:t>
            </a:r>
          </a:p>
          <a:p>
            <a:pPr>
              <a:spcAft>
                <a:spcPts val="800"/>
              </a:spcAft>
            </a:pPr>
            <a:r>
              <a:rPr sz="1800">
                <a:solidFill>
                  <a:srgbClr val="D0CB17"/>
                </a:solidFill>
                <a:latin typeface="Poppins"/>
              </a:rPr>
              <a:t>• </a:t>
            </a:r>
            <a:r>
              <a:rPr sz="1800">
                <a:solidFill>
                  <a:srgbClr val="2C3E50"/>
                </a:solidFill>
                <a:latin typeface="Poppins"/>
              </a:rPr>
              <a:t>What other adaptations can safeguard and strengthen essential service delivery for women, children and adolescents?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do we select indicators? What makes a good indicator for the FASTR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 selection is critical to the quality and usefulness of FASTR analysis. Indicators should be chosen based on the following criteria:</a:t>
            </a:r>
          </a:p>
          <a:p>
            <a:pPr>
              <a:spcAft>
                <a:spcPts val="800"/>
              </a:spcAft>
            </a:pPr>
            <a:r>
              <a:rPr sz="1800">
                <a:solidFill>
                  <a:srgbClr val="D0CB17"/>
                </a:solidFill>
                <a:latin typeface="Poppins"/>
              </a:rPr>
              <a:t>• </a:t>
            </a:r>
            <a:r>
              <a:rPr sz="1800" b="1">
                <a:solidFill>
                  <a:srgbClr val="21568C"/>
                </a:solidFill>
                <a:latin typeface="Poppins"/>
              </a:rPr>
              <a:t>Relevance</a:t>
            </a:r>
            <a:r>
              <a:rPr sz="1800">
                <a:solidFill>
                  <a:srgbClr val="2C3E50"/>
                </a:solidFill>
                <a:latin typeface="Poppins"/>
              </a:rPr>
              <a:t> - Does this indicator provide data that aligns with our priority questions and objectives?</a:t>
            </a:r>
          </a:p>
          <a:p>
            <a:pPr>
              <a:spcAft>
                <a:spcPts val="800"/>
              </a:spcAft>
            </a:pPr>
            <a:r>
              <a:rPr sz="1800">
                <a:solidFill>
                  <a:srgbClr val="D0CB17"/>
                </a:solidFill>
                <a:latin typeface="Poppins"/>
              </a:rPr>
              <a:t>• </a:t>
            </a:r>
            <a:r>
              <a:rPr sz="1800" b="1">
                <a:solidFill>
                  <a:srgbClr val="21568C"/>
                </a:solidFill>
                <a:latin typeface="Poppins"/>
              </a:rPr>
              <a:t>Volume</a:t>
            </a:r>
            <a:r>
              <a:rPr sz="1800">
                <a:solidFill>
                  <a:srgbClr val="2C3E50"/>
                </a:solidFill>
                <a:latin typeface="Poppins"/>
              </a:rPr>
              <a:t> - Is this indicator collected at a high volume, which improves the robustness of analysis?</a:t>
            </a:r>
          </a:p>
          <a:p>
            <a:pPr>
              <a:spcAft>
                <a:spcPts val="800"/>
              </a:spcAft>
            </a:pPr>
            <a:r>
              <a:rPr sz="1800">
                <a:solidFill>
                  <a:srgbClr val="D0CB17"/>
                </a:solidFill>
                <a:latin typeface="Poppins"/>
              </a:rPr>
              <a:t>• </a:t>
            </a:r>
            <a:r>
              <a:rPr sz="1800" b="1">
                <a:solidFill>
                  <a:srgbClr val="21568C"/>
                </a:solidFill>
                <a:latin typeface="Poppins"/>
              </a:rPr>
              <a:t>Completeness</a:t>
            </a:r>
            <a:r>
              <a:rPr sz="1800">
                <a:solidFill>
                  <a:srgbClr val="2C3E50"/>
                </a:solidFill>
                <a:latin typeface="Poppins"/>
              </a:rPr>
              <a:t> - Does the indicator have a high completeness rate across reporting facilities?</a:t>
            </a:r>
          </a:p>
          <a:p>
            <a:pPr>
              <a:spcAft>
                <a:spcPts val="800"/>
              </a:spcAft>
            </a:pPr>
            <a:r>
              <a:rPr sz="1800">
                <a:solidFill>
                  <a:srgbClr val="D0CB17"/>
                </a:solidFill>
                <a:latin typeface="Poppins"/>
              </a:rPr>
              <a:t>• </a:t>
            </a:r>
            <a:r>
              <a:rPr sz="1800" b="1">
                <a:solidFill>
                  <a:srgbClr val="21568C"/>
                </a:solidFill>
                <a:latin typeface="Poppins"/>
              </a:rPr>
              <a:t>Frequency</a:t>
            </a:r>
            <a:r>
              <a:rPr sz="1800">
                <a:solidFill>
                  <a:srgbClr val="2C3E50"/>
                </a:solidFill>
                <a:latin typeface="Poppins"/>
              </a:rPr>
              <a:t> - Is the indicator reported frequently enough (e.g., monthly) to support rapid-cycle analysis?</a:t>
            </a:r>
          </a:p>
          <a:p>
            <a:pPr>
              <a:spcAft>
                <a:spcPts val="800"/>
              </a:spcAft>
            </a:pPr>
            <a:r>
              <a:rPr sz="1800">
                <a:solidFill>
                  <a:srgbClr val="D0CB17"/>
                </a:solidFill>
                <a:latin typeface="Poppins"/>
              </a:rPr>
              <a:t>• </a:t>
            </a:r>
            <a:r>
              <a:rPr sz="1800" b="1">
                <a:solidFill>
                  <a:srgbClr val="21568C"/>
                </a:solidFill>
                <a:latin typeface="Poppins"/>
              </a:rPr>
              <a:t>Type</a:t>
            </a:r>
            <a:r>
              <a:rPr sz="1800">
                <a:solidFill>
                  <a:srgbClr val="2C3E50"/>
                </a:solidFill>
                <a:latin typeface="Poppins"/>
              </a:rPr>
              <a:t> - Is this indicator a count of services delivered?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core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approach focuses on a core set of RMNCAH-N indicators that represent key points along the reproductive, maternal, newborn, child, and adolescent health and nutrition continuum in low- and middle-income countries.</a:t>
            </a:r>
          </a:p>
          <a:p>
            <a:pPr>
              <a:spcAft>
                <a:spcPts val="1400"/>
              </a:spcAft>
            </a:pPr>
            <a:r>
              <a:rPr sz="1800">
                <a:solidFill>
                  <a:srgbClr val="333333"/>
                </a:solidFill>
                <a:latin typeface="Poppins"/>
              </a:rPr>
              <a:t>These indicators typically have higher reporting volumes and completeness and serve as proxies for broader service delivery patterns.</a:t>
            </a:r>
          </a:p>
          <a:p>
            <a:pPr>
              <a:spcAft>
                <a:spcPts val="800"/>
              </a:spcAft>
            </a:pPr>
            <a:r>
              <a:rPr sz="1800">
                <a:solidFill>
                  <a:srgbClr val="D0CB17"/>
                </a:solidFill>
                <a:latin typeface="Poppins"/>
              </a:rPr>
              <a:t>• </a:t>
            </a:r>
            <a:r>
              <a:rPr sz="1800">
                <a:solidFill>
                  <a:srgbClr val="2C3E50"/>
                </a:solidFill>
                <a:latin typeface="Poppins"/>
              </a:rPr>
              <a:t>Antenatal client 1st visit</a:t>
            </a:r>
          </a:p>
          <a:p>
            <a:pPr>
              <a:spcAft>
                <a:spcPts val="800"/>
              </a:spcAft>
            </a:pPr>
            <a:r>
              <a:rPr sz="1800">
                <a:solidFill>
                  <a:srgbClr val="D0CB17"/>
                </a:solidFill>
                <a:latin typeface="Poppins"/>
              </a:rPr>
              <a:t>• </a:t>
            </a:r>
            <a:r>
              <a:rPr sz="1800">
                <a:solidFill>
                  <a:srgbClr val="2C3E50"/>
                </a:solidFill>
                <a:latin typeface="Poppins"/>
              </a:rPr>
              <a:t>Antenatal client 4th visit</a:t>
            </a:r>
          </a:p>
          <a:p>
            <a:pPr>
              <a:spcAft>
                <a:spcPts val="800"/>
              </a:spcAft>
            </a:pPr>
            <a:r>
              <a:rPr sz="1800">
                <a:solidFill>
                  <a:srgbClr val="D0CB17"/>
                </a:solidFill>
                <a:latin typeface="Poppins"/>
              </a:rPr>
              <a:t>• </a:t>
            </a:r>
            <a:r>
              <a:rPr sz="1800">
                <a:solidFill>
                  <a:srgbClr val="2C3E50"/>
                </a:solidFill>
                <a:latin typeface="Poppins"/>
              </a:rPr>
              <a:t>Institutional delivery</a:t>
            </a:r>
          </a:p>
          <a:p>
            <a:pPr>
              <a:spcAft>
                <a:spcPts val="800"/>
              </a:spcAft>
            </a:pPr>
            <a:r>
              <a:rPr sz="1800">
                <a:solidFill>
                  <a:srgbClr val="D0CB17"/>
                </a:solidFill>
                <a:latin typeface="Poppins"/>
              </a:rPr>
              <a:t>• </a:t>
            </a:r>
            <a:r>
              <a:rPr sz="1800">
                <a:solidFill>
                  <a:srgbClr val="2C3E50"/>
                </a:solidFill>
                <a:latin typeface="Poppins"/>
              </a:rPr>
              <a:t>Postnatal care 1</a:t>
            </a:r>
          </a:p>
          <a:p>
            <a:pPr>
              <a:spcAft>
                <a:spcPts val="800"/>
              </a:spcAft>
            </a:pPr>
            <a:r>
              <a:rPr sz="1800">
                <a:solidFill>
                  <a:srgbClr val="D0CB17"/>
                </a:solidFill>
                <a:latin typeface="Poppins"/>
              </a:rPr>
              <a:t>• </a:t>
            </a:r>
            <a:r>
              <a:rPr sz="1800">
                <a:solidFill>
                  <a:srgbClr val="2C3E50"/>
                </a:solidFill>
                <a:latin typeface="Poppins"/>
              </a:rPr>
              <a:t>BCG doses</a:t>
            </a:r>
          </a:p>
          <a:p>
            <a:pPr>
              <a:spcAft>
                <a:spcPts val="800"/>
              </a:spcAft>
            </a:pPr>
            <a:r>
              <a:rPr sz="1800">
                <a:solidFill>
                  <a:srgbClr val="D0CB17"/>
                </a:solidFill>
                <a:latin typeface="Poppins"/>
              </a:rPr>
              <a:t>• </a:t>
            </a:r>
            <a:r>
              <a:rPr sz="1800">
                <a:solidFill>
                  <a:srgbClr val="2C3E50"/>
                </a:solidFill>
                <a:latin typeface="Poppins"/>
              </a:rPr>
              <a:t>Pentavalent 1st dose</a:t>
            </a:r>
          </a:p>
          <a:p>
            <a:pPr>
              <a:spcAft>
                <a:spcPts val="800"/>
              </a:spcAft>
            </a:pPr>
            <a:r>
              <a:rPr sz="1800">
                <a:solidFill>
                  <a:srgbClr val="D0CB17"/>
                </a:solidFill>
                <a:latin typeface="Poppins"/>
              </a:rPr>
              <a:t>• </a:t>
            </a:r>
            <a:r>
              <a:rPr sz="1800">
                <a:solidFill>
                  <a:srgbClr val="2C3E50"/>
                </a:solidFill>
                <a:latin typeface="Poppins"/>
              </a:rPr>
              <a:t>Pentavalent 3rd dose</a:t>
            </a:r>
          </a:p>
          <a:p>
            <a:pPr>
              <a:spcAft>
                <a:spcPts val="800"/>
              </a:spcAft>
            </a:pPr>
            <a:r>
              <a:rPr sz="1800">
                <a:solidFill>
                  <a:srgbClr val="D0CB17"/>
                </a:solidFill>
                <a:latin typeface="Poppins"/>
              </a:rPr>
              <a:t>• </a:t>
            </a:r>
            <a:r>
              <a:rPr sz="1800">
                <a:solidFill>
                  <a:srgbClr val="2C3E50"/>
                </a:solidFill>
                <a:latin typeface="Poppins"/>
              </a:rPr>
              <a:t>Outpatient visits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high-volume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One of the core strengths of the FASTR approach is its ability to adjust for data quality issues. High-volume indicators are better suited to this process because:</a:t>
            </a:r>
          </a:p>
          <a:p>
            <a:pPr>
              <a:spcAft>
                <a:spcPts val="1400"/>
              </a:spcAft>
            </a:pPr>
            <a:r>
              <a:rPr sz="1800" b="1">
                <a:solidFill>
                  <a:srgbClr val="21568C"/>
                </a:solidFill>
                <a:latin typeface="Poppins"/>
              </a:rPr>
              <a:t>Reduced sensitivity to outliers</a:t>
            </a:r>
          </a:p>
          <a:p>
            <a:pPr>
              <a:spcAft>
                <a:spcPts val="1400"/>
              </a:spcAft>
            </a:pPr>
            <a:r>
              <a:rPr sz="1800">
                <a:solidFill>
                  <a:srgbClr val="333333"/>
                </a:solidFill>
                <a:latin typeface="Poppins"/>
              </a:rPr>
              <a:t>In low-volume indicators, individual data points can disproportionately affect trends.</a:t>
            </a:r>
          </a:p>
          <a:p>
            <a:pPr>
              <a:spcAft>
                <a:spcPts val="1400"/>
              </a:spcAft>
            </a:pPr>
            <a:r>
              <a:rPr sz="1800" b="1">
                <a:solidFill>
                  <a:srgbClr val="21568C"/>
                </a:solidFill>
                <a:latin typeface="Poppins"/>
              </a:rPr>
              <a:t>More stable estimates</a:t>
            </a:r>
          </a:p>
          <a:p>
            <a:pPr>
              <a:spcAft>
                <a:spcPts val="1400"/>
              </a:spcAft>
            </a:pPr>
            <a:r>
              <a:rPr sz="1800">
                <a:solidFill>
                  <a:srgbClr val="333333"/>
                </a:solidFill>
                <a:latin typeface="Poppins"/>
              </a:rPr>
              <a:t>High-volume data reduce random variability and improve the reliability of trend detection.</a:t>
            </a:r>
          </a:p>
          <a:p>
            <a:pPr>
              <a:spcAft>
                <a:spcPts val="1400"/>
              </a:spcAft>
            </a:pPr>
            <a:r>
              <a:rPr sz="1800" b="1">
                <a:solidFill>
                  <a:srgbClr val="21568C"/>
                </a:solidFill>
                <a:latin typeface="Poppins"/>
              </a:rPr>
              <a:t>Clearer identification of true anomalies</a:t>
            </a:r>
          </a:p>
          <a:p>
            <a:pPr>
              <a:spcAft>
                <a:spcPts val="1400"/>
              </a:spcAft>
            </a:pPr>
            <a:r>
              <a:rPr sz="1800">
                <a:solidFill>
                  <a:srgbClr val="333333"/>
                </a:solidFill>
                <a:latin typeface="Poppins"/>
              </a:rPr>
              <a:t>Larger counts make it easier to distinguish genuine outliers from natural variation.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high-completeness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Indicators with high reporting completeness are preferred because they:</a:t>
            </a:r>
          </a:p>
          <a:p>
            <a:pPr>
              <a:spcAft>
                <a:spcPts val="1400"/>
              </a:spcAft>
            </a:pPr>
            <a:r>
              <a:rPr sz="1800" b="1">
                <a:solidFill>
                  <a:srgbClr val="21568C"/>
                </a:solidFill>
                <a:latin typeface="Poppins"/>
              </a:rPr>
              <a:t>Improve data reliability</a:t>
            </a:r>
          </a:p>
          <a:p>
            <a:pPr>
              <a:spcAft>
                <a:spcPts val="1400"/>
              </a:spcAft>
            </a:pPr>
            <a:r>
              <a:rPr sz="1800">
                <a:solidFill>
                  <a:srgbClr val="333333"/>
                </a:solidFill>
                <a:latin typeface="Poppins"/>
              </a:rPr>
              <a:t>More complete data reduces bias and provide a more representative picture of service delivery.</a:t>
            </a:r>
          </a:p>
          <a:p>
            <a:pPr>
              <a:spcAft>
                <a:spcPts val="1400"/>
              </a:spcAft>
            </a:pPr>
            <a:r>
              <a:rPr sz="1800" b="1">
                <a:solidFill>
                  <a:srgbClr val="21568C"/>
                </a:solidFill>
                <a:latin typeface="Poppins"/>
              </a:rPr>
              <a:t>Support consistent analysis</a:t>
            </a:r>
          </a:p>
          <a:p>
            <a:pPr>
              <a:spcAft>
                <a:spcPts val="1400"/>
              </a:spcAft>
            </a:pPr>
            <a:r>
              <a:rPr sz="1800">
                <a:solidFill>
                  <a:srgbClr val="333333"/>
                </a:solidFill>
                <a:latin typeface="Poppins"/>
              </a:rPr>
              <a:t>High completeness enables meaningful comparisons across time and geographic areas.</a:t>
            </a:r>
          </a:p>
          <a:p>
            <a:pPr>
              <a:spcAft>
                <a:spcPts val="1400"/>
              </a:spcAft>
            </a:pPr>
            <a:r>
              <a:rPr sz="1800" b="1">
                <a:solidFill>
                  <a:srgbClr val="21568C"/>
                </a:solidFill>
                <a:latin typeface="Poppins"/>
              </a:rPr>
              <a:t>Reduce misinterpretation</a:t>
            </a:r>
          </a:p>
          <a:p>
            <a:pPr>
              <a:spcAft>
                <a:spcPts val="1400"/>
              </a:spcAft>
            </a:pPr>
            <a:r>
              <a:rPr sz="1800">
                <a:solidFill>
                  <a:srgbClr val="333333"/>
                </a:solidFill>
                <a:latin typeface="Poppins"/>
              </a:rPr>
              <a:t>Incomplete data can falsely suggest changes in service utilization when changes are driven by reporting gaps rather than real trends.</a:t>
            </a:r>
          </a:p>
          <a:p>
            <a:pPr>
              <a:spcAft>
                <a:spcPts val="1400"/>
              </a:spcAft>
            </a:pPr>
            <a:r>
              <a:rPr sz="1800">
                <a:solidFill>
                  <a:srgbClr val="333333"/>
                </a:solidFill>
                <a:latin typeface="Poppins"/>
              </a:rPr>
              <a:t>While statistical methods such as imputation can be used to address incomplete data, these methods require assumptions about missing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focus on count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Limitations of proportion indicators</a:t>
            </a:r>
          </a:p>
          <a:p>
            <a:pPr>
              <a:spcAft>
                <a:spcPts val="800"/>
              </a:spcAft>
            </a:pPr>
            <a:r>
              <a:rPr sz="1800">
                <a:solidFill>
                  <a:srgbClr val="D0CB17"/>
                </a:solidFill>
                <a:latin typeface="Poppins"/>
              </a:rPr>
              <a:t>• </a:t>
            </a:r>
            <a:r>
              <a:rPr sz="1800">
                <a:solidFill>
                  <a:srgbClr val="2C3E50"/>
                </a:solidFill>
                <a:latin typeface="Poppins"/>
              </a:rPr>
              <a:t>Proportions limit the ability to adjust numerators and denominators separately for data quality issues</a:t>
            </a:r>
          </a:p>
          <a:p>
            <a:pPr>
              <a:spcAft>
                <a:spcPts val="800"/>
              </a:spcAft>
            </a:pPr>
            <a:r>
              <a:rPr sz="1800">
                <a:solidFill>
                  <a:srgbClr val="D0CB17"/>
                </a:solidFill>
                <a:latin typeface="Poppins"/>
              </a:rPr>
              <a:t>• </a:t>
            </a:r>
            <a:r>
              <a:rPr sz="1800">
                <a:solidFill>
                  <a:srgbClr val="2C3E50"/>
                </a:solidFill>
                <a:latin typeface="Poppins"/>
              </a:rPr>
              <a:t>Numerators and denominators may each be affected by different sources of error</a:t>
            </a:r>
          </a:p>
          <a:p>
            <a:pPr>
              <a:spcAft>
                <a:spcPts val="800"/>
              </a:spcAft>
            </a:pPr>
            <a:r>
              <a:rPr sz="1800">
                <a:solidFill>
                  <a:srgbClr val="D0CB17"/>
                </a:solidFill>
                <a:latin typeface="Poppins"/>
              </a:rPr>
              <a:t>• </a:t>
            </a:r>
            <a:r>
              <a:rPr sz="1800">
                <a:solidFill>
                  <a:srgbClr val="2C3E50"/>
                </a:solidFill>
                <a:latin typeface="Poppins"/>
              </a:rPr>
              <a:t>Separating counts from denominator estimation allows for more transparent and flexible adjustment</a:t>
            </a:r>
          </a:p>
          <a:p>
            <a:pPr>
              <a:spcAft>
                <a:spcPts val="1400"/>
              </a:spcAft>
            </a:pPr>
            <a:r>
              <a:rPr sz="1800" b="1">
                <a:solidFill>
                  <a:srgbClr val="21568C"/>
                </a:solidFill>
                <a:latin typeface="Poppins"/>
              </a:rPr>
              <a:t>Mortality as a rare event</a:t>
            </a:r>
          </a:p>
          <a:p>
            <a:pPr>
              <a:spcAft>
                <a:spcPts val="800"/>
              </a:spcAft>
            </a:pPr>
            <a:r>
              <a:rPr sz="1800">
                <a:solidFill>
                  <a:srgbClr val="D0CB17"/>
                </a:solidFill>
                <a:latin typeface="Poppins"/>
              </a:rPr>
              <a:t>• </a:t>
            </a:r>
            <a:r>
              <a:rPr sz="1800">
                <a:solidFill>
                  <a:srgbClr val="2C3E50"/>
                </a:solidFill>
                <a:latin typeface="Poppins"/>
              </a:rPr>
              <a:t>Mortality indicators are typically low-frequency and not well suited to adjustment</a:t>
            </a:r>
          </a:p>
          <a:p>
            <a:pPr>
              <a:spcAft>
                <a:spcPts val="800"/>
              </a:spcAft>
            </a:pPr>
            <a:r>
              <a:rPr sz="1800">
                <a:solidFill>
                  <a:srgbClr val="D0CB17"/>
                </a:solidFill>
                <a:latin typeface="Poppins"/>
              </a:rPr>
              <a:t>• </a:t>
            </a:r>
            <a:r>
              <a:rPr sz="1800">
                <a:solidFill>
                  <a:srgbClr val="2C3E50"/>
                </a:solidFill>
                <a:latin typeface="Poppins"/>
              </a:rPr>
              <a:t>These indicators are generally better analyzed using annual rather than monthly or quarterly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Countries have selected indicators to align with the disruptions context and country priorities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The FASTR Data Prep Checklist has been shared with countries</a:t>
            </a:r>
          </a:p>
          <a:p>
            <a:pPr>
              <a:spcAft>
                <a:spcPts val="800"/>
              </a:spcAft>
            </a:pPr>
            <a:r>
              <a:rPr sz="1800">
                <a:solidFill>
                  <a:srgbClr val="D0CB17"/>
                </a:solidFill>
                <a:latin typeface="Poppins"/>
              </a:rPr>
              <a:t>• </a:t>
            </a:r>
            <a:r>
              <a:rPr sz="1800">
                <a:solidFill>
                  <a:srgbClr val="2C3E50"/>
                </a:solidFill>
                <a:latin typeface="Poppins"/>
              </a:rPr>
              <a:t>The checklist includes the FASTR core RMNCAH-N indicators</a:t>
            </a:r>
          </a:p>
          <a:p>
            <a:pPr>
              <a:spcAft>
                <a:spcPts val="800"/>
              </a:spcAft>
            </a:pPr>
            <a:r>
              <a:rPr sz="1800">
                <a:solidFill>
                  <a:srgbClr val="D0CB17"/>
                </a:solidFill>
                <a:latin typeface="Poppins"/>
              </a:rPr>
              <a:t>• </a:t>
            </a:r>
            <a:r>
              <a:rPr sz="1800">
                <a:solidFill>
                  <a:srgbClr val="2C3E50"/>
                </a:solidFill>
                <a:latin typeface="Poppins"/>
              </a:rPr>
              <a:t>Countries have added additional indicators relevant to their context (e.g., services impacted by funding shifts, government priorities)</a:t>
            </a:r>
          </a:p>
          <a:p>
            <a:pPr>
              <a:spcAft>
                <a:spcPts val="800"/>
              </a:spcAft>
            </a:pPr>
            <a:r>
              <a:rPr sz="1800">
                <a:solidFill>
                  <a:srgbClr val="D0CB17"/>
                </a:solidFill>
                <a:latin typeface="Poppins"/>
              </a:rPr>
              <a:t>• </a:t>
            </a:r>
            <a:r>
              <a:rPr sz="1800">
                <a:solidFill>
                  <a:srgbClr val="2C3E50"/>
                </a:solidFill>
                <a:latin typeface="Poppins"/>
              </a:rPr>
              <a:t>These are the indicators included in the current analysis</a:t>
            </a:r>
          </a:p>
          <a:p>
            <a:pPr>
              <a:spcAft>
                <a:spcPts val="800"/>
              </a:spcAft>
            </a:pPr>
            <a:r>
              <a:rPr sz="1800">
                <a:solidFill>
                  <a:srgbClr val="D0CB17"/>
                </a:solidFill>
                <a:latin typeface="Poppins"/>
              </a:rPr>
              <a:t>• </a:t>
            </a:r>
            <a:r>
              <a:rPr sz="1800">
                <a:solidFill>
                  <a:srgbClr val="2C3E50"/>
                </a:solidFill>
                <a:latin typeface="Poppins"/>
              </a:rPr>
              <a:t>Countries can continue to add indicators over time as needed</a:t>
            </a:r>
          </a:p>
        </p:txBody>
      </p:sp>
      <p:pic>
        <p:nvPicPr>
          <p:cNvPr id="5" name="Picture 4" descr="data_prep_checklist.png"/>
          <p:cNvPicPr>
            <a:picLocks noChangeAspect="1"/>
          </p:cNvPicPr>
          <p:nvPr/>
        </p:nvPicPr>
        <p:blipFill>
          <a:blip r:embed="rId2"/>
          <a:stretch>
            <a:fillRect/>
          </a:stretch>
        </p:blipFill>
        <p:spPr>
          <a:xfrm>
            <a:off x="6629400" y="1371600"/>
            <a:ext cx="11399573" cy="2667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We are going to review the Zambia data prep checklist together and discuss for each indicator:</a:t>
            </a:r>
          </a:p>
          <a:p>
            <a:pPr>
              <a:spcAft>
                <a:spcPts val="1000"/>
              </a:spcAft>
            </a:pPr>
            <a:r>
              <a:rPr sz="1800" b="1">
                <a:solidFill>
                  <a:srgbClr val="21568C"/>
                </a:solidFill>
                <a:latin typeface="Poppins"/>
              </a:rPr>
              <a:t>Relevance</a:t>
            </a:r>
          </a:p>
          <a:p>
            <a:pPr>
              <a:spcAft>
                <a:spcPts val="1000"/>
              </a:spcAft>
            </a:pPr>
            <a:r>
              <a:rPr sz="1800">
                <a:solidFill>
                  <a:srgbClr val="333333"/>
                </a:solidFill>
                <a:latin typeface="Poppins"/>
              </a:rPr>
              <a:t>Does this indicator provide data that aligns with our priority questions and objectives?</a:t>
            </a:r>
          </a:p>
          <a:p>
            <a:pPr>
              <a:spcAft>
                <a:spcPts val="1000"/>
              </a:spcAft>
            </a:pPr>
            <a:r>
              <a:rPr sz="1800" b="1">
                <a:solidFill>
                  <a:srgbClr val="21568C"/>
                </a:solidFill>
                <a:latin typeface="Poppins"/>
              </a:rPr>
              <a:t>Volume</a:t>
            </a:r>
          </a:p>
          <a:p>
            <a:pPr>
              <a:spcAft>
                <a:spcPts val="1000"/>
              </a:spcAft>
            </a:pPr>
            <a:r>
              <a:rPr sz="1800">
                <a:solidFill>
                  <a:srgbClr val="333333"/>
                </a:solidFill>
                <a:latin typeface="Poppins"/>
              </a:rPr>
              <a:t>Is this indicator collected at a high volume, which improves the robustness of analysis?</a:t>
            </a:r>
          </a:p>
          <a:p>
            <a:pPr>
              <a:spcAft>
                <a:spcPts val="1000"/>
              </a:spcAft>
            </a:pPr>
            <a:r>
              <a:rPr sz="1800" b="1">
                <a:solidFill>
                  <a:srgbClr val="21568C"/>
                </a:solidFill>
                <a:latin typeface="Poppins"/>
              </a:rPr>
              <a:t>Completeness</a:t>
            </a:r>
          </a:p>
          <a:p>
            <a:pPr>
              <a:spcAft>
                <a:spcPts val="1000"/>
              </a:spcAft>
            </a:pPr>
            <a:r>
              <a:rPr sz="1800">
                <a:solidFill>
                  <a:srgbClr val="333333"/>
                </a:solidFill>
                <a:latin typeface="Poppins"/>
              </a:rPr>
              <a:t>Does the indicator have a high completeness rate across reporting facilities?</a:t>
            </a:r>
          </a:p>
          <a:p>
            <a:pPr>
              <a:spcAft>
                <a:spcPts val="1000"/>
              </a:spcAft>
            </a:pPr>
            <a:r>
              <a:rPr sz="1800" b="1">
                <a:solidFill>
                  <a:srgbClr val="21568C"/>
                </a:solidFill>
                <a:latin typeface="Poppins"/>
              </a:rPr>
              <a:t>Frequency</a:t>
            </a:r>
          </a:p>
          <a:p>
            <a:pPr>
              <a:spcAft>
                <a:spcPts val="1000"/>
              </a:spcAft>
            </a:pPr>
            <a:r>
              <a:rPr sz="1800">
                <a:solidFill>
                  <a:srgbClr val="333333"/>
                </a:solidFill>
                <a:latin typeface="Poppins"/>
              </a:rPr>
              <a:t>Is the indicator reported frequently enough (e.g., monthly) to support rapid-cycle analysis?</a:t>
            </a:r>
          </a:p>
          <a:p>
            <a:pPr>
              <a:spcAft>
                <a:spcPts val="1000"/>
              </a:spcAft>
            </a:pPr>
            <a:r>
              <a:rPr sz="1800" b="1">
                <a:solidFill>
                  <a:srgbClr val="21568C"/>
                </a:solidFill>
                <a:latin typeface="Poppins"/>
              </a:rPr>
              <a:t>Type</a:t>
            </a:r>
          </a:p>
          <a:p>
            <a:pPr>
              <a:spcAft>
                <a:spcPts val="1000"/>
              </a:spcAft>
            </a:pPr>
            <a:r>
              <a:rPr sz="1800">
                <a:solidFill>
                  <a:srgbClr val="333333"/>
                </a:solidFill>
                <a:latin typeface="Poppins"/>
              </a:rPr>
              <a:t>Is this indicator a count of services delivered?</a:t>
            </a:r>
          </a:p>
          <a:p>
            <a:pPr>
              <a:spcAft>
                <a:spcPts val="1000"/>
              </a:spcAft>
            </a:pPr>
            <a:r>
              <a:rPr sz="1800">
                <a:solidFill>
                  <a:srgbClr val="333333"/>
                </a:solidFill>
                <a:latin typeface="Poppins"/>
              </a:rPr>
              <a:t>Based on the discussion we can refine the selection of indicators.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3: HMIS data extraction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Show of hands...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ise-hand.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Do you regularly extract data from DHIS2?</a:t>
            </a:r>
          </a:p>
          <a:p>
            <a:pPr>
              <a:spcAft>
                <a:spcPts val="1000"/>
              </a:spcAft>
            </a:pPr>
            <a:r>
              <a:rPr sz="1800">
                <a:solidFill>
                  <a:srgbClr val="333333"/>
                </a:solidFill>
                <a:latin typeface="Poppins"/>
              </a:rPr>
              <a:t>If so, what are the primary reasons?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would you extract data from DHIS2? Why not just do analysis in DHIS2 itself?</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b="1">
                <a:solidFill>
                  <a:srgbClr val="21568C"/>
                </a:solidFill>
                <a:latin typeface="Poppins"/>
              </a:rP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 identifying significant increases or decreases in service volume, adjusting for data quality issues, accounting for expected seasonal variations, and 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 Select the tool that best aligns with your analytical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should be downloaded for each indicator of interest, at facility level, and monthly for the period of interest.</a:t>
            </a:r>
          </a:p>
          <a:p>
            <a:pPr>
              <a:spcAft>
                <a:spcPts val="1000"/>
              </a:spcAft>
            </a:pPr>
            <a:r>
              <a:rPr sz="1800">
                <a:solidFill>
                  <a:srgbClr val="333333"/>
                </a:solidFill>
                <a:latin typeface="Poppins"/>
              </a:rPr>
              <a:t>Data should be saved in long format meaning each row represents a single observation or measurement (see example).</a:t>
            </a:r>
          </a:p>
          <a:p>
            <a:pPr>
              <a:spcAft>
                <a:spcPts val="1000"/>
              </a:spcAft>
            </a:pPr>
            <a:r>
              <a:rPr sz="1800">
                <a:solidFill>
                  <a:srgbClr val="333333"/>
                </a:solidFill>
                <a:latin typeface="Poppins"/>
              </a:rPr>
              <a:t>Data should be saved in .csv format and can be saved in either a single .csv file or multiple .csv files which will be combined when uploading to the analysis platform.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Initial FASTR analysis</a:t>
            </a:r>
          </a:p>
          <a:p>
            <a:pPr>
              <a:spcAft>
                <a:spcPts val="800"/>
              </a:spcAft>
            </a:pPr>
            <a:r>
              <a:rPr sz="1800">
                <a:solidFill>
                  <a:srgbClr val="D0CB17"/>
                </a:solidFill>
                <a:latin typeface="Poppins"/>
              </a:rPr>
              <a:t>• </a:t>
            </a:r>
            <a:r>
              <a:rPr sz="1800">
                <a:solidFill>
                  <a:srgbClr val="2C3E50"/>
                </a:solidFill>
                <a:latin typeface="Poppins"/>
              </a:rPr>
              <a:t>Generally recommended to download approximately five years of historical data</a:t>
            </a:r>
          </a:p>
          <a:p>
            <a:pPr>
              <a:spcAft>
                <a:spcPts val="800"/>
              </a:spcAft>
            </a:pPr>
            <a:r>
              <a:rPr sz="1800">
                <a:solidFill>
                  <a:srgbClr val="D0CB17"/>
                </a:solidFill>
                <a:latin typeface="Poppins"/>
              </a:rPr>
              <a:t>• </a:t>
            </a:r>
            <a:r>
              <a:rPr sz="1800">
                <a:solidFill>
                  <a:srgbClr val="2C3E50"/>
                </a:solidFill>
                <a:latin typeface="Poppins"/>
              </a:rPr>
              <a:t>However, the exact period should be determined based on data availability, consistency in indicator definitions over time, and the specifics of a country's routine data system</a:t>
            </a:r>
          </a:p>
          <a:p>
            <a:pPr>
              <a:spcAft>
                <a:spcPts val="800"/>
              </a:spcAft>
            </a:pPr>
            <a:r>
              <a:rPr sz="1800">
                <a:solidFill>
                  <a:srgbClr val="D0CB17"/>
                </a:solidFill>
                <a:latin typeface="Poppins"/>
              </a:rPr>
              <a:t>• </a:t>
            </a:r>
            <a:r>
              <a:rPr sz="1800">
                <a:solidFill>
                  <a:srgbClr val="2C3E50"/>
                </a:solidFill>
                <a:latin typeface="Poppins"/>
              </a:rPr>
              <a:t>Ideally, using at least five years of historical data allows for a thorough assessment of trends over time</a:t>
            </a:r>
          </a:p>
          <a:p>
            <a:pPr>
              <a:spcAft>
                <a:spcPts val="1400"/>
              </a:spcAft>
            </a:pPr>
            <a:r>
              <a:rPr sz="1800" b="1">
                <a:solidFill>
                  <a:srgbClr val="21568C"/>
                </a:solidFill>
                <a:latin typeface="Poppins"/>
              </a:rPr>
              <a:t>Routine update to FASTR analysis</a:t>
            </a:r>
          </a:p>
          <a:p>
            <a:pPr>
              <a:spcAft>
                <a:spcPts val="800"/>
              </a:spcAft>
            </a:pPr>
            <a:r>
              <a:rPr sz="1800">
                <a:solidFill>
                  <a:srgbClr val="D0CB17"/>
                </a:solidFill>
                <a:latin typeface="Poppins"/>
              </a:rPr>
              <a:t>• </a:t>
            </a:r>
            <a:r>
              <a:rPr sz="1800">
                <a:solidFill>
                  <a:srgbClr val="2C3E50"/>
                </a:solidFill>
                <a:latin typeface="Poppins"/>
              </a:rPr>
              <a:t>Start with the existing database and download new data covering the most recent months not previously included – this is usually a three-month period when the FASTR analysis is being implemented on a quarterly basis</a:t>
            </a:r>
          </a:p>
          <a:p>
            <a:pPr>
              <a:spcAft>
                <a:spcPts val="800"/>
              </a:spcAft>
            </a:pPr>
            <a:r>
              <a:rPr sz="1800">
                <a:solidFill>
                  <a:srgbClr val="D0CB17"/>
                </a:solidFill>
                <a:latin typeface="Poppins"/>
              </a:rPr>
              <a:t>• </a:t>
            </a:r>
            <a:r>
              <a:rPr sz="1800">
                <a:solidFill>
                  <a:srgbClr val="2C3E50"/>
                </a:solidFill>
                <a:latin typeface="Poppins"/>
              </a:rPr>
              <a:t>Additionally, include the three proceeding months to the new data time period, as this relatively recent data is often subject to changes due to late reporting or data quality adjustments</a:t>
            </a:r>
          </a:p>
          <a:p>
            <a:pPr>
              <a:spcAft>
                <a:spcPts val="800"/>
              </a:spcAft>
            </a:pPr>
            <a:r>
              <a:rPr sz="1800">
                <a:solidFill>
                  <a:srgbClr val="D0CB17"/>
                </a:solidFill>
                <a:latin typeface="Poppins"/>
              </a:rPr>
              <a:t>• </a:t>
            </a:r>
            <a:r>
              <a:rPr sz="1800">
                <a:solidFill>
                  <a:srgbClr val="2C3E50"/>
                </a:solidFill>
                <a:latin typeface="Poppins"/>
              </a:rPr>
              <a:t>If you have reason to believe there have been substantial changes to the historical data, you can always choose to redownload a longer time period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We offer two tools for bulk DHIS2 data extraction: a user-friendly Data Downloader and a direct import feature within the FASTR analytics platform.</a:t>
            </a:r>
          </a:p>
          <a:p>
            <a:pPr>
              <a:spcAft>
                <a:spcPts val="1200"/>
              </a:spcAft>
            </a:pPr>
            <a:r>
              <a:rPr sz="1800">
                <a:solidFill>
                  <a:srgbClr val="333333"/>
                </a:solidFill>
                <a:latin typeface="Poppins"/>
              </a:rPr>
              <a:t>The Data Downloader provides a streamlined interface to download DHIS2 data. This tool is particularly useful to explore DHIS2 metadata and download indicators requiring disaggregated dimensions.</a:t>
            </a:r>
          </a:p>
          <a:p>
            <a:pPr>
              <a:spcAft>
                <a:spcPts val="1200"/>
              </a:spcAft>
            </a:pPr>
            <a:r>
              <a:rPr sz="1800">
                <a:solidFill>
                  <a:srgbClr val="333333"/>
                </a:solidFill>
                <a:latin typeface="Poppins"/>
              </a:rPr>
              <a:t>The Data Downloader is available at: https://github.com/worldbank/DHIS2-Downloader/releases/</a:t>
            </a:r>
          </a:p>
        </p:txBody>
      </p:sp>
      <p:pic>
        <p:nvPicPr>
          <p:cNvPr id="5" name="Picture 4" descr="data_downloader.png"/>
          <p:cNvPicPr>
            <a:picLocks noChangeAspect="1"/>
          </p:cNvPicPr>
          <p:nvPr/>
        </p:nvPicPr>
        <p:blipFill>
          <a:blip r:embed="rId2"/>
          <a:stretch>
            <a:fillRect/>
          </a:stretch>
        </p:blipFill>
        <p:spPr>
          <a:xfrm>
            <a:off x="5029200" y="1280160"/>
            <a:ext cx="6400800" cy="522904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822960"/>
          </a:xfrm>
          <a:prstGeom prst="rect">
            <a:avLst/>
          </a:prstGeom>
          <a:noFill/>
        </p:spPr>
        <p:txBody>
          <a:bodyPr wrap="square">
            <a:spAutoFit/>
          </a:bodyPr>
          <a:lstStyle/>
          <a:p>
            <a:pPr>
              <a:spcAft>
                <a:spcPts val="1200"/>
              </a:spcAft>
            </a:pPr>
            <a:r>
              <a:rPr sz="1800">
                <a:solidFill>
                  <a:srgbClr val="333333"/>
                </a:solidFill>
                <a:latin typeface="Poppins"/>
              </a:rPr>
              <a:t>The FASTR analytics platform contains a direct import feature to automatically import data from DHIS2. This is often the easiest approach once indicators have been identified for inclusion in the platform.</a:t>
            </a:r>
          </a:p>
        </p:txBody>
      </p:sp>
      <p:pic>
        <p:nvPicPr>
          <p:cNvPr id="5" name="Picture 4" descr="direct_import.png"/>
          <p:cNvPicPr>
            <a:picLocks noChangeAspect="1"/>
          </p:cNvPicPr>
          <p:nvPr/>
        </p:nvPicPr>
        <p:blipFill>
          <a:blip r:embed="rId2"/>
          <a:stretch>
            <a:fillRect/>
          </a:stretch>
        </p:blipFill>
        <p:spPr>
          <a:xfrm>
            <a:off x="5029200" y="1280160"/>
            <a:ext cx="6400800" cy="761665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Data downloader – LIVE Demo and practice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4: Getting into the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4114800" cy="1554480"/>
          </a:xfrm>
          <a:prstGeom prst="rect">
            <a:avLst/>
          </a:prstGeom>
          <a:noFill/>
        </p:spPr>
        <p:txBody>
          <a:bodyPr wrap="square">
            <a:spAutoFit/>
          </a:bodyPr>
          <a:lstStyle/>
          <a:p>
            <a:pPr>
              <a:spcAft>
                <a:spcPts val="1200"/>
              </a:spcAft>
            </a:pPr>
            <a:r>
              <a:rPr sz="1800">
                <a:solidFill>
                  <a:srgbClr val="333333"/>
                </a:solidFill>
                <a:latin typeface="Poppins"/>
              </a:rPr>
              <a:t>The FASTR analytics platform is a web-based tool designed to support data quality assessment, adjustment, and analysis for routine health data.</a:t>
            </a:r>
          </a:p>
          <a:p>
            <a:pPr>
              <a:spcAft>
                <a:spcPts val="1200"/>
              </a:spcAft>
            </a:pPr>
            <a:r>
              <a:rPr sz="1800">
                <a:solidFill>
                  <a:srgbClr val="333333"/>
                </a:solidFill>
                <a:latin typeface="Poppins"/>
              </a:rPr>
              <a:t>It allows users to upload and analyze data from various sources, including DHIS2, with built-in statistical methods to generate an adjusted dataset and run priority analyses on selected indicators.</a:t>
            </a:r>
          </a:p>
          <a:p>
            <a:pPr>
              <a:spcAft>
                <a:spcPts val="1200"/>
              </a:spcAft>
            </a:pPr>
            <a:r>
              <a:rPr sz="1800">
                <a:solidFill>
                  <a:srgbClr val="333333"/>
                </a:solidFill>
                <a:latin typeface="Poppins"/>
              </a:rPr>
              <a:t>The platform provides a user-friendly interface for running analyses and offers flexible options for visualizing and exporting results.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a:solidFill>
                  <a:srgbClr val="333333"/>
                </a:solidFill>
                <a:latin typeface="Poppins"/>
              </a:rPr>
              <a:t>&amp;nbsp;</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a:solidFill>
                  <a:srgbClr val="333333"/>
                </a:solidFill>
                <a:latin typeface="Poppins"/>
              </a:rPr>
              <a:t>&amp;nbsp;</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a:solidFill>
                  <a:srgbClr val="333333"/>
                </a:solidFill>
                <a:latin typeface="Poppins"/>
              </a:rPr>
              <a:t>&amp;nbsp;</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5: Configuring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Configuring the analysis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Configuration of the analysis platform is an admin feature</a:t>
            </a:r>
          </a:p>
          <a:p>
            <a:pPr>
              <a:spcAft>
                <a:spcPts val="800"/>
              </a:spcAft>
            </a:pPr>
            <a:r>
              <a:rPr sz="1800">
                <a:solidFill>
                  <a:srgbClr val="D0CB17"/>
                </a:solidFill>
                <a:latin typeface="Poppins"/>
              </a:rPr>
              <a:t>• </a:t>
            </a:r>
            <a:r>
              <a:rPr sz="1800">
                <a:solidFill>
                  <a:srgbClr val="2C3E50"/>
                </a:solidFill>
                <a:latin typeface="Poppins"/>
              </a:rPr>
              <a:t>We will work together to configure the following items:</a:t>
            </a:r>
          </a:p>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800"/>
              </a:spcAft>
            </a:pPr>
            <a:r>
              <a:rPr sz="1800">
                <a:solidFill>
                  <a:srgbClr val="D0CB17"/>
                </a:solidFill>
                <a:latin typeface="Poppins"/>
              </a:rPr>
              <a:t>• </a:t>
            </a:r>
            <a:r>
              <a:rPr sz="1800">
                <a:solidFill>
                  <a:srgbClr val="2C3E50"/>
                </a:solidFill>
                <a:latin typeface="Poppins"/>
              </a:rPr>
              <a:t>Note since this is an admin feature all participants will NOT be doing this step. Instead, you will select one person to have admin rights, and they will help us walk through these steps.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messages and wrap-up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Reflections from participants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1</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Recap and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Overview of FASTR methods and interpretation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 Methods and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6: Overview of FASTR methods and interpretation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6667500" cy="2667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approach to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takes a multi-pronged approach, based on the belief that </a:t>
            </a:r>
            <a:r>
              <a:rPr sz="1800" b="1">
                <a:solidFill>
                  <a:srgbClr val="21568C"/>
                </a:solidFill>
                <a:latin typeface="Poppins"/>
              </a:rPr>
              <a:t>data quality should not be a barrier to data use</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Conduct granular, facility-level data quality assessments</a:t>
            </a:r>
          </a:p>
          <a:p>
            <a:pPr>
              <a:spcAft>
                <a:spcPts val="800"/>
              </a:spcAft>
            </a:pPr>
            <a:r>
              <a:rPr sz="1800">
                <a:solidFill>
                  <a:srgbClr val="D0CB17"/>
                </a:solidFill>
                <a:latin typeface="Poppins"/>
              </a:rPr>
              <a:t>• </a:t>
            </a:r>
            <a:r>
              <a:rPr sz="1800">
                <a:solidFill>
                  <a:srgbClr val="2C3E50"/>
                </a:solidFill>
                <a:latin typeface="Poppins"/>
              </a:rPr>
              <a:t>Focus on high-volume indicators that produce more stable estimates</a:t>
            </a:r>
          </a:p>
          <a:p>
            <a:pPr>
              <a:spcAft>
                <a:spcPts val="800"/>
              </a:spcAft>
            </a:pPr>
            <a:r>
              <a:rPr sz="1800">
                <a:solidFill>
                  <a:srgbClr val="D0CB17"/>
                </a:solidFill>
                <a:latin typeface="Poppins"/>
              </a:rPr>
              <a:t>• </a:t>
            </a:r>
            <a:r>
              <a:rPr sz="1800">
                <a:solidFill>
                  <a:srgbClr val="2C3E50"/>
                </a:solidFill>
                <a:latin typeface="Poppins"/>
              </a:rPr>
              <a:t>Emphasize variation over time and space rather than point estimates</a:t>
            </a:r>
          </a:p>
          <a:p>
            <a:pPr>
              <a:spcAft>
                <a:spcPts val="800"/>
              </a:spcAft>
            </a:pPr>
            <a:r>
              <a:rPr sz="1800">
                <a:solidFill>
                  <a:srgbClr val="D0CB17"/>
                </a:solidFill>
                <a:latin typeface="Poppins"/>
              </a:rPr>
              <a:t>• </a:t>
            </a:r>
            <a:r>
              <a:rPr sz="1800">
                <a:solidFill>
                  <a:srgbClr val="2C3E50"/>
                </a:solidFill>
                <a:latin typeface="Poppins"/>
              </a:rPr>
              <a:t>Interpret results collaboratively with in-country decision-makers</a:t>
            </a:r>
          </a:p>
          <a:p>
            <a:pPr>
              <a:spcAft>
                <a:spcPts val="1400"/>
              </a:spcAft>
            </a:pPr>
            <a:r>
              <a:rPr sz="1800" b="1">
                <a:solidFill>
                  <a:srgbClr val="21568C"/>
                </a:solidFill>
                <a:latin typeface="Poppins"/>
              </a:rPr>
              <a:t>Using data and providing feedback is viewed as the first step toward improving data quality.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outside plausible ranges</a:t>
            </a:r>
          </a:p>
          <a:p>
            <a:pPr>
              <a:spcAft>
                <a:spcPts val="800"/>
              </a:spcAft>
            </a:pPr>
            <a:r>
              <a:rPr sz="1800">
                <a:solidFill>
                  <a:srgbClr val="D0CB17"/>
                </a:solidFill>
                <a:latin typeface="Poppins"/>
              </a:rPr>
              <a:t>• </a:t>
            </a:r>
            <a:r>
              <a:rPr sz="1800">
                <a:solidFill>
                  <a:srgbClr val="2C3E50"/>
                </a:solidFill>
                <a:latin typeface="Poppins"/>
              </a:rPr>
              <a:t>Reporting gaps affecting completeness</a:t>
            </a:r>
          </a:p>
          <a:p>
            <a:pPr>
              <a:spcAft>
                <a:spcPts val="800"/>
              </a:spcAft>
            </a:pPr>
            <a:r>
              <a:rPr sz="1800">
                <a:solidFill>
                  <a:srgbClr val="D0CB17"/>
                </a:solidFill>
                <a:latin typeface="Poppins"/>
              </a:rPr>
              <a:t>• </a:t>
            </a:r>
            <a:r>
              <a:rPr sz="1800">
                <a:solidFill>
                  <a:srgbClr val="2C3E50"/>
                </a:solidFill>
                <a:latin typeface="Poppins"/>
              </a:rPr>
              <a:t>Inconsistencies between related indicators</a:t>
            </a:r>
          </a:p>
          <a:p>
            <a:pPr>
              <a:spcAft>
                <a:spcPts val="1400"/>
              </a:spcAft>
            </a:pPr>
            <a:r>
              <a:rPr sz="1800" b="1">
                <a:solidFill>
                  <a:srgbClr val="21568C"/>
                </a:solidFill>
                <a:latin typeface="Poppins"/>
              </a:rPr>
              <a:t>Implications:</a:t>
            </a:r>
            <a:r>
              <a:rPr sz="1800">
                <a:solidFill>
                  <a:srgbClr val="333333"/>
                </a:solidFill>
                <a:latin typeface="Poppins"/>
              </a:rPr>
              <a:t> These limitations can distort decision-making:</a:t>
            </a:r>
          </a:p>
          <a:p>
            <a:pPr>
              <a:spcAft>
                <a:spcPts val="800"/>
              </a:spcAft>
            </a:pPr>
            <a:r>
              <a:rPr sz="1800">
                <a:solidFill>
                  <a:srgbClr val="D0CB17"/>
                </a:solidFill>
                <a:latin typeface="Poppins"/>
              </a:rPr>
              <a:t>• </a:t>
            </a:r>
            <a:r>
              <a:rPr sz="1800">
                <a:solidFill>
                  <a:srgbClr val="2C3E50"/>
                </a:solidFill>
                <a:latin typeface="Poppins"/>
              </a:rPr>
              <a:t>Inaccurate assessment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needing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assessment supports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a:t>
            </a:r>
          </a:p>
          <a:p>
            <a:pPr>
              <a:spcAft>
                <a:spcPts val="800"/>
              </a:spcAft>
            </a:pPr>
            <a:r>
              <a:rPr sz="1800">
                <a:solidFill>
                  <a:srgbClr val="D0CB17"/>
                </a:solidFill>
                <a:latin typeface="Poppins"/>
              </a:rPr>
              <a:t>• </a:t>
            </a:r>
            <a:r>
              <a:rPr sz="1800">
                <a:solidFill>
                  <a:srgbClr val="2C3E50"/>
                </a:solidFill>
                <a:latin typeface="Poppins"/>
              </a:rPr>
              <a:t>Guide targeted interventions and supportive supervision</a:t>
            </a:r>
          </a:p>
          <a:p>
            <a:pPr>
              <a:spcAft>
                <a:spcPts val="800"/>
              </a:spcAft>
            </a:pPr>
            <a:r>
              <a:rPr sz="1800">
                <a:solidFill>
                  <a:srgbClr val="D0CB17"/>
                </a:solidFill>
                <a:latin typeface="Poppins"/>
              </a:rPr>
              <a:t>• </a:t>
            </a:r>
            <a:r>
              <a:rPr sz="1800">
                <a:solidFill>
                  <a:srgbClr val="2C3E50"/>
                </a:solidFill>
                <a:latin typeface="Poppins"/>
              </a:rPr>
              <a:t>Evaluate effectiveness of improvement initiatives over time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Indicator completeness measures whether facilities that should be reporting data on specific indicators are actually doing so. This is different from overall reporting completeness - we're looking at specific data elements, not just whether the monthly form was submitted.</a:t>
            </a:r>
          </a:p>
          <a:p>
            <a:pPr>
              <a:spcAft>
                <a:spcPts val="1400"/>
              </a:spcAft>
            </a:pPr>
            <a:r>
              <a:rPr sz="1800" b="1">
                <a:solidFill>
                  <a:srgbClr val="21568C"/>
                </a:solidFill>
                <a:latin typeface="Poppins"/>
              </a:rPr>
              <a:t>Definition:</a:t>
            </a:r>
            <a:r>
              <a:rPr sz="1800">
                <a:solidFill>
                  <a:srgbClr val="333333"/>
                </a:solidFill>
                <a:latin typeface="Poppins"/>
              </a:rPr>
              <a:t> Percentage of facilities reporting each month out of facilities expected to report.</a:t>
            </a:r>
          </a:p>
          <a:p>
            <a:pPr>
              <a:spcAft>
                <a:spcPts val="800"/>
              </a:spcAft>
            </a:pPr>
            <a:r>
              <a:rPr sz="1800">
                <a:solidFill>
                  <a:srgbClr val="D0CB17"/>
                </a:solidFill>
                <a:latin typeface="Poppins"/>
              </a:rPr>
              <a:t>• </a:t>
            </a:r>
            <a:r>
              <a:rPr sz="1800">
                <a:solidFill>
                  <a:srgbClr val="2C3E50"/>
                </a:solidFill>
                <a:latin typeface="Poppins"/>
              </a:rPr>
              <a:t>A facility is "reporting" if there is a non-missing, non-zero value for the indicator that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within the past year</a:t>
            </a:r>
          </a:p>
          <a:p>
            <a:pPr>
              <a:spcAft>
                <a:spcPts val="1400"/>
              </a:spcAft>
            </a:pPr>
            <a:r>
              <a:rPr sz="1800">
                <a:solidFill>
                  <a:srgbClr val="333333"/>
                </a:solidFill>
                <a:latin typeface="Poppins"/>
              </a:rPr>
              <a:t>Higher and stable completeness improves data reliability.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completeness by indicator and region over time.</a:t>
            </a:r>
          </a:p>
          <a:p>
            <a:pPr>
              <a:spcAft>
                <a:spcPts val="1000"/>
              </a:spcAft>
            </a:pPr>
            <a:r>
              <a:rPr sz="1800" b="1">
                <a:solidFill>
                  <a:srgbClr val="21568C"/>
                </a:solidFill>
                <a:latin typeface="Poppins"/>
              </a:rPr>
              <a:t>Formula:</a:t>
            </a:r>
            <a:r>
              <a:rPr sz="1800">
                <a:solidFill>
                  <a:srgbClr val="333333"/>
                </a:solidFill>
                <a:latin typeface="Poppins"/>
              </a:rPr>
              <a:t> Completeness % = (facilities reporting / facilities expected) × 100</a:t>
            </a:r>
          </a:p>
          <a:p>
            <a:pPr>
              <a:spcAft>
                <a:spcPts val="1000"/>
              </a:spcAft>
            </a:pPr>
            <a:r>
              <a:rPr sz="1800" b="1">
                <a:solidFill>
                  <a:srgbClr val="21568C"/>
                </a:solidFill>
                <a:latin typeface="Poppins"/>
              </a:rPr>
              <a:t>Interpretation:</a:t>
            </a:r>
            <a:r>
              <a:rPr sz="1800">
                <a:solidFill>
                  <a:srgbClr val="333333"/>
                </a:solidFill>
                <a:latin typeface="Poppins"/>
              </a:rPr>
              <a:t> Look for systematic gaps by region or indicator, declining trends, or seasonal patterns. Low completeness suggests reporting barriers needing attention.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values that are suspiciously </a:t>
            </a:r>
            <a:r>
              <a:rPr sz="1800" b="1">
                <a:solidFill>
                  <a:srgbClr val="21568C"/>
                </a:solidFill>
                <a:latin typeface="Poppins"/>
              </a:rPr>
              <a:t>high</a:t>
            </a:r>
            <a:r>
              <a:rPr sz="1800">
                <a:solidFill>
                  <a:srgbClr val="333333"/>
                </a:solidFill>
                <a:latin typeface="Poppins"/>
              </a:rPr>
              <a:t> compared to a facility's usual reporting volume. They may result from data entry errors or genuine programmatic changes (e.g., campaigns).</a:t>
            </a:r>
          </a:p>
          <a:p>
            <a:pPr>
              <a:spcAft>
                <a:spcPts val="1400"/>
              </a:spcAft>
            </a:pPr>
            <a:r>
              <a:rPr sz="1800" b="1">
                <a:solidFill>
                  <a:srgbClr val="21568C"/>
                </a:solidFill>
                <a:latin typeface="Poppins"/>
              </a:rPr>
              <a:t>Note:</a:t>
            </a:r>
            <a:r>
              <a:rPr sz="1800">
                <a:solidFill>
                  <a:srgbClr val="333333"/>
                </a:solidFill>
                <a:latin typeface="Poppins"/>
              </a:rPr>
              <a:t> FASTR only flags high values as outliers - unusually low values are not flagged, as these more likely reflect service disruptions than data errors.</a:t>
            </a:r>
          </a:p>
          <a:p>
            <a:pPr>
              <a:spcAft>
                <a:spcPts val="1400"/>
              </a:spcAft>
            </a:pPr>
            <a:r>
              <a:rPr sz="1800" b="1">
                <a:solidFill>
                  <a:srgbClr val="21568C"/>
                </a:solidFill>
                <a:latin typeface="Poppins"/>
              </a:rPr>
              <a:t>How outliers are identified:</a:t>
            </a:r>
            <a:r>
              <a:rPr sz="1800">
                <a:solidFill>
                  <a:srgbClr val="333333"/>
                </a:solidFill>
                <a:latin typeface="Poppins"/>
              </a:rPr>
              <a:t> For each facility and indicator, we assess within-facility variation in monthly reporting. A value is flagged if it deviates significantly from the facility's typical pattern (using statistical thresholds based on median absolute deviation).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proportion of values flagged as outliers by indicator and region.</a:t>
            </a:r>
          </a:p>
          <a:p>
            <a:pPr>
              <a:spcAft>
                <a:spcPts val="1000"/>
              </a:spcAft>
            </a:pPr>
            <a:r>
              <a:rPr sz="1800" b="1">
                <a:solidFill>
                  <a:srgbClr val="21568C"/>
                </a:solidFill>
                <a:latin typeface="Poppins"/>
              </a:rPr>
              <a:t>Formula:</a:t>
            </a:r>
            <a:r>
              <a:rPr sz="1800">
                <a:solidFill>
                  <a:srgbClr val="333333"/>
                </a:solidFill>
                <a:latin typeface="Poppins"/>
              </a:rPr>
              <a:t> Outlier % = (values flagged / total values) × 100</a:t>
            </a:r>
          </a:p>
          <a:p>
            <a:pPr>
              <a:spcAft>
                <a:spcPts val="1000"/>
              </a:spcAft>
            </a:pPr>
            <a:r>
              <a:rPr sz="1800" b="1">
                <a:solidFill>
                  <a:srgbClr val="21568C"/>
                </a:solidFill>
                <a:latin typeface="Poppins"/>
              </a:rPr>
              <a:t>Interpretation:</a:t>
            </a:r>
            <a:r>
              <a:rPr sz="1800">
                <a:solidFill>
                  <a:srgbClr val="333333"/>
                </a:solidFill>
                <a:latin typeface="Poppins"/>
              </a:rPr>
              <a:t> High rates may indicate data entry errors or legitimate events like campaigns. Review facility registers to distinguish between the two.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Internal consistency checks whether related indicators maintain expected logical relationships. For example, ANC1 should always be ≥ ANC4 (you can't have a 4th visit without a 1st). Similarly, Penta1 ≥ Penta3. When these relationships are violated, it signals data quality issues like double-counting, under-reporting, or data flow errors.</a:t>
            </a:r>
          </a:p>
          <a:p>
            <a:pPr>
              <a:spcAft>
                <a:spcPts val="1400"/>
              </a:spcAft>
            </a:pPr>
            <a:r>
              <a:rPr sz="1800">
                <a:solidFill>
                  <a:srgbClr val="333333"/>
                </a:solidFill>
                <a:latin typeface="Poppins"/>
              </a:rPr>
              <a:t>FASTR assesses consistency at the </a:t>
            </a:r>
            <a:r>
              <a:rPr sz="1800" b="1">
                <a:solidFill>
                  <a:srgbClr val="21568C"/>
                </a:solidFill>
                <a:latin typeface="Poppins"/>
              </a:rPr>
              <a:t>district level</a:t>
            </a:r>
            <a:r>
              <a:rPr sz="1800">
                <a:solidFill>
                  <a:srgbClr val="333333"/>
                </a:solidFill>
                <a:latin typeface="Poppins"/>
              </a:rPr>
              <a:t> rather than facility level. This is because patients frequently seek care from different facilities within the same district - a woman may have her ANC1 visit at a health post but travel to the district hospital for ANC4. Assessing at district level accounts for this patient movement.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the % of districts where indicator pairs meet expected relationships (e.g., ANC1 ≥ ANC4).</a:t>
            </a:r>
          </a:p>
          <a:p>
            <a:pPr>
              <a:spcAft>
                <a:spcPts val="1000"/>
              </a:spcAft>
            </a:pPr>
            <a:r>
              <a:rPr sz="1800" b="1">
                <a:solidFill>
                  <a:srgbClr val="21568C"/>
                </a:solidFill>
                <a:latin typeface="Poppins"/>
              </a:rPr>
              <a:t>Formula:</a:t>
            </a:r>
            <a:r>
              <a:rPr sz="1800">
                <a:solidFill>
                  <a:srgbClr val="333333"/>
                </a:solidFill>
                <a:latin typeface="Poppins"/>
              </a:rPr>
              <a:t> Consistency % = (districts meeting criteria / total districts) × 100</a:t>
            </a:r>
          </a:p>
          <a:p>
            <a:pPr>
              <a:spcAft>
                <a:spcPts val="1000"/>
              </a:spcAft>
            </a:pPr>
            <a:r>
              <a:rPr sz="1800" b="1">
                <a:solidFill>
                  <a:srgbClr val="21568C"/>
                </a:solidFill>
                <a:latin typeface="Poppins"/>
              </a:rPr>
              <a:t>Interpretation:</a:t>
            </a:r>
            <a:r>
              <a:rPr sz="1800">
                <a:solidFill>
                  <a:srgbClr val="333333"/>
                </a:solidFill>
                <a:latin typeface="Poppins"/>
              </a:rPr>
              <a:t> Low consistency may indicate data flow problems, double-counting, or systematic under-reporting at the district level.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mean: combining all quality dimensions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mean DQA score shows how close a facility's data is to meeting all quality criteria. A score of 100% means the data passes all DQA checks - no missing values, no outliers, and consistent reporting.</a:t>
            </a:r>
          </a:p>
          <a:p>
            <a:pPr>
              <a:spcAft>
                <a:spcPts val="1400"/>
              </a:spcAft>
            </a:pPr>
            <a:r>
              <a:rPr sz="1800" b="1">
                <a:solidFill>
                  <a:srgbClr val="21568C"/>
                </a:solidFill>
                <a:latin typeface="Poppins"/>
              </a:rPr>
              <a:t>Average DQA score across facilities</a:t>
            </a:r>
            <a:r>
              <a:rPr sz="1800">
                <a:solidFill>
                  <a:srgbClr val="333333"/>
                </a:solidFill>
                <a:latin typeface="Poppins"/>
              </a:rPr>
              <a:t> = (number of monthly values that are complete, not outliers, and consistent) ÷ (total number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mean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DQA mean by indicator and region, color-coded from red (poor) to green (good).</a:t>
            </a:r>
          </a:p>
          <a:p>
            <a:pPr>
              <a:spcAft>
                <a:spcPts val="1000"/>
              </a:spcAft>
            </a:pPr>
            <a:r>
              <a:rPr sz="1800" b="1">
                <a:solidFill>
                  <a:srgbClr val="21568C"/>
                </a:solidFill>
                <a:latin typeface="Poppins"/>
              </a:rPr>
              <a:t>Formula:</a:t>
            </a:r>
            <a:r>
              <a:rPr sz="1800">
                <a:solidFill>
                  <a:srgbClr val="333333"/>
                </a:solidFill>
                <a:latin typeface="Poppins"/>
              </a:rPr>
              <a:t> (values that are complete, not outliers, and consistent) ÷ (total values)</a:t>
            </a:r>
          </a:p>
          <a:p>
            <a:pPr>
              <a:spcAft>
                <a:spcPts val="1000"/>
              </a:spcAft>
            </a:pPr>
            <a:r>
              <a:rPr sz="1800" b="1">
                <a:solidFill>
                  <a:srgbClr val="21568C"/>
                </a:solidFill>
                <a:latin typeface="Poppins"/>
              </a:rPr>
              <a:t>Interpretation:</a:t>
            </a:r>
            <a:r>
              <a:rPr sz="1800">
                <a:solidFill>
                  <a:srgbClr val="333333"/>
                </a:solidFill>
                <a:latin typeface="Poppins"/>
              </a:rPr>
              <a:t> 100% = passes all checks. Use this to prioritize data quality improvement efforts.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Why adjust?</a:t>
            </a:r>
            <a:r>
              <a:rPr sz="1800">
                <a:solidFill>
                  <a:srgbClr val="333333"/>
                </a:solidFill>
                <a:latin typeface="Poppins"/>
              </a:rPr>
              <a:t> Outliers and reporting gaps identified in the DQA will distort service utilization and coverage estimates if left uncorrected. The goal is to replace problematic values with reasonable estimates based on each facility's own historical patterns.</a:t>
            </a:r>
          </a:p>
          <a:p>
            <a:pPr>
              <a:spcAft>
                <a:spcPts val="1400"/>
              </a:spcAft>
            </a:pPr>
            <a:r>
              <a:rPr sz="1800" b="1">
                <a:solidFill>
                  <a:srgbClr val="21568C"/>
                </a:solidFill>
                <a:latin typeface="Poppins"/>
              </a:rPr>
              <a:t>How?</a:t>
            </a:r>
            <a:r>
              <a:rPr sz="1800">
                <a:solidFill>
                  <a:srgbClr val="333333"/>
                </a:solidFill>
                <a:latin typeface="Poppins"/>
              </a:rPr>
              <a:t> Outliers and missing values are replaced using 6-month rolling averages from the facility's historical data.</a:t>
            </a:r>
          </a:p>
          <a:p>
            <a:pPr>
              <a:spcAft>
                <a:spcPts val="1400"/>
              </a:spcAft>
            </a:pPr>
            <a:r>
              <a:rPr sz="1800" b="1">
                <a:solidFill>
                  <a:srgbClr val="21568C"/>
                </a:solidFill>
                <a:latin typeface="Poppins"/>
              </a:rPr>
              <a:t>Four parallel datasets:</a:t>
            </a:r>
            <a:r>
              <a:rPr sz="1800">
                <a:solidFill>
                  <a:srgbClr val="333333"/>
                </a:solidFill>
                <a:latin typeface="Poppins"/>
              </a:rPr>
              <a:t> FASTR produces unadjusted, outliers-only adjusted, completeness-only adjusted, and both-adjusted versions. This enables sensitivity analysis - comparing results across scenarios to assess how much conclusions depend on adjustment choices.</a:t>
            </a:r>
          </a:p>
          <a:p>
            <a:pPr>
              <a:spcAft>
                <a:spcPts val="1400"/>
              </a:spcAft>
            </a:pPr>
            <a:r>
              <a:rPr sz="1800" b="1">
                <a:solidFill>
                  <a:srgbClr val="21568C"/>
                </a:solidFill>
                <a:latin typeface="Poppins"/>
              </a:rPr>
              <a:t>Excluded from adjustment:</a:t>
            </a:r>
            <a:r>
              <a:rPr sz="1800">
                <a:solidFill>
                  <a:srgbClr val="333333"/>
                </a:solidFill>
                <a:latin typeface="Poppins"/>
              </a:rPr>
              <a:t> Mortality indicators (discrete events that shouldn't be smoothed) and low-volume indicators (&lt;100 events/month, where adjustment adds noise).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how much service volume changed after replacing outliers with rolling averages.</a:t>
            </a:r>
          </a:p>
          <a:p>
            <a:pPr>
              <a:spcAft>
                <a:spcPts val="1000"/>
              </a:spcAft>
            </a:pPr>
            <a:r>
              <a:rPr sz="1800" b="1">
                <a:solidFill>
                  <a:srgbClr val="21568C"/>
                </a:solidFill>
                <a:latin typeface="Poppins"/>
              </a:rPr>
              <a:t>Formula:</a:t>
            </a:r>
            <a:r>
              <a:rPr sz="1800">
                <a:solidFill>
                  <a:srgbClr val="333333"/>
                </a:solidFill>
                <a:latin typeface="Poppins"/>
              </a:rPr>
              <a:t> % change = (adjusted - original) / original × 100</a:t>
            </a:r>
          </a:p>
          <a:p>
            <a:pPr>
              <a:spcAft>
                <a:spcPts val="1000"/>
              </a:spcAft>
            </a:pPr>
            <a:r>
              <a:rPr sz="1800" b="1">
                <a:solidFill>
                  <a:srgbClr val="21568C"/>
                </a:solidFill>
                <a:latin typeface="Poppins"/>
              </a:rPr>
              <a:t>Interpretation:</a:t>
            </a:r>
            <a:r>
              <a:rPr sz="1800">
                <a:solidFill>
                  <a:srgbClr val="333333"/>
                </a:solidFill>
                <a:latin typeface="Poppins"/>
              </a:rPr>
              <a:t> Values are typically negative (outliers removed reduce volume). Large adjustments warrant investigation into their source.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showing how much service volume changed after imputing missing data with rolling averages.</a:t>
            </a:r>
          </a:p>
          <a:p>
            <a:pPr>
              <a:spcAft>
                <a:spcPts val="1000"/>
              </a:spcAft>
            </a:pPr>
            <a:r>
              <a:rPr sz="1800" b="1">
                <a:solidFill>
                  <a:srgbClr val="21568C"/>
                </a:solidFill>
                <a:latin typeface="Poppins"/>
              </a:rPr>
              <a:t>Formula:</a:t>
            </a:r>
            <a:r>
              <a:rPr sz="1800">
                <a:solidFill>
                  <a:srgbClr val="333333"/>
                </a:solidFill>
                <a:latin typeface="Poppins"/>
              </a:rPr>
              <a:t> % change = (adjusted - original) / original × 100</a:t>
            </a:r>
          </a:p>
          <a:p>
            <a:pPr>
              <a:spcAft>
                <a:spcPts val="1000"/>
              </a:spcAft>
            </a:pPr>
            <a:r>
              <a:rPr sz="1800" b="1">
                <a:solidFill>
                  <a:srgbClr val="21568C"/>
                </a:solidFill>
                <a:latin typeface="Poppins"/>
              </a:rPr>
              <a:t>Interpretation:</a:t>
            </a:r>
            <a:r>
              <a:rPr sz="1800">
                <a:solidFill>
                  <a:srgbClr val="333333"/>
                </a:solidFill>
                <a:latin typeface="Poppins"/>
              </a:rPr>
              <a:t> Values are typically positive (imputation adds volume). Large adjustments indicate areas needing completeness improvement.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Service utilization analysis tracks how many health services are being delivered over time, identifying trends, anomalies, and comparisons across areas.</a:t>
            </a:r>
          </a:p>
          <a:p>
            <a:pPr>
              <a:spcAft>
                <a:spcPts val="1000"/>
              </a:spcAft>
            </a:pPr>
            <a:r>
              <a:rPr sz="1800" b="1">
                <a:solidFill>
                  <a:srgbClr val="21568C"/>
                </a:solidFill>
                <a:latin typeface="Poppins"/>
              </a:rPr>
              <a:t>What you see:</a:t>
            </a:r>
            <a:r>
              <a:rPr sz="1800">
                <a:solidFill>
                  <a:srgbClr val="333333"/>
                </a:solidFill>
                <a:latin typeface="Poppins"/>
              </a:rPr>
              <a:t> Line chart showing absolute service volumes over time by indicator.</a:t>
            </a:r>
          </a:p>
          <a:p>
            <a:pPr>
              <a:spcAft>
                <a:spcPts val="1000"/>
              </a:spcAft>
            </a:pPr>
            <a:r>
              <a:rPr sz="1800" b="1">
                <a:solidFill>
                  <a:srgbClr val="21568C"/>
                </a:solidFill>
                <a:latin typeface="Poppins"/>
              </a:rPr>
              <a:t>What it shows:</a:t>
            </a:r>
            <a:r>
              <a:rPr sz="1800">
                <a:solidFill>
                  <a:srgbClr val="333333"/>
                </a:solidFill>
                <a:latin typeface="Poppins"/>
              </a:rPr>
              <a:t> Count of services delivered each month/quarter.</a:t>
            </a:r>
          </a:p>
          <a:p>
            <a:pPr>
              <a:spcAft>
                <a:spcPts val="1000"/>
              </a:spcAft>
            </a:pPr>
            <a:r>
              <a:rPr sz="1800" b="1">
                <a:solidFill>
                  <a:srgbClr val="21568C"/>
                </a:solidFill>
                <a:latin typeface="Poppins"/>
              </a:rPr>
              <a:t>Interpretation:</a:t>
            </a:r>
            <a:r>
              <a:rPr sz="1800">
                <a:solidFill>
                  <a:srgbClr val="333333"/>
                </a:solidFill>
                <a:latin typeface="Poppins"/>
              </a:rPr>
              <a:t> Look for overall trends (increasing/decreasing) and sudden drops or spikes that may need investigation.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Heatmap comparing current period to same period last year, with changes &gt;±10% flagged.</a:t>
            </a:r>
          </a:p>
          <a:p>
            <a:pPr>
              <a:spcAft>
                <a:spcPts val="1000"/>
              </a:spcAft>
            </a:pPr>
            <a:r>
              <a:rPr sz="1800" b="1">
                <a:solidFill>
                  <a:srgbClr val="21568C"/>
                </a:solidFill>
                <a:latin typeface="Poppins"/>
              </a:rPr>
              <a:t>Formula:</a:t>
            </a:r>
            <a:r>
              <a:rPr sz="1800">
                <a:solidFill>
                  <a:srgbClr val="333333"/>
                </a:solidFill>
                <a:latin typeface="Poppins"/>
              </a:rPr>
              <a:t> YoY change % = (this year - last year) / last year × 100</a:t>
            </a:r>
          </a:p>
          <a:p>
            <a:pPr>
              <a:spcAft>
                <a:spcPts val="1000"/>
              </a:spcAft>
            </a:pPr>
            <a:r>
              <a:rPr sz="1800" b="1">
                <a:solidFill>
                  <a:srgbClr val="21568C"/>
                </a:solidFill>
                <a:latin typeface="Poppins"/>
              </a:rPr>
              <a:t>Interpretation:</a:t>
            </a:r>
            <a:r>
              <a:rPr sz="1800">
                <a:solidFill>
                  <a:srgbClr val="333333"/>
                </a:solidFill>
                <a:latin typeface="Poppins"/>
              </a:rPr>
              <a:t> Flagged changes require follow-up - is this a real program change, data issue, or expected event?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Detecting service disruptions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Beyond year-over-year comparisons, we want to know: </a:t>
            </a:r>
            <a:r>
              <a:rPr sz="1800" b="1">
                <a:solidFill>
                  <a:srgbClr val="21568C"/>
                </a:solidFill>
                <a:latin typeface="Poppins"/>
              </a:rPr>
              <a:t>Is service delivery on track, or has something disrupted it?</a:t>
            </a:r>
          </a:p>
          <a:p>
            <a:pPr>
              <a:spcAft>
                <a:spcPts val="1400"/>
              </a:spcAft>
            </a:pPr>
            <a:r>
              <a:rPr sz="1800" b="1">
                <a:solidFill>
                  <a:srgbClr val="21568C"/>
                </a:solidFill>
                <a:latin typeface="Poppins"/>
              </a:rPr>
              <a:t>The challenge:</a:t>
            </a:r>
            <a:r>
              <a:rPr sz="1800">
                <a:solidFill>
                  <a:srgbClr val="333333"/>
                </a:solidFill>
                <a:latin typeface="Poppins"/>
              </a:rPr>
              <a:t> Raw service counts are hard to interpret. A drop in services could be a real disruption, or just normal seasonal variation. Different areas have different baseline volumes, making direct comparison difficult.</a:t>
            </a:r>
          </a:p>
          <a:p>
            <a:pPr>
              <a:spcAft>
                <a:spcPts val="1400"/>
              </a:spcAft>
            </a:pPr>
            <a:r>
              <a:rPr sz="1800" b="1">
                <a:solidFill>
                  <a:srgbClr val="21568C"/>
                </a:solidFill>
                <a:latin typeface="Poppins"/>
              </a:rPr>
              <a:t>FASTR's solution:</a:t>
            </a:r>
            <a:r>
              <a:rPr sz="1800">
                <a:solidFill>
                  <a:srgbClr val="333333"/>
                </a:solidFill>
                <a:latin typeface="Poppins"/>
              </a:rPr>
              <a:t> Use statistical modeling to estimate what service volume we would </a:t>
            </a:r>
            <a:r>
              <a:rPr sz="1800" i="1">
                <a:solidFill>
                  <a:srgbClr val="1F9A9C"/>
                </a:solidFill>
                <a:latin typeface="Poppins"/>
              </a:rPr>
              <a:t>expect</a:t>
            </a:r>
            <a:r>
              <a:rPr sz="1800">
                <a:solidFill>
                  <a:srgbClr val="333333"/>
                </a:solidFill>
                <a:latin typeface="Poppins"/>
              </a:rPr>
              <a:t> based on historical trends and seasonality, then compare actual volume to this expectation.</a:t>
            </a:r>
          </a:p>
          <a:p>
            <a:pPr>
              <a:spcAft>
                <a:spcPts val="800"/>
              </a:spcAft>
            </a:pPr>
            <a:r>
              <a:rPr sz="1800">
                <a:solidFill>
                  <a:srgbClr val="D0CB17"/>
                </a:solidFill>
                <a:latin typeface="Poppins"/>
              </a:rPr>
              <a:t>• </a:t>
            </a:r>
            <a:r>
              <a:rPr sz="1800" b="1">
                <a:solidFill>
                  <a:srgbClr val="21568C"/>
                </a:solidFill>
                <a:latin typeface="Poppins"/>
              </a:rPr>
              <a:t>Disruption:</a:t>
            </a:r>
            <a:r>
              <a:rPr sz="1800">
                <a:solidFill>
                  <a:srgbClr val="2C3E50"/>
                </a:solidFill>
                <a:latin typeface="Poppins"/>
              </a:rPr>
              <a:t> Observed volume significantly below expected</a:t>
            </a:r>
          </a:p>
          <a:p>
            <a:pPr>
              <a:spcAft>
                <a:spcPts val="800"/>
              </a:spcAft>
            </a:pPr>
            <a:r>
              <a:rPr sz="1800">
                <a:solidFill>
                  <a:srgbClr val="D0CB17"/>
                </a:solidFill>
                <a:latin typeface="Poppins"/>
              </a:rPr>
              <a:t>• </a:t>
            </a:r>
            <a:r>
              <a:rPr sz="1800" b="1">
                <a:solidFill>
                  <a:srgbClr val="21568C"/>
                </a:solidFill>
                <a:latin typeface="Poppins"/>
              </a:rPr>
              <a:t>Surplus:</a:t>
            </a:r>
            <a:r>
              <a:rPr sz="1800">
                <a:solidFill>
                  <a:srgbClr val="2C3E50"/>
                </a:solidFill>
                <a:latin typeface="Poppins"/>
              </a:rPr>
              <a:t> Observed volume significantly above expected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disruption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Chart comparing actual service volume to model-predicted expected volume, accounting for seasonality.</a:t>
            </a:r>
          </a:p>
          <a:p>
            <a:pPr>
              <a:spcAft>
                <a:spcPts val="1000"/>
              </a:spcAft>
            </a:pPr>
            <a:r>
              <a:rPr sz="1800" b="1">
                <a:solidFill>
                  <a:srgbClr val="21568C"/>
                </a:solidFill>
                <a:latin typeface="Poppins"/>
              </a:rPr>
              <a:t>What it shows:</a:t>
            </a:r>
            <a:r>
              <a:rPr sz="1800">
                <a:solidFill>
                  <a:srgbClr val="333333"/>
                </a:solidFill>
                <a:latin typeface="Poppins"/>
              </a:rPr>
              <a:t> Deviations from expected - disruptions (below) or surpluses (above).</a:t>
            </a:r>
          </a:p>
          <a:p>
            <a:pPr>
              <a:spcAft>
                <a:spcPts val="1000"/>
              </a:spcAft>
            </a:pPr>
            <a:r>
              <a:rPr sz="1800" b="1">
                <a:solidFill>
                  <a:srgbClr val="21568C"/>
                </a:solidFill>
                <a:latin typeface="Poppins"/>
              </a:rPr>
              <a:t>Interpretation:</a:t>
            </a:r>
            <a:r>
              <a:rPr sz="1800">
                <a:solidFill>
                  <a:srgbClr val="333333"/>
                </a:solidFill>
                <a:latin typeface="Poppins"/>
              </a:rPr>
              <a:t> Consider external factors: COVID, strikes, stockouts, campaigns. Persistent deviations warrant program investigation.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Coverage</a:t>
            </a:r>
            <a:r>
              <a:rPr sz="1800">
                <a:solidFill>
                  <a:srgbClr val="333333"/>
                </a:solidFill>
                <a:latin typeface="Poppins"/>
              </a:rPr>
              <a:t> = services delivered ÷ target population</a:t>
            </a:r>
          </a:p>
          <a:p>
            <a:pPr>
              <a:spcAft>
                <a:spcPts val="1000"/>
              </a:spcAft>
            </a:pPr>
            <a:r>
              <a:rPr sz="1800">
                <a:solidFill>
                  <a:srgbClr val="333333"/>
                </a:solidFill>
                <a:latin typeface="Poppins"/>
              </a:rPr>
              <a:t>HMIS tells us how many services were delivered (numerator), but not the target population size (denominator). Standard HMIS coverage uses catchment populations, which are often inaccurate. Surveys (DHS/MICS) provide reliable coverage but only every 3-5 years.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FASTR estimates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Calculate denominators multiple ways:</a:t>
            </a:r>
            <a:r>
              <a:rPr sz="1800">
                <a:solidFill>
                  <a:srgbClr val="333333"/>
                </a:solidFill>
                <a:latin typeface="Poppins"/>
              </a:rPr>
              <a:t> From HMIS data, use service volumes combined with survey coverage to back-calculate target populations. For example, if 10,000 ANC1 visits and survey says 80% coverage, this implies ~12,500 pregnancies. Also calculate denominators from UN population projections using birth rates and demographic adjustments.</a:t>
            </a:r>
          </a:p>
          <a:p>
            <a:pPr>
              <a:spcAft>
                <a:spcPts val="1400"/>
              </a:spcAft>
            </a:pPr>
            <a:r>
              <a:rPr sz="1800" b="1">
                <a:solidFill>
                  <a:srgbClr val="21568C"/>
                </a:solidFill>
                <a:latin typeface="Poppins"/>
              </a:rPr>
              <a:t>Validate against surveys:</a:t>
            </a:r>
            <a:r>
              <a:rPr sz="1800">
                <a:solidFill>
                  <a:srgbClr val="333333"/>
                </a:solidFill>
                <a:latin typeface="Poppins"/>
              </a:rPr>
              <a:t> Calculate coverage using each denominator option, compare to survey benchmarks, and select the denominator with lowest error.</a:t>
            </a:r>
          </a:p>
          <a:p>
            <a:pPr>
              <a:spcAft>
                <a:spcPts val="1400"/>
              </a:spcAft>
            </a:pPr>
            <a:r>
              <a:rPr sz="1800" b="1">
                <a:solidFill>
                  <a:srgbClr val="21568C"/>
                </a:solidFill>
                <a:latin typeface="Poppins"/>
              </a:rPr>
              <a:t>Project coverage forward:</a:t>
            </a:r>
            <a:r>
              <a:rPr sz="1800">
                <a:solidFill>
                  <a:srgbClr val="333333"/>
                </a:solidFill>
                <a:latin typeface="Poppins"/>
              </a:rPr>
              <a:t> Anchor to the last survey value and apply year-over-year HMIS trends to extend estimates into post-survey years.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output: National trends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Line chart showing coverage over time. Black = survey, Grey = HMIS-derived, Red = projected.</a:t>
            </a:r>
          </a:p>
          <a:p>
            <a:pPr>
              <a:spcAft>
                <a:spcPts val="1000"/>
              </a:spcAft>
            </a:pPr>
            <a:r>
              <a:rPr sz="1800" b="1">
                <a:solidFill>
                  <a:srgbClr val="21568C"/>
                </a:solidFill>
                <a:latin typeface="Poppins"/>
              </a:rPr>
              <a:t>Formula:</a:t>
            </a:r>
            <a:r>
              <a:rPr sz="1800">
                <a:solidFill>
                  <a:srgbClr val="333333"/>
                </a:solidFill>
                <a:latin typeface="Poppins"/>
              </a:rPr>
              <a:t> Coverage % = (services / target population) × 100</a:t>
            </a:r>
          </a:p>
          <a:p>
            <a:pPr>
              <a:spcAft>
                <a:spcPts val="1000"/>
              </a:spcAft>
            </a:pPr>
            <a:r>
              <a:rPr sz="1800" b="1">
                <a:solidFill>
                  <a:srgbClr val="21568C"/>
                </a:solidFill>
                <a:latin typeface="Poppins"/>
              </a:rPr>
              <a:t>Interpretation:</a:t>
            </a:r>
            <a:r>
              <a:rPr sz="1800">
                <a:solidFill>
                  <a:srgbClr val="333333"/>
                </a:solidFill>
                <a:latin typeface="Poppins"/>
              </a:rPr>
              <a:t> Compare HMIS and survey values - large gaps suggest denominator issues. Projected values extend surveys using HMIS trends.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output: Subnational comparison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What you see:</a:t>
            </a:r>
            <a:r>
              <a:rPr sz="1800">
                <a:solidFill>
                  <a:srgbClr val="333333"/>
                </a:solidFill>
                <a:latin typeface="Poppins"/>
              </a:rPr>
              <a:t> Coverage estimates by subnational area, enabling geographic comparison.</a:t>
            </a:r>
          </a:p>
          <a:p>
            <a:pPr>
              <a:spcAft>
                <a:spcPts val="1000"/>
              </a:spcAft>
            </a:pPr>
            <a:r>
              <a:rPr sz="1800" b="1">
                <a:solidFill>
                  <a:srgbClr val="21568C"/>
                </a:solidFill>
                <a:latin typeface="Poppins"/>
              </a:rPr>
              <a:t>Formula:</a:t>
            </a:r>
            <a:r>
              <a:rPr sz="1800">
                <a:solidFill>
                  <a:srgbClr val="333333"/>
                </a:solidFill>
                <a:latin typeface="Poppins"/>
              </a:rPr>
              <a:t> Coverage % = (services / target population) × 100</a:t>
            </a:r>
          </a:p>
          <a:p>
            <a:pPr>
              <a:spcAft>
                <a:spcPts val="1000"/>
              </a:spcAft>
            </a:pPr>
            <a:r>
              <a:rPr sz="1800" b="1">
                <a:solidFill>
                  <a:srgbClr val="21568C"/>
                </a:solidFill>
                <a:latin typeface="Poppins"/>
              </a:rPr>
              <a:t>Interpretation:</a:t>
            </a:r>
            <a:r>
              <a:rPr sz="1800">
                <a:solidFill>
                  <a:srgbClr val="333333"/>
                </a:solidFill>
                <a:latin typeface="Poppins"/>
              </a:rPr>
              <a:t> Identify low-coverage areas for prioritization. Coverage &gt;100% suggests denominator underestimate or double-counting.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7: Creating a project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Creating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I do:</a:t>
            </a:r>
            <a:r>
              <a:rPr sz="1800">
                <a:solidFill>
                  <a:srgbClr val="333333"/>
                </a:solidFill>
                <a:latin typeface="Poppins"/>
              </a:rPr>
              <a:t> Facilitator demonstrates creating a time series chart for ANC1</a:t>
            </a:r>
          </a:p>
          <a:p>
            <a:pPr>
              <a:spcAft>
                <a:spcPts val="1000"/>
              </a:spcAft>
            </a:pPr>
            <a:r>
              <a:rPr sz="1800" b="1">
                <a:solidFill>
                  <a:srgbClr val="21568C"/>
                </a:solidFill>
                <a:latin typeface="Poppins"/>
              </a:rPr>
              <a:t>We do:</a:t>
            </a:r>
            <a:r>
              <a:rPr sz="1800">
                <a:solidFill>
                  <a:srgbClr val="333333"/>
                </a:solidFill>
                <a:latin typeface="Poppins"/>
              </a:rPr>
              <a:t> Together, we create a second visualization (bar chart comparing regions)</a:t>
            </a:r>
          </a:p>
          <a:p>
            <a:pPr>
              <a:spcAft>
                <a:spcPts val="1000"/>
              </a:spcAft>
            </a:pPr>
            <a:r>
              <a:rPr sz="1800" b="1">
                <a:solidFill>
                  <a:srgbClr val="21568C"/>
                </a:solidFill>
                <a:latin typeface="Poppins"/>
              </a:rPr>
              <a:t>You do:</a:t>
            </a:r>
            <a:r>
              <a:rPr sz="1800">
                <a:solidFill>
                  <a:srgbClr val="333333"/>
                </a:solidFill>
                <a:latin typeface="Poppins"/>
              </a:rPr>
              <a:t> Create one visualization of your choice and export it for your report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9: Creating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nds_on.png"/>
          <p:cNvPicPr>
            <a:picLocks noChangeAspect="1"/>
          </p:cNvPicPr>
          <p:nvPr/>
        </p:nvPicPr>
        <p:blipFill>
          <a:blip r:embed="rId2"/>
          <a:stretch>
            <a:fillRect/>
          </a:stretch>
        </p:blipFill>
        <p:spPr>
          <a:xfrm>
            <a:off x="1523847" y="1371600"/>
            <a:ext cx="9144000" cy="914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I do:</a:t>
            </a:r>
            <a:r>
              <a:rPr sz="1800">
                <a:solidFill>
                  <a:srgbClr val="333333"/>
                </a:solidFill>
                <a:latin typeface="Poppins"/>
              </a:rPr>
              <a:t> Facilitator demonstrates creating a report using the template</a:t>
            </a:r>
          </a:p>
          <a:p>
            <a:pPr>
              <a:spcAft>
                <a:spcPts val="1000"/>
              </a:spcAft>
            </a:pPr>
            <a:r>
              <a:rPr sz="1800" b="1">
                <a:solidFill>
                  <a:srgbClr val="21568C"/>
                </a:solidFill>
                <a:latin typeface="Poppins"/>
              </a:rPr>
              <a:t>We do:</a:t>
            </a:r>
            <a:r>
              <a:rPr sz="1800">
                <a:solidFill>
                  <a:srgbClr val="333333"/>
                </a:solidFill>
                <a:latin typeface="Poppins"/>
              </a:rPr>
              <a:t> Together, we use the AI assistant to generate report text from our visualizations</a:t>
            </a:r>
          </a:p>
          <a:p>
            <a:pPr>
              <a:spcAft>
                <a:spcPts val="1000"/>
              </a:spcAft>
            </a:pPr>
            <a:r>
              <a:rPr sz="1800" b="1">
                <a:solidFill>
                  <a:srgbClr val="21568C"/>
                </a:solidFill>
                <a:latin typeface="Poppins"/>
              </a:rPr>
              <a:t>You do:</a:t>
            </a:r>
            <a:r>
              <a:rPr sz="1800">
                <a:solidFill>
                  <a:srgbClr val="333333"/>
                </a:solidFill>
                <a:latin typeface="Poppins"/>
              </a:rPr>
              <a:t> Complete your draft report with your own content and export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Using the AI assistant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To interpret a visualization:</a:t>
            </a:r>
          </a:p>
          <a:p>
            <a:pPr>
              <a:spcAft>
                <a:spcPts val="1400"/>
              </a:spcAft>
            </a:pPr>
            <a:r>
              <a:rPr sz="1800">
                <a:solidFill>
                  <a:srgbClr val="333333"/>
                </a:solidFill>
                <a:latin typeface="Poppins"/>
              </a:rPr>
              <a:t>&gt; </a:t>
            </a:r>
            <a:r>
              <a:rPr sz="1800" i="1">
                <a:solidFill>
                  <a:srgbClr val="1F9A9C"/>
                </a:solidFill>
                <a:latin typeface="Poppins"/>
              </a:rPr>
              <a:t>"Describe what this chart shows and write 2-3 sentences summarizing the main findings for a Ministry of Health quarterly report."</a:t>
            </a:r>
          </a:p>
          <a:p>
            <a:pPr>
              <a:spcAft>
                <a:spcPts val="1400"/>
              </a:spcAft>
            </a:pPr>
            <a:r>
              <a:rPr sz="1800" b="1">
                <a:solidFill>
                  <a:srgbClr val="21568C"/>
                </a:solidFill>
                <a:latin typeface="Poppins"/>
              </a:rPr>
              <a:t>To analyze subnational variation:</a:t>
            </a:r>
          </a:p>
          <a:p>
            <a:pPr>
              <a:spcAft>
                <a:spcPts val="1400"/>
              </a:spcAft>
            </a:pPr>
            <a:r>
              <a:rPr sz="1800">
                <a:solidFill>
                  <a:srgbClr val="333333"/>
                </a:solidFill>
                <a:latin typeface="Poppins"/>
              </a:rPr>
              <a:t>&gt; </a:t>
            </a:r>
            <a:r>
              <a:rPr sz="1800" i="1">
                <a:solidFill>
                  <a:srgbClr val="1F9A9C"/>
                </a:solidFill>
                <a:latin typeface="Poppins"/>
              </a:rPr>
              <a:t>"Compare the regions shown in this chart. Which provinces are performing well and which need attention? Suggest possible reasons for the differences."</a:t>
            </a:r>
          </a:p>
          <a:p>
            <a:pPr>
              <a:spcAft>
                <a:spcPts val="1400"/>
              </a:spcAft>
            </a:pPr>
            <a:r>
              <a:rPr sz="1800">
                <a:solidFill>
                  <a:srgbClr val="333333"/>
                </a:solidFill>
                <a:latin typeface="Poppins"/>
              </a:rPr>
              <a:t>The AI will analyze your chart and generate text you can edit for your report.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633472"/>
        </p:xfrm>
        <a:graphic>
          <a:graphicData uri="http://schemas.openxmlformats.org/drawingml/2006/table">
            <a:tbl>
              <a:tblPr firstRow="1" bandRow="1">
                <a:tableStyleId>{5C22544A-7EE6-4342-B048-85BDC9FD1C3A}</a:tableStyleId>
              </a:tblPr>
              <a:tblGrid>
                <a:gridCol w="1828800"/>
                <a:gridCol w="6949440"/>
                <a:gridCol w="2011680"/>
              </a:tblGrid>
              <a:tr h="292608">
                <a:tc>
                  <a:txBody>
                    <a:bodyPr wrap="square"/>
                    <a:lstStyle/>
                    <a:p>
                      <a:pPr>
                        <a:defRPr sz="1400" b="1">
                          <a:solidFill>
                            <a:srgbClr val="21568C"/>
                          </a:solidFill>
                          <a:latin typeface="Poppins"/>
                        </a:defRPr>
                      </a:pPr>
                      <a:r>
                        <a:t>Time</a:t>
                      </a:r>
                    </a:p>
                  </a:txBody>
                  <a:tcPr>
                    <a:solidFill>
                      <a:srgbClr val="CAE6E9"/>
                    </a:solidFill>
                  </a:tcPr>
                </a:tc>
                <a:tc>
                  <a:txBody>
                    <a:bodyPr wrap="square"/>
                    <a:lstStyle/>
                    <a:p>
                      <a:pPr>
                        <a:defRPr sz="1400" b="1">
                          <a:solidFill>
                            <a:srgbClr val="21568C"/>
                          </a:solidFill>
                          <a:latin typeface="Poppins"/>
                        </a:defRPr>
                      </a:pPr>
                      <a:r>
                        <a:t>Agenda</a:t>
                      </a:r>
                    </a:p>
                  </a:txBody>
                  <a:tcPr>
                    <a:solidFill>
                      <a:srgbClr val="CAE6E9"/>
                    </a:solidFill>
                  </a:tcPr>
                </a:tc>
                <a:tc>
                  <a:txBody>
                    <a:bodyPr wrap="square"/>
                    <a:lstStyle/>
                    <a:p>
                      <a:pPr>
                        <a:defRPr sz="1400" b="1">
                          <a:solidFill>
                            <a:srgbClr val="21568C"/>
                          </a:solidFill>
                          <a:latin typeface="Poppins"/>
                        </a:defRPr>
                      </a:pPr>
                      <a:r>
                        <a:t>Facilitator/Presenter</a:t>
                      </a:r>
                    </a:p>
                  </a:txBody>
                  <a:tcPr>
                    <a:solidFill>
                      <a:srgbClr val="CAE6E9"/>
                    </a:solidFill>
                  </a:tcPr>
                </a:tc>
              </a:tr>
              <a:tr h="292608">
                <a:tc>
                  <a:txBody>
                    <a:bodyPr wrap="square"/>
                    <a:lstStyle/>
                    <a:p>
                      <a:r>
                        <a:rPr sz="1400">
                          <a:solidFill>
                            <a:srgbClr val="2C3E50"/>
                          </a:solidFill>
                          <a:latin typeface="Poppins"/>
                        </a:rPr>
                        <a:t>09:00-09:15</a:t>
                      </a:r>
                    </a:p>
                  </a:txBody>
                  <a:tcPr/>
                </a:tc>
                <a:tc>
                  <a:txBody>
                    <a:bodyPr wrap="square"/>
                    <a:lstStyle/>
                    <a:p>
                      <a:r>
                        <a:rPr sz="1400">
                          <a:solidFill>
                            <a:srgbClr val="2C3E50"/>
                          </a:solidFill>
                          <a:latin typeface="Poppins"/>
                        </a:rPr>
                        <a:t>Recap and Day 3 agenda</a:t>
                      </a:r>
                    </a:p>
                  </a:txBody>
                  <a:tcPr/>
                </a:tc>
                <a:tc>
                  <a:txBody>
                    <a:bodyPr wrap="square"/>
                    <a:lstStyle/>
                    <a:p>
                      <a:r>
                        <a:rPr sz="1400">
                          <a:solidFill>
                            <a:srgbClr val="2C3E50"/>
                          </a:solidFill>
                          <a:latin typeface="Poppins"/>
                        </a:rPr>
                        <a:t>GFF FASTR team</a:t>
                      </a:r>
                    </a:p>
                  </a:txBody>
                  <a:tcPr/>
                </a:tc>
              </a:tr>
              <a:tr h="292608">
                <a:tc gridSpan="3">
                  <a:txBody>
                    <a:bodyPr wrap="none"/>
                    <a:lstStyle/>
                    <a:p>
                      <a:pPr>
                        <a:defRPr sz="1400" b="1">
                          <a:solidFill>
                            <a:srgbClr val="09544F"/>
                          </a:solidFill>
                          <a:latin typeface="Poppins"/>
                        </a:defRPr>
                      </a:pPr>
                      <a:r>
                        <a:t>Session 10: Creating a Q4 2025 report</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09:15-12:30</a:t>
                      </a:r>
                    </a:p>
                  </a:txBody>
                  <a:tcPr/>
                </a:tc>
                <a:tc>
                  <a:txBody>
                    <a:bodyPr wrap="square"/>
                    <a:lstStyle/>
                    <a:p>
                      <a:r>
                        <a:rPr sz="1400">
                          <a:solidFill>
                            <a:srgbClr val="2C3E50"/>
                          </a:solidFill>
                          <a:latin typeface="Poppins"/>
                        </a:rPr>
                        <a:t>Creating short and long reports with country context</a:t>
                      </a:r>
                    </a:p>
                  </a:txBody>
                  <a:tcPr/>
                </a:tc>
                <a:tc>
                  <a:txBody>
                    <a:bodyPr wrap="square"/>
                    <a:lstStyle/>
                    <a:p>
                      <a:r>
                        <a:rPr sz="1400">
                          <a:solidFill>
                            <a:srgbClr val="2C3E50"/>
                          </a:solidFill>
                          <a:latin typeface="Poppins"/>
                        </a:rPr>
                        <a:t>GFF FASTR team</a:t>
                      </a:r>
                    </a:p>
                  </a:txBody>
                  <a:tcPr/>
                </a:tc>
              </a:tr>
              <a:tr h="292608">
                <a:tc>
                  <a:txBody>
                    <a:bodyPr wrap="square"/>
                    <a:lstStyle/>
                    <a:p>
                      <a:r>
                        <a:rPr sz="1400">
                          <a:solidFill>
                            <a:srgbClr val="2C3E50"/>
                          </a:solidFill>
                          <a:latin typeface="Poppins"/>
                        </a:rPr>
                        <a:t>12:30-14:00</a:t>
                      </a:r>
                    </a:p>
                  </a:txBody>
                  <a:tcPr/>
                </a:tc>
                <a:tc>
                  <a:txBody>
                    <a:bodyPr wrap="square"/>
                    <a:lstStyle/>
                    <a:p>
                      <a:r>
                        <a:rPr sz="1400" i="1">
                          <a:solidFill>
                            <a:srgbClr val="1F9A9C"/>
                          </a:solidFill>
                          <a:latin typeface="Poppins"/>
                        </a:rPr>
                        <a:t>Lunch Break</a:t>
                      </a:r>
                    </a:p>
                  </a:txBody>
                  <a:tcPr/>
                </a:tc>
                <a:tc>
                  <a:txBody>
                    <a:bodyPr wrap="square"/>
                    <a:lstStyle/>
                    <a:p/>
                  </a:txBody>
                  <a:tcPr/>
                </a:tc>
              </a:tr>
              <a:tr h="292608">
                <a:tc gridSpan="3">
                  <a:txBody>
                    <a:bodyPr wrap="none"/>
                    <a:lstStyle/>
                    <a:p>
                      <a:pPr>
                        <a:defRPr sz="1400" b="1">
                          <a:solidFill>
                            <a:srgbClr val="09544F"/>
                          </a:solidFill>
                          <a:latin typeface="Poppins"/>
                        </a:defRPr>
                      </a:pPr>
                      <a:r>
                        <a:t>Session 10 (cont'd): Creating a Q4 2025 report</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14:00-15:30</a:t>
                      </a:r>
                    </a:p>
                  </a:txBody>
                  <a:tcPr/>
                </a:tc>
                <a:tc>
                  <a:txBody>
                    <a:bodyPr wrap="square"/>
                    <a:lstStyle/>
                    <a:p>
                      <a:r>
                        <a:rPr sz="1400">
                          <a:solidFill>
                            <a:srgbClr val="2C3E50"/>
                          </a:solidFill>
                          <a:latin typeface="Poppins"/>
                        </a:rPr>
                        <a:t>Continue report creation with country context</a:t>
                      </a:r>
                    </a:p>
                  </a:txBody>
                  <a:tcPr/>
                </a:tc>
                <a:tc>
                  <a:txBody>
                    <a:bodyPr wrap="square"/>
                    <a:lstStyle/>
                    <a:p>
                      <a:r>
                        <a:rPr sz="1400">
                          <a:solidFill>
                            <a:srgbClr val="2C3E50"/>
                          </a:solidFill>
                          <a:latin typeface="Poppins"/>
                        </a:rPr>
                        <a:t>GFF FASTR team</a:t>
                      </a:r>
                    </a:p>
                  </a:txBody>
                  <a:tcPr/>
                </a:tc>
              </a:tr>
              <a:tr h="292608">
                <a:tc gridSpan="3">
                  <a:txBody>
                    <a:bodyPr wrap="none"/>
                    <a:lstStyle/>
                    <a:p>
                      <a:pPr>
                        <a:defRPr sz="1400" b="1">
                          <a:solidFill>
                            <a:srgbClr val="09544F"/>
                          </a:solidFill>
                          <a:latin typeface="Poppins"/>
                        </a:defRPr>
                      </a:pPr>
                      <a:r>
                        <a:t>Session 11: Presenting reports</a:t>
                      </a:r>
                    </a:p>
                  </a:txBody>
                  <a:tcPr>
                    <a:solidFill>
                      <a:srgbClr val="E8F4F3"/>
                    </a:solidFill>
                  </a:tcPr>
                </a:tc>
                <a:tc hMerge="1">
                  <a:txBody>
                    <a:bodyPr/>
                    <a:lstStyle/>
                    <a:p/>
                  </a:txBody>
                  <a:tcPr/>
                </a:tc>
                <a:tc hMerge="1">
                  <a:txBody>
                    <a:bodyPr/>
                    <a:lstStyle/>
                    <a:p/>
                  </a:txBody>
                  <a:tcPr/>
                </a:tc>
              </a:tr>
              <a:tr h="292608">
                <a:tc>
                  <a:txBody>
                    <a:bodyPr wrap="square"/>
                    <a:lstStyle/>
                    <a:p>
                      <a:r>
                        <a:rPr sz="1400">
                          <a:solidFill>
                            <a:srgbClr val="2C3E50"/>
                          </a:solidFill>
                          <a:latin typeface="Poppins"/>
                        </a:rPr>
                        <a:t>15:30-16:30</a:t>
                      </a:r>
                    </a:p>
                  </a:txBody>
                  <a:tcPr/>
                </a:tc>
                <a:tc>
                  <a:txBody>
                    <a:bodyPr wrap="square"/>
                    <a:lstStyle/>
                    <a:p>
                      <a:r>
                        <a:rPr sz="1400">
                          <a:solidFill>
                            <a:srgbClr val="2C3E50"/>
                          </a:solidFill>
                          <a:latin typeface="Poppins"/>
                        </a:rPr>
                        <a:t>Present reports, group feedback</a:t>
                      </a:r>
                    </a:p>
                  </a:txBody>
                  <a:tcPr/>
                </a:tc>
                <a:tc>
                  <a:txBody>
                    <a:bodyPr wrap="square"/>
                    <a:lstStyle/>
                    <a:p>
                      <a:r>
                        <a:rPr sz="1400">
                          <a:solidFill>
                            <a:srgbClr val="2C3E50"/>
                          </a:solidFill>
                          <a:latin typeface="Poppins"/>
                        </a:rPr>
                        <a:t>GFF FASTR team</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10: Creating a Q4 2025 report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11: Presenting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 of 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hought.png"/>
          <p:cNvPicPr>
            <a:picLocks noChangeAspect="1"/>
          </p:cNvPicPr>
          <p:nvPr/>
        </p:nvPicPr>
        <p:blipFill>
          <a:blip r:embed="rId2"/>
          <a:stretch>
            <a:fillRect/>
          </a:stretch>
        </p:blipFill>
        <p:spPr>
          <a:xfrm>
            <a:off x="1523847" y="1371600"/>
            <a:ext cx="9144000" cy="91440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Recap and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13 (cont'd): Questionnaire adaptation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14: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12: Overview of FASTR HFA phone survey</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