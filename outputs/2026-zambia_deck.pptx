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828800"/>
            <a:ext cx="10362895" cy="1097280"/>
          </a:xfrm>
          <a:prstGeom prst="rect">
            <a:avLst/>
          </a:prstGeom>
          <a:noFill/>
        </p:spPr>
        <p:txBody>
          <a:bodyPr wrap="square"/>
          <a:lstStyle/>
          <a:p>
            <a:pPr algn="ctr">
              <a:defRPr sz="3200" b="1" i="0">
                <a:solidFill>
                  <a:srgbClr val="09544F"/>
                </a:solidFill>
                <a:latin typeface="Calibri"/>
              </a:defRPr>
            </a:pPr>
            <a:r>
              <a:t>In-Country Working Session: FASTR Implementation &amp; RMNCAH-N Service Monitoring Analysis</a:t>
            </a:r>
          </a:p>
        </p:txBody>
      </p:sp>
      <p:sp>
        <p:nvSpPr>
          <p:cNvPr id="3" name="Rectangle 2"/>
          <p:cNvSpPr/>
          <p:nvPr/>
        </p:nvSpPr>
        <p:spPr>
          <a:xfrm>
            <a:off x="2743200" y="2926080"/>
            <a:ext cx="6705295" cy="54864"/>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457200"/>
          </a:xfrm>
          <a:prstGeom prst="rect">
            <a:avLst/>
          </a:prstGeom>
          <a:noFill/>
        </p:spPr>
        <p:txBody>
          <a:bodyPr wrap="square"/>
          <a:lstStyle/>
          <a:p>
            <a:pPr algn="ctr">
              <a:defRPr sz="2600" b="0" i="0">
                <a:solidFill>
                  <a:srgbClr val="21568C"/>
                </a:solidFill>
                <a:latin typeface="Calibri"/>
              </a:defRPr>
            </a:pPr>
            <a:r>
              <a:t>January 27-30, 2026 | Lusaka</a:t>
            </a:r>
          </a:p>
        </p:txBody>
      </p:sp>
      <p:sp>
        <p:nvSpPr>
          <p:cNvPr id="5" name="TextBox 4"/>
          <p:cNvSpPr txBox="1"/>
          <p:nvPr/>
        </p:nvSpPr>
        <p:spPr>
          <a:xfrm>
            <a:off x="914400" y="3840480"/>
            <a:ext cx="10362895" cy="365760"/>
          </a:xfrm>
          <a:prstGeom prst="rect">
            <a:avLst/>
          </a:prstGeom>
          <a:noFill/>
        </p:spPr>
        <p:txBody>
          <a:bodyPr wrap="square"/>
          <a:lstStyle/>
          <a:p>
            <a:pPr algn="ctr">
              <a:defRPr sz="1800" b="0" i="0">
                <a:solidFill>
                  <a:srgbClr val="2C3E50"/>
                </a:solidFill>
                <a:latin typeface="Calibri"/>
              </a:defRPr>
            </a:pPr>
            <a:br/>
            <a:br/>
          </a:p>
        </p:txBody>
      </p:sp>
      <p:pic>
        <p:nvPicPr>
          <p:cNvPr id="6" name="Picture 5" descr="FASTR_Primary_01_FullName.png"/>
          <p:cNvPicPr>
            <a:picLocks noChangeAspect="1"/>
          </p:cNvPicPr>
          <p:nvPr/>
        </p:nvPicPr>
        <p:blipFill>
          <a:blip r:embed="rId2"/>
          <a:stretch>
            <a:fillRect/>
          </a:stretch>
        </p:blipFill>
        <p:spPr>
          <a:xfrm>
            <a:off x="9601200" y="5669280"/>
            <a:ext cx="2103120" cy="89203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gridSpan="3">
                  <a:txBody>
                    <a:bodyPr wrap="none"/>
                    <a:lstStyle/>
                    <a:p>
                      <a:pPr>
                        <a:defRPr sz="1200" b="1">
                          <a:solidFill>
                            <a:srgbClr val="09544F"/>
                          </a:solidFill>
                          <a:latin typeface="Calibri"/>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08:30-09:00</a:t>
                      </a:r>
                    </a:p>
                  </a:txBody>
                  <a:tcPr/>
                </a:tc>
                <a:tc>
                  <a:txBody>
                    <a:bodyPr wrap="square"/>
                    <a:lstStyle/>
                    <a:p>
                      <a:r>
                        <a:rPr sz="1200">
                          <a:solidFill>
                            <a:srgbClr val="2C3E50"/>
                          </a:solidFill>
                          <a:latin typeface="Calibri"/>
                        </a:rPr>
                        <a:t>Participant registration</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09:00-09:10</a:t>
                      </a:r>
                    </a:p>
                  </a:txBody>
                  <a:tcPr/>
                </a:tc>
                <a:tc>
                  <a:txBody>
                    <a:bodyPr wrap="square"/>
                    <a:lstStyle/>
                    <a:p>
                      <a:r>
                        <a:rPr sz="1200">
                          <a:solidFill>
                            <a:srgbClr val="2C3E50"/>
                          </a:solidFill>
                          <a:latin typeface="Calibri"/>
                        </a:rPr>
                        <a:t>Welcome and opening remarks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09:10-09:20</a:t>
                      </a:r>
                    </a:p>
                  </a:txBody>
                  <a:tcPr/>
                </a:tc>
                <a:tc>
                  <a:txBody>
                    <a:bodyPr wrap="square"/>
                    <a:lstStyle/>
                    <a:p>
                      <a:r>
                        <a:rPr sz="1200">
                          <a:solidFill>
                            <a:srgbClr val="2C3E50"/>
                          </a:solidFill>
                          <a:latin typeface="Calibri"/>
                        </a:rPr>
                        <a:t>Icebreakers/Introductions</a:t>
                      </a:r>
                    </a:p>
                  </a:txBody>
                  <a:tcPr/>
                </a:tc>
                <a:tc>
                  <a:txBody>
                    <a:bodyPr wrap="square"/>
                    <a:lstStyle/>
                    <a:p>
                      <a:r>
                        <a:rPr sz="1200">
                          <a:solidFill>
                            <a:srgbClr val="2C3E50"/>
                          </a:solidFill>
                          <a:latin typeface="Calibri"/>
                        </a:rPr>
                        <a:t>MoH team</a:t>
                      </a:r>
                    </a:p>
                  </a:txBody>
                  <a:tcPr/>
                </a:tc>
              </a:tr>
              <a:tr h="256032">
                <a:tc>
                  <a:txBody>
                    <a:bodyPr wrap="square"/>
                    <a:lstStyle/>
                    <a:p>
                      <a:r>
                        <a:rPr sz="1200">
                          <a:solidFill>
                            <a:srgbClr val="2C3E50"/>
                          </a:solidFill>
                          <a:latin typeface="Calibri"/>
                        </a:rPr>
                        <a:t>09:20-09:35</a:t>
                      </a:r>
                    </a:p>
                  </a:txBody>
                  <a:tcPr/>
                </a:tc>
                <a:tc>
                  <a:txBody>
                    <a:bodyPr wrap="square"/>
                    <a:lstStyle/>
                    <a:p>
                      <a:r>
                        <a:rPr sz="1200">
                          <a:solidFill>
                            <a:srgbClr val="2C3E50"/>
                          </a:solidFill>
                          <a:latin typeface="Calibri"/>
                        </a:rPr>
                        <a:t>Overview of agenda, workshop objectives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09:35-10:30</a:t>
                      </a:r>
                    </a:p>
                  </a:txBody>
                  <a:tcPr/>
                </a:tc>
                <a:tc>
                  <a:txBody>
                    <a:bodyPr wrap="square"/>
                    <a:lstStyle/>
                    <a:p>
                      <a:r>
                        <a:rPr sz="1200">
                          <a:solidFill>
                            <a:srgbClr val="2C3E50"/>
                          </a:solidFill>
                          <a:latin typeface="Calibri"/>
                        </a:rPr>
                        <a:t>Overview: FASTR Approaches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10:30-11:30</a:t>
                      </a:r>
                    </a:p>
                  </a:txBody>
                  <a:tcPr/>
                </a:tc>
                <a:tc>
                  <a:txBody>
                    <a:bodyPr wrap="square"/>
                    <a:lstStyle/>
                    <a:p>
                      <a:r>
                        <a:rPr sz="1200">
                          <a:solidFill>
                            <a:srgbClr val="2C3E50"/>
                          </a:solidFill>
                          <a:latin typeface="Calibri"/>
                        </a:rPr>
                        <a:t>Data extraction: Rationale and methods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11:30-12:30</a:t>
                      </a:r>
                    </a:p>
                  </a:txBody>
                  <a:tcPr/>
                </a:tc>
                <a:tc>
                  <a:txBody>
                    <a:bodyPr wrap="square"/>
                    <a:lstStyle/>
                    <a:p>
                      <a:r>
                        <a:rPr sz="1200">
                          <a:solidFill>
                            <a:srgbClr val="2C3E50"/>
                          </a:solidFill>
                          <a:latin typeface="Calibri"/>
                        </a:rPr>
                        <a:t>Introduction to the FASTR analytics platform</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a:txBody>
                    <a:bodyPr wrap="square"/>
                    <a:lstStyle/>
                    <a:p>
                      <a:r>
                        <a:rPr sz="1200">
                          <a:solidFill>
                            <a:srgbClr val="2C3E50"/>
                          </a:solidFill>
                          <a:latin typeface="Calibri"/>
                        </a:rPr>
                        <a:t>14:00-14:30</a:t>
                      </a:r>
                    </a:p>
                  </a:txBody>
                  <a:tcPr/>
                </a:tc>
                <a:tc>
                  <a:txBody>
                    <a:bodyPr wrap="square"/>
                    <a:lstStyle/>
                    <a:p>
                      <a:r>
                        <a:rPr sz="1200">
                          <a:solidFill>
                            <a:srgbClr val="2C3E50"/>
                          </a:solidFill>
                          <a:latin typeface="Calibri"/>
                        </a:rPr>
                        <a:t>Getting participants into the platform</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Configuring the analysis platform</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2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Data quality, service utilization, coverage</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10:15-11:15</a:t>
                      </a:r>
                    </a:p>
                  </a:txBody>
                  <a:tcPr/>
                </a:tc>
                <a:tc>
                  <a:txBody>
                    <a:bodyPr wrap="square"/>
                    <a:lstStyle/>
                    <a:p>
                      <a:r>
                        <a:rPr sz="1200">
                          <a:solidFill>
                            <a:srgbClr val="2C3E50"/>
                          </a:solidFill>
                          <a:latin typeface="Calibri"/>
                        </a:rPr>
                        <a:t>Project creation and settings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11:15-12:30</a:t>
                      </a:r>
                    </a:p>
                  </a:txBody>
                  <a:tcPr/>
                </a:tc>
                <a:tc>
                  <a:txBody>
                    <a:bodyPr wrap="square"/>
                    <a:lstStyle/>
                    <a:p>
                      <a:r>
                        <a:rPr sz="1200">
                          <a:solidFill>
                            <a:srgbClr val="2C3E50"/>
                          </a:solidFill>
                          <a:latin typeface="Calibri"/>
                        </a:rPr>
                        <a:t>Creating and editing visualizations</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14:30-16:30</a:t>
                      </a:r>
                    </a:p>
                  </a:txBody>
                  <a:tcPr/>
                </a:tc>
                <a:tc>
                  <a:txBody>
                    <a:bodyPr wrap="square"/>
                    <a:lstStyle/>
                    <a:p>
                      <a:r>
                        <a:rPr sz="1200">
                          <a:solidFill>
                            <a:srgbClr val="2C3E50"/>
                          </a:solidFill>
                          <a:latin typeface="Calibri"/>
                        </a:rPr>
                        <a:t>Practice creating and editing reports</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3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Approaches to support interpretation</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Creating short and long reports with country context</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report creation with country context</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Present reports, group feedback</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Calibri"/>
                        </a:defRPr>
                      </a:pPr>
                      <a:r>
                        <a:t>Time</a:t>
                      </a:r>
                    </a:p>
                  </a:txBody>
                  <a:tcPr>
                    <a:solidFill>
                      <a:srgbClr val="CAE6E9"/>
                    </a:solidFill>
                  </a:tcPr>
                </a:tc>
                <a:tc>
                  <a:txBody>
                    <a:bodyPr wrap="square"/>
                    <a:lstStyle/>
                    <a:p>
                      <a:pPr>
                        <a:defRPr sz="1200" b="1">
                          <a:solidFill>
                            <a:srgbClr val="21568C"/>
                          </a:solidFill>
                          <a:latin typeface="Calibri"/>
                        </a:defRPr>
                      </a:pPr>
                      <a:r>
                        <a:t>Agenda</a:t>
                      </a:r>
                    </a:p>
                  </a:txBody>
                  <a:tcPr>
                    <a:solidFill>
                      <a:srgbClr val="CAE6E9"/>
                    </a:solidFill>
                  </a:tcPr>
                </a:tc>
                <a:tc>
                  <a:txBody>
                    <a:bodyPr wrap="square"/>
                    <a:lstStyle/>
                    <a:p>
                      <a:pPr>
                        <a:defRPr sz="1200" b="1">
                          <a:solidFill>
                            <a:srgbClr val="21568C"/>
                          </a:solidFill>
                          <a:latin typeface="Calibri"/>
                        </a:defRPr>
                      </a:pPr>
                      <a:r>
                        <a:t>Facilitator/Presenter</a:t>
                      </a:r>
                    </a:p>
                  </a:txBody>
                  <a:tcPr>
                    <a:solidFill>
                      <a:srgbClr val="CAE6E9"/>
                    </a:solidFill>
                  </a:tcPr>
                </a:tc>
              </a:tr>
              <a:tr h="256032">
                <a:tc>
                  <a:txBody>
                    <a:bodyPr wrap="square"/>
                    <a:lstStyle/>
                    <a:p>
                      <a:r>
                        <a:rPr sz="1200">
                          <a:solidFill>
                            <a:srgbClr val="2C3E50"/>
                          </a:solidFill>
                          <a:latin typeface="Calibri"/>
                        </a:rPr>
                        <a:t>09:00-09:15</a:t>
                      </a:r>
                    </a:p>
                  </a:txBody>
                  <a:tcPr/>
                </a:tc>
                <a:tc>
                  <a:txBody>
                    <a:bodyPr wrap="square"/>
                    <a:lstStyle/>
                    <a:p>
                      <a:r>
                        <a:rPr sz="1200">
                          <a:solidFill>
                            <a:srgbClr val="2C3E50"/>
                          </a:solidFill>
                          <a:latin typeface="Calibri"/>
                        </a:rPr>
                        <a:t>Overview of Day 4 agenda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09:15-10:15</a:t>
                      </a:r>
                    </a:p>
                  </a:txBody>
                  <a:tcPr/>
                </a:tc>
                <a:tc>
                  <a:txBody>
                    <a:bodyPr wrap="square"/>
                    <a:lstStyle/>
                    <a:p>
                      <a:r>
                        <a:rPr sz="1200">
                          <a:solidFill>
                            <a:srgbClr val="2C3E50"/>
                          </a:solidFill>
                          <a:latin typeface="Calibri"/>
                        </a:rPr>
                        <a:t>HFA overview and questionnaire adaptation guidelines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10:15-12:30</a:t>
                      </a:r>
                    </a:p>
                  </a:txBody>
                  <a:tcPr/>
                </a:tc>
                <a:tc>
                  <a:txBody>
                    <a:bodyPr wrap="square"/>
                    <a:lstStyle/>
                    <a:p>
                      <a:r>
                        <a:rPr sz="1200">
                          <a:solidFill>
                            <a:srgbClr val="2C3E50"/>
                          </a:solidFill>
                          <a:latin typeface="Calibri"/>
                        </a:rPr>
                        <a:t>Review questionnaire + hands-on adaptation</a:t>
                      </a:r>
                    </a:p>
                  </a:txBody>
                  <a:tcPr/>
                </a:tc>
                <a:tc>
                  <a:txBody>
                    <a:bodyPr wrap="square"/>
                    <a:lstStyle/>
                    <a:p>
                      <a:r>
                        <a:rPr sz="1200">
                          <a:solidFill>
                            <a:srgbClr val="2C3E50"/>
                          </a:solidFill>
                          <a:latin typeface="Calibri"/>
                        </a:rPr>
                        <a:t>GFF FASTR team</a:t>
                      </a:r>
                    </a:p>
                  </a:txBody>
                  <a:tcPr/>
                </a:tc>
              </a:tr>
              <a:tr h="256032">
                <a:tc>
                  <a:txBody>
                    <a:bodyPr wrap="square"/>
                    <a:lstStyle/>
                    <a:p>
                      <a:r>
                        <a:rPr sz="1200">
                          <a:solidFill>
                            <a:srgbClr val="2C3E50"/>
                          </a:solidFill>
                          <a:latin typeface="Calibri"/>
                        </a:rPr>
                        <a:t>12:30-14:00</a:t>
                      </a:r>
                    </a:p>
                  </a:txBody>
                  <a:tcPr/>
                </a:tc>
                <a:tc>
                  <a:txBody>
                    <a:bodyPr wrap="square"/>
                    <a:lstStyle/>
                    <a:p>
                      <a:r>
                        <a:rPr sz="1200" i="1">
                          <a:solidFill>
                            <a:srgbClr val="1F9A9C"/>
                          </a:solidFill>
                          <a:latin typeface="Calibri"/>
                        </a:rPr>
                        <a:t>Lunch Break</a:t>
                      </a:r>
                    </a:p>
                  </a:txBody>
                  <a:tcPr/>
                </a:tc>
                <a:tc>
                  <a:txBody>
                    <a:bodyPr wrap="square"/>
                    <a:lstStyle/>
                    <a:p/>
                  </a:txBody>
                  <a:tcPr/>
                </a:tc>
              </a:tr>
              <a:tr h="256032">
                <a:tc gridSpan="3">
                  <a:txBody>
                    <a:bodyPr wrap="none"/>
                    <a:lstStyle/>
                    <a:p>
                      <a:pPr>
                        <a:defRPr sz="1200" b="1">
                          <a:solidFill>
                            <a:srgbClr val="09544F"/>
                          </a:solidFill>
                          <a:latin typeface="Calibri"/>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14:00-15:00</a:t>
                      </a:r>
                    </a:p>
                  </a:txBody>
                  <a:tcPr/>
                </a:tc>
                <a:tc>
                  <a:txBody>
                    <a:bodyPr wrap="square"/>
                    <a:lstStyle/>
                    <a:p>
                      <a:r>
                        <a:rPr sz="1200">
                          <a:solidFill>
                            <a:srgbClr val="2C3E50"/>
                          </a:solidFill>
                          <a:latin typeface="Calibri"/>
                        </a:rPr>
                        <a:t>Continue questionnaire adaptation (in groups)</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14:30-15:30</a:t>
                      </a:r>
                    </a:p>
                  </a:txBody>
                  <a:tcPr/>
                </a:tc>
                <a:tc>
                  <a:txBody>
                    <a:bodyPr wrap="square"/>
                    <a:lstStyle/>
                    <a:p>
                      <a:r>
                        <a:rPr sz="1200">
                          <a:solidFill>
                            <a:srgbClr val="2C3E50"/>
                          </a:solidFill>
                          <a:latin typeface="Calibri"/>
                        </a:rPr>
                        <a:t>Discuss adapted questionnaire in plenary</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15:30-16:30</a:t>
                      </a:r>
                    </a:p>
                  </a:txBody>
                  <a:tcPr/>
                </a:tc>
                <a:tc>
                  <a:txBody>
                    <a:bodyPr wrap="square"/>
                    <a:lstStyle/>
                    <a:p>
                      <a:r>
                        <a:rPr sz="1200">
                          <a:solidFill>
                            <a:srgbClr val="2C3E50"/>
                          </a:solidFill>
                          <a:latin typeface="Calibri"/>
                        </a:rPr>
                        <a:t>HFA priorities and data use case in Zambia</a:t>
                      </a:r>
                    </a:p>
                  </a:txBody>
                  <a:tcPr/>
                </a:tc>
                <a:tc>
                  <a:txBody>
                    <a:bodyPr wrap="square"/>
                    <a:lstStyle/>
                    <a:p>
                      <a:r>
                        <a:rPr sz="1200">
                          <a:solidFill>
                            <a:srgbClr val="2C3E50"/>
                          </a:solidFill>
                          <a:latin typeface="Calibri"/>
                        </a:rPr>
                        <a:t>GFF FASTR team</a:t>
                      </a:r>
                    </a:p>
                  </a:txBody>
                  <a:tcPr/>
                </a:tc>
              </a:tr>
              <a:tr h="256032">
                <a:tc gridSpan="3">
                  <a:txBody>
                    <a:bodyPr wrap="none"/>
                    <a:lstStyle/>
                    <a:p>
                      <a:pPr>
                        <a:defRPr sz="1200" b="1">
                          <a:solidFill>
                            <a:srgbClr val="09544F"/>
                          </a:solidFill>
                          <a:latin typeface="Calibri"/>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Calibri"/>
                        </a:rPr>
                        <a:t>16:30-17:00</a:t>
                      </a:r>
                    </a:p>
                  </a:txBody>
                  <a:tcPr/>
                </a:tc>
                <a:tc>
                  <a:txBody>
                    <a:bodyPr wrap="square"/>
                    <a:lstStyle/>
                    <a:p>
                      <a:r>
                        <a:rPr sz="1200">
                          <a:solidFill>
                            <a:srgbClr val="2C3E50"/>
                          </a:solidFill>
                          <a:latin typeface="Calibri"/>
                        </a:rPr>
                        <a:t>Key messages and wrap-up</a:t>
                      </a:r>
                    </a:p>
                  </a:txBody>
                  <a:tcPr/>
                </a:tc>
                <a:tc>
                  <a:txBody>
                    <a:bodyPr wrap="square"/>
                    <a:lstStyle/>
                    <a:p>
                      <a:r>
                        <a:rPr sz="1200">
                          <a:solidFill>
                            <a:srgbClr val="2C3E50"/>
                          </a:solidFill>
                          <a:latin typeface="Calibri"/>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Prepare MoH for participation in the multi-country workshop</a:t>
            </a:r>
          </a:p>
          <a:p>
            <a:pPr>
              <a:spcAft>
                <a:spcPts val="800"/>
              </a:spcAft>
            </a:pPr>
            <a:r>
              <a:rPr sz="1800">
                <a:solidFill>
                  <a:srgbClr val="D0CB17"/>
                </a:solidFill>
                <a:latin typeface="Calibri"/>
              </a:rPr>
              <a:t>• </a:t>
            </a:r>
            <a:r>
              <a:rPr sz="1800">
                <a:solidFill>
                  <a:srgbClr val="2C3E50"/>
                </a:solidFill>
                <a:latin typeface="Calibri"/>
              </a:rPr>
              <a:t>Strengthen capacity for disruption analysis and data extraction</a:t>
            </a:r>
          </a:p>
          <a:p>
            <a:pPr>
              <a:spcAft>
                <a:spcPts val="800"/>
              </a:spcAft>
            </a:pPr>
            <a:r>
              <a:rPr sz="1800">
                <a:solidFill>
                  <a:srgbClr val="D0CB17"/>
                </a:solidFill>
                <a:latin typeface="Calibri"/>
              </a:rPr>
              <a:t>• </a:t>
            </a:r>
            <a:r>
              <a:rPr sz="1800">
                <a:solidFill>
                  <a:srgbClr val="2C3E50"/>
                </a:solidFill>
                <a:latin typeface="Calibri"/>
              </a:rPr>
              <a:t>Configure the FASTR analytics platform for Zambia</a:t>
            </a:r>
          </a:p>
          <a:p>
            <a:pPr>
              <a:spcAft>
                <a:spcPts val="800"/>
              </a:spcAft>
            </a:pPr>
            <a:r>
              <a:rPr sz="1800">
                <a:solidFill>
                  <a:srgbClr val="D0CB17"/>
                </a:solidFill>
                <a:latin typeface="Calibri"/>
              </a:rPr>
              <a:t>• </a:t>
            </a:r>
            <a:r>
              <a:rPr sz="1800">
                <a:solidFill>
                  <a:srgbClr val="2C3E50"/>
                </a:solidFill>
                <a:latin typeface="Calibri"/>
              </a:rPr>
              <a:t>Produce the first quarterly report</a:t>
            </a:r>
          </a:p>
          <a:p>
            <a:pPr>
              <a:spcAft>
                <a:spcPts val="800"/>
              </a:spcAft>
            </a:pPr>
            <a:r>
              <a:rPr sz="1800">
                <a:solidFill>
                  <a:srgbClr val="D0CB17"/>
                </a:solidFill>
                <a:latin typeface="Calibri"/>
              </a:rPr>
              <a:t>• </a:t>
            </a:r>
            <a:r>
              <a:rPr sz="1800">
                <a:solidFill>
                  <a:srgbClr val="2C3E50"/>
                </a:solidFill>
                <a:latin typeface="Calibri"/>
              </a:rPr>
              <a:t>Adapt the phone survey questionnaire to the Zambian context</a:t>
            </a:r>
          </a:p>
          <a:p>
            <a:pPr>
              <a:spcAft>
                <a:spcPts val="800"/>
              </a:spcAft>
            </a:pPr>
            <a:r>
              <a:rPr sz="1800">
                <a:solidFill>
                  <a:srgbClr val="D0CB17"/>
                </a:solidFill>
                <a:latin typeface="Calibri"/>
              </a:rPr>
              <a:t>• </a:t>
            </a:r>
            <a:r>
              <a:rPr sz="1800">
                <a:solidFill>
                  <a:srgbClr val="2C3E50"/>
                </a:solidFill>
                <a:latin typeface="Calibri"/>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Disruption Analysis Activities</a:t>
            </a:r>
          </a:p>
          <a:p>
            <a:pPr>
              <a:spcAft>
                <a:spcPts val="800"/>
              </a:spcAft>
            </a:pPr>
            <a:r>
              <a:rPr sz="1800">
                <a:solidFill>
                  <a:srgbClr val="D0CB17"/>
                </a:solidFill>
                <a:latin typeface="Calibri"/>
              </a:rPr>
              <a:t>• </a:t>
            </a:r>
            <a:r>
              <a:rPr sz="1800">
                <a:solidFill>
                  <a:srgbClr val="2C3E50"/>
                </a:solidFill>
                <a:latin typeface="Calibri"/>
              </a:rPr>
              <a:t>Data extraction and configuration of analytics platform</a:t>
            </a:r>
          </a:p>
          <a:p>
            <a:pPr>
              <a:spcAft>
                <a:spcPts val="800"/>
              </a:spcAft>
            </a:pPr>
            <a:r>
              <a:rPr sz="1800">
                <a:solidFill>
                  <a:srgbClr val="D0CB17"/>
                </a:solidFill>
                <a:latin typeface="Calibri"/>
              </a:rPr>
              <a:t>• </a:t>
            </a:r>
            <a:r>
              <a:rPr sz="1800">
                <a:solidFill>
                  <a:srgbClr val="2C3E50"/>
                </a:solidFill>
                <a:latin typeface="Calibri"/>
              </a:rPr>
              <a:t>Produce first quarterly report</a:t>
            </a:r>
          </a:p>
          <a:p>
            <a:pPr>
              <a:spcAft>
                <a:spcPts val="800"/>
              </a:spcAft>
            </a:pPr>
            <a:r>
              <a:rPr sz="1800">
                <a:solidFill>
                  <a:srgbClr val="D0CB17"/>
                </a:solidFill>
                <a:latin typeface="Calibri"/>
              </a:rPr>
              <a:t>• </a:t>
            </a:r>
            <a:r>
              <a:rPr sz="1800">
                <a:solidFill>
                  <a:srgbClr val="2C3E50"/>
                </a:solidFill>
                <a:latin typeface="Calibri"/>
              </a:rPr>
              <a:t>Review results and contextualize findings (with relevant program teams)</a:t>
            </a:r>
          </a:p>
          <a:p>
            <a:pPr>
              <a:spcBef>
                <a:spcPts val="800"/>
              </a:spcBef>
              <a:spcAft>
                <a:spcPts val="1000"/>
              </a:spcAft>
              <a:defRPr sz="2200" b="1" i="0">
                <a:solidFill>
                  <a:srgbClr val="BD5091"/>
                </a:solidFill>
                <a:latin typeface="Calibri"/>
              </a:defRPr>
            </a:pPr>
            <a:r>
              <a:t>Phone Survey Activities</a:t>
            </a:r>
          </a:p>
          <a:p>
            <a:pPr>
              <a:spcAft>
                <a:spcPts val="800"/>
              </a:spcAft>
            </a:pPr>
            <a:r>
              <a:rPr sz="1800">
                <a:solidFill>
                  <a:srgbClr val="D0CB17"/>
                </a:solidFill>
                <a:latin typeface="Calibri"/>
              </a:rPr>
              <a:t>• </a:t>
            </a:r>
            <a:r>
              <a:rPr sz="1800">
                <a:solidFill>
                  <a:srgbClr val="2C3E50"/>
                </a:solidFill>
                <a:latin typeface="Calibri"/>
              </a:rPr>
              <a:t>Adaptation of questionnaire (with program input)</a:t>
            </a:r>
          </a:p>
          <a:p>
            <a:pPr>
              <a:spcBef>
                <a:spcPts val="800"/>
              </a:spcBef>
              <a:spcAft>
                <a:spcPts val="1000"/>
              </a:spcAft>
              <a:defRPr sz="2200" b="1" i="0">
                <a:solidFill>
                  <a:srgbClr val="BD5091"/>
                </a:solidFill>
                <a:latin typeface="Calibri"/>
              </a:defRPr>
            </a:pPr>
            <a:r>
              <a:t>Capacity Building</a:t>
            </a:r>
          </a:p>
          <a:p>
            <a:pPr>
              <a:spcAft>
                <a:spcPts val="800"/>
              </a:spcAft>
            </a:pPr>
            <a:r>
              <a:rPr sz="1800">
                <a:solidFill>
                  <a:srgbClr val="D0CB17"/>
                </a:solidFill>
                <a:latin typeface="Calibri"/>
              </a:rPr>
              <a:t>• </a:t>
            </a:r>
            <a:r>
              <a:rPr sz="1800">
                <a:solidFill>
                  <a:srgbClr val="2C3E50"/>
                </a:solidFill>
                <a:latin typeface="Calibri"/>
              </a:rPr>
              <a:t>Training on data downloader for all with DHIS2 access</a:t>
            </a:r>
          </a:p>
          <a:p>
            <a:pPr>
              <a:spcAft>
                <a:spcPts val="800"/>
              </a:spcAft>
            </a:pPr>
            <a:r>
              <a:rPr sz="1800">
                <a:solidFill>
                  <a:srgbClr val="D0CB17"/>
                </a:solidFill>
                <a:latin typeface="Calibri"/>
              </a:rPr>
              <a:t>• </a:t>
            </a:r>
            <a:r>
              <a:rPr sz="1800">
                <a:solidFill>
                  <a:srgbClr val="2C3E50"/>
                </a:solidFill>
                <a:latin typeface="Calibri"/>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Adapted phone survey questionnaire</a:t>
            </a:r>
          </a:p>
          <a:p>
            <a:pPr>
              <a:spcAft>
                <a:spcPts val="800"/>
              </a:spcAft>
            </a:pPr>
            <a:r>
              <a:rPr sz="1800">
                <a:solidFill>
                  <a:srgbClr val="D0CB17"/>
                </a:solidFill>
                <a:latin typeface="Calibri"/>
              </a:rPr>
              <a:t>• </a:t>
            </a:r>
            <a:r>
              <a:rPr sz="1800">
                <a:solidFill>
                  <a:srgbClr val="2C3E50"/>
                </a:solidFill>
                <a:latin typeface="Calibri"/>
              </a:rPr>
              <a:t>First quarterly report draft</a:t>
            </a:r>
          </a:p>
          <a:p>
            <a:pPr>
              <a:spcAft>
                <a:spcPts val="800"/>
              </a:spcAft>
            </a:pPr>
            <a:r>
              <a:rPr sz="1800">
                <a:solidFill>
                  <a:srgbClr val="D0CB17"/>
                </a:solidFill>
                <a:latin typeface="Calibri"/>
              </a:rPr>
              <a:t>• </a:t>
            </a:r>
            <a:r>
              <a:rPr sz="1800">
                <a:solidFill>
                  <a:srgbClr val="2C3E50"/>
                </a:solidFill>
                <a:latin typeface="Calibri"/>
              </a:rPr>
              <a:t>Trained MoH team on data downloader tools</a:t>
            </a:r>
          </a:p>
          <a:p>
            <a:pPr>
              <a:spcAft>
                <a:spcPts val="800"/>
              </a:spcAft>
            </a:pPr>
            <a:r>
              <a:rPr sz="1800">
                <a:solidFill>
                  <a:srgbClr val="D0CB17"/>
                </a:solidFill>
                <a:latin typeface="Calibri"/>
              </a:rPr>
              <a:t>• </a:t>
            </a:r>
            <a:r>
              <a:rPr sz="1800">
                <a:solidFill>
                  <a:srgbClr val="2C3E50"/>
                </a:solidFill>
                <a:latin typeface="Calibri"/>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 Overview of the FASTR approach</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Calibri"/>
              </a:rPr>
              <a:t>Frequent Assessments and Health System Tools for Resilience (FASTR)</a:t>
            </a:r>
            <a:r>
              <a:rPr sz="1800">
                <a:solidFill>
                  <a:srgbClr val="333333"/>
                </a:solidFill>
                <a:latin typeface="Calibri"/>
              </a:rPr>
              <a:t> is the GFF's rapid-cycle analytics framework for monitoring health system performance using high-frequency data.</a:t>
            </a:r>
          </a:p>
          <a:p>
            <a:pPr>
              <a:spcAft>
                <a:spcPts val="1200"/>
              </a:spcAft>
            </a:pPr>
            <a:r>
              <a:rPr sz="1800">
                <a:solidFill>
                  <a:srgbClr val="333333"/>
                </a:solidFill>
                <a:latin typeface="Calibri"/>
              </a:rPr>
              <a:t>FASTR brings together four complementary technical approaches:</a:t>
            </a:r>
          </a:p>
          <a:p>
            <a:pPr>
              <a:spcAft>
                <a:spcPts val="800"/>
              </a:spcAft>
            </a:pPr>
            <a:r>
              <a:rPr sz="1800">
                <a:solidFill>
                  <a:srgbClr val="D0CB17"/>
                </a:solidFill>
                <a:latin typeface="Calibri"/>
              </a:rPr>
              <a:t>• </a:t>
            </a:r>
            <a:r>
              <a:rPr sz="1800">
                <a:solidFill>
                  <a:srgbClr val="2C3E50"/>
                </a:solidFill>
                <a:latin typeface="Calibri"/>
              </a:rPr>
              <a:t>Routine HMIS data analysis</a:t>
            </a:r>
          </a:p>
          <a:p>
            <a:pPr>
              <a:spcAft>
                <a:spcPts val="800"/>
              </a:spcAft>
            </a:pPr>
            <a:r>
              <a:rPr sz="1800">
                <a:solidFill>
                  <a:srgbClr val="D0CB17"/>
                </a:solidFill>
                <a:latin typeface="Calibri"/>
              </a:rPr>
              <a:t>• </a:t>
            </a:r>
            <a:r>
              <a:rPr sz="1800">
                <a:solidFill>
                  <a:srgbClr val="2C3E50"/>
                </a:solidFill>
                <a:latin typeface="Calibri"/>
              </a:rPr>
              <a:t>Health facility phone surveys</a:t>
            </a:r>
          </a:p>
          <a:p>
            <a:pPr>
              <a:spcAft>
                <a:spcPts val="800"/>
              </a:spcAft>
            </a:pPr>
            <a:r>
              <a:rPr sz="1800">
                <a:solidFill>
                  <a:srgbClr val="D0CB17"/>
                </a:solidFill>
                <a:latin typeface="Calibri"/>
              </a:rPr>
              <a:t>• </a:t>
            </a:r>
            <a:r>
              <a:rPr sz="1800">
                <a:solidFill>
                  <a:srgbClr val="2C3E50"/>
                </a:solidFill>
                <a:latin typeface="Calibri"/>
              </a:rPr>
              <a:t>High-frequency household phone surveys</a:t>
            </a:r>
          </a:p>
          <a:p>
            <a:pPr>
              <a:spcAft>
                <a:spcPts val="800"/>
              </a:spcAft>
            </a:pPr>
            <a:r>
              <a:rPr sz="1800">
                <a:solidFill>
                  <a:srgbClr val="D0CB17"/>
                </a:solidFill>
                <a:latin typeface="Calibri"/>
              </a:rPr>
              <a:t>• </a:t>
            </a:r>
            <a:r>
              <a:rPr sz="1800">
                <a:solidFill>
                  <a:srgbClr val="2C3E50"/>
                </a:solidFill>
                <a:latin typeface="Calibri"/>
              </a:rPr>
              <a:t>Follow-on, problem-driven analyses</a:t>
            </a:r>
          </a:p>
        </p:txBody>
      </p:sp>
      <p:pic>
        <p:nvPicPr>
          <p:cNvPr id="5" name="Picture 4" descr="Technical-Rapid-cycle-analytics--V3.png"/>
          <p:cNvPicPr>
            <a:picLocks noChangeAspect="1"/>
          </p:cNvPicPr>
          <p:nvPr/>
        </p:nvPicPr>
        <p:blipFill>
          <a:blip r:embed="rId2"/>
          <a:stretch>
            <a:fillRect/>
          </a:stretch>
        </p:blipFill>
        <p:spPr>
          <a:xfrm>
            <a:off x="6400800" y="1280160"/>
            <a:ext cx="5303520" cy="274870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&lt;style scoped&gt;</a:t>
            </a:r>
          </a:p>
          <a:p>
            <a:pPr>
              <a:spcAft>
                <a:spcPts val="1400"/>
              </a:spcAft>
            </a:pPr>
            <a:r>
              <a:rPr sz="1800">
                <a:solidFill>
                  <a:srgbClr val="333333"/>
                </a:solidFill>
                <a:latin typeface="Calibri"/>
              </a:rPr>
              <a:t>.split { display: flex !important; gap: 2rem; align-items: flex-start; }</a:t>
            </a:r>
          </a:p>
          <a:p>
            <a:pPr>
              <a:spcAft>
                <a:spcPts val="1400"/>
              </a:spcAft>
            </a:pPr>
            <a:r>
              <a:rPr sz="1800">
                <a:solidFill>
                  <a:srgbClr val="333333"/>
                </a:solidFill>
                <a:latin typeface="Calibri"/>
              </a:rPr>
              <a:t>.split .text { flex: 1; }</a:t>
            </a:r>
          </a:p>
          <a:p>
            <a:pPr>
              <a:spcAft>
                <a:spcPts val="1400"/>
              </a:spcAft>
            </a:pPr>
            <a:r>
              <a:rPr sz="1800">
                <a:solidFill>
                  <a:srgbClr val="333333"/>
                </a:solidFill>
                <a:latin typeface="Calibri"/>
              </a:rPr>
              <a:t>.split .image { flex: 2; }</a:t>
            </a:r>
          </a:p>
          <a:p>
            <a:pPr>
              <a:spcAft>
                <a:spcPts val="1400"/>
              </a:spcAft>
            </a:pPr>
            <a:r>
              <a:rPr sz="1800">
                <a:solidFill>
                  <a:srgbClr val="333333"/>
                </a:solidFill>
                <a:latin typeface="Calibri"/>
              </a:rPr>
              <a:t>.split .image img { max-height: 320px !important; width: auto !important; }</a:t>
            </a:r>
          </a:p>
          <a:p>
            <a:pPr>
              <a:spcAft>
                <a:spcPts val="1400"/>
              </a:spcAft>
            </a:pPr>
            <a:r>
              <a:rPr sz="1800">
                <a:solidFill>
                  <a:srgbClr val="333333"/>
                </a:solidFill>
                <a:latin typeface="Calibri"/>
              </a:rPr>
              <a:t>&lt;/style&gt;</a:t>
            </a:r>
          </a:p>
          <a:p>
            <a:pPr>
              <a:spcAft>
                <a:spcPts val="1400"/>
              </a:spcAft>
            </a:pPr>
            <a:r>
              <a:rPr sz="1800">
                <a:solidFill>
                  <a:srgbClr val="333333"/>
                </a:solidFill>
                <a:latin typeface="Calibri"/>
              </a:rPr>
              <a:t>Rapid-cycle approaches using routine HMIS data can:</a:t>
            </a:r>
          </a:p>
          <a:p>
            <a:pPr>
              <a:spcAft>
                <a:spcPts val="800"/>
              </a:spcAft>
            </a:pPr>
            <a:r>
              <a:rPr sz="1800">
                <a:solidFill>
                  <a:srgbClr val="D0CB17"/>
                </a:solidFill>
                <a:latin typeface="Calibri"/>
              </a:rPr>
              <a:t>• </a:t>
            </a:r>
            <a:r>
              <a:rPr sz="1800" b="1">
                <a:solidFill>
                  <a:srgbClr val="21568C"/>
                </a:solidFill>
                <a:latin typeface="Calibri"/>
              </a:rPr>
              <a:t>Evaluate HMIS data quality</a:t>
            </a:r>
            <a:r>
              <a:rPr sz="1800">
                <a:solidFill>
                  <a:srgbClr val="2C3E50"/>
                </a:solidFill>
                <a:latin typeface="Calibri"/>
              </a:rPr>
              <a:t> at national and sub-national levels</a:t>
            </a:r>
          </a:p>
          <a:p>
            <a:pPr>
              <a:spcAft>
                <a:spcPts val="800"/>
              </a:spcAft>
            </a:pPr>
            <a:r>
              <a:rPr sz="1800">
                <a:solidFill>
                  <a:srgbClr val="D0CB17"/>
                </a:solidFill>
                <a:latin typeface="Calibri"/>
              </a:rPr>
              <a:t>• </a:t>
            </a:r>
            <a:r>
              <a:rPr sz="1800" b="1">
                <a:solidFill>
                  <a:srgbClr val="21568C"/>
                </a:solidFill>
                <a:latin typeface="Calibri"/>
              </a:rPr>
              <a:t>Measure monthly changes</a:t>
            </a:r>
            <a:r>
              <a:rPr sz="1800">
                <a:solidFill>
                  <a:srgbClr val="2C3E50"/>
                </a:solidFill>
                <a:latin typeface="Calibri"/>
              </a:rPr>
              <a:t> in health service utilization</a:t>
            </a:r>
          </a:p>
          <a:p>
            <a:pPr>
              <a:spcAft>
                <a:spcPts val="800"/>
              </a:spcAft>
            </a:pPr>
            <a:r>
              <a:rPr sz="1800">
                <a:solidFill>
                  <a:srgbClr val="D0CB17"/>
                </a:solidFill>
                <a:latin typeface="Calibri"/>
              </a:rPr>
              <a:t>• </a:t>
            </a:r>
            <a:r>
              <a:rPr sz="1800" b="1">
                <a:solidFill>
                  <a:srgbClr val="21568C"/>
                </a:solidFill>
                <a:latin typeface="Calibri"/>
              </a:rPr>
              <a:t>Compare coverage trends</a:t>
            </a:r>
            <a:r>
              <a:rPr sz="1800">
                <a:solidFill>
                  <a:srgbClr val="2C3E50"/>
                </a:solidFill>
                <a:latin typeface="Calibri"/>
              </a:rPr>
              <a:t> with country targets</a:t>
            </a:r>
          </a:p>
        </p:txBody>
      </p:sp>
      <p:pic>
        <p:nvPicPr>
          <p:cNvPr id="5" name="Picture 4" descr="HMIS_data_flow.png"/>
          <p:cNvPicPr>
            <a:picLocks noChangeAspect="1"/>
          </p:cNvPicPr>
          <p:nvPr/>
        </p:nvPicPr>
        <p:blipFill>
          <a:blip r:embed="rId2"/>
          <a:stretch>
            <a:fillRect/>
          </a:stretch>
        </p:blipFill>
        <p:spPr>
          <a:xfrm>
            <a:off x="6629400" y="1371600"/>
            <a:ext cx="5029200" cy="105613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Calibri"/>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Calibri"/>
              </a:rPr>
              <a:t>FASTR's rapid-cycle analytics address this gap by providing:</a:t>
            </a:r>
          </a:p>
          <a:p>
            <a:pPr>
              <a:spcAft>
                <a:spcPts val="800"/>
              </a:spcAft>
            </a:pPr>
            <a:r>
              <a:rPr sz="1800">
                <a:solidFill>
                  <a:srgbClr val="D0CB17"/>
                </a:solidFill>
                <a:latin typeface="Calibri"/>
              </a:rPr>
              <a:t>• </a:t>
            </a:r>
            <a:r>
              <a:rPr sz="1800">
                <a:solidFill>
                  <a:srgbClr val="2C3E50"/>
                </a:solidFill>
                <a:latin typeface="Calibri"/>
              </a:rPr>
              <a:t>Timely insights aligned with country decision cycles</a:t>
            </a:r>
          </a:p>
          <a:p>
            <a:pPr>
              <a:spcAft>
                <a:spcPts val="800"/>
              </a:spcAft>
            </a:pPr>
            <a:r>
              <a:rPr sz="1800">
                <a:solidFill>
                  <a:srgbClr val="D0CB17"/>
                </a:solidFill>
                <a:latin typeface="Calibri"/>
              </a:rPr>
              <a:t>• </a:t>
            </a:r>
            <a:r>
              <a:rPr sz="1800">
                <a:solidFill>
                  <a:srgbClr val="2C3E50"/>
                </a:solidFill>
                <a:latin typeface="Calibri"/>
              </a:rPr>
              <a:t>Continuous learning rather than one-off assessments</a:t>
            </a:r>
          </a:p>
          <a:p>
            <a:pPr>
              <a:spcAft>
                <a:spcPts val="800"/>
              </a:spcAft>
            </a:pPr>
            <a:r>
              <a:rPr sz="1800">
                <a:solidFill>
                  <a:srgbClr val="D0CB17"/>
                </a:solidFill>
                <a:latin typeface="Calibri"/>
              </a:rPr>
              <a:t>• </a:t>
            </a:r>
            <a:r>
              <a:rPr sz="1800">
                <a:solidFill>
                  <a:srgbClr val="2C3E50"/>
                </a:solidFill>
                <a:latin typeface="Calibri"/>
              </a:rPr>
              <a:t>Direct feedback loops between data, analysis, and action</a:t>
            </a:r>
          </a:p>
        </p:txBody>
      </p:sp>
      <p:pic>
        <p:nvPicPr>
          <p:cNvPr id="5" name="Picture 4" descr="GFF-Rapid-Cycle-Analytics-Data-Use_Figure-1.png"/>
          <p:cNvPicPr>
            <a:picLocks noChangeAspect="1"/>
          </p:cNvPicPr>
          <p:nvPr/>
        </p:nvPicPr>
        <p:blipFill>
          <a:blip r:embed="rId2"/>
          <a:stretch>
            <a:fillRect/>
          </a:stretch>
        </p:blipFill>
        <p:spPr>
          <a:xfrm>
            <a:off x="6400800" y="1280160"/>
            <a:ext cx="5303520" cy="268027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Core indicators</a:t>
            </a:r>
          </a:p>
          <a:p>
            <a:pPr>
              <a:spcAft>
                <a:spcPts val="1400"/>
              </a:spcAft>
            </a:pPr>
            <a:r>
              <a:rPr sz="1800">
                <a:solidFill>
                  <a:srgbClr val="333333"/>
                </a:solidFill>
                <a:latin typeface="Calibri"/>
              </a:rPr>
              <a:t>FASTR prioritizes a core set of RMNCAH-N indicators that:</a:t>
            </a:r>
          </a:p>
          <a:p>
            <a:pPr>
              <a:spcAft>
                <a:spcPts val="800"/>
              </a:spcAft>
            </a:pPr>
            <a:r>
              <a:rPr sz="1800">
                <a:solidFill>
                  <a:srgbClr val="D0CB17"/>
                </a:solidFill>
                <a:latin typeface="Calibri"/>
              </a:rPr>
              <a:t>• </a:t>
            </a:r>
            <a:r>
              <a:rPr sz="1800">
                <a:solidFill>
                  <a:srgbClr val="2C3E50"/>
                </a:solidFill>
                <a:latin typeface="Calibri"/>
              </a:rPr>
              <a:t>Represent key service delivery contacts across the continuum of care</a:t>
            </a:r>
          </a:p>
          <a:p>
            <a:pPr>
              <a:spcAft>
                <a:spcPts val="800"/>
              </a:spcAft>
            </a:pPr>
            <a:r>
              <a:rPr sz="1800">
                <a:solidFill>
                  <a:srgbClr val="D0CB17"/>
                </a:solidFill>
                <a:latin typeface="Calibri"/>
              </a:rPr>
              <a:t>• </a:t>
            </a:r>
            <a:r>
              <a:rPr sz="1800">
                <a:solidFill>
                  <a:srgbClr val="2C3E50"/>
                </a:solidFill>
                <a:latin typeface="Calibri"/>
              </a:rPr>
              <a:t>Have relatively high reporting completeness and volumes</a:t>
            </a:r>
          </a:p>
          <a:p>
            <a:pPr>
              <a:spcAft>
                <a:spcPts val="800"/>
              </a:spcAft>
            </a:pPr>
            <a:r>
              <a:rPr sz="1800">
                <a:solidFill>
                  <a:srgbClr val="D0CB17"/>
                </a:solidFill>
                <a:latin typeface="Calibri"/>
              </a:rPr>
              <a:t>• </a:t>
            </a:r>
            <a:r>
              <a:rPr sz="1800">
                <a:solidFill>
                  <a:srgbClr val="2C3E50"/>
                </a:solidFill>
                <a:latin typeface="Calibri"/>
              </a:rPr>
              <a:t>Serve as proxies for broader service delivery performance</a:t>
            </a:r>
          </a:p>
          <a:p>
            <a:pPr>
              <a:spcAft>
                <a:spcPts val="1400"/>
              </a:spcAft>
            </a:pPr>
            <a:r>
              <a:rPr sz="1800" b="1">
                <a:solidFill>
                  <a:srgbClr val="21568C"/>
                </a:solidFill>
                <a:latin typeface="Calibri"/>
              </a:rPr>
              <a:t>Outpatient consultations are included as a proxy for overall health service use. The indicator set can be expanded to reflect country-specific priorities.</a:t>
            </a:r>
          </a:p>
          <a:p>
            <a:pPr>
              <a:spcBef>
                <a:spcPts val="800"/>
              </a:spcBef>
              <a:spcAft>
                <a:spcPts val="1000"/>
              </a:spcAft>
              <a:defRPr sz="2200" b="1" i="0">
                <a:solidFill>
                  <a:srgbClr val="BD5091"/>
                </a:solidFill>
                <a:latin typeface="Calibri"/>
              </a:defRPr>
            </a:pPr>
            <a:r>
              <a:t>Core data quality metrics</a:t>
            </a:r>
          </a:p>
          <a:p>
            <a:pPr>
              <a:spcAft>
                <a:spcPts val="1400"/>
              </a:spcAft>
            </a:pPr>
            <a:r>
              <a:rPr sz="1800">
                <a:solidFill>
                  <a:srgbClr val="333333"/>
                </a:solidFill>
                <a:latin typeface="Calibri"/>
              </a:rPr>
              <a:t>Analysis is anchored in a standardized set of data quality metrics, including:</a:t>
            </a:r>
          </a:p>
          <a:p>
            <a:pPr>
              <a:spcAft>
                <a:spcPts val="800"/>
              </a:spcAft>
            </a:pPr>
            <a:r>
              <a:rPr sz="1800">
                <a:solidFill>
                  <a:srgbClr val="D0CB17"/>
                </a:solidFill>
                <a:latin typeface="Calibri"/>
              </a:rPr>
              <a:t>• </a:t>
            </a:r>
            <a:r>
              <a:rPr sz="1800">
                <a:solidFill>
                  <a:srgbClr val="2C3E50"/>
                </a:solidFill>
                <a:latin typeface="Calibri"/>
              </a:rPr>
              <a:t>Reporting completeness</a:t>
            </a:r>
          </a:p>
          <a:p>
            <a:pPr>
              <a:spcAft>
                <a:spcPts val="800"/>
              </a:spcAft>
            </a:pPr>
            <a:r>
              <a:rPr sz="1800">
                <a:solidFill>
                  <a:srgbClr val="D0CB17"/>
                </a:solidFill>
                <a:latin typeface="Calibri"/>
              </a:rPr>
              <a:t>• </a:t>
            </a:r>
            <a:r>
              <a:rPr sz="1800">
                <a:solidFill>
                  <a:srgbClr val="2C3E50"/>
                </a:solidFill>
                <a:latin typeface="Calibri"/>
              </a:rPr>
              <a:t>Extreme value (outlier) detection</a:t>
            </a:r>
          </a:p>
          <a:p>
            <a:pPr>
              <a:spcAft>
                <a:spcPts val="800"/>
              </a:spcAft>
            </a:pPr>
            <a:r>
              <a:rPr sz="1800">
                <a:solidFill>
                  <a:srgbClr val="D0CB17"/>
                </a:solidFill>
                <a:latin typeface="Calibri"/>
              </a:rPr>
              <a:t>• </a:t>
            </a:r>
            <a:r>
              <a:rPr sz="1800">
                <a:solidFill>
                  <a:srgbClr val="2C3E50"/>
                </a:solidFill>
                <a:latin typeface="Calibri"/>
              </a:rPr>
              <a:t>Consistency across related indicators</a:t>
            </a:r>
          </a:p>
          <a:p>
            <a:pPr>
              <a:spcAft>
                <a:spcPts val="1400"/>
              </a:spcAft>
            </a:pPr>
            <a:r>
              <a:rPr sz="1800" b="1">
                <a:solidFill>
                  <a:srgbClr val="21568C"/>
                </a:solidFill>
                <a:latin typeface="Calibri"/>
              </a:rPr>
              <a:t>These metrics are summarized into an overall data quality score to support interpretation and comparison across areas.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2: HMIS data extraction</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Data quality adjustment</a:t>
            </a:r>
          </a:p>
          <a:p>
            <a:pPr>
              <a:spcAft>
                <a:spcPts val="1400"/>
              </a:spcAft>
            </a:pPr>
            <a:r>
              <a:rPr sz="1800">
                <a:solidFill>
                  <a:srgbClr val="333333"/>
                </a:solidFill>
                <a:latin typeface="Calibri"/>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Calibri"/>
              </a:rPr>
              <a:t>The FASTR methodology includes specific approaches to:</a:t>
            </a:r>
          </a:p>
          <a:p>
            <a:pPr>
              <a:spcAft>
                <a:spcPts val="800"/>
              </a:spcAft>
            </a:pPr>
            <a:r>
              <a:rPr sz="1800">
                <a:solidFill>
                  <a:srgbClr val="D0CB17"/>
                </a:solidFill>
                <a:latin typeface="Calibri"/>
              </a:rPr>
              <a:t>• </a:t>
            </a:r>
            <a:r>
              <a:rPr sz="1800">
                <a:solidFill>
                  <a:srgbClr val="2C3E50"/>
                </a:solidFill>
                <a:latin typeface="Calibri"/>
              </a:rPr>
              <a:t>Identify and adjust for outliers</a:t>
            </a:r>
          </a:p>
          <a:p>
            <a:pPr>
              <a:spcAft>
                <a:spcPts val="800"/>
              </a:spcAft>
            </a:pPr>
            <a:r>
              <a:rPr sz="1800">
                <a:solidFill>
                  <a:srgbClr val="D0CB17"/>
                </a:solidFill>
                <a:latin typeface="Calibri"/>
              </a:rPr>
              <a:t>• </a:t>
            </a:r>
            <a:r>
              <a:rPr sz="1800">
                <a:solidFill>
                  <a:srgbClr val="2C3E50"/>
                </a:solidFill>
                <a:latin typeface="Calibri"/>
              </a:rPr>
              <a:t>Adjust for incomplete reporting</a:t>
            </a:r>
          </a:p>
          <a:p>
            <a:pPr>
              <a:spcAft>
                <a:spcPts val="800"/>
              </a:spcAft>
            </a:pPr>
            <a:r>
              <a:rPr sz="1800">
                <a:solidFill>
                  <a:srgbClr val="D0CB17"/>
                </a:solidFill>
                <a:latin typeface="Calibri"/>
              </a:rPr>
              <a:t>• </a:t>
            </a:r>
            <a:r>
              <a:rPr sz="1800">
                <a:solidFill>
                  <a:srgbClr val="2C3E50"/>
                </a:solidFill>
                <a:latin typeface="Calibri"/>
              </a:rPr>
              <a:t>Apply consistent data quality metrics</a:t>
            </a:r>
          </a:p>
          <a:p>
            <a:pPr>
              <a:spcAft>
                <a:spcPts val="1400"/>
              </a:spcAft>
            </a:pPr>
            <a:r>
              <a:rPr sz="1800">
                <a:solidFill>
                  <a:srgbClr val="333333"/>
                </a:solidFill>
                <a:latin typeface="Calibri"/>
              </a:rPr>
              <a:t>These adjustments require processing that cannot be done within DHIS2's native analytics.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Analysis complexity</a:t>
            </a:r>
          </a:p>
          <a:p>
            <a:pPr>
              <a:spcAft>
                <a:spcPts val="1400"/>
              </a:spcAft>
            </a:pPr>
            <a:r>
              <a:rPr sz="1800">
                <a:solidFill>
                  <a:srgbClr val="333333"/>
                </a:solidFill>
                <a:latin typeface="Calibri"/>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Calibri"/>
              </a:rPr>
              <a:t>• </a:t>
            </a:r>
            <a:r>
              <a:rPr sz="1800">
                <a:solidFill>
                  <a:srgbClr val="2C3E50"/>
                </a:solidFill>
                <a:latin typeface="Calibri"/>
              </a:rPr>
              <a:t>Identifying significant increases or decreases in service volume</a:t>
            </a:r>
          </a:p>
          <a:p>
            <a:pPr>
              <a:spcAft>
                <a:spcPts val="800"/>
              </a:spcAft>
            </a:pPr>
            <a:r>
              <a:rPr sz="1800">
                <a:solidFill>
                  <a:srgbClr val="D0CB17"/>
                </a:solidFill>
                <a:latin typeface="Calibri"/>
              </a:rPr>
              <a:t>• </a:t>
            </a:r>
            <a:r>
              <a:rPr sz="1800">
                <a:solidFill>
                  <a:srgbClr val="2C3E50"/>
                </a:solidFill>
                <a:latin typeface="Calibri"/>
              </a:rPr>
              <a:t>Adjusting for data quality issues</a:t>
            </a:r>
          </a:p>
          <a:p>
            <a:pPr>
              <a:spcAft>
                <a:spcPts val="800"/>
              </a:spcAft>
            </a:pPr>
            <a:r>
              <a:rPr sz="1800">
                <a:solidFill>
                  <a:srgbClr val="D0CB17"/>
                </a:solidFill>
                <a:latin typeface="Calibri"/>
              </a:rPr>
              <a:t>• </a:t>
            </a:r>
            <a:r>
              <a:rPr sz="1800">
                <a:solidFill>
                  <a:srgbClr val="2C3E50"/>
                </a:solidFill>
                <a:latin typeface="Calibri"/>
              </a:rPr>
              <a:t>Accounting for expected seasonal variations</a:t>
            </a:r>
          </a:p>
          <a:p>
            <a:pPr>
              <a:spcAft>
                <a:spcPts val="800"/>
              </a:spcAft>
            </a:pPr>
            <a:r>
              <a:rPr sz="1800">
                <a:solidFill>
                  <a:srgbClr val="D0CB17"/>
                </a:solidFill>
                <a:latin typeface="Calibri"/>
              </a:rPr>
              <a:t>• </a:t>
            </a:r>
            <a:r>
              <a:rPr sz="1800">
                <a:solidFill>
                  <a:srgbClr val="2C3E50"/>
                </a:solidFill>
                <a:latin typeface="Calibri"/>
              </a:rPr>
              <a:t>Comparing key periods, such as before and after a reform</a:t>
            </a:r>
          </a:p>
          <a:p>
            <a:pPr>
              <a:spcAft>
                <a:spcPts val="1400"/>
              </a:spcAft>
            </a:pPr>
            <a:r>
              <a:rPr sz="1800">
                <a:solidFill>
                  <a:srgbClr val="333333"/>
                </a:solidFill>
                <a:latin typeface="Calibri"/>
              </a:rPr>
              <a:t>The choice between DHIS2 and the FASTR approach should be guided by the specific purpose of your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Data should be downloaded for each </a:t>
            </a:r>
            <a:r>
              <a:rPr sz="1800" b="1">
                <a:solidFill>
                  <a:srgbClr val="21568C"/>
                </a:solidFill>
                <a:latin typeface="Calibri"/>
              </a:rPr>
              <a:t>indicator of interest</a:t>
            </a:r>
            <a:r>
              <a:rPr sz="1800">
                <a:solidFill>
                  <a:srgbClr val="333333"/>
                </a:solidFill>
                <a:latin typeface="Calibri"/>
              </a:rPr>
              <a:t>, at </a:t>
            </a:r>
            <a:r>
              <a:rPr sz="1800" b="1">
                <a:solidFill>
                  <a:srgbClr val="21568C"/>
                </a:solidFill>
                <a:latin typeface="Calibri"/>
              </a:rPr>
              <a:t>facility level</a:t>
            </a:r>
            <a:r>
              <a:rPr sz="1800">
                <a:solidFill>
                  <a:srgbClr val="333333"/>
                </a:solidFill>
                <a:latin typeface="Calibri"/>
              </a:rPr>
              <a:t>, and </a:t>
            </a:r>
            <a:r>
              <a:rPr sz="1800" b="1">
                <a:solidFill>
                  <a:srgbClr val="21568C"/>
                </a:solidFill>
                <a:latin typeface="Calibri"/>
              </a:rPr>
              <a:t>monthly</a:t>
            </a:r>
            <a:r>
              <a:rPr sz="1800">
                <a:solidFill>
                  <a:srgbClr val="333333"/>
                </a:solidFill>
                <a:latin typeface="Calibri"/>
              </a:rPr>
              <a:t> for the </a:t>
            </a:r>
            <a:r>
              <a:rPr sz="1800" b="1">
                <a:solidFill>
                  <a:srgbClr val="21568C"/>
                </a:solidFill>
                <a:latin typeface="Calibri"/>
              </a:rPr>
              <a:t>period of interest</a:t>
            </a:r>
            <a:r>
              <a:rPr sz="1800">
                <a:solidFill>
                  <a:srgbClr val="333333"/>
                </a:solidFill>
                <a:latin typeface="Calibri"/>
              </a:rPr>
              <a: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long format</a:t>
            </a:r>
            <a:r>
              <a:rPr sz="1800">
                <a:solidFill>
                  <a:srgbClr val="2C3E50"/>
                </a:solidFill>
                <a:latin typeface="Calibri"/>
              </a:rPr>
              <a:t> meaning each row represents a single observation or measurement</a:t>
            </a:r>
          </a:p>
          <a:p>
            <a:pPr>
              <a:spcAft>
                <a:spcPts val="800"/>
              </a:spcAft>
            </a:pPr>
            <a:r>
              <a:rPr sz="1800">
                <a:solidFill>
                  <a:srgbClr val="D0CB17"/>
                </a:solidFill>
                <a:latin typeface="Calibri"/>
              </a:rPr>
              <a:t>• </a:t>
            </a:r>
            <a:r>
              <a:rPr sz="1800">
                <a:solidFill>
                  <a:srgbClr val="2C3E50"/>
                </a:solidFill>
                <a:latin typeface="Calibri"/>
              </a:rPr>
              <a:t>Data should be saved in </a:t>
            </a:r>
            <a:r>
              <a:rPr sz="1800" b="1">
                <a:solidFill>
                  <a:srgbClr val="21568C"/>
                </a:solidFill>
                <a:latin typeface="Calibri"/>
              </a:rPr>
              <a:t>.csv format</a:t>
            </a:r>
            <a:r>
              <a:rPr sz="1800">
                <a:solidFill>
                  <a:srgbClr val="2C3E50"/>
                </a:solidFill>
                <a:latin typeface="Calibri"/>
              </a:rPr>
              <a:t> and can be saved in either a single .csv file or multiple .csv files</a:t>
            </a:r>
          </a:p>
          <a:p>
            <a:pPr>
              <a:spcBef>
                <a:spcPts val="800"/>
              </a:spcBef>
              <a:spcAft>
                <a:spcPts val="1000"/>
              </a:spcAft>
              <a:defRPr sz="2200" b="1" i="0">
                <a:solidFill>
                  <a:srgbClr val="BD5091"/>
                </a:solidFill>
                <a:latin typeface="Calibri"/>
              </a:defRPr>
            </a:pPr>
            <a:r>
              <a:t>Why monthly facility level data?</a:t>
            </a:r>
          </a:p>
          <a:p>
            <a:pPr>
              <a:spcAft>
                <a:spcPts val="1400"/>
              </a:spcAft>
            </a:pPr>
            <a:r>
              <a:rPr sz="1800">
                <a:solidFill>
                  <a:srgbClr val="333333"/>
                </a:solidFill>
                <a:latin typeface="Calibri"/>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a:solidFill>
                            <a:srgbClr val="2C3E50"/>
                          </a:solidFill>
                          <a:latin typeface="Calibri"/>
                        </a:rPr>
                        <a:t>Org units</a:t>
                      </a:r>
                    </a:p>
                  </a:txBody>
                  <a:tcPr/>
                </a:tc>
                <a:tc>
                  <a:txBody>
                    <a:bodyPr wrap="square"/>
                    <a:lstStyle/>
                    <a:p>
                      <a:r>
                        <a:rPr sz="1400">
                          <a:solidFill>
                            <a:srgbClr val="2C3E50"/>
                          </a:solidFill>
                          <a:latin typeface="Calibri"/>
                        </a:rPr>
                        <a:t>Organizational unit identifier</a:t>
                      </a:r>
                    </a:p>
                  </a:txBody>
                  <a:tcPr/>
                </a:tc>
              </a:tr>
              <a:tr h="320040">
                <a:tc>
                  <a:txBody>
                    <a:bodyPr wrap="square"/>
                    <a:lstStyle/>
                    <a:p>
                      <a:r>
                        <a:rPr sz="1400">
                          <a:solidFill>
                            <a:srgbClr val="2C3E50"/>
                          </a:solidFill>
                          <a:latin typeface="Calibri"/>
                        </a:rPr>
                        <a:t>Period</a:t>
                      </a:r>
                    </a:p>
                  </a:txBody>
                  <a:tcPr/>
                </a:tc>
                <a:tc>
                  <a:txBody>
                    <a:bodyPr wrap="square"/>
                    <a:lstStyle/>
                    <a:p>
                      <a:r>
                        <a:rPr sz="1400">
                          <a:solidFill>
                            <a:srgbClr val="2C3E50"/>
                          </a:solidFill>
                          <a:latin typeface="Calibri"/>
                        </a:rPr>
                        <a:t>Time period of the data</a:t>
                      </a:r>
                    </a:p>
                  </a:txBody>
                  <a:tcPr/>
                </a:tc>
              </a:tr>
              <a:tr h="320040">
                <a:tc>
                  <a:txBody>
                    <a:bodyPr wrap="square"/>
                    <a:lstStyle/>
                    <a:p>
                      <a:r>
                        <a:rPr sz="1400">
                          <a:solidFill>
                            <a:srgbClr val="2C3E50"/>
                          </a:solidFill>
                          <a:latin typeface="Calibri"/>
                        </a:rPr>
                        <a:t>Indicator name</a:t>
                      </a:r>
                    </a:p>
                  </a:txBody>
                  <a:tcPr/>
                </a:tc>
                <a:tc>
                  <a:txBody>
                    <a:bodyPr wrap="square"/>
                    <a:lstStyle/>
                    <a:p>
                      <a:r>
                        <a:rPr sz="1400">
                          <a:solidFill>
                            <a:srgbClr val="2C3E50"/>
                          </a:solidFill>
                          <a:latin typeface="Calibri"/>
                        </a:rPr>
                        <a:t>Name of the indicator</a:t>
                      </a:r>
                    </a:p>
                  </a:txBody>
                  <a:tcPr/>
                </a:tc>
              </a:tr>
              <a:tr h="320040">
                <a:tc>
                  <a:txBody>
                    <a:bodyPr wrap="square"/>
                    <a:lstStyle/>
                    <a:p>
                      <a:r>
                        <a:rPr sz="1400">
                          <a:solidFill>
                            <a:srgbClr val="2C3E50"/>
                          </a:solidFill>
                          <a:latin typeface="Calibri"/>
                        </a:rPr>
                        <a:t>Total/count</a:t>
                      </a:r>
                    </a:p>
                  </a:txBody>
                  <a:tcPr/>
                </a:tc>
                <a:tc>
                  <a:txBody>
                    <a:bodyPr wrap="square"/>
                    <a:lstStyle/>
                    <a:p>
                      <a:r>
                        <a:rPr sz="1400">
                          <a:solidFill>
                            <a:srgbClr val="2C3E50"/>
                          </a:solidFill>
                          <a:latin typeface="Calibri"/>
                        </a:rPr>
                        <a:t>The aggregated value</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Calibri"/>
              </a:defRPr>
            </a:pPr>
            <a:r>
              <a:t>Initial FASTR analysis</a:t>
            </a:r>
          </a:p>
          <a:p>
            <a:pPr>
              <a:spcAft>
                <a:spcPts val="800"/>
              </a:spcAft>
            </a:pPr>
            <a:r>
              <a:rPr sz="1800">
                <a:solidFill>
                  <a:srgbClr val="D0CB17"/>
                </a:solidFill>
                <a:latin typeface="Calibri"/>
              </a:rPr>
              <a:t>• </a:t>
            </a:r>
            <a:r>
              <a:rPr sz="1800">
                <a:solidFill>
                  <a:srgbClr val="2C3E50"/>
                </a:solidFill>
                <a:latin typeface="Calibri"/>
              </a:rPr>
              <a:t>Download approximately </a:t>
            </a:r>
            <a:r>
              <a:rPr sz="1800" b="1">
                <a:solidFill>
                  <a:srgbClr val="21568C"/>
                </a:solidFill>
                <a:latin typeface="Calibri"/>
              </a:rPr>
              <a:t>five years</a:t>
            </a:r>
            <a:r>
              <a:rPr sz="1800">
                <a:solidFill>
                  <a:srgbClr val="2C3E50"/>
                </a:solidFill>
                <a:latin typeface="Calibri"/>
              </a:rPr>
              <a:t> of historical data</a:t>
            </a:r>
          </a:p>
          <a:p>
            <a:pPr>
              <a:spcAft>
                <a:spcPts val="800"/>
              </a:spcAft>
            </a:pPr>
            <a:r>
              <a:rPr sz="1800">
                <a:solidFill>
                  <a:srgbClr val="D0CB17"/>
                </a:solidFill>
                <a:latin typeface="Calibri"/>
              </a:rPr>
              <a:t>• </a:t>
            </a:r>
            <a:r>
              <a:rPr sz="1800">
                <a:solidFill>
                  <a:srgbClr val="2C3E50"/>
                </a:solidFill>
                <a:latin typeface="Calibri"/>
              </a:rPr>
              <a:t>Exact period depends on data availability and consistency in indicator definitions</a:t>
            </a:r>
          </a:p>
          <a:p>
            <a:pPr>
              <a:spcBef>
                <a:spcPts val="800"/>
              </a:spcBef>
              <a:spcAft>
                <a:spcPts val="1000"/>
              </a:spcAft>
              <a:defRPr sz="2200" b="1" i="0">
                <a:solidFill>
                  <a:srgbClr val="BD5091"/>
                </a:solidFill>
                <a:latin typeface="Calibri"/>
              </a:defRPr>
            </a:pPr>
            <a:r>
              <a:t>Routine update to FASTR analysis</a:t>
            </a:r>
          </a:p>
          <a:p>
            <a:pPr>
              <a:spcAft>
                <a:spcPts val="800"/>
              </a:spcAft>
            </a:pPr>
            <a:r>
              <a:rPr sz="1800">
                <a:solidFill>
                  <a:srgbClr val="D0CB17"/>
                </a:solidFill>
                <a:latin typeface="Calibri"/>
              </a:rPr>
              <a:t>• </a:t>
            </a:r>
            <a:r>
              <a:rPr sz="1800">
                <a:solidFill>
                  <a:srgbClr val="2C3E50"/>
                </a:solidFill>
                <a:latin typeface="Calibri"/>
              </a:rPr>
              <a:t>Download new data covering the most recent months not previously included (usually </a:t>
            </a:r>
            <a:r>
              <a:rPr sz="1800" b="1">
                <a:solidFill>
                  <a:srgbClr val="21568C"/>
                </a:solidFill>
                <a:latin typeface="Calibri"/>
              </a:rPr>
              <a:t>three months</a:t>
            </a:r>
            <a:r>
              <a:rPr sz="1800">
                <a:solidFill>
                  <a:srgbClr val="2C3E50"/>
                </a:solidFill>
                <a:latin typeface="Calibri"/>
              </a:rPr>
              <a:t> for quarterly implementation)</a:t>
            </a:r>
          </a:p>
          <a:p>
            <a:pPr>
              <a:spcAft>
                <a:spcPts val="800"/>
              </a:spcAft>
            </a:pPr>
            <a:r>
              <a:rPr sz="1800">
                <a:solidFill>
                  <a:srgbClr val="D0CB17"/>
                </a:solidFill>
                <a:latin typeface="Calibri"/>
              </a:rPr>
              <a:t>• </a:t>
            </a:r>
            <a:r>
              <a:rPr sz="1800">
                <a:solidFill>
                  <a:srgbClr val="2C3E50"/>
                </a:solidFill>
                <a:latin typeface="Calibri"/>
              </a:rPr>
              <a:t>Include the </a:t>
            </a:r>
            <a:r>
              <a:rPr sz="1800" b="1">
                <a:solidFill>
                  <a:srgbClr val="21568C"/>
                </a:solidFill>
                <a:latin typeface="Calibri"/>
              </a:rPr>
              <a:t>three preceding months</a:t>
            </a:r>
            <a:r>
              <a:rPr sz="1800">
                <a:solidFill>
                  <a:srgbClr val="2C3E50"/>
                </a:solidFill>
                <a:latin typeface="Calibri"/>
              </a:rPr>
              <a:t> as recent data is often subject to changes due to late reporting or data quality adjustments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We offer two tools for bulk DHIS2 data extraction:</a:t>
            </a:r>
          </a:p>
          <a:p>
            <a:pPr>
              <a:spcAft>
                <a:spcPts val="1400"/>
              </a:spcAft>
            </a:pPr>
            <a:r>
              <a:rPr sz="1800" b="1">
                <a:solidFill>
                  <a:srgbClr val="21568C"/>
                </a:solidFill>
                <a:latin typeface="Calibri"/>
              </a:rPr>
              <a:t>API Script</a:t>
            </a:r>
            <a:r>
              <a:rPr sz="1800">
                <a:solidFill>
                  <a:srgbClr val="333333"/>
                </a:solidFill>
                <a:latin typeface="Calibri"/>
              </a:rPr>
              <a:t> (Google Colab)</a:t>
            </a:r>
          </a:p>
          <a:p>
            <a:pPr>
              <a:spcAft>
                <a:spcPts val="800"/>
              </a:spcAft>
            </a:pPr>
            <a:r>
              <a:rPr sz="1800">
                <a:solidFill>
                  <a:srgbClr val="D0CB17"/>
                </a:solidFill>
                <a:latin typeface="Calibri"/>
              </a:rPr>
              <a:t>• </a:t>
            </a:r>
            <a:r>
              <a:rPr sz="1800">
                <a:solidFill>
                  <a:srgbClr val="2C3E50"/>
                </a:solidFill>
                <a:latin typeface="Calibri"/>
              </a:rPr>
              <a:t>Input login credentials, specify timeframes, indicators, and administrative levels</a:t>
            </a:r>
          </a:p>
          <a:p>
            <a:pPr>
              <a:spcAft>
                <a:spcPts val="800"/>
              </a:spcAft>
            </a:pPr>
            <a:r>
              <a:rPr sz="1800">
                <a:solidFill>
                  <a:srgbClr val="D0CB17"/>
                </a:solidFill>
                <a:latin typeface="Calibri"/>
              </a:rPr>
              <a:t>• </a:t>
            </a:r>
            <a:r>
              <a:rPr sz="1800">
                <a:solidFill>
                  <a:srgbClr val="2C3E50"/>
                </a:solidFill>
                <a:latin typeface="Calibri"/>
              </a:rPr>
              <a:t>Download data as a .csv file</a:t>
            </a:r>
          </a:p>
          <a:p>
            <a:pPr>
              <a:spcAft>
                <a:spcPts val="1400"/>
              </a:spcAft>
            </a:pPr>
            <a:r>
              <a:rPr sz="1800" b="1">
                <a:solidFill>
                  <a:srgbClr val="21568C"/>
                </a:solidFill>
                <a:latin typeface="Calibri"/>
              </a:rPr>
              <a:t>Data Downloader</a:t>
            </a:r>
          </a:p>
          <a:p>
            <a:pPr>
              <a:spcAft>
                <a:spcPts val="800"/>
              </a:spcAft>
            </a:pPr>
            <a:r>
              <a:rPr sz="1800">
                <a:solidFill>
                  <a:srgbClr val="D0CB17"/>
                </a:solidFill>
                <a:latin typeface="Calibri"/>
              </a:rPr>
              <a:t>• </a:t>
            </a:r>
            <a:r>
              <a:rPr sz="1800">
                <a:solidFill>
                  <a:srgbClr val="2C3E50"/>
                </a:solidFill>
                <a:latin typeface="Calibri"/>
              </a:rPr>
              <a:t>More intuitive, streamlined interface</a:t>
            </a:r>
          </a:p>
          <a:p>
            <a:pPr>
              <a:spcAft>
                <a:spcPts val="800"/>
              </a:spcAft>
            </a:pPr>
            <a:r>
              <a:rPr sz="1800">
                <a:solidFill>
                  <a:srgbClr val="D0CB17"/>
                </a:solidFill>
                <a:latin typeface="Calibri"/>
              </a:rPr>
              <a:t>• </a:t>
            </a:r>
            <a:r>
              <a:rPr sz="1800">
                <a:solidFill>
                  <a:srgbClr val="2C3E50"/>
                </a:solidFill>
                <a:latin typeface="Calibri"/>
              </a:rPr>
              <a:t>Recommended for most users</a:t>
            </a:r>
          </a:p>
          <a:p>
            <a:pPr>
              <a:spcAft>
                <a:spcPts val="1400"/>
              </a:spcAft>
            </a:pPr>
            <a:r>
              <a:rPr sz="1800">
                <a:solidFill>
                  <a:srgbClr val="333333"/>
                </a:solidFill>
                <a:latin typeface="Calibri"/>
              </a:rPr>
              <a:t>Both tools enable efficient data extraction, and we provide training resources to support their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Data Downloader is a desktop application for extracting data from DHIS2.</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Connect to any DHIS2 instance</a:t>
            </a:r>
          </a:p>
          <a:p>
            <a:pPr>
              <a:spcAft>
                <a:spcPts val="800"/>
              </a:spcAft>
            </a:pPr>
            <a:r>
              <a:rPr sz="1800">
                <a:solidFill>
                  <a:srgbClr val="D0CB17"/>
                </a:solidFill>
                <a:latin typeface="Calibri"/>
              </a:rPr>
              <a:t>• </a:t>
            </a:r>
            <a:r>
              <a:rPr sz="1800">
                <a:solidFill>
                  <a:srgbClr val="2C3E50"/>
                </a:solidFill>
                <a:latin typeface="Calibri"/>
              </a:rPr>
              <a:t>Browse and select data elements and indicators</a:t>
            </a:r>
          </a:p>
          <a:p>
            <a:pPr>
              <a:spcAft>
                <a:spcPts val="800"/>
              </a:spcAft>
            </a:pPr>
            <a:r>
              <a:rPr sz="1800">
                <a:solidFill>
                  <a:srgbClr val="D0CB17"/>
                </a:solidFill>
                <a:latin typeface="Calibri"/>
              </a:rPr>
              <a:t>• </a:t>
            </a:r>
            <a:r>
              <a:rPr sz="1800">
                <a:solidFill>
                  <a:srgbClr val="2C3E50"/>
                </a:solidFill>
                <a:latin typeface="Calibri"/>
              </a:rPr>
              <a:t>Download facility-level data in CSV format</a:t>
            </a:r>
          </a:p>
          <a:p>
            <a:pPr>
              <a:spcAft>
                <a:spcPts val="800"/>
              </a:spcAft>
            </a:pPr>
            <a:r>
              <a:rPr sz="1800">
                <a:solidFill>
                  <a:srgbClr val="D0CB17"/>
                </a:solidFill>
                <a:latin typeface="Calibri"/>
              </a:rPr>
              <a:t>• </a:t>
            </a:r>
            <a:r>
              <a:rPr sz="1800">
                <a:solidFill>
                  <a:srgbClr val="2C3E50"/>
                </a:solidFill>
                <a:latin typeface="Calibri"/>
              </a:rPr>
              <a:t>Maintain download history</a:t>
            </a:r>
          </a:p>
          <a:p>
            <a:pPr>
              <a:spcAft>
                <a:spcPts val="1400"/>
              </a:spcAft>
            </a:pPr>
            <a:r>
              <a:rPr sz="1800" b="1">
                <a:solidFill>
                  <a:srgbClr val="21568C"/>
                </a:solidFill>
                <a:latin typeface="Calibri"/>
              </a:rPr>
              <a:t>Download from GitHub:</a:t>
            </a:r>
          </a:p>
          <a:p>
            <a:pPr>
              <a:spcAft>
                <a:spcPts val="1400"/>
              </a:spcAft>
            </a:pPr>
            <a:r>
              <a:rPr sz="1800">
                <a:solidFill>
                  <a:srgbClr val="333333"/>
                </a:solidFill>
                <a:latin typeface="Calibri"/>
              </a:rPr>
              <a:t>https://github.com/worldbank/DHIS2-Downloader/releases/</a:t>
            </a:r>
          </a:p>
          <a:p>
            <a:pPr>
              <a:spcAft>
                <a:spcPts val="1400"/>
              </a:spcAft>
            </a:pPr>
            <a:r>
              <a:rPr sz="1800" i="1">
                <a:solidFill>
                  <a:srgbClr val="1F9A9C"/>
                </a:solidFill>
                <a:latin typeface="Calibri"/>
              </a:rPr>
              <a:t>Facilitator will demonstrate the Data Downloader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1523847" y="1371600"/>
            <a:ext cx="9144000" cy="7356723"/>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Enter your DHIS2 instance URL and credentials to connect.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1523847" y="1371600"/>
            <a:ext cx="9144000" cy="534980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main interface displays available data elements and download options.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1523847" y="1371600"/>
            <a:ext cx="9144000" cy="505596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Track previous downloads and re-download data as needed.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1523847" y="1371600"/>
            <a:ext cx="9144000" cy="543604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Browse and search available data elements and indicators from your DHIS2 instance.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1523847" y="1371600"/>
            <a:ext cx="9144000" cy="56878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View and filter facilities by administrative level and organization unit.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1523847" y="1371600"/>
            <a:ext cx="9144000" cy="5676375"/>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Visualize facility locations on an interactive map.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3: Introduction to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FASTR analytics platform is a web-based tool for data quality assessment, adjustment, and analysis of routine health data.</a:t>
            </a:r>
          </a:p>
          <a:p>
            <a:pPr>
              <a:spcAft>
                <a:spcPts val="1400"/>
              </a:spcAft>
            </a:pPr>
            <a:r>
              <a:rPr sz="1800" b="1">
                <a:solidFill>
                  <a:srgbClr val="21568C"/>
                </a:solidFill>
                <a:latin typeface="Calibri"/>
              </a:rPr>
              <a:t>Key features:</a:t>
            </a:r>
          </a:p>
          <a:p>
            <a:pPr>
              <a:spcAft>
                <a:spcPts val="800"/>
              </a:spcAft>
            </a:pPr>
            <a:r>
              <a:rPr sz="1800">
                <a:solidFill>
                  <a:srgbClr val="D0CB17"/>
                </a:solidFill>
                <a:latin typeface="Calibri"/>
              </a:rPr>
              <a:t>• </a:t>
            </a:r>
            <a:r>
              <a:rPr sz="1800">
                <a:solidFill>
                  <a:srgbClr val="2C3E50"/>
                </a:solidFill>
                <a:latin typeface="Calibri"/>
              </a:rPr>
              <a:t>Upload and analyze data from DHIS2 and other sources</a:t>
            </a:r>
          </a:p>
          <a:p>
            <a:pPr>
              <a:spcAft>
                <a:spcPts val="800"/>
              </a:spcAft>
            </a:pPr>
            <a:r>
              <a:rPr sz="1800">
                <a:solidFill>
                  <a:srgbClr val="D0CB17"/>
                </a:solidFill>
                <a:latin typeface="Calibri"/>
              </a:rPr>
              <a:t>• </a:t>
            </a:r>
            <a:r>
              <a:rPr sz="1800">
                <a:solidFill>
                  <a:srgbClr val="2C3E50"/>
                </a:solidFill>
                <a:latin typeface="Calibri"/>
              </a:rPr>
              <a:t>Built-in statistical methods for data quality adjustment</a:t>
            </a:r>
          </a:p>
          <a:p>
            <a:pPr>
              <a:spcAft>
                <a:spcPts val="800"/>
              </a:spcAft>
            </a:pPr>
            <a:r>
              <a:rPr sz="1800">
                <a:solidFill>
                  <a:srgbClr val="D0CB17"/>
                </a:solidFill>
                <a:latin typeface="Calibri"/>
              </a:rPr>
              <a:t>• </a:t>
            </a:r>
            <a:r>
              <a:rPr sz="1800">
                <a:solidFill>
                  <a:srgbClr val="2C3E50"/>
                </a:solidFill>
                <a:latin typeface="Calibri"/>
              </a:rPr>
              <a:t>User-friendly interface for running analyses</a:t>
            </a:r>
          </a:p>
          <a:p>
            <a:pPr>
              <a:spcAft>
                <a:spcPts val="800"/>
              </a:spcAft>
            </a:pPr>
            <a:r>
              <a:rPr sz="1800">
                <a:solidFill>
                  <a:srgbClr val="D0CB17"/>
                </a:solidFill>
                <a:latin typeface="Calibri"/>
              </a:rPr>
              <a:t>• </a:t>
            </a:r>
            <a:r>
              <a:rPr sz="1800">
                <a:solidFill>
                  <a:srgbClr val="2C3E50"/>
                </a:solidFill>
                <a:latin typeface="Calibri"/>
              </a:rPr>
              <a:t>Flexible visualization and export options</a:t>
            </a:r>
          </a:p>
          <a:p>
            <a:pPr>
              <a:spcAft>
                <a:spcPts val="1400"/>
              </a:spcAft>
            </a:pPr>
            <a:r>
              <a:rPr sz="1800" b="1">
                <a:solidFill>
                  <a:srgbClr val="21568C"/>
                </a:solidFill>
                <a:latin typeface="Calibri"/>
              </a:rPr>
              <a:t>In this session, we will provide a conceptual walkthrough of the platform and its capabilities.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latform_capabilities.png"/>
          <p:cNvPicPr>
            <a:picLocks noChangeAspect="1"/>
          </p:cNvPicPr>
          <p:nvPr/>
        </p:nvPicPr>
        <p:blipFill>
          <a:blip r:embed="rId2"/>
          <a:stretch>
            <a:fillRect/>
          </a:stretch>
        </p:blipFill>
        <p:spPr>
          <a:xfrm>
            <a:off x="1523847" y="1371600"/>
            <a:ext cx="9144000" cy="40005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&lt;style scoped&gt;</a:t>
            </a:r>
          </a:p>
          <a:p>
            <a:pPr>
              <a:spcAft>
                <a:spcPts val="1000"/>
              </a:spcAft>
            </a:pPr>
            <a:r>
              <a:rPr sz="1800">
                <a:solidFill>
                  <a:srgbClr val="333333"/>
                </a:solidFill>
                <a:latin typeface="Calibri"/>
              </a:rPr>
              <a:t>p { text-align: center; }</a:t>
            </a:r>
          </a:p>
          <a:p>
            <a:pPr>
              <a:spcAft>
                <a:spcPts val="1000"/>
              </a:spcAft>
            </a:pPr>
            <a:r>
              <a:rPr sz="1800">
                <a:solidFill>
                  <a:srgbClr val="333333"/>
                </a:solidFill>
                <a:latin typeface="Calibri"/>
              </a:rPr>
              <a:t>img { display: block; margin: 0 auto; }</a:t>
            </a:r>
          </a:p>
          <a:p>
            <a:pPr>
              <a:spcAft>
                <a:spcPts val="1000"/>
              </a:spcAft>
            </a:pPr>
            <a:r>
              <a:rPr sz="1800">
                <a:solidFill>
                  <a:srgbClr val="333333"/>
                </a:solidFill>
                <a:latin typeface="Calibri"/>
              </a:rPr>
              <a:t>&lt;/style&gt;</a:t>
            </a:r>
          </a:p>
          <a:p>
            <a:pPr>
              <a:spcAft>
                <a:spcPts val="1000"/>
              </a:spcAft>
            </a:pPr>
            <a:r>
              <a:rPr sz="1800">
                <a:solidFill>
                  <a:srgbClr val="333333"/>
                </a:solidFill>
                <a:latin typeface="Calibri"/>
              </a:rPr>
              <a:t>Data flows from import through analysis to shareable outputs.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Each country has its own </a:t>
            </a:r>
            <a:r>
              <a:rPr sz="1800" b="1">
                <a:solidFill>
                  <a:srgbClr val="21568C"/>
                </a:solidFill>
                <a:latin typeface="Calibri"/>
              </a:rPr>
              <a:t>instance</a:t>
            </a:r>
            <a:r>
              <a:rPr sz="1800">
                <a:solidFill>
                  <a:srgbClr val="333333"/>
                </a:solidFill>
                <a:latin typeface="Calibri"/>
              </a:rPr>
              <a:t> of the FASTR analytics platform.</a:t>
            </a:r>
          </a:p>
          <a:p>
            <a:pPr>
              <a:spcAft>
                <a:spcPts val="1400"/>
              </a:spcAft>
            </a:pPr>
            <a:r>
              <a:rPr sz="1800">
                <a:solidFill>
                  <a:srgbClr val="333333"/>
                </a:solidFill>
                <a:latin typeface="Calibri"/>
              </a:rPr>
              <a:t>An instance contains:</a:t>
            </a:r>
          </a:p>
          <a:p>
            <a:pPr>
              <a:spcAft>
                <a:spcPts val="800"/>
              </a:spcAft>
            </a:pPr>
            <a:r>
              <a:rPr sz="1800">
                <a:solidFill>
                  <a:srgbClr val="D0CB17"/>
                </a:solidFill>
                <a:latin typeface="Calibri"/>
              </a:rPr>
              <a:t>• </a:t>
            </a:r>
            <a:r>
              <a:rPr sz="1800">
                <a:solidFill>
                  <a:srgbClr val="2C3E50"/>
                </a:solidFill>
                <a:latin typeface="Calibri"/>
              </a:rPr>
              <a:t>All registered users and their accounts</a:t>
            </a:r>
          </a:p>
          <a:p>
            <a:pPr>
              <a:spcAft>
                <a:spcPts val="800"/>
              </a:spcAft>
            </a:pPr>
            <a:r>
              <a:rPr sz="1800">
                <a:solidFill>
                  <a:srgbClr val="D0CB17"/>
                </a:solidFill>
                <a:latin typeface="Calibri"/>
              </a:rPr>
              <a:t>• </a:t>
            </a:r>
            <a:r>
              <a:rPr sz="1800">
                <a:solidFill>
                  <a:srgbClr val="2C3E50"/>
                </a:solidFill>
                <a:latin typeface="Calibri"/>
              </a:rPr>
              <a:t>The shared administrative structure (regions, districts, facilities)</a:t>
            </a:r>
          </a:p>
          <a:p>
            <a:pPr>
              <a:spcAft>
                <a:spcPts val="800"/>
              </a:spcAft>
            </a:pPr>
            <a:r>
              <a:rPr sz="1800">
                <a:solidFill>
                  <a:srgbClr val="D0CB17"/>
                </a:solidFill>
                <a:latin typeface="Calibri"/>
              </a:rPr>
              <a:t>• </a:t>
            </a:r>
            <a:r>
              <a:rPr sz="1800">
                <a:solidFill>
                  <a:srgbClr val="2C3E50"/>
                </a:solidFill>
                <a:latin typeface="Calibri"/>
              </a:rPr>
              <a:t>Indicator definitions and data sources</a:t>
            </a:r>
          </a:p>
          <a:p>
            <a:pPr>
              <a:spcAft>
                <a:spcPts val="800"/>
              </a:spcAft>
            </a:pPr>
            <a:r>
              <a:rPr sz="1800">
                <a:solidFill>
                  <a:srgbClr val="D0CB17"/>
                </a:solidFill>
                <a:latin typeface="Calibri"/>
              </a:rPr>
              <a:t>• </a:t>
            </a:r>
            <a:r>
              <a:rPr sz="1800">
                <a:solidFill>
                  <a:srgbClr val="2C3E50"/>
                </a:solidFill>
                <a:latin typeface="Calibri"/>
              </a:rPr>
              <a:t>All projects created for that country</a:t>
            </a:r>
          </a:p>
          <a:p>
            <a:pPr>
              <a:spcAft>
                <a:spcPts val="1400"/>
              </a:spcAft>
            </a:pPr>
            <a:r>
              <a:rPr sz="1800" b="1">
                <a:solidFill>
                  <a:srgbClr val="21568C"/>
                </a:solidFill>
                <a:latin typeface="Calibri"/>
              </a:rPr>
              <a:t>Think of an instance as your country's dedicated workspace.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There are two levels of permissions in the platform:</a:t>
            </a:r>
          </a:p>
          <a:p>
            <a:pPr>
              <a:spcAft>
                <a:spcPts val="1400"/>
              </a:spcAft>
            </a:pPr>
            <a:r>
              <a:rPr sz="1800" b="1">
                <a:solidFill>
                  <a:srgbClr val="21568C"/>
                </a:solidFill>
                <a:latin typeface="Calibri"/>
              </a:rPr>
              <a:t>Instance-level roles:</a:t>
            </a:r>
          </a:p>
          <a:p>
            <a:pPr>
              <a:spcAft>
                <a:spcPts val="800"/>
              </a:spcAft>
            </a:pPr>
            <a:r>
              <a:rPr sz="1800">
                <a:solidFill>
                  <a:srgbClr val="D0CB17"/>
                </a:solidFill>
                <a:latin typeface="Calibri"/>
              </a:rPr>
              <a:t>• </a:t>
            </a:r>
            <a:r>
              <a:rPr sz="1800" b="1">
                <a:solidFill>
                  <a:srgbClr val="21568C"/>
                </a:solidFill>
                <a:latin typeface="Calibri"/>
              </a:rPr>
              <a:t>Instance Administrators</a:t>
            </a:r>
            <a:r>
              <a:rPr sz="1800">
                <a:solidFill>
                  <a:srgbClr val="2C3E50"/>
                </a:solidFill>
                <a:latin typeface="Calibri"/>
              </a:rPr>
              <a:t> can add users, create projects, assign roles, upload data, import and configure modules, and run analyses</a:t>
            </a:r>
          </a:p>
          <a:p>
            <a:pPr>
              <a:spcAft>
                <a:spcPts val="1400"/>
              </a:spcAft>
            </a:pPr>
            <a:r>
              <a:rPr sz="1800" b="1">
                <a:solidFill>
                  <a:srgbClr val="21568C"/>
                </a:solidFill>
                <a:latin typeface="Calibri"/>
              </a:rPr>
              <a:t>Project-level roles:</a:t>
            </a:r>
          </a:p>
          <a:p>
            <a:pPr>
              <a:spcAft>
                <a:spcPts val="800"/>
              </a:spcAft>
            </a:pPr>
            <a:r>
              <a:rPr sz="1800">
                <a:solidFill>
                  <a:srgbClr val="D0CB17"/>
                </a:solidFill>
                <a:latin typeface="Calibri"/>
              </a:rPr>
              <a:t>• </a:t>
            </a:r>
            <a:r>
              <a:rPr sz="1800" b="1">
                <a:solidFill>
                  <a:srgbClr val="21568C"/>
                </a:solidFill>
                <a:latin typeface="Calibri"/>
              </a:rPr>
              <a:t>Project Editors</a:t>
            </a:r>
            <a:r>
              <a:rPr sz="1800">
                <a:solidFill>
                  <a:srgbClr val="2C3E50"/>
                </a:solidFill>
                <a:latin typeface="Calibri"/>
              </a:rPr>
              <a:t> can create visualizations, create reports, and download/export results</a:t>
            </a:r>
          </a:p>
          <a:p>
            <a:pPr>
              <a:spcAft>
                <a:spcPts val="800"/>
              </a:spcAft>
            </a:pPr>
            <a:r>
              <a:rPr sz="1800">
                <a:solidFill>
                  <a:srgbClr val="D0CB17"/>
                </a:solidFill>
                <a:latin typeface="Calibri"/>
              </a:rPr>
              <a:t>• </a:t>
            </a:r>
            <a:r>
              <a:rPr sz="1800" b="1">
                <a:solidFill>
                  <a:srgbClr val="21568C"/>
                </a:solidFill>
                <a:latin typeface="Calibri"/>
              </a:rPr>
              <a:t>Project Viewers</a:t>
            </a:r>
            <a:r>
              <a:rPr sz="1800">
                <a:solidFill>
                  <a:srgbClr val="2C3E50"/>
                </a:solidFill>
                <a:latin typeface="Calibri"/>
              </a:rPr>
              <a:t> can view visualizations, view reports, and download/export results</a:t>
            </a:r>
          </a:p>
          <a:p>
            <a:pPr>
              <a:spcAft>
                <a:spcPts val="1400"/>
              </a:spcAft>
            </a:pPr>
            <a:r>
              <a:rPr sz="1800" i="1">
                <a:solidFill>
                  <a:srgbClr val="1F9A9C"/>
                </a:solidFill>
                <a:latin typeface="Calibri"/>
              </a:rPr>
              <a:t>Administrators are assigned per instance; Editors and Viewers are assigned per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&lt;style scoped&gt;</a:t>
            </a:r>
          </a:p>
          <a:p>
            <a:pPr>
              <a:spcAft>
                <a:spcPts val="1400"/>
              </a:spcAft>
            </a:pPr>
            <a:r>
              <a:rPr sz="1800">
                <a:solidFill>
                  <a:srgbClr val="333333"/>
                </a:solidFill>
                <a:latin typeface="Calibri"/>
              </a:rPr>
              <a:t>.container { display: flex; gap: 1rem; }</a:t>
            </a:r>
          </a:p>
          <a:p>
            <a:pPr>
              <a:spcAft>
                <a:spcPts val="1400"/>
              </a:spcAft>
            </a:pPr>
            <a:r>
              <a:rPr sz="1800">
                <a:solidFill>
                  <a:srgbClr val="333333"/>
                </a:solidFill>
                <a:latin typeface="Calibri"/>
              </a:rPr>
              <a:t>.container .img-col { flex: 2; }</a:t>
            </a:r>
          </a:p>
          <a:p>
            <a:pPr>
              <a:spcAft>
                <a:spcPts val="1400"/>
              </a:spcAft>
            </a:pPr>
            <a:r>
              <a:rPr sz="1800">
                <a:solidFill>
                  <a:srgbClr val="333333"/>
                </a:solidFill>
                <a:latin typeface="Calibri"/>
              </a:rPr>
              <a:t>.container .img-col img { width: 100%; height: auto; }</a:t>
            </a:r>
          </a:p>
          <a:p>
            <a:pPr>
              <a:spcAft>
                <a:spcPts val="1400"/>
              </a:spcAft>
            </a:pPr>
            <a:r>
              <a:rPr sz="1800">
                <a:solidFill>
                  <a:srgbClr val="333333"/>
                </a:solidFill>
                <a:latin typeface="Calibri"/>
              </a:rPr>
              <a:t>.container .text-col { flex: 1; font-size: 0.85em; }</a:t>
            </a:r>
          </a:p>
          <a:p>
            <a:pPr>
              <a:spcAft>
                <a:spcPts val="1400"/>
              </a:spcAft>
            </a:pPr>
            <a:r>
              <a:rPr sz="1800">
                <a:solidFill>
                  <a:srgbClr val="333333"/>
                </a:solidFill>
                <a:latin typeface="Calibri"/>
              </a:rPr>
              <a:t>&lt;/style&gt;</a:t>
            </a:r>
          </a:p>
          <a:p>
            <a:pPr>
              <a:spcAft>
                <a:spcPts val="1400"/>
              </a:spcAft>
            </a:pPr>
            <a:r>
              <a:rPr sz="1800">
                <a:solidFill>
                  <a:srgbClr val="333333"/>
                </a:solidFill>
                <a:latin typeface="Calibri"/>
              </a:rPr>
              <a:t>Each country instance can contain </a:t>
            </a:r>
            <a:r>
              <a:rPr sz="1800" b="1">
                <a:solidFill>
                  <a:srgbClr val="21568C"/>
                </a:solidFill>
                <a:latin typeface="Calibri"/>
              </a:rPr>
              <a:t>multiple projects</a:t>
            </a:r>
            <a:r>
              <a:rPr sz="1800">
                <a:solidFill>
                  <a:srgbClr val="333333"/>
                </a:solidFill>
                <a:latin typeface="Calibri"/>
              </a:rPr>
              <a:t>.</a:t>
            </a:r>
          </a:p>
          <a:p>
            <a:pPr>
              <a:spcAft>
                <a:spcPts val="1400"/>
              </a:spcAft>
            </a:pPr>
            <a:r>
              <a:rPr sz="1800">
                <a:solidFill>
                  <a:srgbClr val="333333"/>
                </a:solidFill>
                <a:latin typeface="Calibri"/>
              </a:rPr>
              <a:t>A country may only need one project, or multiple projects can be used for:</a:t>
            </a:r>
          </a:p>
          <a:p>
            <a:pPr>
              <a:spcAft>
                <a:spcPts val="800"/>
              </a:spcAft>
            </a:pPr>
            <a:r>
              <a:rPr sz="1800">
                <a:solidFill>
                  <a:srgbClr val="D0CB17"/>
                </a:solidFill>
                <a:latin typeface="Calibri"/>
              </a:rPr>
              <a:t>• </a:t>
            </a:r>
            <a:r>
              <a:rPr sz="1800">
                <a:solidFill>
                  <a:srgbClr val="2C3E50"/>
                </a:solidFill>
                <a:latin typeface="Calibri"/>
              </a:rPr>
              <a:t>Different versions of analyses</a:t>
            </a:r>
          </a:p>
          <a:p>
            <a:pPr>
              <a:spcAft>
                <a:spcPts val="800"/>
              </a:spcAft>
            </a:pPr>
            <a:r>
              <a:rPr sz="1800">
                <a:solidFill>
                  <a:srgbClr val="D0CB17"/>
                </a:solidFill>
                <a:latin typeface="Calibri"/>
              </a:rPr>
              <a:t>• </a:t>
            </a:r>
            <a:r>
              <a:rPr sz="1800">
                <a:solidFill>
                  <a:srgbClr val="2C3E50"/>
                </a:solidFill>
                <a:latin typeface="Calibri"/>
              </a:rPr>
              <a:t>A demo or playground project</a:t>
            </a:r>
          </a:p>
          <a:p>
            <a:pPr>
              <a:spcAft>
                <a:spcPts val="800"/>
              </a:spcAft>
            </a:pPr>
            <a:r>
              <a:rPr sz="1800">
                <a:solidFill>
                  <a:srgbClr val="D0CB17"/>
                </a:solidFill>
                <a:latin typeface="Calibri"/>
              </a:rPr>
              <a:t>• </a:t>
            </a:r>
            <a:r>
              <a:rPr sz="1800">
                <a:solidFill>
                  <a:srgbClr val="2C3E50"/>
                </a:solidFill>
                <a:latin typeface="Calibri"/>
              </a:rPr>
              <a:t>Separate projects for different teams or programs</a:t>
            </a:r>
          </a:p>
          <a:p>
            <a:pPr>
              <a:spcAft>
                <a:spcPts val="1400"/>
              </a:spcAft>
            </a:pPr>
            <a:r>
              <a:rPr sz="1800" b="1">
                <a:solidFill>
                  <a:srgbClr val="21568C"/>
                </a:solidFill>
                <a:latin typeface="Calibri"/>
              </a:rPr>
              <a:t>Key questions when setting up:</a:t>
            </a:r>
          </a:p>
          <a:p>
            <a:pPr>
              <a:spcAft>
                <a:spcPts val="800"/>
              </a:spcAft>
            </a:pPr>
            <a:r>
              <a:rPr sz="1800">
                <a:solidFill>
                  <a:srgbClr val="D0CB17"/>
                </a:solidFill>
                <a:latin typeface="Calibri"/>
              </a:rPr>
              <a:t>• </a:t>
            </a:r>
            <a:r>
              <a:rPr sz="1800">
                <a:solidFill>
                  <a:srgbClr val="2C3E50"/>
                </a:solidFill>
                <a:latin typeface="Calibri"/>
              </a:rPr>
              <a:t>Who is the admin?</a:t>
            </a:r>
          </a:p>
          <a:p>
            <a:pPr>
              <a:spcAft>
                <a:spcPts val="800"/>
              </a:spcAft>
            </a:pPr>
            <a:r>
              <a:rPr sz="1800">
                <a:solidFill>
                  <a:srgbClr val="D0CB17"/>
                </a:solidFill>
                <a:latin typeface="Calibri"/>
              </a:rPr>
              <a:t>• </a:t>
            </a:r>
            <a:r>
              <a:rPr sz="1800">
                <a:solidFill>
                  <a:srgbClr val="2C3E50"/>
                </a:solidFill>
                <a:latin typeface="Calibri"/>
              </a:rPr>
              <a:t>Who can edit?</a:t>
            </a:r>
          </a:p>
          <a:p>
            <a:pPr>
              <a:spcAft>
                <a:spcPts val="800"/>
              </a:spcAft>
            </a:pPr>
            <a:r>
              <a:rPr sz="1800">
                <a:solidFill>
                  <a:srgbClr val="D0CB17"/>
                </a:solidFill>
                <a:latin typeface="Calibri"/>
              </a:rPr>
              <a:t>• </a:t>
            </a:r>
            <a:r>
              <a:rPr sz="1800">
                <a:solidFill>
                  <a:srgbClr val="2C3E50"/>
                </a:solidFill>
                <a:latin typeface="Calibri"/>
              </a:rPr>
              <a:t>Who can view?</a:t>
            </a:r>
          </a:p>
        </p:txBody>
      </p:sp>
      <p:pic>
        <p:nvPicPr>
          <p:cNvPr id="5" name="Picture 4" descr="projects_within_instance.png"/>
          <p:cNvPicPr>
            <a:picLocks noChangeAspect="1"/>
          </p:cNvPicPr>
          <p:nvPr/>
        </p:nvPicPr>
        <p:blipFill>
          <a:blip r:embed="rId2"/>
          <a:stretch>
            <a:fillRect/>
          </a:stretch>
        </p:blipFill>
        <p:spPr>
          <a:xfrm>
            <a:off x="6629400" y="1371600"/>
            <a:ext cx="5029200" cy="2038865"/>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&lt;style scoped&gt;</a:t>
            </a:r>
          </a:p>
          <a:p>
            <a:pPr>
              <a:spcAft>
                <a:spcPts val="400"/>
              </a:spcAft>
            </a:pPr>
            <a:r>
              <a:rPr sz="1800">
                <a:solidFill>
                  <a:srgbClr val="2C3E50"/>
                </a:solidFill>
                <a:latin typeface="Calibri"/>
              </a:rPr>
              <a:t>table { border: none !important; background: transparent !important; width: 100% !important; }</a:t>
            </a:r>
          </a:p>
          <a:p>
            <a:pPr>
              <a:spcAft>
                <a:spcPts val="400"/>
              </a:spcAft>
            </a:pPr>
            <a:r>
              <a:rPr sz="1800">
                <a:solidFill>
                  <a:srgbClr val="2C3E50"/>
                </a:solidFill>
                <a:latin typeface="Calibri"/>
              </a:rPr>
              <a:t>table td, table th { border: none !important; background: transparent !important; padding: 8px !important; vertical-align: top !important; width: 50% !important; }</a:t>
            </a:r>
          </a:p>
          <a:p>
            <a:pPr>
              <a:spcAft>
                <a:spcPts val="400"/>
              </a:spcAft>
            </a:pPr>
            <a:r>
              <a:rPr sz="1800">
                <a:solidFill>
                  <a:srgbClr val="2C3E50"/>
                </a:solidFill>
                <a:latin typeface="Calibri"/>
              </a:rPr>
              <a:t>table img { max-height: 280px !important; width: auto !important; }</a:t>
            </a:r>
          </a:p>
          <a:p>
            <a:pPr>
              <a:spcAft>
                <a:spcPts val="400"/>
              </a:spcAft>
            </a:pPr>
            <a:r>
              <a:rPr sz="1800">
                <a:solidFill>
                  <a:srgbClr val="2C3E50"/>
                </a:solidFill>
                <a:latin typeface="Calibri"/>
              </a:rPr>
              <a:t>&lt;/style&gt;</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5636555"/>
                <a:gridCol w="5610564"/>
              </a:tblGrid>
              <a:tr h="320040">
                <a:tc>
                  <a:txBody>
                    <a:bodyPr wrap="square"/>
                    <a:lstStyle/>
                    <a:p>
                      <a:pPr>
                        <a:defRPr sz="1400" b="1">
                          <a:solidFill>
                            <a:srgbClr val="21568C"/>
                          </a:solidFill>
                          <a:latin typeface="Calibri"/>
                        </a:defRPr>
                      </a:pPr>
                      <a:r>
                        <a:t>![Login page](../workshops/2026-zambia/media/01_login_page.png)</a:t>
                      </a:r>
                    </a:p>
                  </a:txBody>
                  <a:tcPr>
                    <a:solidFill>
                      <a:srgbClr val="CAE6E9"/>
                    </a:solidFill>
                  </a:tcPr>
                </a:tc>
                <a:tc>
                  <a:txBody>
                    <a:bodyPr wrap="square"/>
                    <a:lstStyle/>
                    <a:p>
                      <a:pPr>
                        <a:defRPr sz="1400" b="1">
                          <a:solidFill>
                            <a:srgbClr val="21568C"/>
                          </a:solidFill>
                          <a:latin typeface="Calibri"/>
                        </a:defRPr>
                      </a:pPr>
                      <a:r>
                        <a:t>![Sign up form](../workshops/2026-zambia/media/02_sign_up.png)</a:t>
                      </a:r>
                    </a:p>
                  </a:txBody>
                  <a:tcPr>
                    <a:solidFill>
                      <a:srgbClr val="CAE6E9"/>
                    </a:solidFill>
                  </a:tcPr>
                </a:tc>
              </a:tr>
              <a:tr h="320040">
                <a:tc>
                  <a:txBody>
                    <a:bodyPr wrap="square"/>
                    <a:lstStyle/>
                    <a:p>
                      <a:r>
                        <a:rPr sz="1400" b="1">
                          <a:solidFill>
                            <a:srgbClr val="21568C"/>
                          </a:solidFill>
                          <a:latin typeface="Calibri"/>
                        </a:rPr>
                        <a:t>1.</a:t>
                      </a:r>
                      <a:r>
                        <a:rPr sz="1400">
                          <a:solidFill>
                            <a:srgbClr val="2C3E50"/>
                          </a:solidFill>
                          <a:latin typeface="Calibri"/>
                        </a:rPr>
                        <a:t> Go to https://zambia.fastr-analytics.org</a:t>
                      </a:r>
                    </a:p>
                  </a:txBody>
                  <a:tcPr/>
                </a:tc>
                <a:tc>
                  <a:txBody>
                    <a:bodyPr wrap="square"/>
                    <a:lstStyle/>
                    <a:p>
                      <a:r>
                        <a:rPr sz="1400" b="1">
                          <a:solidFill>
                            <a:srgbClr val="21568C"/>
                          </a:solidFill>
                          <a:latin typeface="Calibri"/>
                        </a:rPr>
                        <a:t>2.</a:t>
                      </a:r>
                      <a:r>
                        <a:rPr sz="1400">
                          <a:solidFill>
                            <a:srgbClr val="2C3E50"/>
                          </a:solidFill>
                          <a:latin typeface="Calibri"/>
                        </a:rPr>
                        <a:t> Click Sign up and enter your details</a:t>
                      </a:r>
                    </a:p>
                  </a:txBody>
                  <a:tcPr/>
                </a:tc>
              </a:tr>
              <a:tr h="320040">
                <a:tc>
                  <a:txBody>
                    <a:bodyPr wrap="square"/>
                    <a:lstStyle/>
                    <a:p>
                      <a:r>
                        <a:rPr sz="1400" b="1">
                          <a:solidFill>
                            <a:srgbClr val="21568C"/>
                          </a:solidFill>
                          <a:latin typeface="Calibri"/>
                        </a:rPr>
                        <a:t>3.</a:t>
                      </a:r>
                      <a:r>
                        <a:rPr sz="1400">
                          <a:solidFill>
                            <a:srgbClr val="2C3E50"/>
                          </a:solidFill>
                          <a:latin typeface="Calibri"/>
                        </a:rPr>
                        <a:t> Enter your information (verify email)</a:t>
                      </a:r>
                    </a:p>
                  </a:txBody>
                  <a:tcPr/>
                </a:tc>
                <a:tc>
                  <a:txBody>
                    <a:bodyPr wrap="square"/>
                    <a:lstStyle/>
                    <a:p>
                      <a:r>
                        <a:rPr sz="1400" b="1">
                          <a:solidFill>
                            <a:srgbClr val="21568C"/>
                          </a:solidFill>
                          <a:latin typeface="Calibri"/>
                        </a:rPr>
                        <a:t>4.</a:t>
                      </a:r>
                      <a:r>
                        <a:rPr sz="1400">
                          <a:solidFill>
                            <a:srgbClr val="2C3E50"/>
                          </a:solidFill>
                          <a:latin typeface="Calibri"/>
                        </a:rPr>
                        <a:t> After login, you'll be added to a project</a:t>
                      </a:r>
                    </a:p>
                  </a:txBody>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demo, we will:</a:t>
            </a:r>
          </a:p>
          <a:p>
            <a:pPr>
              <a:spcAft>
                <a:spcPts val="800"/>
              </a:spcAft>
            </a:pPr>
            <a:r>
              <a:rPr sz="1800">
                <a:solidFill>
                  <a:srgbClr val="D0CB17"/>
                </a:solidFill>
                <a:latin typeface="Calibri"/>
              </a:rPr>
              <a:t>• </a:t>
            </a:r>
            <a:r>
              <a:rPr sz="1800">
                <a:solidFill>
                  <a:srgbClr val="2C3E50"/>
                </a:solidFill>
                <a:latin typeface="Calibri"/>
              </a:rPr>
              <a:t>Navigate to the FASTR platform</a:t>
            </a:r>
          </a:p>
          <a:p>
            <a:pPr>
              <a:spcAft>
                <a:spcPts val="800"/>
              </a:spcAft>
            </a:pPr>
            <a:r>
              <a:rPr sz="1800">
                <a:solidFill>
                  <a:srgbClr val="D0CB17"/>
                </a:solidFill>
                <a:latin typeface="Calibri"/>
              </a:rPr>
              <a:t>• </a:t>
            </a:r>
            <a:r>
              <a:rPr sz="1800">
                <a:solidFill>
                  <a:srgbClr val="2C3E50"/>
                </a:solidFill>
                <a:latin typeface="Calibri"/>
              </a:rPr>
              <a:t>Explore user roles: Administrator, Editor, Viewer</a:t>
            </a:r>
          </a:p>
          <a:p>
            <a:pPr>
              <a:spcAft>
                <a:spcPts val="800"/>
              </a:spcAft>
            </a:pPr>
            <a:r>
              <a:rPr sz="1800">
                <a:solidFill>
                  <a:srgbClr val="D0CB17"/>
                </a:solidFill>
                <a:latin typeface="Calibri"/>
              </a:rPr>
              <a:t>• </a:t>
            </a:r>
            <a:r>
              <a:rPr sz="1800">
                <a:solidFill>
                  <a:srgbClr val="2C3E50"/>
                </a:solidFill>
                <a:latin typeface="Calibri"/>
              </a:rPr>
              <a:t>Review user management and permissions</a:t>
            </a:r>
          </a:p>
          <a:p>
            <a:pPr>
              <a:spcAft>
                <a:spcPts val="800"/>
              </a:spcAft>
            </a:pPr>
            <a:r>
              <a:rPr sz="1800">
                <a:solidFill>
                  <a:srgbClr val="D0CB17"/>
                </a:solidFill>
                <a:latin typeface="Calibri"/>
              </a:rPr>
              <a:t>• </a:t>
            </a:r>
            <a:r>
              <a:rPr sz="1800">
                <a:solidFill>
                  <a:srgbClr val="2C3E50"/>
                </a:solidFill>
                <a:latin typeface="Calibri"/>
              </a:rPr>
              <a:t>Understand the workflow for uploading data and making analytical decisions</a:t>
            </a:r>
          </a:p>
          <a:p>
            <a:pPr>
              <a:spcAft>
                <a:spcPts val="1400"/>
              </a:spcAft>
            </a:pPr>
            <a:r>
              <a:rPr sz="1800" i="1">
                <a:solidFill>
                  <a:srgbClr val="1F9A9C"/>
                </a:solidFill>
                <a:latin typeface="Calibri"/>
              </a:rPr>
              <a:t>Facilitator will demonstrate in the live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4: Configuring the FASTR analytics platform</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 configure:</a:t>
            </a:r>
          </a:p>
          <a:p>
            <a:pPr>
              <a:spcAft>
                <a:spcPts val="800"/>
              </a:spcAft>
            </a:pPr>
            <a:r>
              <a:rPr sz="1800">
                <a:solidFill>
                  <a:srgbClr val="D0CB17"/>
                </a:solidFill>
                <a:latin typeface="Calibri"/>
              </a:rPr>
              <a:t>• </a:t>
            </a:r>
            <a:r>
              <a:rPr sz="1800">
                <a:solidFill>
                  <a:srgbClr val="2C3E50"/>
                </a:solidFill>
                <a:latin typeface="Calibri"/>
              </a:rPr>
              <a:t>Admin areas (regions, districts)</a:t>
            </a:r>
          </a:p>
          <a:p>
            <a:pPr>
              <a:spcAft>
                <a:spcPts val="800"/>
              </a:spcAft>
            </a:pPr>
            <a:r>
              <a:rPr sz="1800">
                <a:solidFill>
                  <a:srgbClr val="D0CB17"/>
                </a:solidFill>
                <a:latin typeface="Calibri"/>
              </a:rPr>
              <a:t>• </a:t>
            </a:r>
            <a:r>
              <a:rPr sz="1800">
                <a:solidFill>
                  <a:srgbClr val="2C3E50"/>
                </a:solidFill>
                <a:latin typeface="Calibri"/>
              </a:rPr>
              <a:t>Facility structure</a:t>
            </a:r>
          </a:p>
          <a:p>
            <a:pPr>
              <a:spcAft>
                <a:spcPts val="800"/>
              </a:spcAft>
            </a:pPr>
            <a:r>
              <a:rPr sz="1800">
                <a:solidFill>
                  <a:srgbClr val="D0CB17"/>
                </a:solidFill>
                <a:latin typeface="Calibri"/>
              </a:rPr>
              <a:t>• </a:t>
            </a:r>
            <a:r>
              <a:rPr sz="1800">
                <a:solidFill>
                  <a:srgbClr val="2C3E50"/>
                </a:solidFill>
                <a:latin typeface="Calibri"/>
              </a:rPr>
              <a:t>Indicator definitions</a:t>
            </a:r>
          </a:p>
          <a:p>
            <a:pPr>
              <a:spcAft>
                <a:spcPts val="1400"/>
              </a:spcAft>
            </a:pPr>
            <a:r>
              <a:rPr sz="1800" i="1">
                <a:solidFill>
                  <a:srgbClr val="1F9A9C"/>
                </a:solidFill>
                <a:latin typeface="Calibri"/>
              </a:rPr>
              <a:t>Participants will work directly in the platform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data format requirements</a:t>
            </a:r>
          </a:p>
          <a:p>
            <a:pPr>
              <a:spcAft>
                <a:spcPts val="800"/>
              </a:spcAft>
            </a:pPr>
            <a:r>
              <a:rPr sz="1800">
                <a:solidFill>
                  <a:srgbClr val="D0CB17"/>
                </a:solidFill>
                <a:latin typeface="Calibri"/>
              </a:rPr>
              <a:t>• </a:t>
            </a:r>
            <a:r>
              <a:rPr sz="1800">
                <a:solidFill>
                  <a:srgbClr val="2C3E50"/>
                </a:solidFill>
                <a:latin typeface="Calibri"/>
              </a:rPr>
              <a:t>Walk through the import process</a:t>
            </a:r>
          </a:p>
          <a:p>
            <a:pPr>
              <a:spcAft>
                <a:spcPts val="800"/>
              </a:spcAft>
            </a:pPr>
            <a:r>
              <a:rPr sz="1800">
                <a:solidFill>
                  <a:srgbClr val="D0CB17"/>
                </a:solidFill>
                <a:latin typeface="Calibri"/>
              </a:rPr>
              <a:t>• </a:t>
            </a:r>
            <a:r>
              <a:rPr sz="1800">
                <a:solidFill>
                  <a:srgbClr val="2C3E50"/>
                </a:solidFill>
                <a:latin typeface="Calibri"/>
              </a:rPr>
              <a:t>Handle validation and error checking</a:t>
            </a:r>
          </a:p>
          <a:p>
            <a:pPr>
              <a:spcAft>
                <a:spcPts val="1400"/>
              </a:spcAft>
            </a:pPr>
            <a:r>
              <a:rPr sz="1800" i="1">
                <a:solidFill>
                  <a:srgbClr val="1F9A9C"/>
                </a:solidFill>
                <a:latin typeface="Calibri"/>
              </a:rPr>
              <a:t>Participants will import their country's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Review available analysis modules</a:t>
            </a:r>
          </a:p>
          <a:p>
            <a:pPr>
              <a:spcAft>
                <a:spcPts val="800"/>
              </a:spcAft>
            </a:pPr>
            <a:r>
              <a:rPr sz="1800">
                <a:solidFill>
                  <a:srgbClr val="D0CB17"/>
                </a:solidFill>
                <a:latin typeface="Calibri"/>
              </a:rPr>
              <a:t>• </a:t>
            </a:r>
            <a:r>
              <a:rPr sz="1800">
                <a:solidFill>
                  <a:srgbClr val="2C3E50"/>
                </a:solidFill>
                <a:latin typeface="Calibri"/>
              </a:rPr>
              <a:t>Install required modules</a:t>
            </a:r>
          </a:p>
          <a:p>
            <a:pPr>
              <a:spcAft>
                <a:spcPts val="800"/>
              </a:spcAft>
            </a:pPr>
            <a:r>
              <a:rPr sz="1800">
                <a:solidFill>
                  <a:srgbClr val="D0CB17"/>
                </a:solidFill>
                <a:latin typeface="Calibri"/>
              </a:rPr>
              <a:t>• </a:t>
            </a:r>
            <a:r>
              <a:rPr sz="1800">
                <a:solidFill>
                  <a:srgbClr val="2C3E50"/>
                </a:solidFill>
                <a:latin typeface="Calibri"/>
              </a:rPr>
              <a:t>Run initial analyses</a:t>
            </a:r>
          </a:p>
          <a:p>
            <a:pPr>
              <a:spcAft>
                <a:spcPts val="1400"/>
              </a:spcAft>
            </a:pPr>
            <a:r>
              <a:rPr sz="1800" i="1">
                <a:solidFill>
                  <a:srgbClr val="1F9A9C"/>
                </a:solidFill>
                <a:latin typeface="Calibri"/>
              </a:rPr>
              <a:t>Participants will configure and run modules on their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1, we covered:</a:t>
            </a:r>
          </a:p>
          <a:p>
            <a:pPr>
              <a:spcAft>
                <a:spcPts val="800"/>
              </a:spcAft>
            </a:pPr>
            <a:r>
              <a:rPr sz="1800">
                <a:solidFill>
                  <a:srgbClr val="D0CB17"/>
                </a:solidFill>
                <a:latin typeface="Calibri"/>
              </a:rPr>
              <a:t>• </a:t>
            </a:r>
            <a:r>
              <a:rPr sz="1800">
                <a:solidFill>
                  <a:srgbClr val="2C3E50"/>
                </a:solidFill>
                <a:latin typeface="Calibri"/>
              </a:rPr>
              <a:t>The FASTR approach and rapid-cycle analytics methodology</a:t>
            </a:r>
          </a:p>
          <a:p>
            <a:pPr>
              <a:spcAft>
                <a:spcPts val="800"/>
              </a:spcAft>
            </a:pPr>
            <a:r>
              <a:rPr sz="1800">
                <a:solidFill>
                  <a:srgbClr val="D0CB17"/>
                </a:solidFill>
                <a:latin typeface="Calibri"/>
              </a:rPr>
              <a:t>• </a:t>
            </a:r>
            <a:r>
              <a:rPr sz="1800">
                <a:solidFill>
                  <a:srgbClr val="2C3E50"/>
                </a:solidFill>
                <a:latin typeface="Calibri"/>
              </a:rPr>
              <a:t>Data extraction from DHIS2 using the Data Downloader</a:t>
            </a:r>
          </a:p>
          <a:p>
            <a:pPr>
              <a:spcAft>
                <a:spcPts val="800"/>
              </a:spcAft>
            </a:pPr>
            <a:r>
              <a:rPr sz="1800">
                <a:solidFill>
                  <a:srgbClr val="D0CB17"/>
                </a:solidFill>
                <a:latin typeface="Calibri"/>
              </a:rPr>
              <a:t>• </a:t>
            </a:r>
            <a:r>
              <a:rPr sz="1800">
                <a:solidFill>
                  <a:srgbClr val="2C3E50"/>
                </a:solidFill>
                <a:latin typeface="Calibri"/>
              </a:rPr>
              <a:t>Introduction to the FASTR Analytics Platform</a:t>
            </a:r>
          </a:p>
          <a:p>
            <a:pPr>
              <a:spcAft>
                <a:spcPts val="800"/>
              </a:spcAft>
            </a:pPr>
            <a:r>
              <a:rPr sz="1800">
                <a:solidFill>
                  <a:srgbClr val="D0CB17"/>
                </a:solidFill>
                <a:latin typeface="Calibri"/>
              </a:rPr>
              <a:t>• </a:t>
            </a:r>
            <a:r>
              <a:rPr sz="1800">
                <a:solidFill>
                  <a:srgbClr val="2C3E50"/>
                </a:solidFill>
                <a:latin typeface="Calibri"/>
              </a:rPr>
              <a:t>Platform configuration: admin areas, data import, modules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will:</a:t>
            </a:r>
          </a:p>
          <a:p>
            <a:pPr>
              <a:spcAft>
                <a:spcPts val="800"/>
              </a:spcAft>
            </a:pPr>
            <a:r>
              <a:rPr sz="1800">
                <a:solidFill>
                  <a:srgbClr val="D0CB17"/>
                </a:solidFill>
                <a:latin typeface="Calibri"/>
              </a:rPr>
              <a:t>• </a:t>
            </a:r>
            <a:r>
              <a:rPr sz="1800">
                <a:solidFill>
                  <a:srgbClr val="2C3E50"/>
                </a:solidFill>
                <a:latin typeface="Calibri"/>
              </a:rPr>
              <a:t>Explore FASTR methods for data quality and analysis</a:t>
            </a:r>
          </a:p>
          <a:p>
            <a:pPr>
              <a:spcAft>
                <a:spcPts val="800"/>
              </a:spcAft>
            </a:pPr>
            <a:r>
              <a:rPr sz="1800">
                <a:solidFill>
                  <a:srgbClr val="D0CB17"/>
                </a:solidFill>
                <a:latin typeface="Calibri"/>
              </a:rPr>
              <a:t>• </a:t>
            </a:r>
            <a:r>
              <a:rPr sz="1800">
                <a:solidFill>
                  <a:srgbClr val="2C3E50"/>
                </a:solidFill>
                <a:latin typeface="Calibri"/>
              </a:rPr>
              <a:t>Create and configure projects</a:t>
            </a:r>
          </a:p>
          <a:p>
            <a:pPr>
              <a:spcAft>
                <a:spcPts val="800"/>
              </a:spcAft>
            </a:pPr>
            <a:r>
              <a:rPr sz="1800">
                <a:solidFill>
                  <a:srgbClr val="D0CB17"/>
                </a:solidFill>
                <a:latin typeface="Calibri"/>
              </a:rPr>
              <a:t>• </a:t>
            </a:r>
            <a:r>
              <a:rPr sz="1800">
                <a:solidFill>
                  <a:srgbClr val="2C3E50"/>
                </a:solidFill>
                <a:latin typeface="Calibri"/>
              </a:rPr>
              <a:t>Build visualizations</a:t>
            </a:r>
          </a:p>
          <a:p>
            <a:pPr>
              <a:spcAft>
                <a:spcPts val="800"/>
              </a:spcAft>
            </a:pPr>
            <a:r>
              <a:rPr sz="1800">
                <a:solidFill>
                  <a:srgbClr val="D0CB17"/>
                </a:solidFill>
                <a:latin typeface="Calibri"/>
              </a:rPr>
              <a:t>• </a:t>
            </a:r>
            <a:r>
              <a:rPr sz="1800">
                <a:solidFill>
                  <a:srgbClr val="2C3E50"/>
                </a:solidFill>
                <a:latin typeface="Calibri"/>
              </a:rPr>
              <a:t>Generate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5: Overview of FASTR methods and analytical outputs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The FASTR analysis follows a sequential workflow where each step builds on the previous:</a:t>
            </a:r>
          </a:p>
          <a:p>
            <a:pPr>
              <a:spcAft>
                <a:spcPts val="800"/>
              </a:spcAft>
            </a:pPr>
            <a:r>
              <a:rPr sz="1800">
                <a:solidFill>
                  <a:srgbClr val="D0CB17"/>
                </a:solidFill>
                <a:latin typeface="Calibri"/>
              </a:rPr>
              <a:t>• </a:t>
            </a:r>
            <a:r>
              <a:rPr sz="1800" b="1">
                <a:solidFill>
                  <a:srgbClr val="21568C"/>
                </a:solidFill>
                <a:latin typeface="Calibri"/>
              </a:rPr>
              <a:t>Assess data quality</a:t>
            </a:r>
            <a:r>
              <a:rPr sz="1800">
                <a:solidFill>
                  <a:srgbClr val="2C3E50"/>
                </a:solidFill>
                <a:latin typeface="Calibri"/>
              </a:rPr>
              <a:t> - Identify issues with completeness, outliers, and consistency</a:t>
            </a:r>
          </a:p>
          <a:p>
            <a:pPr>
              <a:spcAft>
                <a:spcPts val="800"/>
              </a:spcAft>
            </a:pPr>
            <a:r>
              <a:rPr sz="1800">
                <a:solidFill>
                  <a:srgbClr val="D0CB17"/>
                </a:solidFill>
                <a:latin typeface="Calibri"/>
              </a:rPr>
              <a:t>• </a:t>
            </a:r>
            <a:r>
              <a:rPr sz="1800" b="1">
                <a:solidFill>
                  <a:srgbClr val="21568C"/>
                </a:solidFill>
                <a:latin typeface="Calibri"/>
              </a:rPr>
              <a:t>Adjust for quality issues</a:t>
            </a:r>
            <a:r>
              <a:rPr sz="1800">
                <a:solidFill>
                  <a:srgbClr val="2C3E50"/>
                </a:solidFill>
                <a:latin typeface="Calibri"/>
              </a:rPr>
              <a:t> - Apply corrections to improve data reliability</a:t>
            </a:r>
          </a:p>
          <a:p>
            <a:pPr>
              <a:spcAft>
                <a:spcPts val="800"/>
              </a:spcAft>
            </a:pPr>
            <a:r>
              <a:rPr sz="1800">
                <a:solidFill>
                  <a:srgbClr val="D0CB17"/>
                </a:solidFill>
                <a:latin typeface="Calibri"/>
              </a:rPr>
              <a:t>• </a:t>
            </a:r>
            <a:r>
              <a:rPr sz="1800" b="1">
                <a:solidFill>
                  <a:srgbClr val="21568C"/>
                </a:solidFill>
                <a:latin typeface="Calibri"/>
              </a:rPr>
              <a:t>Analyze adjusted data</a:t>
            </a:r>
            <a:r>
              <a:rPr sz="1800">
                <a:solidFill>
                  <a:srgbClr val="2C3E50"/>
                </a:solidFill>
                <a:latin typeface="Calibri"/>
              </a:rPr>
              <a:t> - Generate service utilization and coverage estimates</a:t>
            </a:r>
          </a:p>
        </p:txBody>
      </p:sp>
      <p:pic>
        <p:nvPicPr>
          <p:cNvPr id="5" name="Picture 4" descr="analytical_pipeline.png"/>
          <p:cNvPicPr>
            <a:picLocks noChangeAspect="1"/>
          </p:cNvPicPr>
          <p:nvPr/>
        </p:nvPicPr>
        <p:blipFill>
          <a:blip r:embed="rId2"/>
          <a:stretch>
            <a:fillRect/>
          </a:stretch>
        </p:blipFill>
        <p:spPr>
          <a:xfrm>
            <a:off x="6629400" y="1371600"/>
            <a:ext cx="5029200" cy="201168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Evaluating the reliability of routine health information system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Challenge:</a:t>
            </a:r>
            <a:r>
              <a:rPr sz="1800">
                <a:solidFill>
                  <a:srgbClr val="333333"/>
                </a:solidFill>
                <a:latin typeface="Calibri"/>
              </a:rPr>
              <a:t> Routine health facility data may contain quality limitations:</a:t>
            </a:r>
          </a:p>
          <a:p>
            <a:pPr>
              <a:spcAft>
                <a:spcPts val="800"/>
              </a:spcAft>
            </a:pPr>
            <a:r>
              <a:rPr sz="1800">
                <a:solidFill>
                  <a:srgbClr val="D0CB17"/>
                </a:solidFill>
                <a:latin typeface="Calibri"/>
              </a:rPr>
              <a:t>• </a:t>
            </a:r>
            <a:r>
              <a:rPr sz="1800">
                <a:solidFill>
                  <a:srgbClr val="2C3E50"/>
                </a:solidFill>
                <a:latin typeface="Calibri"/>
              </a:rPr>
              <a:t>Reported values may fall outside plausible ranges</a:t>
            </a:r>
          </a:p>
          <a:p>
            <a:pPr>
              <a:spcAft>
                <a:spcPts val="800"/>
              </a:spcAft>
            </a:pPr>
            <a:r>
              <a:rPr sz="1800">
                <a:solidFill>
                  <a:srgbClr val="D0CB17"/>
                </a:solidFill>
                <a:latin typeface="Calibri"/>
              </a:rPr>
              <a:t>• </a:t>
            </a:r>
            <a:r>
              <a:rPr sz="1800">
                <a:solidFill>
                  <a:srgbClr val="2C3E50"/>
                </a:solidFill>
                <a:latin typeface="Calibri"/>
              </a:rPr>
              <a:t>Reporting gaps affect data completeness</a:t>
            </a:r>
          </a:p>
          <a:p>
            <a:pPr>
              <a:spcAft>
                <a:spcPts val="800"/>
              </a:spcAft>
            </a:pPr>
            <a:r>
              <a:rPr sz="1800">
                <a:solidFill>
                  <a:srgbClr val="D0CB17"/>
                </a:solidFill>
                <a:latin typeface="Calibri"/>
              </a:rPr>
              <a:t>• </a:t>
            </a:r>
            <a:r>
              <a:rPr sz="1800">
                <a:solidFill>
                  <a:srgbClr val="2C3E50"/>
                </a:solidFill>
                <a:latin typeface="Calibri"/>
              </a:rPr>
              <a:t>Inconsistencies exist between related indicators</a:t>
            </a:r>
          </a:p>
          <a:p>
            <a:pPr>
              <a:spcAft>
                <a:spcPts val="1400"/>
              </a:spcAft>
            </a:pPr>
            <a:r>
              <a:rPr sz="1800" b="1">
                <a:solidFill>
                  <a:srgbClr val="21568C"/>
                </a:solidFill>
                <a:latin typeface="Calibri"/>
              </a:rPr>
              <a:t>Implications:</a:t>
            </a:r>
            <a:r>
              <a:rPr sz="1800">
                <a:solidFill>
                  <a:srgbClr val="333333"/>
                </a:solidFill>
                <a:latin typeface="Calibri"/>
              </a:rPr>
              <a:t> Data quality limitations affect decision-making</a:t>
            </a:r>
          </a:p>
          <a:p>
            <a:pPr>
              <a:spcAft>
                <a:spcPts val="800"/>
              </a:spcAft>
            </a:pPr>
            <a:r>
              <a:rPr sz="1800">
                <a:solidFill>
                  <a:srgbClr val="D0CB17"/>
                </a:solidFill>
                <a:latin typeface="Calibri"/>
              </a:rPr>
              <a:t>• </a:t>
            </a:r>
            <a:r>
              <a:rPr sz="1800">
                <a:solidFill>
                  <a:srgbClr val="2C3E50"/>
                </a:solidFill>
                <a:latin typeface="Calibri"/>
              </a:rPr>
              <a:t>Inaccurate assessments of service delivery trends</a:t>
            </a:r>
          </a:p>
          <a:p>
            <a:pPr>
              <a:spcAft>
                <a:spcPts val="800"/>
              </a:spcAft>
            </a:pPr>
            <a:r>
              <a:rPr sz="1800">
                <a:solidFill>
                  <a:srgbClr val="D0CB17"/>
                </a:solidFill>
                <a:latin typeface="Calibri"/>
              </a:rPr>
              <a:t>• </a:t>
            </a:r>
            <a:r>
              <a:rPr sz="1800">
                <a:solidFill>
                  <a:srgbClr val="2C3E50"/>
                </a:solidFill>
                <a:latin typeface="Calibri"/>
              </a:rPr>
              <a:t>Misidentification of areas requiring intervention</a:t>
            </a:r>
          </a:p>
          <a:p>
            <a:pPr>
              <a:spcAft>
                <a:spcPts val="800"/>
              </a:spcAft>
            </a:pPr>
            <a:r>
              <a:rPr sz="1800">
                <a:solidFill>
                  <a:srgbClr val="D0CB17"/>
                </a:solidFill>
                <a:latin typeface="Calibri"/>
              </a:rPr>
              <a:t>• </a:t>
            </a:r>
            <a:r>
              <a:rPr sz="1800">
                <a:solidFill>
                  <a:srgbClr val="2C3E50"/>
                </a:solidFill>
                <a:latin typeface="Calibri"/>
              </a:rPr>
              <a:t>Suboptimal resource allocation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Objective 1: Enable analytical adjustment</a:t>
            </a:r>
          </a:p>
          <a:p>
            <a:pPr>
              <a:spcAft>
                <a:spcPts val="1400"/>
              </a:spcAft>
            </a:pPr>
            <a:r>
              <a:rPr sz="1800">
                <a:solidFill>
                  <a:srgbClr val="333333"/>
                </a:solidFill>
                <a:latin typeface="Calibri"/>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Calibri"/>
              </a:rPr>
              <a:t>Objective 2: Monitor data quality trends</a:t>
            </a:r>
          </a:p>
          <a:p>
            <a:pPr>
              <a:spcAft>
                <a:spcPts val="1400"/>
              </a:spcAft>
            </a:pPr>
            <a:r>
              <a:rPr sz="1800">
                <a:solidFill>
                  <a:srgbClr val="333333"/>
                </a:solidFill>
                <a:latin typeface="Calibri"/>
              </a:rPr>
              <a:t>Data quality assessment enables ongoing monitoring to:</a:t>
            </a:r>
          </a:p>
          <a:p>
            <a:pPr>
              <a:spcAft>
                <a:spcPts val="800"/>
              </a:spcAft>
            </a:pPr>
            <a:r>
              <a:rPr sz="1800">
                <a:solidFill>
                  <a:srgbClr val="D0CB17"/>
                </a:solidFill>
                <a:latin typeface="Calibri"/>
              </a:rPr>
              <a:t>• </a:t>
            </a:r>
            <a:r>
              <a:rPr sz="1800">
                <a:solidFill>
                  <a:srgbClr val="2C3E50"/>
                </a:solidFill>
                <a:latin typeface="Calibri"/>
              </a:rPr>
              <a:t>Inform indicator selection based on quality profiles across the HMIS</a:t>
            </a:r>
          </a:p>
          <a:p>
            <a:pPr>
              <a:spcAft>
                <a:spcPts val="800"/>
              </a:spcAft>
            </a:pPr>
            <a:r>
              <a:rPr sz="1800">
                <a:solidFill>
                  <a:srgbClr val="D0CB17"/>
                </a:solidFill>
                <a:latin typeface="Calibri"/>
              </a:rPr>
              <a:t>• </a:t>
            </a:r>
            <a:r>
              <a:rPr sz="1800">
                <a:solidFill>
                  <a:srgbClr val="2C3E50"/>
                </a:solidFill>
                <a:latin typeface="Calibri"/>
              </a:rPr>
              <a:t>Guide targeted data quality interventions and supportive supervision in areas with weaker data quality</a:t>
            </a:r>
          </a:p>
          <a:p>
            <a:pPr>
              <a:spcAft>
                <a:spcPts val="800"/>
              </a:spcAft>
            </a:pPr>
            <a:r>
              <a:rPr sz="1800">
                <a:solidFill>
                  <a:srgbClr val="D0CB17"/>
                </a:solidFill>
                <a:latin typeface="Calibri"/>
              </a:rPr>
              <a:t>• </a:t>
            </a:r>
            <a:r>
              <a:rPr sz="1800">
                <a:solidFill>
                  <a:srgbClr val="2C3E50"/>
                </a:solidFill>
                <a:latin typeface="Calibri"/>
              </a:rPr>
              <a:t>Evaluate the effectiveness of data quality improvement initiatives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Completeness</a:t>
            </a:r>
          </a:p>
          <a:p>
            <a:pPr>
              <a:spcAft>
                <a:spcPts val="1400"/>
              </a:spcAft>
            </a:pPr>
            <a:r>
              <a:rPr sz="1800">
                <a:solidFill>
                  <a:srgbClr val="333333"/>
                </a:solidFill>
                <a:latin typeface="Calibri"/>
              </a:rPr>
              <a:t>Are health facilities submitting reports consistently?</a:t>
            </a:r>
          </a:p>
          <a:p>
            <a:pPr>
              <a:spcAft>
                <a:spcPts val="1400"/>
              </a:spcAft>
            </a:pPr>
            <a:r>
              <a:rPr sz="1800" b="1">
                <a:solidFill>
                  <a:srgbClr val="21568C"/>
                </a:solidFill>
                <a:latin typeface="Calibri"/>
              </a:rPr>
              <a:t>2. Outlier prevalence</a:t>
            </a:r>
          </a:p>
          <a:p>
            <a:pPr>
              <a:spcAft>
                <a:spcPts val="1400"/>
              </a:spcAft>
            </a:pPr>
            <a:r>
              <a:rPr sz="1800">
                <a:solidFill>
                  <a:srgbClr val="333333"/>
                </a:solidFill>
                <a:latin typeface="Calibri"/>
              </a:rPr>
              <a:t>Are reported values within plausible ranges?</a:t>
            </a:r>
          </a:p>
          <a:p>
            <a:pPr>
              <a:spcAft>
                <a:spcPts val="1400"/>
              </a:spcAft>
            </a:pPr>
            <a:r>
              <a:rPr sz="1800" b="1">
                <a:solidFill>
                  <a:srgbClr val="21568C"/>
                </a:solidFill>
                <a:latin typeface="Calibri"/>
              </a:rPr>
              <a:t>3. Internal consistency</a:t>
            </a:r>
          </a:p>
          <a:p>
            <a:pPr>
              <a:spcAft>
                <a:spcPts val="1400"/>
              </a:spcAft>
            </a:pPr>
            <a:r>
              <a:rPr sz="1800">
                <a:solidFill>
                  <a:srgbClr val="333333"/>
                </a:solidFill>
                <a:latin typeface="Calibri"/>
              </a:rPr>
              <a:t>Do related indicators demonstrate expected relationships?</a:t>
            </a:r>
          </a:p>
          <a:p>
            <a:pPr>
              <a:spcAft>
                <a:spcPts val="1400"/>
              </a:spcAft>
            </a:pPr>
            <a:r>
              <a:rPr sz="1800">
                <a:solidFill>
                  <a:srgbClr val="333333"/>
                </a:solidFill>
                <a:latin typeface="Calibri"/>
              </a:rPr>
              <a:t>These three dimensions provide a comprehensive assessment of data reliability for analytical purposes.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leteness_illustration.png"/>
          <p:cNvPicPr>
            <a:picLocks noChangeAspect="1"/>
          </p:cNvPicPr>
          <p:nvPr/>
        </p:nvPicPr>
        <p:blipFill>
          <a:blip r:embed="rId2"/>
          <a:stretch>
            <a:fillRect/>
          </a:stretch>
        </p:blipFill>
        <p:spPr>
          <a:xfrm>
            <a:off x="1523847" y="1371600"/>
            <a:ext cx="9144000" cy="3765176"/>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Indicator completeness measures the extent to which facilities that are supposed to report data on the selected core indicators are in fact doing so.</a:t>
            </a:r>
          </a:p>
          <a:p>
            <a:pPr>
              <a:spcAft>
                <a:spcPts val="1000"/>
              </a:spcAft>
            </a:pPr>
            <a:r>
              <a:rPr sz="1800">
                <a:solidFill>
                  <a:srgbClr val="333333"/>
                </a:solidFill>
                <a:latin typeface="Calibri"/>
              </a:rPr>
              <a:t>Higher completeness improves reliability of the data, especially when completeness is stable over time.</a:t>
            </a:r>
          </a:p>
          <a:p>
            <a:pPr>
              <a:spcAft>
                <a:spcPts val="1000"/>
              </a:spcAft>
            </a:pPr>
            <a:r>
              <a:rPr sz="1800">
                <a:solidFill>
                  <a:srgbClr val="333333"/>
                </a:solidFill>
                <a:latin typeface="Calibri"/>
              </a:rPr>
              <a:t>This is different from overall reporting completeness in that it looks at completeness of specific data elements and not only at the receipt of the monthly reporting form.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completeness is defined as:</a:t>
            </a:r>
          </a:p>
          <a:p>
            <a:pPr>
              <a:spcAft>
                <a:spcPts val="1400"/>
              </a:spcAft>
            </a:pPr>
            <a:r>
              <a:rPr sz="1800" b="1">
                <a:solidFill>
                  <a:srgbClr val="21568C"/>
                </a:solidFill>
                <a:latin typeface="Calibri"/>
              </a:rPr>
              <a:t>The percentage of reporting facilities each month out of the total number of facilities expected to report.</a:t>
            </a:r>
          </a:p>
          <a:p>
            <a:pPr>
              <a:spcAft>
                <a:spcPts val="800"/>
              </a:spcAft>
            </a:pPr>
            <a:r>
              <a:rPr sz="1800">
                <a:solidFill>
                  <a:srgbClr val="D0CB17"/>
                </a:solidFill>
                <a:latin typeface="Calibri"/>
              </a:rPr>
              <a:t>• </a:t>
            </a:r>
            <a:r>
              <a:rPr sz="1800">
                <a:solidFill>
                  <a:srgbClr val="2C3E50"/>
                </a:solidFill>
                <a:latin typeface="Calibri"/>
              </a:rPr>
              <a:t>A facility is deemed to be "reporting" if there is a non-missing, non-zero value recorded for the indicator and month</a:t>
            </a:r>
          </a:p>
          <a:p>
            <a:pPr>
              <a:spcAft>
                <a:spcPts val="800"/>
              </a:spcAft>
            </a:pPr>
            <a:r>
              <a:rPr sz="1800">
                <a:solidFill>
                  <a:srgbClr val="D0CB17"/>
                </a:solidFill>
                <a:latin typeface="Calibri"/>
              </a:rPr>
              <a:t>• </a:t>
            </a:r>
            <a:r>
              <a:rPr sz="1800">
                <a:solidFill>
                  <a:srgbClr val="2C3E50"/>
                </a:solidFill>
                <a:latin typeface="Calibri"/>
              </a:rPr>
              <a:t>A facility is expected to report if it has reported any volume for that indicator anytime within a year</a:t>
            </a:r>
          </a:p>
          <a:p>
            <a:pPr>
              <a:spcAft>
                <a:spcPts val="800"/>
              </a:spcAft>
            </a:pPr>
            <a:r>
              <a:rPr sz="1800">
                <a:solidFill>
                  <a:srgbClr val="D0CB17"/>
                </a:solidFill>
                <a:latin typeface="Calibri"/>
              </a:rPr>
              <a:t>• </a:t>
            </a:r>
            <a:r>
              <a:rPr sz="1800">
                <a:solidFill>
                  <a:srgbClr val="2C3E50"/>
                </a:solidFill>
                <a:latin typeface="Calibri"/>
              </a:rPr>
              <a:t>Facilities that do not report for six or more consecutive months at the beginning or end of their reporting period are classified as </a:t>
            </a:r>
            <a:r>
              <a:rPr sz="1800" b="1">
                <a:solidFill>
                  <a:srgbClr val="21568C"/>
                </a:solidFill>
                <a:latin typeface="Calibri"/>
              </a:rPr>
              <a:t>inactive</a:t>
            </a:r>
            <a:r>
              <a:rPr sz="1800">
                <a:solidFill>
                  <a:srgbClr val="2C3E50"/>
                </a:solidFill>
                <a:latin typeface="Calibri"/>
              </a:rPr>
              <a:t> rather than incomplete. This prevents penalizing facilities that have not yet begun reporting or have permanently ceased operations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Calibri"/>
              </a:rPr>
              <a:t>• </a:t>
            </a:r>
            <a:r>
              <a:rPr sz="1800">
                <a:solidFill>
                  <a:srgbClr val="2C3E50"/>
                </a:solidFill>
                <a:latin typeface="Calibri"/>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Calibri"/>
              </a:rPr>
              <a:t>• </a:t>
            </a:r>
            <a:r>
              <a:rPr sz="1800">
                <a:solidFill>
                  <a:srgbClr val="2C3E50"/>
                </a:solidFill>
                <a:latin typeface="Calibri"/>
              </a:rPr>
              <a:t>For countries where the DHIS2 system does not store 0's, indicator completeness may be underestimated if there are many low-volume facilities for a given indicator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complete:</a:t>
            </a:r>
          </a:p>
          <a:p>
            <a:pPr>
              <a:spcAft>
                <a:spcPts val="1000"/>
              </a:spcAft>
            </a:pPr>
            <a:r>
              <a:rPr sz="1800" b="1">
                <a:solidFill>
                  <a:srgbClr val="21568C"/>
                </a:solidFill>
                <a:latin typeface="Calibri"/>
              </a:rPr>
              <a:t>% complete = # monthly values that are complete / total N of monthly values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Calibri"/>
              </a:rPr>
              <a:t>Outliers can be the result of changes in programmatic activities (such as an intensified campaign) or can be data quality problems.</a:t>
            </a:r>
          </a:p>
          <a:p>
            <a:pPr>
              <a:spcAft>
                <a:spcPts val="1400"/>
              </a:spcAft>
            </a:pPr>
            <a:r>
              <a:rPr sz="1800">
                <a:solidFill>
                  <a:srgbClr val="333333"/>
                </a:solidFill>
                <a:latin typeface="Calibri"/>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outlier_impact.png"/>
          <p:cNvPicPr>
            <a:picLocks noChangeAspect="1"/>
          </p:cNvPicPr>
          <p:nvPr/>
        </p:nvPicPr>
        <p:blipFill>
          <a:blip r:embed="rId2"/>
          <a:stretch>
            <a:fillRect/>
          </a:stretch>
        </p:blipFill>
        <p:spPr>
          <a:xfrm>
            <a:off x="1523847" y="1371600"/>
            <a:ext cx="9144000" cy="4064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Region A displays an anomalous spike in February that substantially exceeds values reported by other regions — indicative of a data entry error or reporting issue.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Outliers are identified by assessing the within-facility variation in monthly reporting for each indicator.</a:t>
            </a:r>
          </a:p>
          <a:p>
            <a:pPr>
              <a:spcAft>
                <a:spcPts val="1400"/>
              </a:spcAft>
            </a:pPr>
            <a:r>
              <a:rPr sz="1800">
                <a:solidFill>
                  <a:srgbClr val="333333"/>
                </a:solidFill>
                <a:latin typeface="Calibri"/>
              </a:rPr>
              <a:t>An outlier is defined as:</a:t>
            </a:r>
          </a:p>
          <a:p>
            <a:pPr>
              <a:spcAft>
                <a:spcPts val="1400"/>
              </a:spcAft>
            </a:pPr>
            <a:r>
              <a:rPr sz="1800">
                <a:solidFill>
                  <a:srgbClr val="333333"/>
                </a:solidFill>
                <a:latin typeface="Calibri"/>
              </a:rPr>
              <a:t>A value greater than </a:t>
            </a:r>
            <a:r>
              <a:rPr sz="1800" b="1">
                <a:solidFill>
                  <a:srgbClr val="21568C"/>
                </a:solidFill>
                <a:latin typeface="Calibri"/>
              </a:rPr>
              <a:t>10 times the median absolute deviation (MAD)</a:t>
            </a:r>
            <a:r>
              <a:rPr sz="1800">
                <a:solidFill>
                  <a:srgbClr val="333333"/>
                </a:solidFill>
                <a:latin typeface="Calibri"/>
              </a:rPr>
              <a:t> from the monthly median value for the indicator in each time period, </a:t>
            </a:r>
            <a:r>
              <a:rPr sz="1800" b="1">
                <a:solidFill>
                  <a:srgbClr val="21568C"/>
                </a:solidFill>
                <a:latin typeface="Calibri"/>
              </a:rPr>
              <a:t>OR</a:t>
            </a:r>
            <a:r>
              <a:rPr sz="1800">
                <a:solidFill>
                  <a:srgbClr val="333333"/>
                </a:solidFill>
                <a:latin typeface="Calibri"/>
              </a:rPr>
              <a:t> a value for which the proportional contribution in volume for a facility, indicator, and time period is </a:t>
            </a:r>
            <a:r>
              <a:rPr sz="1800" b="1">
                <a:solidFill>
                  <a:srgbClr val="21568C"/>
                </a:solidFill>
                <a:latin typeface="Calibri"/>
              </a:rPr>
              <a:t>greater than 80%</a:t>
            </a:r>
          </a:p>
          <a:p>
            <a:pPr>
              <a:spcAft>
                <a:spcPts val="1400"/>
              </a:spcAft>
            </a:pPr>
            <a:r>
              <a:rPr sz="1800" b="1">
                <a:solidFill>
                  <a:srgbClr val="21568C"/>
                </a:solidFill>
                <a:latin typeface="Calibri"/>
              </a:rPr>
              <a:t>AND</a:t>
            </a:r>
            <a:r>
              <a:rPr sz="1800">
                <a:solidFill>
                  <a:srgbClr val="333333"/>
                </a:solidFill>
                <a:latin typeface="Calibri"/>
              </a:rPr>
              <a:t> for which:</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or equal to the median</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not missing</a:t>
            </a:r>
          </a:p>
          <a:p>
            <a:pPr>
              <a:spcAft>
                <a:spcPts val="800"/>
              </a:spcAft>
            </a:pPr>
            <a:r>
              <a:rPr sz="1800">
                <a:solidFill>
                  <a:srgbClr val="D0CB17"/>
                </a:solidFill>
                <a:latin typeface="Calibri"/>
              </a:rPr>
              <a:t>• </a:t>
            </a:r>
            <a:r>
              <a:rPr sz="1800">
                <a:solidFill>
                  <a:srgbClr val="2C3E50"/>
                </a:solidFill>
                <a:latin typeface="Calibri"/>
              </a:rPr>
              <a:t>The volume is </a:t>
            </a:r>
            <a:r>
              <a:rPr sz="1800" b="1">
                <a:solidFill>
                  <a:srgbClr val="21568C"/>
                </a:solidFill>
                <a:latin typeface="Calibri"/>
              </a:rPr>
              <a:t>greater than 100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that are outliers:</a:t>
            </a:r>
          </a:p>
          <a:p>
            <a:pPr>
              <a:spcAft>
                <a:spcPts val="1000"/>
              </a:spcAft>
            </a:pPr>
            <a:r>
              <a:rPr sz="1800" b="1">
                <a:solidFill>
                  <a:srgbClr val="21568C"/>
                </a:solidFill>
                <a:latin typeface="Calibri"/>
              </a:rPr>
              <a:t>% outliers = # monthly values that are outliers / total N of monthly values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FASTR assesses the following pairs of indicators to measure internal consistency:</a:t>
            </a:r>
          </a:p>
        </p:txBody>
      </p:sp>
      <p:graphicFrame>
        <p:nvGraphicFramePr>
          <p:cNvPr id="5" name="Table 4"/>
          <p:cNvGraphicFramePr>
            <a:graphicFrameLocks noGrp="1"/>
          </p:cNvGraphicFramePr>
          <p:nvPr/>
        </p:nvGraphicFramePr>
        <p:xfrm>
          <a:off x="685800" y="1828800"/>
          <a:ext cx="11247119" cy="1280160"/>
        </p:xfrm>
        <a:graphic>
          <a:graphicData uri="http://schemas.openxmlformats.org/drawingml/2006/table">
            <a:tbl>
              <a:tblPr firstRow="1" bandRow="1">
                <a:tableStyleId>{5C22544A-7EE6-4342-B048-85BDC9FD1C3A}</a:tableStyleId>
              </a:tblPr>
              <a:tblGrid>
                <a:gridCol w="4891595"/>
                <a:gridCol w="6355524"/>
              </a:tblGrid>
              <a:tr h="320040">
                <a:tc>
                  <a:txBody>
                    <a:bodyPr wrap="square"/>
                    <a:lstStyle/>
                    <a:p>
                      <a:pPr>
                        <a:defRPr sz="1400" b="1">
                          <a:solidFill>
                            <a:srgbClr val="21568C"/>
                          </a:solidFill>
                          <a:latin typeface="Calibri"/>
                        </a:defRPr>
                      </a:pPr>
                      <a:r>
                        <a:t>Indicator pair</a:t>
                      </a:r>
                    </a:p>
                  </a:txBody>
                  <a:tcPr>
                    <a:solidFill>
                      <a:srgbClr val="CAE6E9"/>
                    </a:solidFill>
                  </a:tcPr>
                </a:tc>
                <a:tc>
                  <a:txBody>
                    <a:bodyPr wrap="square"/>
                    <a:lstStyle/>
                    <a:p>
                      <a:pPr>
                        <a:defRPr sz="1400" b="1">
                          <a:solidFill>
                            <a:srgbClr val="21568C"/>
                          </a:solidFill>
                          <a:latin typeface="Calibri"/>
                        </a:defRPr>
                      </a:pPr>
                      <a:r>
                        <a:t>Expected relationship</a:t>
                      </a:r>
                    </a:p>
                  </a:txBody>
                  <a:tcPr>
                    <a:solidFill>
                      <a:srgbClr val="CAE6E9"/>
                    </a:solidFill>
                  </a:tcPr>
                </a:tc>
              </a:tr>
              <a:tr h="320040">
                <a:tc>
                  <a:txBody>
                    <a:bodyPr wrap="square"/>
                    <a:lstStyle/>
                    <a:p>
                      <a:r>
                        <a:rPr sz="1400">
                          <a:solidFill>
                            <a:srgbClr val="2C3E50"/>
                          </a:solidFill>
                          <a:latin typeface="Calibri"/>
                        </a:rPr>
                        <a:t>ANC1 / ANC4</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Penta1 / Penta3</a:t>
                      </a:r>
                    </a:p>
                  </a:txBody>
                  <a:tcPr/>
                </a:tc>
                <a:tc>
                  <a:txBody>
                    <a:bodyPr wrap="square"/>
                    <a:lstStyle/>
                    <a:p>
                      <a:r>
                        <a:rPr sz="1400">
                          <a:solidFill>
                            <a:srgbClr val="2C3E50"/>
                          </a:solidFill>
                          <a:latin typeface="Calibri"/>
                        </a:rPr>
                        <a:t>Ratio should be ≥ 0.95</a:t>
                      </a:r>
                    </a:p>
                  </a:txBody>
                  <a:tcPr/>
                </a:tc>
              </a:tr>
              <a:tr h="320040">
                <a:tc>
                  <a:txBody>
                    <a:bodyPr wrap="square"/>
                    <a:lstStyle/>
                    <a:p>
                      <a:r>
                        <a:rPr sz="1400">
                          <a:solidFill>
                            <a:srgbClr val="2C3E50"/>
                          </a:solidFill>
                          <a:latin typeface="Calibri"/>
                        </a:rPr>
                        <a:t>BCG / Facility delivery</a:t>
                      </a:r>
                    </a:p>
                  </a:txBody>
                  <a:tcPr/>
                </a:tc>
                <a:tc>
                  <a:txBody>
                    <a:bodyPr wrap="square"/>
                    <a:lstStyle/>
                    <a:p>
                      <a:r>
                        <a:rPr sz="1400">
                          <a:solidFill>
                            <a:srgbClr val="2C3E50"/>
                          </a:solidFill>
                          <a:latin typeface="Calibri"/>
                        </a:rPr>
                        <a:t>Ratio should be within 30% (i.e. ≥0.7 and ≤1.3)</a:t>
                      </a:r>
                    </a:p>
                  </a:txBody>
                  <a:tcPr/>
                </a:tc>
              </a:tr>
            </a:tbl>
          </a:graphicData>
        </a:graphic>
      </p:graphicFrame>
      <p:sp>
        <p:nvSpPr>
          <p:cNvPr id="6" name="TextBox 5"/>
          <p:cNvSpPr txBox="1"/>
          <p:nvPr/>
        </p:nvSpPr>
        <p:spPr>
          <a:xfrm>
            <a:off x="685800" y="3291840"/>
            <a:ext cx="10820095" cy="2286000"/>
          </a:xfrm>
          <a:prstGeom prst="rect">
            <a:avLst/>
          </a:prstGeom>
          <a:noFill/>
        </p:spPr>
        <p:txBody>
          <a:bodyPr wrap="square">
            <a:spAutoFit/>
          </a:bodyPr>
          <a:lstStyle/>
          <a:p>
            <a:pPr>
              <a:spcAft>
                <a:spcPts val="600"/>
              </a:spcAft>
            </a:pPr>
            <a:r>
              <a:rPr sz="1800">
                <a:solidFill>
                  <a:srgbClr val="2C3E50"/>
                </a:solidFill>
                <a:latin typeface="Calibri"/>
              </a:rPr>
              <a:t>These pairs of indicators have expected relationships.</a:t>
            </a:r>
          </a:p>
          <a:p>
            <a:pPr>
              <a:spcAft>
                <a:spcPts val="600"/>
              </a:spcAft>
            </a:pPr>
            <a:r>
              <a:rPr sz="1800">
                <a:solidFill>
                  <a:srgbClr val="2C3E50"/>
                </a:solidFill>
                <a:latin typeface="Calibri"/>
              </a:rPr>
              <a:t>We expect the number of pregnant women receiving a first ANC visit will always be higher than the number of pregnant women receiving a fourth ANC visit.</a:t>
            </a:r>
          </a:p>
          <a:p>
            <a:pPr>
              <a:spcAft>
                <a:spcPts val="600"/>
              </a:spcAft>
            </a:pPr>
            <a:r>
              <a:rPr sz="1800">
                <a:solidFill>
                  <a:srgbClr val="2C3E50"/>
                </a:solidFill>
                <a:latin typeface="Calibri"/>
              </a:rPr>
              <a:t>BCG is a birth dose vaccine so we expect that these indicators will be equal. However, we recognize there may be more variability in this predicted relationship thus we set a range of within 30%.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Calibri"/>
              </a:rPr>
              <a:t>Patients often access different services at different facilities within a district:</a:t>
            </a:r>
          </a:p>
          <a:p>
            <a:pPr>
              <a:spcAft>
                <a:spcPts val="800"/>
              </a:spcAft>
            </a:pPr>
            <a:r>
              <a:rPr sz="1800">
                <a:solidFill>
                  <a:srgbClr val="D0CB17"/>
                </a:solidFill>
                <a:latin typeface="Calibri"/>
              </a:rPr>
              <a:t>• </a:t>
            </a:r>
            <a:r>
              <a:rPr sz="1800">
                <a:solidFill>
                  <a:srgbClr val="2C3E50"/>
                </a:solidFill>
                <a:latin typeface="Calibri"/>
              </a:rPr>
              <a:t>A woman may attend </a:t>
            </a:r>
            <a:r>
              <a:rPr sz="1800" b="1">
                <a:solidFill>
                  <a:srgbClr val="21568C"/>
                </a:solidFill>
                <a:latin typeface="Calibri"/>
              </a:rPr>
              <a:t>ANC1</a:t>
            </a:r>
            <a:r>
              <a:rPr sz="1800">
                <a:solidFill>
                  <a:srgbClr val="2C3E50"/>
                </a:solidFill>
                <a:latin typeface="Calibri"/>
              </a:rPr>
              <a:t> at a nearby health post, but travel to a health centre for </a:t>
            </a:r>
            <a:r>
              <a:rPr sz="1800" b="1">
                <a:solidFill>
                  <a:srgbClr val="21568C"/>
                </a:solidFill>
                <a:latin typeface="Calibri"/>
              </a:rPr>
              <a:t>ANC4</a:t>
            </a:r>
          </a:p>
          <a:p>
            <a:pPr>
              <a:spcAft>
                <a:spcPts val="800"/>
              </a:spcAft>
            </a:pPr>
            <a:r>
              <a:rPr sz="1800">
                <a:solidFill>
                  <a:srgbClr val="D0CB17"/>
                </a:solidFill>
                <a:latin typeface="Calibri"/>
              </a:rPr>
              <a:t>• </a:t>
            </a:r>
            <a:r>
              <a:rPr sz="1800">
                <a:solidFill>
                  <a:srgbClr val="2C3E50"/>
                </a:solidFill>
                <a:latin typeface="Calibri"/>
              </a:rPr>
              <a:t>A child may receive </a:t>
            </a:r>
            <a:r>
              <a:rPr sz="1800" b="1">
                <a:solidFill>
                  <a:srgbClr val="21568C"/>
                </a:solidFill>
                <a:latin typeface="Calibri"/>
              </a:rPr>
              <a:t>Penta1</a:t>
            </a:r>
            <a:r>
              <a:rPr sz="1800">
                <a:solidFill>
                  <a:srgbClr val="2C3E50"/>
                </a:solidFill>
                <a:latin typeface="Calibri"/>
              </a:rPr>
              <a:t> at a local clinic, but complete </a:t>
            </a:r>
            <a:r>
              <a:rPr sz="1800" b="1">
                <a:solidFill>
                  <a:srgbClr val="21568C"/>
                </a:solidFill>
                <a:latin typeface="Calibri"/>
              </a:rPr>
              <a:t>Penta3</a:t>
            </a:r>
            <a:r>
              <a:rPr sz="1800">
                <a:solidFill>
                  <a:srgbClr val="2C3E50"/>
                </a:solidFill>
                <a:latin typeface="Calibri"/>
              </a:rPr>
              <a:t> at a district hospital</a:t>
            </a:r>
          </a:p>
          <a:p>
            <a:pPr>
              <a:spcAft>
                <a:spcPts val="1400"/>
              </a:spcAft>
            </a:pPr>
            <a:r>
              <a:rPr sz="1800">
                <a:solidFill>
                  <a:srgbClr val="333333"/>
                </a:solidFill>
                <a:latin typeface="Calibri"/>
              </a:rPr>
              <a:t>Checking consistency at the facility level would miss these patterns. Aggregating to district level captures the complete picture of service utilization within a geographic area.</a:t>
            </a:r>
          </a:p>
        </p:txBody>
      </p:sp>
      <p:pic>
        <p:nvPicPr>
          <p:cNvPr id="5" name="Picture 4" descr="district_consistency.png"/>
          <p:cNvPicPr>
            <a:picLocks noChangeAspect="1"/>
          </p:cNvPicPr>
          <p:nvPr/>
        </p:nvPicPr>
        <p:blipFill>
          <a:blip r:embed="rId2"/>
          <a:stretch>
            <a:fillRect/>
          </a:stretch>
        </p:blipFill>
        <p:spPr>
          <a:xfrm>
            <a:off x="6629400" y="1371600"/>
            <a:ext cx="5029200" cy="384048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A composite measure of data quality provides an overall view of how well a dataset meets quality standards.</a:t>
            </a:r>
          </a:p>
          <a:p>
            <a:pPr>
              <a:spcAft>
                <a:spcPts val="1400"/>
              </a:spcAft>
            </a:pPr>
            <a:r>
              <a:rPr sz="1800">
                <a:solidFill>
                  <a:srgbClr val="333333"/>
                </a:solidFill>
                <a:latin typeface="Calibri"/>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the FASTR analysis, we defined adequate data quality as:</a:t>
            </a:r>
          </a:p>
          <a:p>
            <a:pPr>
              <a:spcAft>
                <a:spcPts val="800"/>
              </a:spcAft>
            </a:pPr>
            <a:r>
              <a:rPr sz="1800">
                <a:solidFill>
                  <a:srgbClr val="D0CB17"/>
                </a:solidFill>
                <a:latin typeface="Calibri"/>
              </a:rPr>
              <a:t>• </a:t>
            </a:r>
            <a:r>
              <a:rPr sz="1800">
                <a:solidFill>
                  <a:srgbClr val="2C3E50"/>
                </a:solidFill>
                <a:latin typeface="Calibri"/>
              </a:rPr>
              <a:t>No missing indicator data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No outliers for OPD, Penta1, and ANC1, where available, </a:t>
            </a:r>
            <a:r>
              <a:rPr sz="1800" b="1">
                <a:solidFill>
                  <a:srgbClr val="21568C"/>
                </a:solidFill>
                <a:latin typeface="Calibri"/>
              </a:rPr>
              <a:t>AND</a:t>
            </a:r>
          </a:p>
          <a:p>
            <a:pPr>
              <a:spcAft>
                <a:spcPts val="800"/>
              </a:spcAft>
            </a:pPr>
            <a:r>
              <a:rPr sz="1800">
                <a:solidFill>
                  <a:srgbClr val="D0CB17"/>
                </a:solidFill>
                <a:latin typeface="Calibri"/>
              </a:rPr>
              <a:t>• </a:t>
            </a:r>
            <a:r>
              <a:rPr sz="1800">
                <a:solidFill>
                  <a:srgbClr val="2C3E50"/>
                </a:solidFill>
                <a:latin typeface="Calibri"/>
              </a:rPr>
              <a:t>Consistent reporting between Penta1/Penta3 and ANC1/ANC4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For a given indicator in a given time period, the percent of monthly values meeting all DQA criteria:</a:t>
            </a:r>
          </a:p>
          <a:p>
            <a:pPr>
              <a:spcAft>
                <a:spcPts val="1000"/>
              </a:spcAft>
            </a:pPr>
            <a:r>
              <a:rPr sz="1800" b="1">
                <a:solidFill>
                  <a:srgbClr val="21568C"/>
                </a:solidFill>
                <a:latin typeface="Calibri"/>
              </a:rPr>
              <a:t>% adequate quality = # monthly values meeting all criteria / total N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mean DQA score shows how close a facility's data is to meeting all quality criteria. A score of </a:t>
            </a:r>
            <a:r>
              <a:rPr sz="1800" b="1">
                <a:solidFill>
                  <a:srgbClr val="21568C"/>
                </a:solidFill>
                <a:latin typeface="Calibri"/>
              </a:rPr>
              <a:t>100% means the data passes</a:t>
            </a:r>
            <a:r>
              <a:rPr sz="1800">
                <a:solidFill>
                  <a:srgbClr val="333333"/>
                </a:solidFill>
                <a:latin typeface="Calibri"/>
              </a:rPr>
              <a:t> all DQA checks—no missing values, no outliers, and consistent reporting.</a:t>
            </a:r>
          </a:p>
          <a:p>
            <a:pPr>
              <a:spcAft>
                <a:spcPts val="1000"/>
              </a:spcAft>
            </a:pPr>
            <a:r>
              <a:rPr sz="1800" b="1">
                <a:solidFill>
                  <a:srgbClr val="21568C"/>
                </a:solidFill>
                <a:latin typeface="Calibri"/>
              </a:rPr>
              <a:t>Mean DQA = (completeness &amp; outlier score + consistency score) / 2</a:t>
            </a:r>
          </a:p>
          <a:p>
            <a:pPr>
              <a:spcAft>
                <a:spcPts val="1000"/>
              </a:spcAft>
            </a:pPr>
            <a:r>
              <a:rPr sz="1800">
                <a:solidFill>
                  <a:srgbClr val="333333"/>
                </a:solidFill>
                <a:latin typeface="Calibri"/>
              </a:rPr>
              <a:t>Lower scores indicate more data quality issues that need attention before the data can be used with confidence.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Proportion threshold for outlier detection</a:t>
                      </a:r>
                    </a:p>
                  </a:txBody>
                  <a:tcPr/>
                </a:tc>
                <a:tc>
                  <a:txBody>
                    <a:bodyPr wrap="square"/>
                    <a:lstStyle/>
                    <a:p>
                      <a:r>
                        <a:rPr sz="1400">
                          <a:solidFill>
                            <a:srgbClr val="2C3E50"/>
                          </a:solidFill>
                          <a:latin typeface="Calibri"/>
                        </a:rPr>
                        <a:t>Adjusts the threshold for proportional contribution to flag a facility-month as an outlier</a:t>
                      </a:r>
                    </a:p>
                  </a:txBody>
                  <a:tcPr/>
                </a:tc>
              </a:tr>
              <a:tr h="320040">
                <a:tc>
                  <a:txBody>
                    <a:bodyPr wrap="square"/>
                    <a:lstStyle/>
                    <a:p>
                      <a:r>
                        <a:rPr sz="1400" b="1">
                          <a:solidFill>
                            <a:srgbClr val="21568C"/>
                          </a:solidFill>
                          <a:latin typeface="Calibri"/>
                        </a:rPr>
                        <a:t>Minimum count threshold for consideration</a:t>
                      </a:r>
                    </a:p>
                  </a:txBody>
                  <a:tcPr/>
                </a:tc>
                <a:tc>
                  <a:txBody>
                    <a:bodyPr wrap="square"/>
                    <a:lstStyle/>
                    <a:p>
                      <a:r>
                        <a:rPr sz="1400">
                          <a:solidFill>
                            <a:srgbClr val="2C3E50"/>
                          </a:solidFill>
                          <a:latin typeface="Calibri"/>
                        </a:rPr>
                        <a:t>Defines the minimum count required for a facility-month to be considered an outlier</a:t>
                      </a:r>
                    </a:p>
                  </a:txBody>
                  <a:tcPr/>
                </a:tc>
              </a:tr>
              <a:tr h="320040">
                <a:tc>
                  <a:txBody>
                    <a:bodyPr wrap="square"/>
                    <a:lstStyle/>
                    <a:p>
                      <a:r>
                        <a:rPr sz="1400" b="1">
                          <a:solidFill>
                            <a:srgbClr val="21568C"/>
                          </a:solidFill>
                          <a:latin typeface="Calibri"/>
                        </a:rPr>
                        <a:t>Number of MADs</a:t>
                      </a:r>
                    </a:p>
                  </a:txBody>
                  <a:tcPr/>
                </a:tc>
                <a:tc>
                  <a:txBody>
                    <a:bodyPr wrap="square"/>
                    <a:lstStyle/>
                    <a:p>
                      <a:r>
                        <a:rPr sz="1400">
                          <a:solidFill>
                            <a:srgbClr val="2C3E50"/>
                          </a:solidFill>
                          <a:latin typeface="Calibri"/>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Calibri"/>
                        </a:rPr>
                        <a:t>Indicators subjected to DQA</a:t>
                      </a:r>
                    </a:p>
                  </a:txBody>
                  <a:tcPr/>
                </a:tc>
                <a:tc>
                  <a:txBody>
                    <a:bodyPr wrap="square"/>
                    <a:lstStyle/>
                    <a:p>
                      <a:r>
                        <a:rPr sz="1400">
                          <a:solidFill>
                            <a:srgbClr val="2C3E50"/>
                          </a:solidFill>
                          <a:latin typeface="Calibri"/>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Calibri"/>
                        </a:rPr>
                        <a:t>Consistency pairs used</a:t>
                      </a:r>
                    </a:p>
                  </a:txBody>
                  <a:tcPr/>
                </a:tc>
                <a:tc>
                  <a:txBody>
                    <a:bodyPr wrap="square"/>
                    <a:lstStyle/>
                    <a:p>
                      <a:r>
                        <a:rPr sz="1400">
                          <a:solidFill>
                            <a:srgbClr val="2C3E50"/>
                          </a:solidFill>
                          <a:latin typeface="Calibri"/>
                        </a:rPr>
                        <a:t>Defines which indicator pairs are used for consistency analysis and the expected ratio ranges</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Correcting outliers and imputing missing values to improve data reliability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Calibri"/>
                        </a:defRPr>
                      </a:pPr>
                      <a:r>
                        <a:t>Issue</a:t>
                      </a:r>
                    </a:p>
                  </a:txBody>
                  <a:tcPr>
                    <a:solidFill>
                      <a:srgbClr val="CAE6E9"/>
                    </a:solidFill>
                  </a:tcPr>
                </a:tc>
                <a:tc>
                  <a:txBody>
                    <a:bodyPr wrap="square"/>
                    <a:lstStyle/>
                    <a:p>
                      <a:pPr>
                        <a:defRPr sz="1400" b="1">
                          <a:solidFill>
                            <a:srgbClr val="21568C"/>
                          </a:solidFill>
                          <a:latin typeface="Calibri"/>
                        </a:defRPr>
                      </a:pPr>
                      <a:r>
                        <a:t>Impact on analysis</a:t>
                      </a:r>
                    </a:p>
                  </a:txBody>
                  <a:tcPr>
                    <a:solidFill>
                      <a:srgbClr val="CAE6E9"/>
                    </a:solidFill>
                  </a:tcPr>
                </a:tc>
              </a:tr>
              <a:tr h="320040">
                <a:tc>
                  <a:txBody>
                    <a:bodyPr wrap="square"/>
                    <a:lstStyle/>
                    <a:p>
                      <a:r>
                        <a:rPr sz="1400" b="1">
                          <a:solidFill>
                            <a:srgbClr val="21568C"/>
                          </a:solidFill>
                          <a:latin typeface="Calibri"/>
                        </a:rPr>
                        <a:t>Outliers</a:t>
                      </a:r>
                    </a:p>
                  </a:txBody>
                  <a:tcPr/>
                </a:tc>
                <a:tc>
                  <a:txBody>
                    <a:bodyPr wrap="square"/>
                    <a:lstStyle/>
                    <a:p>
                      <a:r>
                        <a:rPr sz="1400">
                          <a:solidFill>
                            <a:srgbClr val="2C3E50"/>
                          </a:solidFill>
                          <a:latin typeface="Calibri"/>
                        </a:rPr>
                        <a:t>Extreme values create artificial spikes in service volumes</a:t>
                      </a:r>
                    </a:p>
                  </a:txBody>
                  <a:tcPr/>
                </a:tc>
              </a:tr>
              <a:tr h="320040">
                <a:tc>
                  <a:txBody>
                    <a:bodyPr wrap="square"/>
                    <a:lstStyle/>
                    <a:p>
                      <a:r>
                        <a:rPr sz="1400" b="1">
                          <a:solidFill>
                            <a:srgbClr val="21568C"/>
                          </a:solidFill>
                          <a:latin typeface="Calibri"/>
                        </a:rPr>
                        <a:t>Incomplete reporting</a:t>
                      </a:r>
                    </a:p>
                  </a:txBody>
                  <a:tcPr/>
                </a:tc>
                <a:tc>
                  <a:txBody>
                    <a:bodyPr wrap="square"/>
                    <a:lstStyle/>
                    <a:p>
                      <a:r>
                        <a:rPr sz="1400">
                          <a:solidFill>
                            <a:srgbClr val="2C3E50"/>
                          </a:solidFill>
                          <a:latin typeface="Calibri"/>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FASTR addresses these limitations by replacing problematic values with estimates derived from each facility's historical reporting patterns.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Calibri"/>
                        </a:defRPr>
                      </a:pPr>
                      <a:r>
                        <a:t>Scenario</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Unadjusted</a:t>
                      </a:r>
                    </a:p>
                  </a:txBody>
                  <a:tcPr/>
                </a:tc>
                <a:tc>
                  <a:txBody>
                    <a:bodyPr wrap="square"/>
                    <a:lstStyle/>
                    <a:p>
                      <a:r>
                        <a:rPr sz="1400">
                          <a:solidFill>
                            <a:srgbClr val="2C3E50"/>
                          </a:solidFill>
                          <a:latin typeface="Calibri"/>
                        </a:rPr>
                        <a:t>Original reported values</a:t>
                      </a:r>
                    </a:p>
                  </a:txBody>
                  <a:tcPr/>
                </a:tc>
              </a:tr>
              <a:tr h="320040">
                <a:tc>
                  <a:txBody>
                    <a:bodyPr wrap="square"/>
                    <a:lstStyle/>
                    <a:p>
                      <a:r>
                        <a:rPr sz="1400" b="1">
                          <a:solidFill>
                            <a:srgbClr val="21568C"/>
                          </a:solidFill>
                          <a:latin typeface="Calibri"/>
                        </a:rPr>
                        <a:t>Outliers adjusted</a:t>
                      </a:r>
                    </a:p>
                  </a:txBody>
                  <a:tcPr/>
                </a:tc>
                <a:tc>
                  <a:txBody>
                    <a:bodyPr wrap="square"/>
                    <a:lstStyle/>
                    <a:p>
                      <a:r>
                        <a:rPr sz="1400">
                          <a:solidFill>
                            <a:srgbClr val="2C3E50"/>
                          </a:solidFill>
                          <a:latin typeface="Calibri"/>
                        </a:rPr>
                        <a:t>Extreme values replaced</a:t>
                      </a:r>
                    </a:p>
                  </a:txBody>
                  <a:tcPr/>
                </a:tc>
              </a:tr>
              <a:tr h="320040">
                <a:tc>
                  <a:txBody>
                    <a:bodyPr wrap="square"/>
                    <a:lstStyle/>
                    <a:p>
                      <a:r>
                        <a:rPr sz="1400" b="1">
                          <a:solidFill>
                            <a:srgbClr val="21568C"/>
                          </a:solidFill>
                          <a:latin typeface="Calibri"/>
                        </a:rPr>
                        <a:t>Completeness adjusted</a:t>
                      </a:r>
                    </a:p>
                  </a:txBody>
                  <a:tcPr/>
                </a:tc>
                <a:tc>
                  <a:txBody>
                    <a:bodyPr wrap="square"/>
                    <a:lstStyle/>
                    <a:p>
                      <a:r>
                        <a:rPr sz="1400">
                          <a:solidFill>
                            <a:srgbClr val="2C3E50"/>
                          </a:solidFill>
                          <a:latin typeface="Calibri"/>
                        </a:rPr>
                        <a:t>Missing values imputed</a:t>
                      </a:r>
                    </a:p>
                  </a:txBody>
                  <a:tcPr/>
                </a:tc>
              </a:tr>
              <a:tr h="320040">
                <a:tc>
                  <a:txBody>
                    <a:bodyPr wrap="square"/>
                    <a:lstStyle/>
                    <a:p>
                      <a:r>
                        <a:rPr sz="1400" b="1">
                          <a:solidFill>
                            <a:srgbClr val="21568C"/>
                          </a:solidFill>
                          <a:latin typeface="Calibri"/>
                        </a:rPr>
                        <a:t>Both adjusted</a:t>
                      </a:r>
                    </a:p>
                  </a:txBody>
                  <a:tcPr/>
                </a:tc>
                <a:tc>
                  <a:txBody>
                    <a:bodyPr wrap="square"/>
                    <a:lstStyle/>
                    <a:p>
                      <a:r>
                        <a:rPr sz="1400">
                          <a:solidFill>
                            <a:srgbClr val="2C3E50"/>
                          </a:solidFill>
                          <a:latin typeface="Calibri"/>
                        </a:rPr>
                        <a:t>All corrections applied</a:t>
                      </a:r>
                    </a:p>
                  </a:txBody>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Certain indicators are excluded from the adjustment process:</a:t>
            </a:r>
          </a:p>
          <a:p>
            <a:pPr>
              <a:spcAft>
                <a:spcPts val="800"/>
              </a:spcAft>
            </a:pPr>
            <a:r>
              <a:rPr sz="1800">
                <a:solidFill>
                  <a:srgbClr val="D0CB17"/>
                </a:solidFill>
                <a:latin typeface="Calibri"/>
              </a:rPr>
              <a:t>• </a:t>
            </a:r>
            <a:r>
              <a:rPr sz="1800" b="1">
                <a:solidFill>
                  <a:srgbClr val="21568C"/>
                </a:solidFill>
                <a:latin typeface="Calibri"/>
              </a:rPr>
              <a:t>Mortality indicators</a:t>
            </a:r>
            <a:r>
              <a:rPr sz="1800">
                <a:solidFill>
                  <a:srgbClr val="2C3E50"/>
                </a:solidFill>
                <a:latin typeface="Calibri"/>
              </a:rPr>
              <a:t> (maternal deaths, neonatal deaths, under-5 deaths): These represent discrete events where smoothing or imputation is not appropriate</a:t>
            </a:r>
          </a:p>
          <a:p>
            <a:pPr>
              <a:spcAft>
                <a:spcPts val="800"/>
              </a:spcAft>
            </a:pPr>
            <a:r>
              <a:rPr sz="1800">
                <a:solidFill>
                  <a:srgbClr val="D0CB17"/>
                </a:solidFill>
                <a:latin typeface="Calibri"/>
              </a:rPr>
              <a:t>• </a:t>
            </a:r>
            <a:r>
              <a:rPr sz="1800" b="1">
                <a:solidFill>
                  <a:srgbClr val="21568C"/>
                </a:solidFill>
                <a:latin typeface="Calibri"/>
              </a:rPr>
              <a:t>Low-volume indicators</a:t>
            </a:r>
            <a:r>
              <a:rPr sz="1800">
                <a:solidFill>
                  <a:srgbClr val="2C3E50"/>
                </a:solidFill>
                <a:latin typeface="Calibri"/>
              </a:rPr>
              <a:t>: Indicators that never exceed 100 reported events in any month are excluded from adjustment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3 months before + 3 months after the outlier</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When insufficient preceding data (e.g., start of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When insufficient following data (e.g., end of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Same month, previous year</a:t>
                      </a:r>
                    </a:p>
                  </a:txBody>
                  <a:tcPr/>
                </a:tc>
                <a:tc>
                  <a:txBody>
                    <a:bodyPr wrap="square"/>
                    <a:lstStyle/>
                    <a:p>
                      <a:r>
                        <a:rPr sz="1400">
                          <a:solidFill>
                            <a:srgbClr val="2C3E50"/>
                          </a:solidFill>
                          <a:latin typeface="Calibri"/>
                        </a:rPr>
                        <a:t>When rolling averages unavailable; useful for seasonal indicators</a:t>
                      </a:r>
                    </a:p>
                  </a:txBody>
                  <a:tcPr/>
                </a:tc>
              </a:tr>
              <a:tr h="320040">
                <a:tc>
                  <a:txBody>
                    <a:bodyPr wrap="square"/>
                    <a:lstStyle/>
                    <a:p>
                      <a:r>
                        <a:rPr sz="1400">
                          <a:solidFill>
                            <a:srgbClr val="2C3E50"/>
                          </a:solidFill>
                          <a:latin typeface="Calibri"/>
                        </a:rPr>
                        <a:t>5</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Negative values indicate that extreme high values were replaced with lower estimates. Values near zero indicate few outliers were detected for that indicator/area.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Calibri"/>
                        </a:defRPr>
                      </a:pPr>
                      <a:r>
                        <a:t>Priority</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Application</a:t>
                      </a:r>
                    </a:p>
                  </a:txBody>
                  <a:tcPr>
                    <a:solidFill>
                      <a:srgbClr val="CAE6E9"/>
                    </a:solidFill>
                  </a:tcPr>
                </a:tc>
              </a:tr>
              <a:tr h="320040">
                <a:tc>
                  <a:txBody>
                    <a:bodyPr wrap="square"/>
                    <a:lstStyle/>
                    <a:p>
                      <a:r>
                        <a:rPr sz="1400">
                          <a:solidFill>
                            <a:srgbClr val="2C3E50"/>
                          </a:solidFill>
                          <a:latin typeface="Calibri"/>
                        </a:rPr>
                        <a:t>1</a:t>
                      </a:r>
                    </a:p>
                  </a:txBody>
                  <a:tcPr/>
                </a:tc>
                <a:tc>
                  <a:txBody>
                    <a:bodyPr wrap="square"/>
                    <a:lstStyle/>
                    <a:p>
                      <a:r>
                        <a:rPr sz="1400">
                          <a:solidFill>
                            <a:srgbClr val="2C3E50"/>
                          </a:solidFill>
                          <a:latin typeface="Calibri"/>
                        </a:rPr>
                        <a:t>Centered 6-month average</a:t>
                      </a:r>
                    </a:p>
                  </a:txBody>
                  <a:tcPr/>
                </a:tc>
                <a:tc>
                  <a:txBody>
                    <a:bodyPr wrap="square"/>
                    <a:lstStyle/>
                    <a:p>
                      <a:r>
                        <a:rPr sz="1400">
                          <a:solidFill>
                            <a:srgbClr val="2C3E50"/>
                          </a:solidFill>
                          <a:latin typeface="Calibri"/>
                        </a:rPr>
                        <a:t>When sufficient data exists before and after the gap</a:t>
                      </a:r>
                    </a:p>
                  </a:txBody>
                  <a:tcPr/>
                </a:tc>
              </a:tr>
              <a:tr h="320040">
                <a:tc>
                  <a:txBody>
                    <a:bodyPr wrap="square"/>
                    <a:lstStyle/>
                    <a:p>
                      <a:r>
                        <a:rPr sz="1400">
                          <a:solidFill>
                            <a:srgbClr val="2C3E50"/>
                          </a:solidFill>
                          <a:latin typeface="Calibri"/>
                        </a:rPr>
                        <a:t>2</a:t>
                      </a:r>
                    </a:p>
                  </a:txBody>
                  <a:tcPr/>
                </a:tc>
                <a:tc>
                  <a:txBody>
                    <a:bodyPr wrap="square"/>
                    <a:lstStyle/>
                    <a:p>
                      <a:r>
                        <a:rPr sz="1400">
                          <a:solidFill>
                            <a:srgbClr val="2C3E50"/>
                          </a:solidFill>
                          <a:latin typeface="Calibri"/>
                        </a:rPr>
                        <a:t>Forward 6-month average</a:t>
                      </a:r>
                    </a:p>
                  </a:txBody>
                  <a:tcPr/>
                </a:tc>
                <a:tc>
                  <a:txBody>
                    <a:bodyPr wrap="square"/>
                    <a:lstStyle/>
                    <a:p>
                      <a:r>
                        <a:rPr sz="1400">
                          <a:solidFill>
                            <a:srgbClr val="2C3E50"/>
                          </a:solidFill>
                          <a:latin typeface="Calibri"/>
                        </a:rPr>
                        <a:t>For gaps at the start of the time series</a:t>
                      </a:r>
                    </a:p>
                  </a:txBody>
                  <a:tcPr/>
                </a:tc>
              </a:tr>
              <a:tr h="320040">
                <a:tc>
                  <a:txBody>
                    <a:bodyPr wrap="square"/>
                    <a:lstStyle/>
                    <a:p>
                      <a:r>
                        <a:rPr sz="1400">
                          <a:solidFill>
                            <a:srgbClr val="2C3E50"/>
                          </a:solidFill>
                          <a:latin typeface="Calibri"/>
                        </a:rPr>
                        <a:t>3</a:t>
                      </a:r>
                    </a:p>
                  </a:txBody>
                  <a:tcPr/>
                </a:tc>
                <a:tc>
                  <a:txBody>
                    <a:bodyPr wrap="square"/>
                    <a:lstStyle/>
                    <a:p>
                      <a:r>
                        <a:rPr sz="1400">
                          <a:solidFill>
                            <a:srgbClr val="2C3E50"/>
                          </a:solidFill>
                          <a:latin typeface="Calibri"/>
                        </a:rPr>
                        <a:t>Backward 6-month average</a:t>
                      </a:r>
                    </a:p>
                  </a:txBody>
                  <a:tcPr/>
                </a:tc>
                <a:tc>
                  <a:txBody>
                    <a:bodyPr wrap="square"/>
                    <a:lstStyle/>
                    <a:p>
                      <a:r>
                        <a:rPr sz="1400">
                          <a:solidFill>
                            <a:srgbClr val="2C3E50"/>
                          </a:solidFill>
                          <a:latin typeface="Calibri"/>
                        </a:rPr>
                        <a:t>For gaps at the end of the time series</a:t>
                      </a:r>
                    </a:p>
                  </a:txBody>
                  <a:tcPr/>
                </a:tc>
              </a:tr>
              <a:tr h="320040">
                <a:tc>
                  <a:txBody>
                    <a:bodyPr wrap="square"/>
                    <a:lstStyle/>
                    <a:p>
                      <a:r>
                        <a:rPr sz="1400">
                          <a:solidFill>
                            <a:srgbClr val="2C3E50"/>
                          </a:solidFill>
                          <a:latin typeface="Calibri"/>
                        </a:rPr>
                        <a:t>4</a:t>
                      </a:r>
                    </a:p>
                  </a:txBody>
                  <a:tcPr/>
                </a:tc>
                <a:tc>
                  <a:txBody>
                    <a:bodyPr wrap="square"/>
                    <a:lstStyle/>
                    <a:p>
                      <a:r>
                        <a:rPr sz="1400">
                          <a:solidFill>
                            <a:srgbClr val="2C3E50"/>
                          </a:solidFill>
                          <a:latin typeface="Calibri"/>
                        </a:rPr>
                        <a:t>Facility historical mean</a:t>
                      </a:r>
                    </a:p>
                  </a:txBody>
                  <a:tcPr/>
                </a:tc>
                <a:tc>
                  <a:txBody>
                    <a:bodyPr wrap="square"/>
                    <a:lstStyle/>
                    <a:p>
                      <a:r>
                        <a:rPr sz="1400">
                          <a:solidFill>
                            <a:srgbClr val="2C3E50"/>
                          </a:solidFill>
                          <a:latin typeface="Calibri"/>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Calibri"/>
              </a:rPr>
              <a:t>This approach prevents temporary reporting gaps from creating artificial declines in service volumes.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Interpretation:</a:t>
            </a:r>
            <a:r>
              <a:rPr sz="1800">
                <a:solidFill>
                  <a:srgbClr val="333333"/>
                </a:solidFill>
                <a:latin typeface="Calibri"/>
              </a:rPr>
              <a:t> Positive values indicate that missing data was imputed, increasing total reported volume. Values near zero indicate reporting was already complete for that indicator/area.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When both adjustments are applied, outliers are corrected first, then missing values are imputed using the cleaned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Detecting and quantifying changes in health service delivery over time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1. Measure changes in service volume</a:t>
            </a:r>
          </a:p>
          <a:p>
            <a:pPr>
              <a:spcAft>
                <a:spcPts val="1400"/>
              </a:spcAft>
            </a:pPr>
            <a:r>
              <a:rPr sz="1800">
                <a:solidFill>
                  <a:srgbClr val="333333"/>
                </a:solidFill>
                <a:latin typeface="Calibri"/>
              </a:rPr>
              <a:t>Year-over-year comparison of service volumes identifies increases or decreases across regions and indicators.</a:t>
            </a:r>
          </a:p>
          <a:p>
            <a:pPr>
              <a:spcAft>
                <a:spcPts val="1400"/>
              </a:spcAft>
            </a:pPr>
            <a:r>
              <a:rPr sz="1800" b="1">
                <a:solidFill>
                  <a:srgbClr val="21568C"/>
                </a:solidFill>
                <a:latin typeface="Calibri"/>
              </a:rPr>
              <a:t>2. Detect and quantify disruptions</a:t>
            </a:r>
          </a:p>
          <a:p>
            <a:pPr>
              <a:spcAft>
                <a:spcPts val="1400"/>
              </a:spcAft>
            </a:pPr>
            <a:r>
              <a:rPr sz="1800">
                <a:solidFill>
                  <a:srgbClr val="333333"/>
                </a:solidFill>
                <a:latin typeface="Calibri"/>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over time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5_Number_of_services_reported.png"/>
          <p:cNvPicPr>
            <a:picLocks noChangeAspect="1"/>
          </p:cNvPicPr>
          <p:nvPr/>
        </p:nvPicPr>
        <p:blipFill>
          <a:blip r:embed="rId2"/>
          <a:stretch>
            <a:fillRect/>
          </a:stretch>
        </p:blipFill>
        <p:spPr>
          <a:xfrm>
            <a:off x="1523847" y="1371600"/>
            <a:ext cx="9144000" cy="5564777"/>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Year-over-year percent change</a:t>
            </a:r>
            <a:r>
              <a:rPr sz="1800">
                <a:solidFill>
                  <a:srgbClr val="333333"/>
                </a:solidFill>
                <a:latin typeface="Calibri"/>
              </a:rPr>
              <a:t> quantifies shifts in service delivery between consecutive years.</a:t>
            </a:r>
          </a:p>
          <a:p>
            <a:pPr>
              <a:spcAft>
                <a:spcPts val="1400"/>
              </a:spcAft>
            </a:pPr>
            <a:r>
              <a:rPr sz="1800">
                <a:solidFill>
                  <a:srgbClr val="333333"/>
                </a:solidFill>
                <a:latin typeface="Calibri"/>
              </a:rPr>
              <a:t>For each indicator and region, total volume in the current year is compared to the previous year:</a:t>
            </a:r>
          </a:p>
          <a:p>
            <a:pPr>
              <a:spcAft>
                <a:spcPts val="1400"/>
              </a:spcAft>
            </a:pPr>
            <a:r>
              <a:rPr sz="1800" b="1">
                <a:solidFill>
                  <a:srgbClr val="21568C"/>
                </a:solidFill>
                <a:latin typeface="Calibri"/>
              </a:rPr>
              <a:t>Percent change</a:t>
            </a:r>
            <a:r>
              <a:rPr sz="1800">
                <a:solidFill>
                  <a:srgbClr val="333333"/>
                </a:solidFill>
                <a:latin typeface="Calibri"/>
              </a:rPr>
              <a:t> = (Current year − Previous year) ÷ Previous year × 100</a:t>
            </a:r>
          </a:p>
          <a:p>
            <a:pPr>
              <a:spcAft>
                <a:spcPts val="1400"/>
              </a:spcAft>
            </a:pPr>
            <a:r>
              <a:rPr sz="1800">
                <a:solidFill>
                  <a:srgbClr val="333333"/>
                </a:solidFill>
                <a:latin typeface="Calibri"/>
              </a:rPr>
              <a:t>Changes exceeding </a:t>
            </a:r>
            <a:r>
              <a:rPr sz="1800" b="1">
                <a:solidFill>
                  <a:srgbClr val="21568C"/>
                </a:solidFill>
                <a:latin typeface="Calibri"/>
              </a:rPr>
              <a:t>±10%</a:t>
            </a:r>
            <a:r>
              <a:rPr sz="1800">
                <a:solidFill>
                  <a:srgbClr val="333333"/>
                </a:solidFill>
                <a:latin typeface="Calibri"/>
              </a:rPr>
              <a:t> are flagged for review.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1_Change_in_service_volume.png"/>
          <p:cNvPicPr>
            <a:picLocks noChangeAspect="1"/>
          </p:cNvPicPr>
          <p:nvPr/>
        </p:nvPicPr>
        <p:blipFill>
          <a:blip r:embed="rId2"/>
          <a:stretch>
            <a:fillRect/>
          </a:stretch>
        </p:blipFill>
        <p:spPr>
          <a:xfrm>
            <a:off x="1523847" y="1371600"/>
            <a:ext cx="9144000" cy="5564777"/>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960120"/>
        </p:xfrm>
        <a:graphic>
          <a:graphicData uri="http://schemas.openxmlformats.org/drawingml/2006/table">
            <a:tbl>
              <a:tblPr firstRow="1" bandRow="1">
                <a:tableStyleId>{5C22544A-7EE6-4342-B048-85BDC9FD1C3A}</a:tableStyleId>
              </a:tblPr>
              <a:tblGrid>
                <a:gridCol w="4395784"/>
                <a:gridCol w="6851335"/>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Bars</a:t>
                      </a:r>
                    </a:p>
                  </a:txBody>
                  <a:tcPr/>
                </a:tc>
                <a:tc>
                  <a:txBody>
                    <a:bodyPr wrap="square"/>
                    <a:lstStyle/>
                    <a:p>
                      <a:r>
                        <a:rPr sz="1400">
                          <a:solidFill>
                            <a:srgbClr val="2C3E50"/>
                          </a:solidFill>
                          <a:latin typeface="Calibri"/>
                        </a:rPr>
                        <a:t>Annual service volumes by region</a:t>
                      </a:r>
                    </a:p>
                  </a:txBody>
                  <a:tcPr/>
                </a:tc>
              </a:tr>
              <a:tr h="320040">
                <a:tc>
                  <a:txBody>
                    <a:bodyPr wrap="square"/>
                    <a:lstStyle/>
                    <a:p>
                      <a:r>
                        <a:rPr sz="1400" b="1">
                          <a:solidFill>
                            <a:srgbClr val="21568C"/>
                          </a:solidFill>
                          <a:latin typeface="Calibri"/>
                        </a:rPr>
                        <a:t>Percentages</a:t>
                      </a:r>
                    </a:p>
                  </a:txBody>
                  <a:tcPr/>
                </a:tc>
                <a:tc>
                  <a:txBody>
                    <a:bodyPr wrap="square"/>
                    <a:lstStyle/>
                    <a:p>
                      <a:r>
                        <a:rPr sz="1400">
                          <a:solidFill>
                            <a:srgbClr val="2C3E50"/>
                          </a:solidFill>
                          <a:latin typeface="Calibri"/>
                        </a:rPr>
                        <a:t>Year-over-year change annotations</a:t>
                      </a:r>
                    </a:p>
                  </a:txBody>
                  <a:tcPr/>
                </a:tc>
              </a:tr>
            </a:tbl>
          </a:graphicData>
        </a:graphic>
      </p:graphicFrame>
      <p:sp>
        <p:nvSpPr>
          <p:cNvPr id="5" name="TextBox 4"/>
          <p:cNvSpPr txBox="1"/>
          <p:nvPr/>
        </p:nvSpPr>
        <p:spPr>
          <a:xfrm>
            <a:off x="685800" y="2240280"/>
            <a:ext cx="10820095" cy="2286000"/>
          </a:xfrm>
          <a:prstGeom prst="rect">
            <a:avLst/>
          </a:prstGeom>
          <a:noFill/>
        </p:spPr>
        <p:txBody>
          <a:bodyPr wrap="square">
            <a:spAutoFit/>
          </a:bodyPr>
          <a:lstStyle/>
          <a:p>
            <a:pPr>
              <a:spcAft>
                <a:spcPts val="600"/>
              </a:spcAft>
            </a:pPr>
            <a:r>
              <a:rPr sz="1800" b="1">
                <a:solidFill>
                  <a:srgbClr val="21568C"/>
                </a:solidFill>
                <a:latin typeface="Calibri"/>
              </a:rPr>
              <a:t>Key considerations:</a:t>
            </a:r>
          </a:p>
          <a:p>
            <a:pPr>
              <a:spcAft>
                <a:spcPts val="600"/>
              </a:spcAft>
            </a:pPr>
            <a:r>
              <a:rPr sz="1800">
                <a:solidFill>
                  <a:srgbClr val="2C3E50"/>
                </a:solidFill>
                <a:latin typeface="Calibri"/>
              </a:rPr>
              <a:t>Which regions exhibit the largest changes?</a:t>
            </a:r>
          </a:p>
          <a:p>
            <a:pPr>
              <a:spcAft>
                <a:spcPts val="600"/>
              </a:spcAft>
            </a:pPr>
            <a:r>
              <a:rPr sz="1800">
                <a:solidFill>
                  <a:srgbClr val="2C3E50"/>
                </a:solidFill>
                <a:latin typeface="Calibri"/>
              </a:rPr>
              <a:t>Are changes consistent across regions or geographically concentrated?</a:t>
            </a:r>
          </a:p>
          <a:p>
            <a:pPr>
              <a:spcAft>
                <a:spcPts val="600"/>
              </a:spcAft>
            </a:pPr>
            <a:r>
              <a:rPr sz="1800">
                <a:solidFill>
                  <a:srgbClr val="2C3E50"/>
                </a:solidFill>
                <a:latin typeface="Calibri"/>
              </a:rPr>
              <a:t>Do patterns vary by indicator?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isruption_chart.png"/>
          <p:cNvPicPr>
            <a:picLocks noChangeAspect="1"/>
          </p:cNvPicPr>
          <p:nvPr/>
        </p:nvPicPr>
        <p:blipFill>
          <a:blip r:embed="rId2"/>
          <a:stretch>
            <a:fillRect/>
          </a:stretch>
        </p:blipFill>
        <p:spPr>
          <a:xfrm>
            <a:off x="1523847" y="1371600"/>
            <a:ext cx="9144000" cy="476888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Disruptions</a:t>
            </a:r>
            <a:r>
              <a:rPr sz="1800">
                <a:solidFill>
                  <a:srgbClr val="333333"/>
                </a:solidFill>
                <a:latin typeface="Calibri"/>
              </a:rPr>
              <a:t> are flagged when volumes fall below anticipated levels, signaling potential barriers to access, resource shortages, or system failures.</a:t>
            </a:r>
          </a:p>
          <a:p>
            <a:pPr>
              <a:spcAft>
                <a:spcPts val="1000"/>
              </a:spcAft>
            </a:pPr>
            <a:r>
              <a:rPr sz="1800" b="1">
                <a:solidFill>
                  <a:srgbClr val="21568C"/>
                </a:solidFill>
                <a:latin typeface="Calibri"/>
              </a:rPr>
              <a:t>Surpluses</a:t>
            </a:r>
            <a:r>
              <a:rPr sz="1800">
                <a:solidFill>
                  <a:srgbClr val="333333"/>
                </a:solidFill>
                <a:latin typeface="Calibri"/>
              </a:rPr>
              <a:t> occur when volumes exceed expectations, which may indicate increased demand, over-reporting, or changes in service delivery.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Using past data to set expectations:</a:t>
            </a:r>
            <a:r>
              <a:rPr sz="1800">
                <a:solidFill>
                  <a:srgbClr val="333333"/>
                </a:solidFill>
                <a:latin typeface="Calibri"/>
              </a:rPr>
              <a:t> We look at the past few years of data to understand the typical pattern for each month, accounting for regular seasonal changes.</a:t>
            </a:r>
          </a:p>
          <a:p>
            <a:pPr>
              <a:spcAft>
                <a:spcPts val="1400"/>
              </a:spcAft>
            </a:pPr>
            <a:r>
              <a:rPr sz="1800" b="1">
                <a:solidFill>
                  <a:srgbClr val="21568C"/>
                </a:solidFill>
                <a:latin typeface="Calibri"/>
              </a:rPr>
              <a:t>Spotting unusual changes:</a:t>
            </a:r>
            <a:r>
              <a:rPr sz="1800">
                <a:solidFill>
                  <a:srgbClr val="333333"/>
                </a:solidFill>
                <a:latin typeface="Calibri"/>
              </a:rPr>
              <a:t> We compare current service volumes to expectations. If we see volumes much higher or lower than expected, we flag it as an unusual change.</a:t>
            </a:r>
          </a:p>
          <a:p>
            <a:pPr>
              <a:spcAft>
                <a:spcPts val="1400"/>
              </a:spcAft>
            </a:pPr>
            <a:r>
              <a:rPr sz="1800" b="1">
                <a:solidFill>
                  <a:srgbClr val="21568C"/>
                </a:solidFill>
                <a:latin typeface="Calibri"/>
              </a:rPr>
              <a:t>Handling past disruptions:</a:t>
            </a:r>
            <a:r>
              <a:rPr sz="1800">
                <a:solidFill>
                  <a:srgbClr val="333333"/>
                </a:solidFill>
                <a:latin typeface="Calibri"/>
              </a:rPr>
              <a:t> We adjust historical data by removing previous big, unexpected changes so one-off events don't skew our understanding of what's "normal."</a:t>
            </a:r>
          </a:p>
          <a:p>
            <a:pPr>
              <a:spcAft>
                <a:spcPts val="1400"/>
              </a:spcAft>
            </a:pPr>
            <a:r>
              <a:rPr sz="1800" b="1">
                <a:solidFill>
                  <a:srgbClr val="21568C"/>
                </a:solidFill>
                <a:latin typeface="Calibri"/>
              </a:rPr>
              <a:t>Detecting disruptions over time:</a:t>
            </a:r>
            <a:r>
              <a:rPr sz="1800">
                <a:solidFill>
                  <a:srgbClr val="333333"/>
                </a:solidFill>
                <a:latin typeface="Calibri"/>
              </a:rPr>
              <a:t> We look at trends to see if there are clear shifts in health service use over several months.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Extension of service utilization analysis, using more complex statistical approaches not available in DHIS2.</a:t>
            </a:r>
          </a:p>
          <a:p>
            <a:pPr>
              <a:spcAft>
                <a:spcPts val="1400"/>
              </a:spcAft>
            </a:pPr>
            <a:r>
              <a:rPr sz="1800">
                <a:solidFill>
                  <a:srgbClr val="333333"/>
                </a:solidFill>
                <a:latin typeface="Calibri"/>
              </a:rPr>
              <a:t>Using a regression framework, we are able to:</a:t>
            </a:r>
          </a:p>
          <a:p>
            <a:pPr>
              <a:spcAft>
                <a:spcPts val="800"/>
              </a:spcAft>
            </a:pPr>
            <a:r>
              <a:rPr sz="1800">
                <a:solidFill>
                  <a:srgbClr val="D0CB17"/>
                </a:solidFill>
                <a:latin typeface="Calibri"/>
              </a:rPr>
              <a:t>• </a:t>
            </a:r>
            <a:r>
              <a:rPr sz="1800">
                <a:solidFill>
                  <a:srgbClr val="2C3E50"/>
                </a:solidFill>
                <a:latin typeface="Calibri"/>
              </a:rPr>
              <a:t>Account for seasonality</a:t>
            </a:r>
          </a:p>
          <a:p>
            <a:pPr>
              <a:spcAft>
                <a:spcPts val="800"/>
              </a:spcAft>
            </a:pPr>
            <a:r>
              <a:rPr sz="1800">
                <a:solidFill>
                  <a:srgbClr val="D0CB17"/>
                </a:solidFill>
                <a:latin typeface="Calibri"/>
              </a:rPr>
              <a:t>• </a:t>
            </a:r>
            <a:r>
              <a:rPr sz="1800">
                <a:solidFill>
                  <a:srgbClr val="2C3E50"/>
                </a:solidFill>
                <a:latin typeface="Calibri"/>
              </a:rPr>
              <a:t>Exclude unusual changes to ensure one-off events aren't influencing normal trends</a:t>
            </a:r>
          </a:p>
          <a:p>
            <a:pPr>
              <a:spcAft>
                <a:spcPts val="800"/>
              </a:spcAft>
            </a:pPr>
            <a:r>
              <a:rPr sz="1800">
                <a:solidFill>
                  <a:srgbClr val="D0CB17"/>
                </a:solidFill>
                <a:latin typeface="Calibri"/>
              </a:rPr>
              <a:t>• </a:t>
            </a:r>
            <a:r>
              <a:rPr sz="1800">
                <a:solidFill>
                  <a:srgbClr val="2C3E50"/>
                </a:solidFill>
                <a:latin typeface="Calibri"/>
              </a:rPr>
              <a:t>Use historical data as a baseline for context</a:t>
            </a:r>
          </a:p>
          <a:p>
            <a:pPr>
              <a:spcAft>
                <a:spcPts val="800"/>
              </a:spcAft>
            </a:pPr>
            <a:r>
              <a:rPr sz="1800">
                <a:solidFill>
                  <a:srgbClr val="D0CB17"/>
                </a:solidFill>
                <a:latin typeface="Calibri"/>
              </a:rPr>
              <a:t>• </a:t>
            </a:r>
            <a:r>
              <a:rPr sz="1800">
                <a:solidFill>
                  <a:srgbClr val="2C3E50"/>
                </a:solidFill>
                <a:latin typeface="Calibri"/>
              </a:rPr>
              <a:t>Detect disruptions and recovery patterns</a:t>
            </a:r>
          </a:p>
          <a:p>
            <a:pPr>
              <a:spcAft>
                <a:spcPts val="800"/>
              </a:spcAft>
            </a:pPr>
            <a:r>
              <a:rPr sz="1800">
                <a:solidFill>
                  <a:srgbClr val="D0CB17"/>
                </a:solidFill>
                <a:latin typeface="Calibri"/>
              </a:rPr>
              <a:t>• </a:t>
            </a:r>
            <a:r>
              <a:rPr sz="1800">
                <a:solidFill>
                  <a:srgbClr val="2C3E50"/>
                </a:solidFill>
                <a:latin typeface="Calibri"/>
              </a:rPr>
              <a:t>Quantify changes with a robust methodology as compared to just observing simple fluctuations in a trend line</a:t>
            </a:r>
          </a:p>
          <a:p>
            <a:pPr>
              <a:spcAft>
                <a:spcPts val="1400"/>
              </a:spcAft>
            </a:pPr>
            <a:r>
              <a:rPr sz="1800">
                <a:solidFill>
                  <a:srgbClr val="333333"/>
                </a:solidFill>
                <a:latin typeface="Calibri"/>
              </a:rPr>
              <a:t>This improves the ability to interpret and compare utilization data across national and sub-national areas without needing population denominators.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National-level comparison of observed service volumes against expected values derived from historical trends and seasonal patterns.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680574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Subnational disaggregation enables identification of geographic areas where disruptions are concentrated.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variable to use for modeling</a:t>
                      </a:r>
                    </a:p>
                  </a:txBody>
                  <a:tcPr/>
                </a:tc>
                <a:tc>
                  <a:txBody>
                    <a:bodyPr wrap="square"/>
                    <a:lstStyle/>
                    <a:p>
                      <a:r>
                        <a:rPr sz="1400">
                          <a:solidFill>
                            <a:srgbClr val="2C3E50"/>
                          </a:solidFill>
                          <a:latin typeface="Calibri"/>
                        </a:rPr>
                        <a:t>Which adjusted count to use for calculating expected values</a:t>
                      </a:r>
                    </a:p>
                  </a:txBody>
                  <a:tcPr/>
                </a:tc>
              </a:tr>
              <a:tr h="320040">
                <a:tc>
                  <a:txBody>
                    <a:bodyPr wrap="square"/>
                    <a:lstStyle/>
                    <a:p>
                      <a:r>
                        <a:rPr sz="1400" b="1">
                          <a:solidFill>
                            <a:srgbClr val="21568C"/>
                          </a:solidFill>
                          <a:latin typeface="Calibri"/>
                        </a:rPr>
                        <a:t>Count variable to use for visualization</a:t>
                      </a:r>
                    </a:p>
                  </a:txBody>
                  <a:tcPr/>
                </a:tc>
                <a:tc>
                  <a:txBody>
                    <a:bodyPr wrap="square"/>
                    <a:lstStyle/>
                    <a:p>
                      <a:r>
                        <a:rPr sz="1400">
                          <a:solidFill>
                            <a:srgbClr val="2C3E50"/>
                          </a:solidFill>
                          <a:latin typeface="Calibri"/>
                        </a:rPr>
                        <a:t>Which adjusted count to use as actual observed values</a:t>
                      </a:r>
                    </a:p>
                  </a:txBody>
                  <a:tcPr/>
                </a:tc>
              </a:tr>
              <a:tr h="320040">
                <a:tc>
                  <a:txBody>
                    <a:bodyPr wrap="square"/>
                    <a:lstStyle/>
                    <a:p>
                      <a:r>
                        <a:rPr sz="1400" b="1">
                          <a:solidFill>
                            <a:srgbClr val="21568C"/>
                          </a:solidFill>
                          <a:latin typeface="Calibri"/>
                        </a:rPr>
                        <a:t>Run district-level model</a:t>
                      </a:r>
                    </a:p>
                  </a:txBody>
                  <a:tcPr/>
                </a:tc>
                <a:tc>
                  <a:txBody>
                    <a:bodyPr wrap="square"/>
                    <a:lstStyle/>
                    <a:p>
                      <a:r>
                        <a:rPr sz="1400">
                          <a:solidFill>
                            <a:srgbClr val="2C3E50"/>
                          </a:solidFill>
                          <a:latin typeface="Calibri"/>
                        </a:rPr>
                        <a:t>Run regressions at admin_area_3 level. Set to Yes for detailed analysis, No for faster runtime</a:t>
                      </a:r>
                    </a:p>
                  </a:txBody>
                  <a:tcPr/>
                </a:tc>
              </a:tr>
              <a:tr h="320040">
                <a:tc>
                  <a:txBody>
                    <a:bodyPr wrap="square"/>
                    <a:lstStyle/>
                    <a:p>
                      <a:r>
                        <a:rPr sz="1400" b="1">
                          <a:solidFill>
                            <a:srgbClr val="21568C"/>
                          </a:solidFill>
                          <a:latin typeface="Calibri"/>
                        </a:rPr>
                        <a:t>Run admin_area_4 analysis</a:t>
                      </a:r>
                    </a:p>
                  </a:txBody>
                  <a:tcPr/>
                </a:tc>
                <a:tc>
                  <a:txBody>
                    <a:bodyPr wrap="square"/>
                    <a:lstStyle/>
                    <a:p>
                      <a:r>
                        <a:rPr sz="1400">
                          <a:solidFill>
                            <a:srgbClr val="2C3E50"/>
                          </a:solidFill>
                          <a:latin typeface="Calibri"/>
                        </a:rPr>
                        <a:t>Run finest-level analysis. Warning: can be very slow for large datasets</a:t>
                      </a:r>
                    </a:p>
                  </a:txBody>
                  <a:tcPr/>
                </a:tc>
              </a:tr>
              <a:tr h="320040">
                <a:tc>
                  <a:txBody>
                    <a:bodyPr wrap="square"/>
                    <a:lstStyle/>
                    <a:p>
                      <a:r>
                        <a:rPr sz="1400" b="1">
                          <a:solidFill>
                            <a:srgbClr val="21568C"/>
                          </a:solidFill>
                          <a:latin typeface="Calibri"/>
                        </a:rPr>
                        <a:t>Threshold for MAD-based control limits</a:t>
                      </a:r>
                    </a:p>
                  </a:txBody>
                  <a:tcPr/>
                </a:tc>
                <a:tc>
                  <a:txBody>
                    <a:bodyPr wrap="square"/>
                    <a:lstStyle/>
                    <a:p>
                      <a:r>
                        <a:rPr sz="1400">
                          <a:solidFill>
                            <a:srgbClr val="2C3E50"/>
                          </a:solidFill>
                          <a:latin typeface="Calibri"/>
                        </a:rPr>
                        <a:t>Number of MADs to flag sharp deviations. Default 1.5; higher = less sensitive</a:t>
                      </a:r>
                    </a:p>
                  </a:txBody>
                  <a:tcPr/>
                </a:tc>
              </a:tr>
              <a:tr h="320040">
                <a:tc>
                  <a:txBody>
                    <a:bodyPr wrap="square"/>
                    <a:lstStyle/>
                    <a:p>
                      <a:r>
                        <a:rPr sz="1400" b="1">
                          <a:solidFill>
                            <a:srgbClr val="21568C"/>
                          </a:solidFill>
                          <a:latin typeface="Calibri"/>
                        </a:rPr>
                        <a:t>Smoothing window (k)</a:t>
                      </a:r>
                    </a:p>
                  </a:txBody>
                  <a:tcPr/>
                </a:tc>
                <a:tc>
                  <a:txBody>
                    <a:bodyPr wrap="square"/>
                    <a:lstStyle/>
                    <a:p>
                      <a:r>
                        <a:rPr sz="1400">
                          <a:solidFill>
                            <a:srgbClr val="2C3E50"/>
                          </a:solidFill>
                          <a:latin typeface="Calibri"/>
                        </a:rPr>
                        <a:t>Window size in months for rolling median smoothing. Must be odd. Default 7</a:t>
                      </a:r>
                    </a:p>
                  </a:txBody>
                  <a:tcPr/>
                </a:tc>
              </a:tr>
              <a:tr h="320040">
                <a:tc>
                  <a:txBody>
                    <a:bodyPr wrap="square"/>
                    <a:lstStyle/>
                    <a:p>
                      <a:r>
                        <a:rPr sz="1400" b="1">
                          <a:solidFill>
                            <a:srgbClr val="21568C"/>
                          </a:solidFill>
                          <a:latin typeface="Calibri"/>
                        </a:rPr>
                        <a:t>Dip threshold</a:t>
                      </a:r>
                    </a:p>
                  </a:txBody>
                  <a:tcPr/>
                </a:tc>
                <a:tc>
                  <a:txBody>
                    <a:bodyPr wrap="square"/>
                    <a:lstStyle/>
                    <a:p>
                      <a:r>
                        <a:rPr sz="1400">
                          <a:solidFill>
                            <a:srgbClr val="2C3E50"/>
                          </a:solidFill>
                          <a:latin typeface="Calibri"/>
                        </a:rPr>
                        <a:t>Flag if actual falls below this proportion of expected. Default 0.9 (≥10% drop); use 0.8 to flag only big drops</a:t>
                      </a:r>
                    </a:p>
                  </a:txBody>
                  <a:tcPr/>
                </a:tc>
              </a:tr>
              <a:tr h="320040">
                <a:tc>
                  <a:txBody>
                    <a:bodyPr wrap="square"/>
                    <a:lstStyle/>
                    <a:p>
                      <a:r>
                        <a:rPr sz="1400" b="1">
                          <a:solidFill>
                            <a:srgbClr val="21568C"/>
                          </a:solidFill>
                          <a:latin typeface="Calibri"/>
                        </a:rPr>
                        <a:t>Difference percent threshold</a:t>
                      </a:r>
                    </a:p>
                  </a:txBody>
                  <a:tcPr/>
                </a:tc>
                <a:tc>
                  <a:txBody>
                    <a:bodyPr wrap="square"/>
                    <a:lstStyle/>
                    <a:p>
                      <a:r>
                        <a:rPr sz="1400">
                          <a:solidFill>
                            <a:srgbClr val="2C3E50"/>
                          </a:solidFill>
                          <a:latin typeface="Calibri"/>
                        </a:rPr>
                        <a:t>Highlight points where actual differs from expected by more than this percent. Default 10</a:t>
                      </a:r>
                    </a:p>
                  </a:txBody>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Estimating the percentage of the target population that received a given health service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Our approach derives and validates population denominators, significantly improving coverage estimates reported from HMIS systems.</a:t>
            </a:r>
          </a:p>
          <a:p>
            <a:pPr>
              <a:spcAft>
                <a:spcPts val="1400"/>
              </a:spcAft>
            </a:pPr>
            <a:r>
              <a:rPr sz="1800">
                <a:solidFill>
                  <a:srgbClr val="333333"/>
                </a:solidFill>
                <a:latin typeface="Calibri"/>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Calibri"/>
              </a:rPr>
              <a:t>We use these estimates to track recent trends and subnational disparities in the coverage of selected health services.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Calibri"/>
                        </a:defRPr>
                      </a:pPr>
                      <a:r>
                        <a:t>Part</a:t>
                      </a:r>
                    </a:p>
                  </a:txBody>
                  <a:tcPr>
                    <a:solidFill>
                      <a:srgbClr val="CAE6E9"/>
                    </a:solidFill>
                  </a:tcPr>
                </a:tc>
                <a:tc>
                  <a:txBody>
                    <a:bodyPr wrap="square"/>
                    <a:lstStyle/>
                    <a:p>
                      <a:pPr>
                        <a:defRPr sz="1400" b="1">
                          <a:solidFill>
                            <a:srgbClr val="21568C"/>
                          </a:solidFill>
                          <a:latin typeface="Calibri"/>
                        </a:defRPr>
                      </a:pPr>
                      <a:r>
                        <a:t>Components</a:t>
                      </a:r>
                    </a:p>
                  </a:txBody>
                  <a:tcPr>
                    <a:solidFill>
                      <a:srgbClr val="CAE6E9"/>
                    </a:solidFill>
                  </a:tcPr>
                </a:tc>
              </a:tr>
              <a:tr h="320040">
                <a:tc>
                  <a:txBody>
                    <a:bodyPr wrap="square"/>
                    <a:lstStyle/>
                    <a:p>
                      <a:r>
                        <a:rPr sz="1400" b="1">
                          <a:solidFill>
                            <a:srgbClr val="21568C"/>
                          </a:solidFill>
                          <a:latin typeface="Calibri"/>
                        </a:rPr>
                        <a:t>Part 1: Denominator calculation</a:t>
                      </a:r>
                    </a:p>
                  </a:txBody>
                  <a:tcPr/>
                </a:tc>
                <a:tc>
                  <a:txBody>
                    <a:bodyPr wrap="square"/>
                    <a:lstStyle/>
                    <a:p>
                      <a:r>
                        <a:rPr sz="1400">
                          <a:solidFill>
                            <a:srgbClr val="2C3E50"/>
                          </a:solidFill>
                          <a:latin typeface="Calibri"/>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Calibri"/>
                        </a:rPr>
                        <a:t>Part 2: Coverage estimation</a:t>
                      </a:r>
                    </a:p>
                  </a:txBody>
                  <a:tcPr/>
                </a:tc>
                <a:tc>
                  <a:txBody>
                    <a:bodyPr wrap="square"/>
                    <a:lstStyle/>
                    <a:p>
                      <a:r>
                        <a:rPr sz="1400">
                          <a:solidFill>
                            <a:srgbClr val="2C3E50"/>
                          </a:solidFill>
                          <a:latin typeface="Calibri"/>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equation.png"/>
          <p:cNvPicPr>
            <a:picLocks noChangeAspect="1"/>
          </p:cNvPicPr>
          <p:nvPr/>
        </p:nvPicPr>
        <p:blipFill>
          <a:blip r:embed="rId2"/>
          <a:stretch>
            <a:fillRect/>
          </a:stretch>
        </p:blipFill>
        <p:spPr>
          <a:xfrm>
            <a:off x="1523847" y="1371600"/>
            <a:ext cx="9144000" cy="2438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Calibri"/>
              </a:rPr>
              <a:t>Service coverage</a:t>
            </a:r>
            <a:r>
              <a:rPr sz="1800">
                <a:solidFill>
                  <a:srgbClr val="333333"/>
                </a:solidFill>
                <a:latin typeface="Calibri"/>
              </a:rPr>
              <a:t> represents the proportion of the target population that received a specified health service.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Calibri"/>
                        </a:defRPr>
                      </a:pPr>
                      <a:r>
                        <a:t>Service</a:t>
                      </a:r>
                    </a:p>
                  </a:txBody>
                  <a:tcPr>
                    <a:solidFill>
                      <a:srgbClr val="CAE6E9"/>
                    </a:solidFill>
                  </a:tcPr>
                </a:tc>
                <a:tc>
                  <a:txBody>
                    <a:bodyPr wrap="square"/>
                    <a:lstStyle/>
                    <a:p>
                      <a:pPr>
                        <a:defRPr sz="1400" b="1">
                          <a:solidFill>
                            <a:srgbClr val="21568C"/>
                          </a:solidFill>
                          <a:latin typeface="Calibri"/>
                        </a:defRPr>
                      </a:pPr>
                      <a:r>
                        <a:t>Target population (denominator)</a:t>
                      </a:r>
                    </a:p>
                  </a:txBody>
                  <a:tcPr>
                    <a:solidFill>
                      <a:srgbClr val="CAE6E9"/>
                    </a:solidFill>
                  </a:tcPr>
                </a:tc>
              </a:tr>
              <a:tr h="320040">
                <a:tc>
                  <a:txBody>
                    <a:bodyPr wrap="square"/>
                    <a:lstStyle/>
                    <a:p>
                      <a:r>
                        <a:rPr sz="1400">
                          <a:solidFill>
                            <a:srgbClr val="2C3E50"/>
                          </a:solidFill>
                          <a:latin typeface="Calibri"/>
                        </a:rPr>
                        <a:t>ANC1, ANC4</a:t>
                      </a:r>
                    </a:p>
                  </a:txBody>
                  <a:tcPr/>
                </a:tc>
                <a:tc>
                  <a:txBody>
                    <a:bodyPr wrap="square"/>
                    <a:lstStyle/>
                    <a:p>
                      <a:r>
                        <a:rPr sz="1400">
                          <a:solidFill>
                            <a:srgbClr val="2C3E50"/>
                          </a:solidFill>
                          <a:latin typeface="Calibri"/>
                        </a:rPr>
                        <a:t>Pregnant women</a:t>
                      </a:r>
                    </a:p>
                  </a:txBody>
                  <a:tcPr/>
                </a:tc>
              </a:tr>
              <a:tr h="320040">
                <a:tc>
                  <a:txBody>
                    <a:bodyPr wrap="square"/>
                    <a:lstStyle/>
                    <a:p>
                      <a:r>
                        <a:rPr sz="1400">
                          <a:solidFill>
                            <a:srgbClr val="2C3E50"/>
                          </a:solidFill>
                          <a:latin typeface="Calibri"/>
                        </a:rPr>
                        <a:t>Institutional delivery</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BCG</a:t>
                      </a:r>
                    </a:p>
                  </a:txBody>
                  <a:tcPr/>
                </a:tc>
                <a:tc>
                  <a:txBody>
                    <a:bodyPr wrap="square"/>
                    <a:lstStyle/>
                    <a:p>
                      <a:r>
                        <a:rPr sz="1400">
                          <a:solidFill>
                            <a:srgbClr val="2C3E50"/>
                          </a:solidFill>
                          <a:latin typeface="Calibri"/>
                        </a:rPr>
                        <a:t>Live births</a:t>
                      </a:r>
                    </a:p>
                  </a:txBody>
                  <a:tcPr/>
                </a:tc>
              </a:tr>
              <a:tr h="320040">
                <a:tc>
                  <a:txBody>
                    <a:bodyPr wrap="square"/>
                    <a:lstStyle/>
                    <a:p>
                      <a:r>
                        <a:rPr sz="1400">
                          <a:solidFill>
                            <a:srgbClr val="2C3E50"/>
                          </a:solidFill>
                          <a:latin typeface="Calibri"/>
                        </a:rPr>
                        <a:t>Penta1, Penta3</a:t>
                      </a:r>
                    </a:p>
                  </a:txBody>
                  <a:tcPr/>
                </a:tc>
                <a:tc>
                  <a:txBody>
                    <a:bodyPr wrap="square"/>
                    <a:lstStyle/>
                    <a:p>
                      <a:r>
                        <a:rPr sz="1400">
                          <a:solidFill>
                            <a:srgbClr val="2C3E50"/>
                          </a:solidFill>
                          <a:latin typeface="Calibri"/>
                        </a:rPr>
                        <a:t>Infants surviving beyond neonatal period</a:t>
                      </a:r>
                    </a:p>
                  </a:txBody>
                  <a:tcPr/>
                </a:tc>
              </a:tr>
              <a:tr h="320040">
                <a:tc>
                  <a:txBody>
                    <a:bodyPr wrap="square"/>
                    <a:lstStyle/>
                    <a:p>
                      <a:r>
                        <a:rPr sz="1400">
                          <a:solidFill>
                            <a:srgbClr val="2C3E50"/>
                          </a:solidFill>
                          <a:latin typeface="Calibri"/>
                        </a:rPr>
                        <a:t>Measles1, Measles2</a:t>
                      </a:r>
                    </a:p>
                  </a:txBody>
                  <a:tcPr/>
                </a:tc>
                <a:tc>
                  <a:txBody>
                    <a:bodyPr wrap="square"/>
                    <a:lstStyle/>
                    <a:p>
                      <a:r>
                        <a:rPr sz="1400">
                          <a:solidFill>
                            <a:srgbClr val="2C3E50"/>
                          </a:solidFill>
                          <a:latin typeface="Calibri"/>
                        </a:rPr>
                        <a:t>Infants surviving beyond infancy</a:t>
                      </a:r>
                    </a:p>
                  </a:txBody>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png"/>
          <p:cNvPicPr>
            <a:picLocks noChangeAspect="1"/>
          </p:cNvPicPr>
          <p:nvPr/>
        </p:nvPicPr>
        <p:blipFill>
          <a:blip r:embed="rId2"/>
          <a:stretch>
            <a:fillRect/>
          </a:stretch>
        </p:blipFill>
        <p:spPr>
          <a:xfrm>
            <a:off x="1523847" y="1371600"/>
            <a:ext cx="9144000" cy="43434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nominator_cascade_example.png"/>
          <p:cNvPicPr>
            <a:picLocks noChangeAspect="1"/>
          </p:cNvPicPr>
          <p:nvPr/>
        </p:nvPicPr>
        <p:blipFill>
          <a:blip r:embed="rId2"/>
          <a:stretch>
            <a:fillRect/>
          </a:stretch>
        </p:blipFill>
        <p:spPr>
          <a:xfrm>
            <a:off x="1523847" y="1371600"/>
            <a:ext cx="9144000" cy="4800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Starting from ANC1 service counts, demographic adjustment factors are applied sequentially to derive denominators for other services: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Calibri"/>
                        </a:defRPr>
                      </a:pPr>
                      <a:r>
                        <a:t>Direction</a:t>
                      </a:r>
                    </a:p>
                  </a:txBody>
                  <a:tcPr>
                    <a:solidFill>
                      <a:srgbClr val="CAE6E9"/>
                    </a:solidFill>
                  </a:tcPr>
                </a:tc>
                <a:tc>
                  <a:txBody>
                    <a:bodyPr wrap="square"/>
                    <a:lstStyle/>
                    <a:p>
                      <a:pPr>
                        <a:defRPr sz="1400" b="1">
                          <a:solidFill>
                            <a:srgbClr val="21568C"/>
                          </a:solidFill>
                          <a:latin typeface="Calibri"/>
                        </a:defRPr>
                      </a:pPr>
                      <a:r>
                        <a:t>Method</a:t>
                      </a:r>
                    </a:p>
                  </a:txBody>
                  <a:tcPr>
                    <a:solidFill>
                      <a:srgbClr val="CAE6E9"/>
                    </a:solidFill>
                  </a:tcPr>
                </a:tc>
                <a:tc>
                  <a:txBody>
                    <a:bodyPr wrap="square"/>
                    <a:lstStyle/>
                    <a:p>
                      <a:pPr>
                        <a:defRPr sz="1400" b="1">
                          <a:solidFill>
                            <a:srgbClr val="21568C"/>
                          </a:solidFill>
                          <a:latin typeface="Calibri"/>
                        </a:defRPr>
                      </a:pPr>
                      <a:r>
                        <a:t>Example from Penta1</a:t>
                      </a:r>
                    </a:p>
                  </a:txBody>
                  <a:tcPr>
                    <a:solidFill>
                      <a:srgbClr val="CAE6E9"/>
                    </a:solidFill>
                  </a:tcPr>
                </a:tc>
              </a:tr>
              <a:tr h="320040">
                <a:tc>
                  <a:txBody>
                    <a:bodyPr wrap="square"/>
                    <a:lstStyle/>
                    <a:p>
                      <a:r>
                        <a:rPr sz="1400" b="1">
                          <a:solidFill>
                            <a:srgbClr val="21568C"/>
                          </a:solidFill>
                          <a:latin typeface="Calibri"/>
                        </a:rPr>
                        <a:t>Forward</a:t>
                      </a:r>
                    </a:p>
                  </a:txBody>
                  <a:tcPr/>
                </a:tc>
                <a:tc>
                  <a:txBody>
                    <a:bodyPr wrap="square"/>
                    <a:lstStyle/>
                    <a:p>
                      <a:r>
                        <a:rPr sz="1400">
                          <a:solidFill>
                            <a:srgbClr val="2C3E50"/>
                          </a:solidFill>
                          <a:latin typeface="Calibri"/>
                        </a:rPr>
                        <a:t>Apply mortality/attrition rates</a:t>
                      </a:r>
                    </a:p>
                  </a:txBody>
                  <a:tcPr/>
                </a:tc>
                <a:tc>
                  <a:txBody>
                    <a:bodyPr wrap="square"/>
                    <a:lstStyle/>
                    <a:p>
                      <a:r>
                        <a:rPr sz="1400">
                          <a:solidFill>
                            <a:srgbClr val="2C3E50"/>
                          </a:solidFill>
                          <a:latin typeface="Calibri"/>
                        </a:rPr>
                        <a:t>DPT-eligible → Measles1-eligible → Measles2-eligible</a:t>
                      </a:r>
                    </a:p>
                  </a:txBody>
                  <a:tcPr/>
                </a:tc>
              </a:tr>
              <a:tr h="320040">
                <a:tc>
                  <a:txBody>
                    <a:bodyPr wrap="square"/>
                    <a:lstStyle/>
                    <a:p>
                      <a:r>
                        <a:rPr sz="1400" b="1">
                          <a:solidFill>
                            <a:srgbClr val="21568C"/>
                          </a:solidFill>
                          <a:latin typeface="Calibri"/>
                        </a:rPr>
                        <a:t>Backward</a:t>
                      </a:r>
                    </a:p>
                  </a:txBody>
                  <a:tcPr/>
                </a:tc>
                <a:tc>
                  <a:txBody>
                    <a:bodyPr wrap="square"/>
                    <a:lstStyle/>
                    <a:p>
                      <a:r>
                        <a:rPr sz="1400">
                          <a:solidFill>
                            <a:srgbClr val="2C3E50"/>
                          </a:solidFill>
                          <a:latin typeface="Calibri"/>
                        </a:rPr>
                        <a:t>Reverse mortality rates (add deaths back)</a:t>
                      </a:r>
                    </a:p>
                  </a:txBody>
                  <a:tcPr/>
                </a:tc>
                <a:tc>
                  <a:txBody>
                    <a:bodyPr wrap="square"/>
                    <a:lstStyle/>
                    <a:p>
                      <a:r>
                        <a:rPr sz="1400">
                          <a:solidFill>
                            <a:srgbClr val="2C3E50"/>
                          </a:solidFill>
                          <a:latin typeface="Calibri"/>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Calibri"/>
              </a:rPr>
              <a:t>Backward derivation enables estimation of upstream populations from downstream service counts.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Calibri"/>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Calibri"/>
                        </a:defRPr>
                      </a:pPr>
                      <a:r>
                        <a:t>Entry point</a:t>
                      </a:r>
                    </a:p>
                  </a:txBody>
                  <a:tcPr>
                    <a:solidFill>
                      <a:srgbClr val="CAE6E9"/>
                    </a:solidFill>
                  </a:tcPr>
                </a:tc>
                <a:tc>
                  <a:txBody>
                    <a:bodyPr wrap="square"/>
                    <a:lstStyle/>
                    <a:p>
                      <a:pPr>
                        <a:defRPr sz="1400" b="1">
                          <a:solidFill>
                            <a:srgbClr val="21568C"/>
                          </a:solidFill>
                          <a:latin typeface="Calibri"/>
                        </a:defRPr>
                      </a:pPr>
                      <a:r>
                        <a:t>Base calculation</a:t>
                      </a:r>
                    </a:p>
                  </a:txBody>
                  <a:tcPr>
                    <a:solidFill>
                      <a:srgbClr val="CAE6E9"/>
                    </a:solidFill>
                  </a:tcPr>
                </a:tc>
                <a:tc>
                  <a:txBody>
                    <a:bodyPr wrap="square"/>
                    <a:lstStyle/>
                    <a:p>
                      <a:pPr>
                        <a:defRPr sz="1400" b="1">
                          <a:solidFill>
                            <a:srgbClr val="21568C"/>
                          </a:solidFill>
                          <a:latin typeface="Calibri"/>
                        </a:defRPr>
                      </a:pPr>
                      <a:r>
                        <a:t>Forward derivation</a:t>
                      </a:r>
                    </a:p>
                  </a:txBody>
                  <a:tcPr>
                    <a:solidFill>
                      <a:srgbClr val="CAE6E9"/>
                    </a:solidFill>
                  </a:tcPr>
                </a:tc>
                <a:tc>
                  <a:txBody>
                    <a:bodyPr wrap="square"/>
                    <a:lstStyle/>
                    <a:p>
                      <a:pPr>
                        <a:defRPr sz="1400" b="1">
                          <a:solidFill>
                            <a:srgbClr val="21568C"/>
                          </a:solidFill>
                          <a:latin typeface="Calibri"/>
                        </a:defRPr>
                      </a:pPr>
                      <a:r>
                        <a:t>Backward derivation</a:t>
                      </a:r>
                    </a:p>
                  </a:txBody>
                  <a:tcPr>
                    <a:solidFill>
                      <a:srgbClr val="CAE6E9"/>
                    </a:solidFill>
                  </a:tcPr>
                </a:tc>
              </a:tr>
              <a:tr h="320040">
                <a:tc>
                  <a:txBody>
                    <a:bodyPr wrap="square"/>
                    <a:lstStyle/>
                    <a:p>
                      <a:r>
                        <a:rPr sz="1400" b="1">
                          <a:solidFill>
                            <a:srgbClr val="21568C"/>
                          </a:solidFill>
                          <a:latin typeface="Calibri"/>
                        </a:rPr>
                        <a:t>ANC1</a:t>
                      </a:r>
                    </a:p>
                  </a:txBody>
                  <a:tcPr/>
                </a:tc>
                <a:tc>
                  <a:txBody>
                    <a:bodyPr wrap="square"/>
                    <a:lstStyle/>
                    <a:p>
                      <a:r>
                        <a:rPr sz="1400">
                          <a:solidFill>
                            <a:srgbClr val="2C3E50"/>
                          </a:solidFill>
                          <a:latin typeface="Calibri"/>
                        </a:rPr>
                        <a:t>ANC1 ÷ coverage → Pregnancies</a:t>
                      </a:r>
                    </a:p>
                  </a:txBody>
                  <a:tcPr/>
                </a:tc>
                <a:tc>
                  <a:txBody>
                    <a:bodyPr wrap="square"/>
                    <a:lstStyle/>
                    <a:p>
                      <a:r>
                        <a:rPr sz="1400">
                          <a:solidFill>
                            <a:srgbClr val="2C3E50"/>
                          </a:solidFill>
                          <a:latin typeface="Calibri"/>
                        </a:rPr>
                        <a:t>Deliveries → Live births → DPT-eligible → Measles-eligible</a:t>
                      </a:r>
                    </a:p>
                  </a:txBody>
                  <a:tcPr/>
                </a:tc>
                <a:tc>
                  <a:txBody>
                    <a:bodyPr wrap="square"/>
                    <a:lstStyle/>
                    <a:p>
                      <a:r>
                        <a:rPr sz="1400">
                          <a:solidFill>
                            <a:srgbClr val="2C3E50"/>
                          </a:solidFill>
                          <a:latin typeface="Calibri"/>
                        </a:rPr>
                        <a:t>—</a:t>
                      </a:r>
                    </a:p>
                  </a:txBody>
                  <a:tcPr/>
                </a:tc>
              </a:tr>
              <a:tr h="320040">
                <a:tc>
                  <a:txBody>
                    <a:bodyPr wrap="square"/>
                    <a:lstStyle/>
                    <a:p>
                      <a:r>
                        <a:rPr sz="1400" b="1">
                          <a:solidFill>
                            <a:srgbClr val="21568C"/>
                          </a:solidFill>
                          <a:latin typeface="Calibri"/>
                        </a:rPr>
                        <a:t>Deliveries</a:t>
                      </a:r>
                    </a:p>
                  </a:txBody>
                  <a:tcPr/>
                </a:tc>
                <a:tc>
                  <a:txBody>
                    <a:bodyPr wrap="square"/>
                    <a:lstStyle/>
                    <a:p>
                      <a:r>
                        <a:rPr sz="1400">
                          <a:solidFill>
                            <a:srgbClr val="2C3E50"/>
                          </a:solidFill>
                          <a:latin typeface="Calibri"/>
                        </a:rPr>
                        <a:t>Deliveries ÷ coverage → Deliveries</a:t>
                      </a:r>
                    </a:p>
                  </a:txBody>
                  <a:tcPr/>
                </a:tc>
                <a:tc>
                  <a:txBody>
                    <a:bodyPr wrap="square"/>
                    <a:lstStyle/>
                    <a:p>
                      <a:r>
                        <a:rPr sz="1400">
                          <a:solidFill>
                            <a:srgbClr val="2C3E50"/>
                          </a:solidFill>
                          <a:latin typeface="Calibri"/>
                        </a:rPr>
                        <a:t>Live births → DPT-eligible → Measles-eligible</a:t>
                      </a:r>
                    </a:p>
                  </a:txBody>
                  <a:tcPr/>
                </a:tc>
                <a:tc>
                  <a:txBody>
                    <a:bodyPr wrap="square"/>
                    <a:lstStyle/>
                    <a:p>
                      <a:r>
                        <a:rPr sz="1400">
                          <a:solidFill>
                            <a:srgbClr val="2C3E50"/>
                          </a:solidFill>
                          <a:latin typeface="Calibri"/>
                        </a:rPr>
                        <a:t>Pregnancies</a:t>
                      </a:r>
                    </a:p>
                  </a:txBody>
                  <a:tcPr/>
                </a:tc>
              </a:tr>
              <a:tr h="320040">
                <a:tc>
                  <a:txBody>
                    <a:bodyPr wrap="square"/>
                    <a:lstStyle/>
                    <a:p>
                      <a:r>
                        <a:rPr sz="1400" b="1">
                          <a:solidFill>
                            <a:srgbClr val="21568C"/>
                          </a:solidFill>
                          <a:latin typeface="Calibri"/>
                        </a:rPr>
                        <a:t>BCG</a:t>
                      </a:r>
                    </a:p>
                  </a:txBody>
                  <a:tcPr/>
                </a:tc>
                <a:tc>
                  <a:txBody>
                    <a:bodyPr wrap="square"/>
                    <a:lstStyle/>
                    <a:p>
                      <a:r>
                        <a:rPr sz="1400">
                          <a:solidFill>
                            <a:srgbClr val="2C3E50"/>
                          </a:solidFill>
                          <a:latin typeface="Calibri"/>
                        </a:rPr>
                        <a:t>BCG ÷ coverage → Live births</a:t>
                      </a:r>
                    </a:p>
                  </a:txBody>
                  <a:tcPr/>
                </a:tc>
                <a:tc>
                  <a:txBody>
                    <a:bodyPr wrap="square"/>
                    <a:lstStyle/>
                    <a:p>
                      <a:r>
                        <a:rPr sz="1400">
                          <a:solidFill>
                            <a:srgbClr val="2C3E50"/>
                          </a:solidFill>
                          <a:latin typeface="Calibri"/>
                        </a:rPr>
                        <a:t>DPT-eligible → Measles-eligible</a:t>
                      </a:r>
                    </a:p>
                  </a:txBody>
                  <a:tcPr/>
                </a:tc>
                <a:tc>
                  <a:txBody>
                    <a:bodyPr wrap="square"/>
                    <a:lstStyle/>
                    <a:p>
                      <a:r>
                        <a:rPr sz="1400">
                          <a:solidFill>
                            <a:srgbClr val="2C3E50"/>
                          </a:solidFill>
                          <a:latin typeface="Calibri"/>
                        </a:rPr>
                        <a:t>Deliveries → Pregnancies</a:t>
                      </a:r>
                    </a:p>
                  </a:txBody>
                  <a:tcPr/>
                </a:tc>
              </a:tr>
              <a:tr h="320040">
                <a:tc>
                  <a:txBody>
                    <a:bodyPr wrap="square"/>
                    <a:lstStyle/>
                    <a:p>
                      <a:r>
                        <a:rPr sz="1400" b="1">
                          <a:solidFill>
                            <a:srgbClr val="21568C"/>
                          </a:solidFill>
                          <a:latin typeface="Calibri"/>
                        </a:rPr>
                        <a:t>Penta1</a:t>
                      </a:r>
                    </a:p>
                  </a:txBody>
                  <a:tcPr/>
                </a:tc>
                <a:tc>
                  <a:txBody>
                    <a:bodyPr wrap="square"/>
                    <a:lstStyle/>
                    <a:p>
                      <a:r>
                        <a:rPr sz="1400">
                          <a:solidFill>
                            <a:srgbClr val="2C3E50"/>
                          </a:solidFill>
                          <a:latin typeface="Calibri"/>
                        </a:rPr>
                        <a:t>Penta1 ÷ coverage → DPT-eligible</a:t>
                      </a:r>
                    </a:p>
                  </a:txBody>
                  <a:tcPr/>
                </a:tc>
                <a:tc>
                  <a:txBody>
                    <a:bodyPr wrap="square"/>
                    <a:lstStyle/>
                    <a:p>
                      <a:r>
                        <a:rPr sz="1400">
                          <a:solidFill>
                            <a:srgbClr val="2C3E50"/>
                          </a:solidFill>
                          <a:latin typeface="Calibri"/>
                        </a:rPr>
                        <a:t>Measles1-eligible → Measles2-eligible</a:t>
                      </a:r>
                    </a:p>
                  </a:txBody>
                  <a:tcPr/>
                </a:tc>
                <a:tc>
                  <a:txBody>
                    <a:bodyPr wrap="square"/>
                    <a:lstStyle/>
                    <a:p>
                      <a:r>
                        <a:rPr sz="1400">
                          <a:solidFill>
                            <a:srgbClr val="2C3E50"/>
                          </a:solidFill>
                          <a:latin typeface="Calibri"/>
                        </a:rPr>
                        <a:t>Live births → Births → Deliveries → Pregnancies</a:t>
                      </a:r>
                    </a:p>
                  </a:txBody>
                  <a:tcPr/>
                </a:tc>
              </a:tr>
              <a:tr h="320040">
                <a:tc>
                  <a:txBody>
                    <a:bodyPr wrap="square"/>
                    <a:lstStyle/>
                    <a:p>
                      <a:r>
                        <a:rPr sz="1400" b="1">
                          <a:solidFill>
                            <a:srgbClr val="21568C"/>
                          </a:solidFill>
                          <a:latin typeface="Calibri"/>
                        </a:rPr>
                        <a:t>UN WPP</a:t>
                      </a:r>
                    </a:p>
                  </a:txBody>
                  <a:tcPr/>
                </a:tc>
                <a:tc>
                  <a:txBody>
                    <a:bodyPr wrap="square"/>
                    <a:lstStyle/>
                    <a:p>
                      <a:r>
                        <a:rPr sz="1400">
                          <a:solidFill>
                            <a:srgbClr val="2C3E50"/>
                          </a:solidFill>
                          <a:latin typeface="Calibri"/>
                        </a:rPr>
                        <a:t>Crude birth rate × population → Pregnancies, live births; Under-1 pop → DPT, measles</a:t>
                      </a:r>
                    </a:p>
                  </a:txBody>
                  <a:tcPr/>
                </a:tc>
                <a:tc>
                  <a:txBody>
                    <a:bodyPr wrap="square"/>
                    <a:lstStyle/>
                    <a:p>
                      <a:r>
                        <a:rPr sz="1400">
                          <a:solidFill>
                            <a:srgbClr val="2C3E50"/>
                          </a:solidFill>
                          <a:latin typeface="Calibri"/>
                        </a:rPr>
                        <a:t>Applies mortality rates for measles denominators</a:t>
                      </a:r>
                    </a:p>
                  </a:txBody>
                  <a:tcPr/>
                </a:tc>
                <a:tc>
                  <a:txBody>
                    <a:bodyPr wrap="square"/>
                    <a:lstStyle/>
                    <a:p>
                      <a:r>
                        <a:rPr sz="1400">
                          <a:solidFill>
                            <a:srgbClr val="2C3E50"/>
                          </a:solidFill>
                          <a:latin typeface="Calibri"/>
                        </a:rPr>
                        <a:t>—</a:t>
                      </a:r>
                    </a:p>
                  </a:txBody>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For each indicator, the module selects the denominator that produces coverage closest to the survey benchmark.</a:t>
            </a:r>
          </a:p>
          <a:p>
            <a:pPr>
              <a:spcAft>
                <a:spcPts val="1400"/>
              </a:spcAft>
            </a:pPr>
            <a:r>
              <a:rPr sz="1800" b="1">
                <a:solidFill>
                  <a:srgbClr val="21568C"/>
                </a:solidFill>
                <a:latin typeface="Calibri"/>
              </a:rPr>
              <a:t>Selection algorithm:</a:t>
            </a:r>
          </a:p>
          <a:p>
            <a:pPr>
              <a:spcAft>
                <a:spcPts val="800"/>
              </a:spcAft>
            </a:pPr>
            <a:r>
              <a:rPr sz="1800">
                <a:solidFill>
                  <a:srgbClr val="D0CB17"/>
                </a:solidFill>
                <a:latin typeface="Calibri"/>
              </a:rPr>
              <a:t>• </a:t>
            </a:r>
            <a:r>
              <a:rPr sz="1800">
                <a:solidFill>
                  <a:srgbClr val="2C3E50"/>
                </a:solidFill>
                <a:latin typeface="Calibri"/>
              </a:rPr>
              <a:t>Calculate coverage using each denominator option</a:t>
            </a:r>
          </a:p>
          <a:p>
            <a:pPr>
              <a:spcAft>
                <a:spcPts val="800"/>
              </a:spcAft>
            </a:pPr>
            <a:r>
              <a:rPr sz="1800">
                <a:solidFill>
                  <a:srgbClr val="D0CB17"/>
                </a:solidFill>
                <a:latin typeface="Calibri"/>
              </a:rPr>
              <a:t>• </a:t>
            </a:r>
            <a:r>
              <a:rPr sz="1800">
                <a:solidFill>
                  <a:srgbClr val="2C3E50"/>
                </a:solidFill>
                <a:latin typeface="Calibri"/>
              </a:rPr>
              <a:t>Calculate squared error against survey: $(coverage - survey)^2$</a:t>
            </a:r>
          </a:p>
          <a:p>
            <a:pPr>
              <a:spcAft>
                <a:spcPts val="800"/>
              </a:spcAft>
            </a:pPr>
            <a:r>
              <a:rPr sz="1800">
                <a:solidFill>
                  <a:srgbClr val="D0CB17"/>
                </a:solidFill>
                <a:latin typeface="Calibri"/>
              </a:rPr>
              <a:t>• </a:t>
            </a:r>
            <a:r>
              <a:rPr sz="1800">
                <a:solidFill>
                  <a:srgbClr val="2C3E50"/>
                </a:solidFill>
                <a:latin typeface="Calibri"/>
              </a:rPr>
              <a:t>Apply selection hierarchy (HMIS-based denominators prioritized over UN WPP)</a:t>
            </a:r>
          </a:p>
          <a:p>
            <a:pPr>
              <a:spcAft>
                <a:spcPts val="800"/>
              </a:spcAft>
            </a:pPr>
            <a:r>
              <a:rPr sz="1800">
                <a:solidFill>
                  <a:srgbClr val="D0CB17"/>
                </a:solidFill>
                <a:latin typeface="Calibri"/>
              </a:rPr>
              <a:t>• </a:t>
            </a:r>
            <a:r>
              <a:rPr sz="1800">
                <a:solidFill>
                  <a:srgbClr val="2C3E50"/>
                </a:solidFill>
                <a:latin typeface="Calibri"/>
              </a:rPr>
              <a:t>Select the HMIS-based denominator with minimum error</a:t>
            </a:r>
          </a:p>
          <a:p>
            <a:pPr>
              <a:spcAft>
                <a:spcPts val="1400"/>
              </a:spcAft>
            </a:pPr>
            <a:r>
              <a:rPr sz="1800">
                <a:solidFill>
                  <a:srgbClr val="333333"/>
                </a:solidFill>
                <a:latin typeface="Calibri"/>
              </a:rPr>
              <a:t>Selection is made per indicator and geographic area. Users may override automatic selections in Part 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age_projection.png"/>
          <p:cNvPicPr>
            <a:picLocks noChangeAspect="1"/>
          </p:cNvPicPr>
          <p:nvPr/>
        </p:nvPicPr>
        <p:blipFill>
          <a:blip r:embed="rId2"/>
          <a:stretch>
            <a:fillRect/>
          </a:stretch>
        </p:blipFill>
        <p:spPr>
          <a:xfrm>
            <a:off x="1523847" y="1371600"/>
            <a:ext cx="9144000" cy="29210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Calibri"/>
              </a:rPr>
              <a:t>The module projects the most recent survey value forward using trends observed in HMIS-derived coverage:</a:t>
            </a:r>
          </a:p>
          <a:p>
            <a:pPr>
              <a:spcAft>
                <a:spcPts val="1000"/>
              </a:spcAft>
            </a:pPr>
            <a:r>
              <a:rPr sz="1800">
                <a:solidFill>
                  <a:srgbClr val="333333"/>
                </a:solidFill>
                <a:latin typeface="Calibri"/>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Interpretation of coverage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280160"/>
        </p:xfrm>
        <a:graphic>
          <a:graphicData uri="http://schemas.openxmlformats.org/drawingml/2006/table">
            <a:tbl>
              <a:tblPr firstRow="1" bandRow="1">
                <a:tableStyleId>{5C22544A-7EE6-4342-B048-85BDC9FD1C3A}</a:tableStyleId>
              </a:tblPr>
              <a:tblGrid>
                <a:gridCol w="4264079"/>
                <a:gridCol w="6983040"/>
              </a:tblGrid>
              <a:tr h="320040">
                <a:tc>
                  <a:txBody>
                    <a:bodyPr wrap="square"/>
                    <a:lstStyle/>
                    <a:p>
                      <a:pPr>
                        <a:defRPr sz="1400" b="1">
                          <a:solidFill>
                            <a:srgbClr val="21568C"/>
                          </a:solidFill>
                          <a:latin typeface="Calibri"/>
                        </a:defRPr>
                      </a:pPr>
                      <a:r>
                        <a:t>Element</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Black line/points</a:t>
                      </a:r>
                    </a:p>
                  </a:txBody>
                  <a:tcPr/>
                </a:tc>
                <a:tc>
                  <a:txBody>
                    <a:bodyPr wrap="square"/>
                    <a:lstStyle/>
                    <a:p>
                      <a:r>
                        <a:rPr sz="1400">
                          <a:solidFill>
                            <a:srgbClr val="2C3E50"/>
                          </a:solidFill>
                          <a:latin typeface="Calibri"/>
                        </a:rPr>
                        <a:t>Survey data (DHS/MICS) — household survey reference</a:t>
                      </a:r>
                    </a:p>
                  </a:txBody>
                  <a:tcPr/>
                </a:tc>
              </a:tr>
              <a:tr h="320040">
                <a:tc>
                  <a:txBody>
                    <a:bodyPr wrap="square"/>
                    <a:lstStyle/>
                    <a:p>
                      <a:r>
                        <a:rPr sz="1400" b="1">
                          <a:solidFill>
                            <a:srgbClr val="21568C"/>
                          </a:solidFill>
                          <a:latin typeface="Calibri"/>
                        </a:rPr>
                        <a:t>Grey line/points</a:t>
                      </a:r>
                    </a:p>
                  </a:txBody>
                  <a:tcPr/>
                </a:tc>
                <a:tc>
                  <a:txBody>
                    <a:bodyPr wrap="square"/>
                    <a:lstStyle/>
                    <a:p>
                      <a:r>
                        <a:rPr sz="1400">
                          <a:solidFill>
                            <a:srgbClr val="2C3E50"/>
                          </a:solidFill>
                          <a:latin typeface="Calibri"/>
                        </a:rPr>
                        <a:t>HMIS-based coverage from facility data</a:t>
                      </a:r>
                    </a:p>
                  </a:txBody>
                  <a:tcPr/>
                </a:tc>
              </a:tr>
              <a:tr h="320040">
                <a:tc>
                  <a:txBody>
                    <a:bodyPr wrap="square"/>
                    <a:lstStyle/>
                    <a:p>
                      <a:r>
                        <a:rPr sz="1400" b="1">
                          <a:solidFill>
                            <a:srgbClr val="21568C"/>
                          </a:solidFill>
                          <a:latin typeface="Calibri"/>
                        </a:rPr>
                        <a:t>Red line/points</a:t>
                      </a:r>
                    </a:p>
                  </a:txBody>
                  <a:tcPr/>
                </a:tc>
                <a:tc>
                  <a:txBody>
                    <a:bodyPr wrap="square"/>
                    <a:lstStyle/>
                    <a:p>
                      <a:r>
                        <a:rPr sz="1400">
                          <a:solidFill>
                            <a:srgbClr val="2C3E50"/>
                          </a:solidFill>
                          <a:latin typeface="Calibri"/>
                        </a:rPr>
                        <a:t>Projected coverage — survey estimates extended using HMIS trends</a:t>
                      </a:r>
                    </a:p>
                  </a:txBody>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Sub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Calibri"/>
                        </a:defRPr>
                      </a:pPr>
                      <a:r>
                        <a:t>Parameter</a:t>
                      </a:r>
                    </a:p>
                  </a:txBody>
                  <a:tcPr>
                    <a:solidFill>
                      <a:srgbClr val="CAE6E9"/>
                    </a:solidFill>
                  </a:tcPr>
                </a:tc>
                <a:tc>
                  <a:txBody>
                    <a:bodyPr wrap="square"/>
                    <a:lstStyle/>
                    <a:p>
                      <a:pPr>
                        <a:defRPr sz="1400" b="1">
                          <a:solidFill>
                            <a:srgbClr val="21568C"/>
                          </a:solidFill>
                          <a:latin typeface="Calibri"/>
                        </a:defRPr>
                      </a:pPr>
                      <a:r>
                        <a:t>Description</a:t>
                      </a:r>
                    </a:p>
                  </a:txBody>
                  <a:tcPr>
                    <a:solidFill>
                      <a:srgbClr val="CAE6E9"/>
                    </a:solidFill>
                  </a:tcPr>
                </a:tc>
              </a:tr>
              <a:tr h="320040">
                <a:tc>
                  <a:txBody>
                    <a:bodyPr wrap="square"/>
                    <a:lstStyle/>
                    <a:p>
                      <a:r>
                        <a:rPr sz="1400" b="1">
                          <a:solidFill>
                            <a:srgbClr val="21568C"/>
                          </a:solidFill>
                          <a:latin typeface="Calibri"/>
                        </a:rPr>
                        <a:t>Count value to use</a:t>
                      </a:r>
                    </a:p>
                  </a:txBody>
                  <a:tcPr/>
                </a:tc>
                <a:tc>
                  <a:txBody>
                    <a:bodyPr wrap="square"/>
                    <a:lstStyle/>
                    <a:p>
                      <a:r>
                        <a:rPr sz="1400">
                          <a:solidFill>
                            <a:srgbClr val="2C3E50"/>
                          </a:solidFill>
                          <a:latin typeface="Calibri"/>
                        </a:rPr>
                        <a:t>Which adjusted count to use for coverage calculation</a:t>
                      </a:r>
                    </a:p>
                  </a:txBody>
                  <a:tcPr/>
                </a:tc>
              </a:tr>
              <a:tr h="320040">
                <a:tc>
                  <a:txBody>
                    <a:bodyPr wrap="square"/>
                    <a:lstStyle/>
                    <a:p>
                      <a:r>
                        <a:rPr sz="1400" b="1">
                          <a:solidFill>
                            <a:srgbClr val="21568C"/>
                          </a:solidFill>
                          <a:latin typeface="Calibri"/>
                        </a:rPr>
                        <a:t>Level to calculate coverage for</a:t>
                      </a:r>
                    </a:p>
                  </a:txBody>
                  <a:tcPr/>
                </a:tc>
                <a:tc>
                  <a:txBody>
                    <a:bodyPr wrap="square"/>
                    <a:lstStyle/>
                    <a:p>
                      <a:r>
                        <a:rPr sz="1400">
                          <a:solidFill>
                            <a:srgbClr val="2C3E50"/>
                          </a:solidFill>
                          <a:latin typeface="Calibri"/>
                        </a:rPr>
                        <a:t>Geographic levels for coverage estimation: national, provincial (admin area 2), or district (admin area 3)</a:t>
                      </a:r>
                    </a:p>
                  </a:txBody>
                  <a:tcPr/>
                </a:tc>
              </a:tr>
              <a:tr h="320040">
                <a:tc>
                  <a:txBody>
                    <a:bodyPr wrap="square"/>
                    <a:lstStyle/>
                    <a:p>
                      <a:r>
                        <a:rPr sz="1400" b="1">
                          <a:solidFill>
                            <a:srgbClr val="21568C"/>
                          </a:solidFill>
                          <a:latin typeface="Calibri"/>
                        </a:rPr>
                        <a:t>Pregnancy loss rate</a:t>
                      </a:r>
                    </a:p>
                  </a:txBody>
                  <a:tcPr/>
                </a:tc>
                <a:tc>
                  <a:txBody>
                    <a:bodyPr wrap="square"/>
                    <a:lstStyle/>
                    <a:p>
                      <a:r>
                        <a:rPr sz="1400">
                          <a:solidFill>
                            <a:srgbClr val="2C3E50"/>
                          </a:solidFill>
                          <a:latin typeface="Calibri"/>
                        </a:rPr>
                        <a:t>Proportion of pregnancies ending in loss before delivery</a:t>
                      </a:r>
                    </a:p>
                  </a:txBody>
                  <a:tcPr/>
                </a:tc>
              </a:tr>
              <a:tr h="320040">
                <a:tc>
                  <a:txBody>
                    <a:bodyPr wrap="square"/>
                    <a:lstStyle/>
                    <a:p>
                      <a:r>
                        <a:rPr sz="1400" b="1">
                          <a:solidFill>
                            <a:srgbClr val="21568C"/>
                          </a:solidFill>
                          <a:latin typeface="Calibri"/>
                        </a:rPr>
                        <a:t>Twin rate</a:t>
                      </a:r>
                    </a:p>
                  </a:txBody>
                  <a:tcPr/>
                </a:tc>
                <a:tc>
                  <a:txBody>
                    <a:bodyPr wrap="square"/>
                    <a:lstStyle/>
                    <a:p>
                      <a:r>
                        <a:rPr sz="1400">
                          <a:solidFill>
                            <a:srgbClr val="2C3E50"/>
                          </a:solidFill>
                          <a:latin typeface="Calibri"/>
                        </a:rPr>
                        <a:t>Proportion of deliveries resulting in twins</a:t>
                      </a:r>
                    </a:p>
                  </a:txBody>
                  <a:tcPr/>
                </a:tc>
              </a:tr>
              <a:tr h="320040">
                <a:tc>
                  <a:txBody>
                    <a:bodyPr wrap="square"/>
                    <a:lstStyle/>
                    <a:p>
                      <a:r>
                        <a:rPr sz="1400" b="1">
                          <a:solidFill>
                            <a:srgbClr val="21568C"/>
                          </a:solidFill>
                          <a:latin typeface="Calibri"/>
                        </a:rPr>
                        <a:t>Stillbirth rate</a:t>
                      </a:r>
                    </a:p>
                  </a:txBody>
                  <a:tcPr/>
                </a:tc>
                <a:tc>
                  <a:txBody>
                    <a:bodyPr wrap="square"/>
                    <a:lstStyle/>
                    <a:p>
                      <a:r>
                        <a:rPr sz="1400">
                          <a:solidFill>
                            <a:srgbClr val="2C3E50"/>
                          </a:solidFill>
                          <a:latin typeface="Calibri"/>
                        </a:rPr>
                        <a:t>Proportion of births that are stillbirths</a:t>
                      </a:r>
                    </a:p>
                  </a:txBody>
                  <a:tcPr/>
                </a:tc>
              </a:tr>
              <a:tr h="320040">
                <a:tc>
                  <a:txBody>
                    <a:bodyPr wrap="square"/>
                    <a:lstStyle/>
                    <a:p>
                      <a:r>
                        <a:rPr sz="1400" b="1">
                          <a:solidFill>
                            <a:srgbClr val="21568C"/>
                          </a:solidFill>
                          <a:latin typeface="Calibri"/>
                        </a:rPr>
                        <a:t>Neonatal mortality rate</a:t>
                      </a:r>
                    </a:p>
                  </a:txBody>
                  <a:tcPr/>
                </a:tc>
                <a:tc>
                  <a:txBody>
                    <a:bodyPr wrap="square"/>
                    <a:lstStyle/>
                    <a:p>
                      <a:r>
                        <a:rPr sz="1400">
                          <a:solidFill>
                            <a:srgbClr val="2C3E50"/>
                          </a:solidFill>
                          <a:latin typeface="Calibri"/>
                        </a:rPr>
                        <a:t>Deaths in first 28 days per live birth</a:t>
                      </a:r>
                    </a:p>
                  </a:txBody>
                  <a:tcPr/>
                </a:tc>
              </a:tr>
              <a:tr h="320040">
                <a:tc>
                  <a:txBody>
                    <a:bodyPr wrap="square"/>
                    <a:lstStyle/>
                    <a:p>
                      <a:r>
                        <a:rPr sz="1400" b="1">
                          <a:solidFill>
                            <a:srgbClr val="21568C"/>
                          </a:solidFill>
                          <a:latin typeface="Calibri"/>
                        </a:rPr>
                        <a:t>Postneonatal mortality rate</a:t>
                      </a:r>
                    </a:p>
                  </a:txBody>
                  <a:tcPr/>
                </a:tc>
                <a:tc>
                  <a:txBody>
                    <a:bodyPr wrap="square"/>
                    <a:lstStyle/>
                    <a:p>
                      <a:r>
                        <a:rPr sz="1400">
                          <a:solidFill>
                            <a:srgbClr val="2C3E50"/>
                          </a:solidFill>
                          <a:latin typeface="Calibri"/>
                        </a:rPr>
                        <a:t>Deaths from 28 days to 1 year per live birth</a:t>
                      </a:r>
                    </a:p>
                  </a:txBody>
                  <a:tcPr/>
                </a:tc>
              </a:tr>
              <a:tr h="320040">
                <a:tc>
                  <a:txBody>
                    <a:bodyPr wrap="square"/>
                    <a:lstStyle/>
                    <a:p>
                      <a:r>
                        <a:rPr sz="1400" b="1">
                          <a:solidFill>
                            <a:srgbClr val="21568C"/>
                          </a:solidFill>
                          <a:latin typeface="Calibri"/>
                        </a:rPr>
                        <a:t>Infant mortality rate</a:t>
                      </a:r>
                    </a:p>
                  </a:txBody>
                  <a:tcPr/>
                </a:tc>
                <a:tc>
                  <a:txBody>
                    <a:bodyPr wrap="square"/>
                    <a:lstStyle/>
                    <a:p>
                      <a:r>
                        <a:rPr sz="1400">
                          <a:solidFill>
                            <a:srgbClr val="2C3E50"/>
                          </a:solidFill>
                          <a:latin typeface="Calibri"/>
                        </a:rPr>
                        <a:t>Deaths before age 1 per live birth</a:t>
                      </a:r>
                    </a:p>
                  </a:txBody>
                  <a:tcPr/>
                </a:tc>
              </a:tr>
              <a:tr h="320040">
                <a:tc>
                  <a:txBody>
                    <a:bodyPr wrap="square"/>
                    <a:lstStyle/>
                    <a:p>
                      <a:r>
                        <a:rPr sz="1400" b="1">
                          <a:solidFill>
                            <a:srgbClr val="21568C"/>
                          </a:solidFill>
                          <a:latin typeface="Calibri"/>
                        </a:rPr>
                        <a:t>Under 5 mortality rate</a:t>
                      </a:r>
                    </a:p>
                  </a:txBody>
                  <a:tcPr/>
                </a:tc>
                <a:tc>
                  <a:txBody>
                    <a:bodyPr wrap="square"/>
                    <a:lstStyle/>
                    <a:p>
                      <a:r>
                        <a:rPr sz="1400">
                          <a:solidFill>
                            <a:srgbClr val="2C3E50"/>
                          </a:solidFill>
                          <a:latin typeface="Calibri"/>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Calibri"/>
              </a:rPr>
              <a:t>Country-specific mortality rates may be obtained from DHS reports, UN IGME, or national vital statistics.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6: Creating a project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Set up a new project</a:t>
            </a:r>
          </a:p>
          <a:p>
            <a:pPr>
              <a:spcAft>
                <a:spcPts val="800"/>
              </a:spcAft>
            </a:pPr>
            <a:r>
              <a:rPr sz="1800">
                <a:solidFill>
                  <a:srgbClr val="D0CB17"/>
                </a:solidFill>
                <a:latin typeface="Calibri"/>
              </a:rPr>
              <a:t>• </a:t>
            </a:r>
            <a:r>
              <a:rPr sz="1800">
                <a:solidFill>
                  <a:srgbClr val="2C3E50"/>
                </a:solidFill>
                <a:latin typeface="Calibri"/>
              </a:rPr>
              <a:t>Configure project settings</a:t>
            </a:r>
          </a:p>
          <a:p>
            <a:pPr>
              <a:spcAft>
                <a:spcPts val="800"/>
              </a:spcAft>
            </a:pPr>
            <a:r>
              <a:rPr sz="1800">
                <a:solidFill>
                  <a:srgbClr val="D0CB17"/>
                </a:solidFill>
                <a:latin typeface="Calibri"/>
              </a:rPr>
              <a:t>• </a:t>
            </a:r>
            <a:r>
              <a:rPr sz="1800">
                <a:solidFill>
                  <a:srgbClr val="2C3E50"/>
                </a:solidFill>
                <a:latin typeface="Calibri"/>
              </a:rPr>
              <a:t>Select indicators and time periods</a:t>
            </a:r>
          </a:p>
          <a:p>
            <a:pPr>
              <a:spcAft>
                <a:spcPts val="800"/>
              </a:spcAft>
            </a:pPr>
            <a:r>
              <a:rPr sz="1800">
                <a:solidFill>
                  <a:srgbClr val="D0CB17"/>
                </a:solidFill>
                <a:latin typeface="Calibri"/>
              </a:rPr>
              <a:t>• </a:t>
            </a:r>
            <a:r>
              <a:rPr sz="1800">
                <a:solidFill>
                  <a:srgbClr val="2C3E50"/>
                </a:solidFill>
                <a:latin typeface="Calibri"/>
              </a:rPr>
              <a:t>Apply best practices for project organization</a:t>
            </a:r>
          </a:p>
          <a:p>
            <a:pPr>
              <a:spcAft>
                <a:spcPts val="1400"/>
              </a:spcAft>
            </a:pPr>
            <a:r>
              <a:rPr sz="1800" i="1">
                <a:solidFill>
                  <a:srgbClr val="1F9A9C"/>
                </a:solidFill>
                <a:latin typeface="Calibri"/>
              </a:rPr>
              <a:t>Participants will create their first project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7: Creating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Explore available chart types</a:t>
            </a:r>
          </a:p>
          <a:p>
            <a:pPr>
              <a:spcAft>
                <a:spcPts val="800"/>
              </a:spcAft>
            </a:pPr>
            <a:r>
              <a:rPr sz="1800">
                <a:solidFill>
                  <a:srgbClr val="D0CB17"/>
                </a:solidFill>
                <a:latin typeface="Calibri"/>
              </a:rPr>
              <a:t>• </a:t>
            </a:r>
            <a:r>
              <a:rPr sz="1800">
                <a:solidFill>
                  <a:srgbClr val="2C3E50"/>
                </a:solidFill>
                <a:latin typeface="Calibri"/>
              </a:rPr>
              <a:t>Create and customize visualizations</a:t>
            </a:r>
          </a:p>
          <a:p>
            <a:pPr>
              <a:spcAft>
                <a:spcPts val="800"/>
              </a:spcAft>
            </a:pPr>
            <a:r>
              <a:rPr sz="1800">
                <a:solidFill>
                  <a:srgbClr val="D0CB17"/>
                </a:solidFill>
                <a:latin typeface="Calibri"/>
              </a:rPr>
              <a:t>• </a:t>
            </a:r>
            <a:r>
              <a:rPr sz="1800">
                <a:solidFill>
                  <a:srgbClr val="2C3E50"/>
                </a:solidFill>
                <a:latin typeface="Calibri"/>
              </a:rPr>
              <a:t>Export charts for use in reports</a:t>
            </a:r>
          </a:p>
          <a:p>
            <a:pPr>
              <a:spcAft>
                <a:spcPts val="1400"/>
              </a:spcAft>
            </a:pPr>
            <a:r>
              <a:rPr sz="1800" i="1">
                <a:solidFill>
                  <a:srgbClr val="1F9A9C"/>
                </a:solidFill>
                <a:latin typeface="Calibri"/>
              </a:rPr>
              <a:t>Participants will build visualizations from their analysis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Creating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In this hands-on session, we will:</a:t>
            </a:r>
          </a:p>
          <a:p>
            <a:pPr>
              <a:spcAft>
                <a:spcPts val="800"/>
              </a:spcAft>
            </a:pPr>
            <a:r>
              <a:rPr sz="1800">
                <a:solidFill>
                  <a:srgbClr val="D0CB17"/>
                </a:solidFill>
                <a:latin typeface="Calibri"/>
              </a:rPr>
              <a:t>• </a:t>
            </a:r>
            <a:r>
              <a:rPr sz="1800">
                <a:solidFill>
                  <a:srgbClr val="2C3E50"/>
                </a:solidFill>
                <a:latin typeface="Calibri"/>
              </a:rPr>
              <a:t>Use report templates</a:t>
            </a:r>
          </a:p>
          <a:p>
            <a:pPr>
              <a:spcAft>
                <a:spcPts val="800"/>
              </a:spcAft>
            </a:pPr>
            <a:r>
              <a:rPr sz="1800">
                <a:solidFill>
                  <a:srgbClr val="D0CB17"/>
                </a:solidFill>
                <a:latin typeface="Calibri"/>
              </a:rPr>
              <a:t>• </a:t>
            </a:r>
            <a:r>
              <a:rPr sz="1800">
                <a:solidFill>
                  <a:srgbClr val="2C3E50"/>
                </a:solidFill>
                <a:latin typeface="Calibri"/>
              </a:rPr>
              <a:t>Generate automated reports</a:t>
            </a:r>
          </a:p>
          <a:p>
            <a:pPr>
              <a:spcAft>
                <a:spcPts val="800"/>
              </a:spcAft>
            </a:pPr>
            <a:r>
              <a:rPr sz="1800">
                <a:solidFill>
                  <a:srgbClr val="D0CB17"/>
                </a:solidFill>
                <a:latin typeface="Calibri"/>
              </a:rPr>
              <a:t>• </a:t>
            </a:r>
            <a:r>
              <a:rPr sz="1800">
                <a:solidFill>
                  <a:srgbClr val="2C3E50"/>
                </a:solidFill>
                <a:latin typeface="Calibri"/>
              </a:rPr>
              <a:t>Customize report content and layout</a:t>
            </a:r>
          </a:p>
          <a:p>
            <a:pPr>
              <a:spcAft>
                <a:spcPts val="1400"/>
              </a:spcAft>
            </a:pPr>
            <a:r>
              <a:rPr sz="1800" i="1">
                <a:solidFill>
                  <a:srgbClr val="1F9A9C"/>
                </a:solidFill>
                <a:latin typeface="Calibri"/>
              </a:rPr>
              <a:t>Participants will create their first quarterly report draft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2, we covered:</a:t>
            </a:r>
          </a:p>
          <a:p>
            <a:pPr>
              <a:spcAft>
                <a:spcPts val="800"/>
              </a:spcAft>
            </a:pPr>
            <a:r>
              <a:rPr sz="1800">
                <a:solidFill>
                  <a:srgbClr val="D0CB17"/>
                </a:solidFill>
                <a:latin typeface="Calibri"/>
              </a:rPr>
              <a:t>• </a:t>
            </a:r>
            <a:r>
              <a:rPr sz="1800">
                <a:solidFill>
                  <a:srgbClr val="2C3E50"/>
                </a:solidFill>
                <a:latin typeface="Calibri"/>
              </a:rPr>
              <a:t>FASTR methods for data quality assessment and adjustment</a:t>
            </a:r>
          </a:p>
          <a:p>
            <a:pPr>
              <a:spcAft>
                <a:spcPts val="800"/>
              </a:spcAft>
            </a:pPr>
            <a:r>
              <a:rPr sz="1800">
                <a:solidFill>
                  <a:srgbClr val="D0CB17"/>
                </a:solidFill>
                <a:latin typeface="Calibri"/>
              </a:rPr>
              <a:t>• </a:t>
            </a:r>
            <a:r>
              <a:rPr sz="1800">
                <a:solidFill>
                  <a:srgbClr val="2C3E50"/>
                </a:solidFill>
                <a:latin typeface="Calibri"/>
              </a:rPr>
              <a:t>Creating and configuring projects in the platform</a:t>
            </a:r>
          </a:p>
          <a:p>
            <a:pPr>
              <a:spcAft>
                <a:spcPts val="800"/>
              </a:spcAft>
            </a:pPr>
            <a:r>
              <a:rPr sz="1800">
                <a:solidFill>
                  <a:srgbClr val="D0CB17"/>
                </a:solidFill>
                <a:latin typeface="Calibri"/>
              </a:rPr>
              <a:t>• </a:t>
            </a:r>
            <a:r>
              <a:rPr sz="1800">
                <a:solidFill>
                  <a:srgbClr val="2C3E50"/>
                </a:solidFill>
                <a:latin typeface="Calibri"/>
              </a:rPr>
              <a:t>Building visualizations from Zambia data</a:t>
            </a:r>
          </a:p>
          <a:p>
            <a:pPr>
              <a:spcAft>
                <a:spcPts val="800"/>
              </a:spcAft>
            </a:pPr>
            <a:r>
              <a:rPr sz="1800">
                <a:solidFill>
                  <a:srgbClr val="D0CB17"/>
                </a:solidFill>
                <a:latin typeface="Calibri"/>
              </a:rPr>
              <a:t>• </a:t>
            </a:r>
            <a:r>
              <a:rPr sz="1800">
                <a:solidFill>
                  <a:srgbClr val="2C3E50"/>
                </a:solidFill>
                <a:latin typeface="Calibri"/>
              </a:rPr>
              <a:t>Generating reports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move from analysis to action:</a:t>
            </a:r>
          </a:p>
          <a:p>
            <a:pPr>
              <a:spcAft>
                <a:spcPts val="800"/>
              </a:spcAft>
            </a:pPr>
            <a:r>
              <a:rPr sz="1800">
                <a:solidFill>
                  <a:srgbClr val="D0CB17"/>
                </a:solidFill>
                <a:latin typeface="Calibri"/>
              </a:rPr>
              <a:t>• </a:t>
            </a:r>
            <a:r>
              <a:rPr sz="1800">
                <a:solidFill>
                  <a:srgbClr val="2C3E50"/>
                </a:solidFill>
                <a:latin typeface="Calibri"/>
              </a:rPr>
              <a:t>Deep dive into interpretation of results</a:t>
            </a:r>
          </a:p>
          <a:p>
            <a:pPr>
              <a:spcAft>
                <a:spcPts val="800"/>
              </a:spcAft>
            </a:pPr>
            <a:r>
              <a:rPr sz="1800">
                <a:solidFill>
                  <a:srgbClr val="D0CB17"/>
                </a:solidFill>
                <a:latin typeface="Calibri"/>
              </a:rPr>
              <a:t>• </a:t>
            </a:r>
            <a:r>
              <a:rPr sz="1800">
                <a:solidFill>
                  <a:srgbClr val="2C3E50"/>
                </a:solidFill>
                <a:latin typeface="Calibri"/>
              </a:rPr>
              <a:t>Create the Q4 2025 quarterly report</a:t>
            </a:r>
          </a:p>
          <a:p>
            <a:pPr>
              <a:spcAft>
                <a:spcPts val="800"/>
              </a:spcAft>
            </a:pPr>
            <a:r>
              <a:rPr sz="1800">
                <a:solidFill>
                  <a:srgbClr val="D0CB17"/>
                </a:solidFill>
                <a:latin typeface="Calibri"/>
              </a:rPr>
              <a:t>• </a:t>
            </a:r>
            <a:r>
              <a:rPr sz="1800">
                <a:solidFill>
                  <a:srgbClr val="2C3E50"/>
                </a:solidFill>
                <a:latin typeface="Calibri"/>
              </a:rPr>
              <a:t>Present findings to the group</a:t>
            </a:r>
          </a:p>
          <a:p>
            <a:pPr>
              <a:spcAft>
                <a:spcPts val="800"/>
              </a:spcAft>
            </a:pPr>
            <a:r>
              <a:rPr sz="1800">
                <a:solidFill>
                  <a:srgbClr val="D0CB17"/>
                </a:solidFill>
                <a:latin typeface="Calibri"/>
              </a:rPr>
              <a:t>• </a:t>
            </a:r>
            <a:r>
              <a:rPr sz="1800">
                <a:solidFill>
                  <a:srgbClr val="2C3E50"/>
                </a:solidFill>
                <a:latin typeface="Calibri"/>
              </a:rPr>
              <a:t>Develop action plans for continued work</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8: Interpretation of visualizations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Frameworks for interpreting FASTR outputs</a:t>
            </a:r>
          </a:p>
          <a:p>
            <a:pPr>
              <a:spcAft>
                <a:spcPts val="800"/>
              </a:spcAft>
            </a:pPr>
            <a:r>
              <a:rPr sz="1800">
                <a:solidFill>
                  <a:srgbClr val="D0CB17"/>
                </a:solidFill>
                <a:latin typeface="Calibri"/>
              </a:rPr>
              <a:t>• </a:t>
            </a:r>
            <a:r>
              <a:rPr sz="1800">
                <a:solidFill>
                  <a:srgbClr val="2C3E50"/>
                </a:solidFill>
                <a:latin typeface="Calibri"/>
              </a:rPr>
              <a:t>Connecting data patterns to programmatic meaning</a:t>
            </a:r>
          </a:p>
          <a:p>
            <a:pPr>
              <a:spcAft>
                <a:spcPts val="800"/>
              </a:spcAft>
            </a:pPr>
            <a:r>
              <a:rPr sz="1800">
                <a:solidFill>
                  <a:srgbClr val="D0CB17"/>
                </a:solidFill>
                <a:latin typeface="Calibri"/>
              </a:rPr>
              <a:t>• </a:t>
            </a:r>
            <a:r>
              <a:rPr sz="1800">
                <a:solidFill>
                  <a:srgbClr val="2C3E50"/>
                </a:solidFill>
                <a:latin typeface="Calibri"/>
              </a:rPr>
              <a:t>Common interpretation pitfalls to avoid</a:t>
            </a:r>
          </a:p>
          <a:p>
            <a:pPr>
              <a:spcAft>
                <a:spcPts val="800"/>
              </a:spcAft>
            </a:pPr>
            <a:r>
              <a:rPr sz="1800">
                <a:solidFill>
                  <a:srgbClr val="D0CB17"/>
                </a:solidFill>
                <a:latin typeface="Calibri"/>
              </a:rPr>
              <a:t>• </a:t>
            </a:r>
            <a:r>
              <a:rPr sz="1800">
                <a:solidFill>
                  <a:srgbClr val="2C3E50"/>
                </a:solidFill>
                <a:latin typeface="Calibri"/>
              </a:rPr>
              <a:t>Building analytical thinking skills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9: Creating a Q4 2025 report</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Content to be developed</a:t>
            </a:r>
          </a:p>
          <a:p>
            <a:pPr>
              <a:spcAft>
                <a:spcPts val="1400"/>
              </a:spcAft>
            </a:pPr>
            <a:r>
              <a:rPr sz="1800">
                <a:solidFill>
                  <a:srgbClr val="333333"/>
                </a:solidFill>
                <a:latin typeface="Calibri"/>
              </a:rPr>
              <a:t>This section will cover:</a:t>
            </a:r>
          </a:p>
          <a:p>
            <a:pPr>
              <a:spcAft>
                <a:spcPts val="800"/>
              </a:spcAft>
            </a:pPr>
            <a:r>
              <a:rPr sz="1800">
                <a:solidFill>
                  <a:srgbClr val="D0CB17"/>
                </a:solidFill>
                <a:latin typeface="Calibri"/>
              </a:rPr>
              <a:t>• </a:t>
            </a:r>
            <a:r>
              <a:rPr sz="1800">
                <a:solidFill>
                  <a:srgbClr val="2C3E50"/>
                </a:solidFill>
                <a:latin typeface="Calibri"/>
              </a:rPr>
              <a:t>Quarterly reporting workflow</a:t>
            </a:r>
          </a:p>
          <a:p>
            <a:pPr>
              <a:spcAft>
                <a:spcPts val="800"/>
              </a:spcAft>
            </a:pPr>
            <a:r>
              <a:rPr sz="1800">
                <a:solidFill>
                  <a:srgbClr val="D0CB17"/>
                </a:solidFill>
                <a:latin typeface="Calibri"/>
              </a:rPr>
              <a:t>• </a:t>
            </a:r>
            <a:r>
              <a:rPr sz="1800">
                <a:solidFill>
                  <a:srgbClr val="2C3E50"/>
                </a:solidFill>
                <a:latin typeface="Calibri"/>
              </a:rPr>
              <a:t>Using the FASTR platform for automated reports</a:t>
            </a:r>
          </a:p>
          <a:p>
            <a:pPr>
              <a:spcAft>
                <a:spcPts val="800"/>
              </a:spcAft>
            </a:pPr>
            <a:r>
              <a:rPr sz="1800">
                <a:solidFill>
                  <a:srgbClr val="D0CB17"/>
                </a:solidFill>
                <a:latin typeface="Calibri"/>
              </a:rPr>
              <a:t>• </a:t>
            </a:r>
            <a:r>
              <a:rPr sz="1800">
                <a:solidFill>
                  <a:srgbClr val="2C3E50"/>
                </a:solidFill>
                <a:latin typeface="Calibri"/>
              </a:rPr>
              <a:t>Quality assurance for reports</a:t>
            </a:r>
          </a:p>
          <a:p>
            <a:pPr>
              <a:spcAft>
                <a:spcPts val="800"/>
              </a:spcAft>
            </a:pPr>
            <a:r>
              <a:rPr sz="1800">
                <a:solidFill>
                  <a:srgbClr val="D0CB17"/>
                </a:solidFill>
                <a:latin typeface="Calibri"/>
              </a:rPr>
              <a:t>• </a:t>
            </a:r>
            <a:r>
              <a:rPr sz="1800">
                <a:solidFill>
                  <a:srgbClr val="2C3E50"/>
                </a:solidFill>
                <a:latin typeface="Calibri"/>
              </a:rPr>
              <a:t>Distribution and feedback mechanisms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10: Presenting reports</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End user mapping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End user mapping helps ensure that our outputs will meet the real needs of our end users.</a:t>
            </a:r>
          </a:p>
          <a:p>
            <a:pPr>
              <a:spcBef>
                <a:spcPts val="800"/>
              </a:spcBef>
              <a:spcAft>
                <a:spcPts val="1000"/>
              </a:spcAft>
              <a:defRPr sz="2200" b="1" i="0">
                <a:solidFill>
                  <a:srgbClr val="BD5091"/>
                </a:solidFill>
                <a:latin typeface="Calibri"/>
              </a:defRPr>
            </a:pPr>
            <a:r>
              <a:t>Key questions</a:t>
            </a:r>
          </a:p>
          <a:p>
            <a:pPr>
              <a:spcAft>
                <a:spcPts val="800"/>
              </a:spcAft>
            </a:pPr>
            <a:r>
              <a:rPr sz="1800">
                <a:solidFill>
                  <a:srgbClr val="D0CB17"/>
                </a:solidFill>
                <a:latin typeface="Calibri"/>
              </a:rPr>
              <a:t>• </a:t>
            </a:r>
            <a:r>
              <a:rPr sz="1800" b="1">
                <a:solidFill>
                  <a:srgbClr val="21568C"/>
                </a:solidFill>
                <a:latin typeface="Calibri"/>
              </a:rPr>
              <a:t>Who is my end user?</a:t>
            </a:r>
          </a:p>
          <a:p>
            <a:pPr>
              <a:spcAft>
                <a:spcPts val="800"/>
              </a:spcAft>
            </a:pPr>
            <a:r>
              <a:rPr sz="1800">
                <a:solidFill>
                  <a:srgbClr val="D0CB17"/>
                </a:solidFill>
                <a:latin typeface="Calibri"/>
              </a:rPr>
              <a:t>• </a:t>
            </a:r>
            <a:r>
              <a:rPr sz="1800" b="1">
                <a:solidFill>
                  <a:srgbClr val="21568C"/>
                </a:solidFill>
                <a:latin typeface="Calibri"/>
              </a:rPr>
              <a:t>What does this end user need to accomplish with the report?</a:t>
            </a:r>
          </a:p>
          <a:p>
            <a:pPr>
              <a:spcAft>
                <a:spcPts val="800"/>
              </a:spcAft>
            </a:pPr>
            <a:r>
              <a:rPr sz="1800">
                <a:solidFill>
                  <a:srgbClr val="D0CB17"/>
                </a:solidFill>
                <a:latin typeface="Calibri"/>
              </a:rPr>
              <a:t>• </a:t>
            </a:r>
            <a:r>
              <a:rPr sz="1800" b="1">
                <a:solidFill>
                  <a:srgbClr val="21568C"/>
                </a:solidFill>
                <a:latin typeface="Calibri"/>
              </a:rPr>
              <a:t>What information are they most interested in?</a:t>
            </a:r>
          </a:p>
          <a:p>
            <a:pPr>
              <a:spcAft>
                <a:spcPts val="800"/>
              </a:spcAft>
            </a:pPr>
            <a:r>
              <a:rPr sz="1800">
                <a:solidFill>
                  <a:srgbClr val="D0CB17"/>
                </a:solidFill>
                <a:latin typeface="Calibri"/>
              </a:rPr>
              <a:t>• </a:t>
            </a:r>
            <a:r>
              <a:rPr sz="1800" b="1">
                <a:solidFill>
                  <a:srgbClr val="21568C"/>
                </a:solidFill>
                <a:latin typeface="Calibri"/>
              </a:rPr>
              <a:t>What do they like/not like about current reports?</a:t>
            </a:r>
          </a:p>
          <a:p>
            <a:pPr>
              <a:spcAft>
                <a:spcPts val="800"/>
              </a:spcAft>
            </a:pPr>
            <a:r>
              <a:rPr sz="1800">
                <a:solidFill>
                  <a:srgbClr val="D0CB17"/>
                </a:solidFill>
                <a:latin typeface="Calibri"/>
              </a:rPr>
              <a:t>• </a:t>
            </a:r>
            <a:r>
              <a:rPr sz="1800" b="1">
                <a:solidFill>
                  <a:srgbClr val="21568C"/>
                </a:solidFill>
                <a:latin typeface="Calibri"/>
              </a:rPr>
              <a:t>How do they like to receive their information?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On Day 3, we covered:</a:t>
            </a:r>
          </a:p>
          <a:p>
            <a:pPr>
              <a:spcAft>
                <a:spcPts val="800"/>
              </a:spcAft>
            </a:pPr>
            <a:r>
              <a:rPr sz="1800">
                <a:solidFill>
                  <a:srgbClr val="D0CB17"/>
                </a:solidFill>
                <a:latin typeface="Calibri"/>
              </a:rPr>
              <a:t>• </a:t>
            </a:r>
            <a:r>
              <a:rPr sz="1800">
                <a:solidFill>
                  <a:srgbClr val="2C3E50"/>
                </a:solidFill>
                <a:latin typeface="Calibri"/>
              </a:rPr>
              <a:t>Interpretation of FASTR visualizations</a:t>
            </a:r>
          </a:p>
          <a:p>
            <a:pPr>
              <a:spcAft>
                <a:spcPts val="800"/>
              </a:spcAft>
            </a:pPr>
            <a:r>
              <a:rPr sz="1800">
                <a:solidFill>
                  <a:srgbClr val="D0CB17"/>
                </a:solidFill>
                <a:latin typeface="Calibri"/>
              </a:rPr>
              <a:t>• </a:t>
            </a:r>
            <a:r>
              <a:rPr sz="1800">
                <a:solidFill>
                  <a:srgbClr val="2C3E50"/>
                </a:solidFill>
                <a:latin typeface="Calibri"/>
              </a:rPr>
              <a:t>Creation of the Q4 2025 quarterly report</a:t>
            </a:r>
          </a:p>
          <a:p>
            <a:pPr>
              <a:spcAft>
                <a:spcPts val="800"/>
              </a:spcAft>
            </a:pPr>
            <a:r>
              <a:rPr sz="1800">
                <a:solidFill>
                  <a:srgbClr val="D0CB17"/>
                </a:solidFill>
                <a:latin typeface="Calibri"/>
              </a:rPr>
              <a:t>• </a:t>
            </a:r>
            <a:r>
              <a:rPr sz="1800">
                <a:solidFill>
                  <a:srgbClr val="2C3E50"/>
                </a:solidFill>
                <a:latin typeface="Calibri"/>
              </a:rPr>
              <a:t>Presentation of findings and group feedback</a:t>
            </a:r>
          </a:p>
          <a:p>
            <a:pPr>
              <a:spcAft>
                <a:spcPts val="800"/>
              </a:spcAft>
            </a:pPr>
            <a:r>
              <a:rPr sz="1800">
                <a:solidFill>
                  <a:srgbClr val="D0CB17"/>
                </a:solidFill>
                <a:latin typeface="Calibri"/>
              </a:rPr>
              <a:t>• </a:t>
            </a:r>
            <a:r>
              <a:rPr sz="1800">
                <a:solidFill>
                  <a:srgbClr val="2C3E50"/>
                </a:solidFill>
                <a:latin typeface="Calibri"/>
              </a:rPr>
              <a:t>Action planning for continued platform use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Today we design the Health Facility Assessment:</a:t>
            </a:r>
          </a:p>
          <a:p>
            <a:pPr>
              <a:spcAft>
                <a:spcPts val="800"/>
              </a:spcAft>
            </a:pPr>
            <a:r>
              <a:rPr sz="1800">
                <a:solidFill>
                  <a:srgbClr val="D0CB17"/>
                </a:solidFill>
                <a:latin typeface="Calibri"/>
              </a:rPr>
              <a:t>• </a:t>
            </a:r>
            <a:r>
              <a:rPr sz="1800">
                <a:solidFill>
                  <a:srgbClr val="2C3E50"/>
                </a:solidFill>
                <a:latin typeface="Calibri"/>
              </a:rPr>
              <a:t>Overview of the FASTR HFA phone survey</a:t>
            </a:r>
          </a:p>
          <a:p>
            <a:pPr>
              <a:spcAft>
                <a:spcPts val="800"/>
              </a:spcAft>
            </a:pPr>
            <a:r>
              <a:rPr sz="1800">
                <a:solidFill>
                  <a:srgbClr val="D0CB17"/>
                </a:solidFill>
                <a:latin typeface="Calibri"/>
              </a:rPr>
              <a:t>• </a:t>
            </a:r>
            <a:r>
              <a:rPr sz="1800">
                <a:solidFill>
                  <a:srgbClr val="2C3E50"/>
                </a:solidFill>
                <a:latin typeface="Calibri"/>
              </a:rPr>
              <a:t>Review questionnaire structure</a:t>
            </a:r>
          </a:p>
          <a:p>
            <a:pPr>
              <a:spcAft>
                <a:spcPts val="800"/>
              </a:spcAft>
            </a:pPr>
            <a:r>
              <a:rPr sz="1800">
                <a:solidFill>
                  <a:srgbClr val="D0CB17"/>
                </a:solidFill>
                <a:latin typeface="Calibri"/>
              </a:rPr>
              <a:t>• </a:t>
            </a:r>
            <a:r>
              <a:rPr sz="1800">
                <a:solidFill>
                  <a:srgbClr val="2C3E50"/>
                </a:solidFill>
                <a:latin typeface="Calibri"/>
              </a:rPr>
              <a:t>Adapt questionnaire for Zambia context</a:t>
            </a:r>
          </a:p>
          <a:p>
            <a:pPr>
              <a:spcAft>
                <a:spcPts val="800"/>
              </a:spcAft>
            </a:pPr>
            <a:r>
              <a:rPr sz="1800">
                <a:solidFill>
                  <a:srgbClr val="D0CB17"/>
                </a:solidFill>
                <a:latin typeface="Calibri"/>
              </a:rPr>
              <a:t>• </a:t>
            </a:r>
            <a:r>
              <a:rPr sz="1800">
                <a:solidFill>
                  <a:srgbClr val="2C3E50"/>
                </a:solidFill>
                <a:latin typeface="Calibri"/>
              </a:rPr>
              <a:t>Plan HFA priorities and data use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4400" b="1" i="0">
                <a:solidFill>
                  <a:srgbClr val="09544F"/>
                </a:solidFill>
                <a:latin typeface="Calibri"/>
              </a:defRPr>
            </a:pPr>
            <a:r>
              <a:t>Session 12: Overview of FASTR HFA phone survey</a:t>
            </a:r>
          </a:p>
        </p:txBody>
      </p:sp>
      <p:sp>
        <p:nvSpPr>
          <p:cNvPr id="3" name="Rectangle 2"/>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Calibri"/>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Calibri"/>
              </a:rPr>
              <a:t>Placeholder: Content to be developed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Calibri"/>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Calibri"/>
              </a:defRPr>
            </a:pPr>
            <a:r>
              <a:t>90 minutes • Back at 14:00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Key actions to take after this working session:</a:t>
            </a:r>
          </a:p>
          <a:p>
            <a:pPr>
              <a:spcAft>
                <a:spcPts val="800"/>
              </a:spcAft>
            </a:pPr>
            <a:r>
              <a:rPr sz="1800">
                <a:solidFill>
                  <a:srgbClr val="D0CB17"/>
                </a:solidFill>
                <a:latin typeface="Calibri"/>
              </a:rPr>
              <a:t>• </a:t>
            </a:r>
            <a:r>
              <a:rPr sz="1800">
                <a:solidFill>
                  <a:srgbClr val="2C3E50"/>
                </a:solidFill>
                <a:latin typeface="Calibri"/>
              </a:rPr>
              <a:t>Finalize adapted phone survey questionnaire</a:t>
            </a:r>
          </a:p>
          <a:p>
            <a:pPr>
              <a:spcAft>
                <a:spcPts val="800"/>
              </a:spcAft>
            </a:pPr>
            <a:r>
              <a:rPr sz="1800">
                <a:solidFill>
                  <a:srgbClr val="D0CB17"/>
                </a:solidFill>
                <a:latin typeface="Calibri"/>
              </a:rPr>
              <a:t>• </a:t>
            </a:r>
            <a:r>
              <a:rPr sz="1800">
                <a:solidFill>
                  <a:srgbClr val="2C3E50"/>
                </a:solidFill>
                <a:latin typeface="Calibri"/>
              </a:rPr>
              <a:t>Complete first quarterly report draft</a:t>
            </a:r>
          </a:p>
          <a:p>
            <a:pPr>
              <a:spcAft>
                <a:spcPts val="800"/>
              </a:spcAft>
            </a:pPr>
            <a:r>
              <a:rPr sz="1800">
                <a:solidFill>
                  <a:srgbClr val="D0CB17"/>
                </a:solidFill>
                <a:latin typeface="Calibri"/>
              </a:rPr>
              <a:t>• </a:t>
            </a:r>
            <a:r>
              <a:rPr sz="1800">
                <a:solidFill>
                  <a:srgbClr val="2C3E50"/>
                </a:solidFill>
                <a:latin typeface="Calibri"/>
              </a:rPr>
              <a:t>Train remaining MoH team on data downloader tools</a:t>
            </a:r>
          </a:p>
          <a:p>
            <a:pPr>
              <a:spcAft>
                <a:spcPts val="800"/>
              </a:spcAft>
            </a:pPr>
            <a:r>
              <a:rPr sz="1800">
                <a:solidFill>
                  <a:srgbClr val="D0CB17"/>
                </a:solidFill>
                <a:latin typeface="Calibri"/>
              </a:rPr>
              <a:t>• </a:t>
            </a:r>
            <a:r>
              <a:rPr sz="1800">
                <a:solidFill>
                  <a:srgbClr val="2C3E50"/>
                </a:solidFill>
                <a:latin typeface="Calibri"/>
              </a:rPr>
              <a:t>Prepare roadmap for participation in Abuja workshop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Establish a sustainable reporting rhythm:</a:t>
            </a:r>
          </a:p>
          <a:p>
            <a:pPr>
              <a:spcAft>
                <a:spcPts val="800"/>
              </a:spcAft>
            </a:pPr>
            <a:r>
              <a:rPr sz="1800">
                <a:solidFill>
                  <a:srgbClr val="D0CB17"/>
                </a:solidFill>
                <a:latin typeface="Calibri"/>
              </a:rPr>
              <a:t>• </a:t>
            </a:r>
            <a:r>
              <a:rPr sz="1800">
                <a:solidFill>
                  <a:srgbClr val="2C3E50"/>
                </a:solidFill>
                <a:latin typeface="Calibri"/>
              </a:rPr>
              <a:t>Define quarterly report timeline and responsibilities</a:t>
            </a:r>
          </a:p>
          <a:p>
            <a:pPr>
              <a:spcAft>
                <a:spcPts val="800"/>
              </a:spcAft>
            </a:pPr>
            <a:r>
              <a:rPr sz="1800">
                <a:solidFill>
                  <a:srgbClr val="D0CB17"/>
                </a:solidFill>
                <a:latin typeface="Calibri"/>
              </a:rPr>
              <a:t>• </a:t>
            </a:r>
            <a:r>
              <a:rPr sz="1800">
                <a:solidFill>
                  <a:srgbClr val="2C3E50"/>
                </a:solidFill>
                <a:latin typeface="Calibri"/>
              </a:rPr>
              <a:t>Set up data extraction schedule</a:t>
            </a:r>
          </a:p>
          <a:p>
            <a:pPr>
              <a:spcAft>
                <a:spcPts val="800"/>
              </a:spcAft>
            </a:pPr>
            <a:r>
              <a:rPr sz="1800">
                <a:solidFill>
                  <a:srgbClr val="D0CB17"/>
                </a:solidFill>
                <a:latin typeface="Calibri"/>
              </a:rPr>
              <a:t>• </a:t>
            </a:r>
            <a:r>
              <a:rPr sz="1800">
                <a:solidFill>
                  <a:srgbClr val="2C3E50"/>
                </a:solidFill>
                <a:latin typeface="Calibri"/>
              </a:rPr>
              <a:t>Establish review and approval process</a:t>
            </a:r>
          </a:p>
          <a:p>
            <a:pPr>
              <a:spcAft>
                <a:spcPts val="800"/>
              </a:spcAft>
            </a:pPr>
            <a:r>
              <a:rPr sz="1800">
                <a:solidFill>
                  <a:srgbClr val="D0CB17"/>
                </a:solidFill>
                <a:latin typeface="Calibri"/>
              </a:rPr>
              <a:t>• </a:t>
            </a:r>
            <a:r>
              <a:rPr sz="1800">
                <a:solidFill>
                  <a:srgbClr val="2C3E50"/>
                </a:solidFill>
                <a:latin typeface="Calibri"/>
              </a:rPr>
              <a:t>Plan dissemination to stakeholders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Maintain momentum with the FASTR platform:</a:t>
            </a:r>
          </a:p>
          <a:p>
            <a:pPr>
              <a:spcAft>
                <a:spcPts val="800"/>
              </a:spcAft>
            </a:pPr>
            <a:r>
              <a:rPr sz="1800">
                <a:solidFill>
                  <a:srgbClr val="D0CB17"/>
                </a:solidFill>
                <a:latin typeface="Calibri"/>
              </a:rPr>
              <a:t>• </a:t>
            </a:r>
            <a:r>
              <a:rPr sz="1800">
                <a:solidFill>
                  <a:srgbClr val="2C3E50"/>
                </a:solidFill>
                <a:latin typeface="Calibri"/>
              </a:rPr>
              <a:t>Regular data updates and quality checks</a:t>
            </a:r>
          </a:p>
          <a:p>
            <a:pPr>
              <a:spcAft>
                <a:spcPts val="800"/>
              </a:spcAft>
            </a:pPr>
            <a:r>
              <a:rPr sz="1800">
                <a:solidFill>
                  <a:srgbClr val="D0CB17"/>
                </a:solidFill>
                <a:latin typeface="Calibri"/>
              </a:rPr>
              <a:t>• </a:t>
            </a:r>
            <a:r>
              <a:rPr sz="1800">
                <a:solidFill>
                  <a:srgbClr val="2C3E50"/>
                </a:solidFill>
                <a:latin typeface="Calibri"/>
              </a:rPr>
              <a:t>Expanding analysis to additional indicators</a:t>
            </a:r>
          </a:p>
          <a:p>
            <a:pPr>
              <a:spcAft>
                <a:spcPts val="800"/>
              </a:spcAft>
            </a:pPr>
            <a:r>
              <a:rPr sz="1800">
                <a:solidFill>
                  <a:srgbClr val="D0CB17"/>
                </a:solidFill>
                <a:latin typeface="Calibri"/>
              </a:rPr>
              <a:t>• </a:t>
            </a:r>
            <a:r>
              <a:rPr sz="1800">
                <a:solidFill>
                  <a:srgbClr val="2C3E50"/>
                </a:solidFill>
                <a:latin typeface="Calibri"/>
              </a:rPr>
              <a:t>Building capacity across MoH teams</a:t>
            </a:r>
          </a:p>
          <a:p>
            <a:pPr>
              <a:spcAft>
                <a:spcPts val="800"/>
              </a:spcAft>
            </a:pPr>
            <a:r>
              <a:rPr sz="1800">
                <a:solidFill>
                  <a:srgbClr val="D0CB17"/>
                </a:solidFill>
                <a:latin typeface="Calibri"/>
              </a:rPr>
              <a:t>• </a:t>
            </a:r>
            <a:r>
              <a:rPr sz="1800">
                <a:solidFill>
                  <a:srgbClr val="2C3E50"/>
                </a:solidFill>
                <a:latin typeface="Calibri"/>
              </a:rPr>
              <a:t>Documentation of lessons learned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Thank you for your participation!</a:t>
            </a:r>
          </a:p>
          <a:p>
            <a:pPr>
              <a:spcAft>
                <a:spcPts val="1400"/>
              </a:spcAft>
            </a:pPr>
            <a:r>
              <a:rPr sz="1800">
                <a:solidFill>
                  <a:srgbClr val="333333"/>
                </a:solidFill>
                <a:latin typeface="Calibri"/>
              </a:rPr>
              <a:t>Over the past four days, we have:</a:t>
            </a:r>
          </a:p>
          <a:p>
            <a:pPr>
              <a:spcAft>
                <a:spcPts val="800"/>
              </a:spcAft>
            </a:pPr>
            <a:r>
              <a:rPr sz="1800">
                <a:solidFill>
                  <a:srgbClr val="D0CB17"/>
                </a:solidFill>
                <a:latin typeface="Calibri"/>
              </a:rPr>
              <a:t>• </a:t>
            </a:r>
            <a:r>
              <a:rPr sz="1800">
                <a:solidFill>
                  <a:srgbClr val="2C3E50"/>
                </a:solidFill>
                <a:latin typeface="Calibri"/>
              </a:rPr>
              <a:t>Configured the FASTR platform for Zambia</a:t>
            </a:r>
          </a:p>
          <a:p>
            <a:pPr>
              <a:spcAft>
                <a:spcPts val="800"/>
              </a:spcAft>
            </a:pPr>
            <a:r>
              <a:rPr sz="1800">
                <a:solidFill>
                  <a:srgbClr val="D0CB17"/>
                </a:solidFill>
                <a:latin typeface="Calibri"/>
              </a:rPr>
              <a:t>• </a:t>
            </a:r>
            <a:r>
              <a:rPr sz="1800">
                <a:solidFill>
                  <a:srgbClr val="2C3E50"/>
                </a:solidFill>
                <a:latin typeface="Calibri"/>
              </a:rPr>
              <a:t>Created the first quarterly RMNCAH-N report</a:t>
            </a:r>
          </a:p>
          <a:p>
            <a:pPr>
              <a:spcAft>
                <a:spcPts val="800"/>
              </a:spcAft>
            </a:pPr>
            <a:r>
              <a:rPr sz="1800">
                <a:solidFill>
                  <a:srgbClr val="D0CB17"/>
                </a:solidFill>
                <a:latin typeface="Calibri"/>
              </a:rPr>
              <a:t>• </a:t>
            </a:r>
            <a:r>
              <a:rPr sz="1800">
                <a:solidFill>
                  <a:srgbClr val="2C3E50"/>
                </a:solidFill>
                <a:latin typeface="Calibri"/>
              </a:rPr>
              <a:t>Adapted the HFA questionnaire for local context</a:t>
            </a:r>
          </a:p>
          <a:p>
            <a:pPr>
              <a:spcAft>
                <a:spcPts val="800"/>
              </a:spcAft>
            </a:pPr>
            <a:r>
              <a:rPr sz="1800">
                <a:solidFill>
                  <a:srgbClr val="D0CB17"/>
                </a:solidFill>
                <a:latin typeface="Calibri"/>
              </a:rPr>
              <a:t>• </a:t>
            </a:r>
            <a:r>
              <a:rPr sz="1800">
                <a:solidFill>
                  <a:srgbClr val="2C3E50"/>
                </a:solidFill>
                <a:latin typeface="Calibri"/>
              </a:rPr>
              <a:t>Built capacity for ongoing analysis and reporting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Continue the journey:</a:t>
            </a:r>
          </a:p>
          <a:p>
            <a:pPr>
              <a:spcAft>
                <a:spcPts val="800"/>
              </a:spcAft>
            </a:pPr>
            <a:r>
              <a:rPr sz="1800">
                <a:solidFill>
                  <a:srgbClr val="D0CB17"/>
                </a:solidFill>
                <a:latin typeface="Calibri"/>
              </a:rPr>
              <a:t>• </a:t>
            </a:r>
            <a:r>
              <a:rPr sz="1800">
                <a:solidFill>
                  <a:srgbClr val="2C3E50"/>
                </a:solidFill>
                <a:latin typeface="Calibri"/>
              </a:rPr>
              <a:t>Platform access and support</a:t>
            </a:r>
          </a:p>
          <a:p>
            <a:pPr>
              <a:spcAft>
                <a:spcPts val="800"/>
              </a:spcAft>
            </a:pPr>
            <a:r>
              <a:rPr sz="1800">
                <a:solidFill>
                  <a:srgbClr val="D0CB17"/>
                </a:solidFill>
                <a:latin typeface="Calibri"/>
              </a:rPr>
              <a:t>• </a:t>
            </a:r>
            <a:r>
              <a:rPr sz="1800">
                <a:solidFill>
                  <a:srgbClr val="2C3E50"/>
                </a:solidFill>
                <a:latin typeface="Calibri"/>
              </a:rPr>
              <a:t>Quarterly report submissions</a:t>
            </a:r>
          </a:p>
          <a:p>
            <a:pPr>
              <a:spcAft>
                <a:spcPts val="800"/>
              </a:spcAft>
            </a:pPr>
            <a:r>
              <a:rPr sz="1800">
                <a:solidFill>
                  <a:srgbClr val="D0CB17"/>
                </a:solidFill>
                <a:latin typeface="Calibri"/>
              </a:rPr>
              <a:t>• </a:t>
            </a:r>
            <a:r>
              <a:rPr sz="1800">
                <a:solidFill>
                  <a:srgbClr val="2C3E50"/>
                </a:solidFill>
                <a:latin typeface="Calibri"/>
              </a:rPr>
              <a:t>Multi-country workshop in Abuja</a:t>
            </a:r>
          </a:p>
          <a:p>
            <a:pPr>
              <a:spcAft>
                <a:spcPts val="800"/>
              </a:spcAft>
            </a:pPr>
            <a:r>
              <a:rPr sz="1800">
                <a:solidFill>
                  <a:srgbClr val="D0CB17"/>
                </a:solidFill>
                <a:latin typeface="Calibri"/>
              </a:rPr>
              <a:t>• </a:t>
            </a:r>
            <a:r>
              <a:rPr sz="1800">
                <a:solidFill>
                  <a:srgbClr val="2C3E50"/>
                </a:solidFill>
                <a:latin typeface="Calibri"/>
              </a:rPr>
              <a:t>Ongoing technical assistance from GFF team</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Calibri"/>
              </a:rPr>
              <a:t>FASTR Working Session - Zambia</a:t>
            </a:r>
          </a:p>
          <a:p>
            <a:pPr>
              <a:spcAft>
                <a:spcPts val="1400"/>
              </a:spcAft>
            </a:pPr>
            <a:r>
              <a:rPr sz="1800">
                <a:solidFill>
                  <a:srgbClr val="333333"/>
                </a:solidFill>
                <a:latin typeface="Calibri"/>
              </a:rPr>
              <a:t>January 27-30, 2026</a:t>
            </a:r>
          </a:p>
          <a:p>
            <a:pPr>
              <a:spcAft>
                <a:spcPts val="1400"/>
              </a:spcAft>
            </a:pPr>
            <a:r>
              <a:rPr sz="1800">
                <a:solidFill>
                  <a:srgbClr val="333333"/>
                </a:solidFill>
                <a:latin typeface="Calibri"/>
              </a:rPr>
              <a:t>Lusaka</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Calibri"/>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Calibri"/>
              </a:rPr>
              <a:t>FASTR Team</a:t>
            </a:r>
          </a:p>
          <a:p>
            <a:pPr>
              <a:spcAft>
                <a:spcPts val="1400"/>
              </a:spcAft>
            </a:pPr>
            <a:r>
              <a:rPr sz="1800" b="1">
                <a:solidFill>
                  <a:srgbClr val="21568C"/>
                </a:solidFill>
                <a:latin typeface="Calibri"/>
              </a:rPr>
              <a:t>Email:</a:t>
            </a:r>
          </a:p>
          <a:p>
            <a:pPr>
              <a:spcAft>
                <a:spcPts val="1400"/>
              </a:spcAft>
            </a:pPr>
            <a:r>
              <a:rPr sz="1800" b="1">
                <a:solidFill>
                  <a:srgbClr val="21568C"/>
                </a:solidFill>
                <a:latin typeface="Calibri"/>
              </a:rPr>
              <a:t>Website:</a:t>
            </a:r>
            <a:r>
              <a:rPr sz="1800">
                <a:solidFill>
                  <a:srgbClr val="333333"/>
                </a:solidFill>
                <a:latin typeface="Calibri"/>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