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926080"/>
            <a:ext cx="10362895" cy="1097280"/>
          </a:xfrm>
          <a:prstGeom prst="rect">
            <a:avLst/>
          </a:prstGeom>
          <a:noFill/>
        </p:spPr>
        <p:txBody>
          <a:bodyPr wrap="square"/>
          <a:lstStyle/>
          <a:p>
            <a:pPr algn="ctr">
              <a:defRPr sz="2800" b="1" i="0">
                <a:solidFill>
                  <a:srgbClr val="FFFFFF"/>
                </a:solidFill>
                <a:latin typeface="Poppins"/>
              </a:defRPr>
            </a:pPr>
            <a:r>
              <a:t>In-Country Working Session: FASTR Implementation &amp; RMNCAH-N Service Monitoring Analysis</a:t>
            </a:r>
          </a:p>
        </p:txBody>
      </p:sp>
      <p:sp>
        <p:nvSpPr>
          <p:cNvPr id="4" name="Rectangle 3"/>
          <p:cNvSpPr/>
          <p:nvPr/>
        </p:nvSpPr>
        <p:spPr>
          <a:xfrm>
            <a:off x="2743200" y="4114800"/>
            <a:ext cx="6705295"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389120"/>
            <a:ext cx="10362895" cy="457200"/>
          </a:xfrm>
          <a:prstGeom prst="rect">
            <a:avLst/>
          </a:prstGeom>
          <a:noFill/>
        </p:spPr>
        <p:txBody>
          <a:bodyPr wrap="square"/>
          <a:lstStyle/>
          <a:p>
            <a:pPr algn="ctr">
              <a:defRPr sz="2200" b="0" i="0">
                <a:solidFill>
                  <a:srgbClr val="F0F0F0"/>
                </a:solidFill>
                <a:latin typeface="Poppins"/>
              </a:defRPr>
            </a:pPr>
            <a:r>
              <a:t>January 27-30, 2026 | Lusaka</a:t>
            </a:r>
          </a:p>
        </p:txBody>
      </p:sp>
      <p:sp>
        <p:nvSpPr>
          <p:cNvPr id="6" name="TextBox 5"/>
          <p:cNvSpPr txBox="1"/>
          <p:nvPr/>
        </p:nvSpPr>
        <p:spPr>
          <a:xfrm>
            <a:off x="914400" y="4937760"/>
            <a:ext cx="10362895" cy="365760"/>
          </a:xfrm>
          <a:prstGeom prst="rect">
            <a:avLst/>
          </a:prstGeom>
          <a:noFill/>
        </p:spPr>
        <p:txBody>
          <a:bodyPr wrap="square"/>
          <a:lstStyle/>
          <a:p>
            <a:pPr algn="ctr">
              <a:defRPr sz="1800" b="0" i="0">
                <a:solidFill>
                  <a:srgbClr val="E0E0E0"/>
                </a:solidFill>
                <a:latin typeface="Poppins"/>
              </a:defRPr>
            </a:pPr>
            <a:br/>
            <a:b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Overview of agenda, workshop objectives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09:35-10:30</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10:30-11:30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11:30-12:30</a:t>
                      </a:r>
                    </a:p>
                  </a:txBody>
                  <a:tcPr/>
                </a:tc>
                <a:tc>
                  <a:txBody>
                    <a:bodyPr wrap="square"/>
                    <a:lstStyle/>
                    <a:p>
                      <a:r>
                        <a:rPr sz="1200">
                          <a:solidFill>
                            <a:srgbClr val="2C3E50"/>
                          </a:solidFill>
                          <a:latin typeface="Poppins"/>
                        </a:rPr>
                        <a:t>Introduction to the FASTR analytics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a:txBody>
                    <a:bodyPr wrap="square"/>
                    <a:lstStyle/>
                    <a:p>
                      <a:r>
                        <a:rPr sz="1200">
                          <a:solidFill>
                            <a:srgbClr val="2C3E50"/>
                          </a:solidFill>
                          <a:latin typeface="Poppins"/>
                        </a:rPr>
                        <a:t>14:00-14:30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3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Approaches to support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Creating short and long reports with country context</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report creation with country context</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Present reports, group feedback</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Prepare MoH for participation in the multi-country workshop</a:t>
            </a:r>
          </a:p>
          <a:p>
            <a:pPr>
              <a:spcAft>
                <a:spcPts val="800"/>
              </a:spcAft>
            </a:pPr>
            <a:r>
              <a:rPr sz="1800">
                <a:solidFill>
                  <a:srgbClr val="D0CB17"/>
                </a:solidFill>
                <a:latin typeface="Poppins"/>
              </a:rPr>
              <a:t>• </a:t>
            </a:r>
            <a:r>
              <a:rPr sz="1800">
                <a:solidFill>
                  <a:srgbClr val="2C3E50"/>
                </a:solidFill>
                <a:latin typeface="Poppins"/>
              </a:rPr>
              <a:t>Strengthen capacity for disruption analysis and data extraction</a:t>
            </a:r>
          </a:p>
          <a:p>
            <a:pPr>
              <a:spcAft>
                <a:spcPts val="800"/>
              </a:spcAft>
            </a:pPr>
            <a:r>
              <a:rPr sz="1800">
                <a:solidFill>
                  <a:srgbClr val="D0CB17"/>
                </a:solidFill>
                <a:latin typeface="Poppins"/>
              </a:rPr>
              <a:t>• </a:t>
            </a:r>
            <a:r>
              <a:rPr sz="1800">
                <a:solidFill>
                  <a:srgbClr val="2C3E50"/>
                </a:solidFill>
                <a:latin typeface="Poppins"/>
              </a:rPr>
              <a:t>Configure the FASTR analytics platform for Zambia</a:t>
            </a:r>
          </a:p>
          <a:p>
            <a:pPr>
              <a:spcAft>
                <a:spcPts val="800"/>
              </a:spcAft>
            </a:pPr>
            <a:r>
              <a:rPr sz="1800">
                <a:solidFill>
                  <a:srgbClr val="D0CB17"/>
                </a:solidFill>
                <a:latin typeface="Poppins"/>
              </a:rPr>
              <a:t>• </a:t>
            </a:r>
            <a:r>
              <a:rPr sz="1800">
                <a:solidFill>
                  <a:srgbClr val="2C3E50"/>
                </a:solidFill>
                <a:latin typeface="Poppins"/>
              </a:rPr>
              <a:t>Produce the first quarterly report</a:t>
            </a:r>
          </a:p>
          <a:p>
            <a:pPr>
              <a:spcAft>
                <a:spcPts val="800"/>
              </a:spcAft>
            </a:pPr>
            <a:r>
              <a:rPr sz="1800">
                <a:solidFill>
                  <a:srgbClr val="D0CB17"/>
                </a:solidFill>
                <a:latin typeface="Poppins"/>
              </a:rPr>
              <a:t>• </a:t>
            </a:r>
            <a:r>
              <a:rPr sz="1800">
                <a:solidFill>
                  <a:srgbClr val="2C3E50"/>
                </a:solidFill>
                <a:latin typeface="Poppins"/>
              </a:rPr>
              <a:t>Adapt the phone survey questionnaire to the Zambian context</a:t>
            </a:r>
          </a:p>
          <a:p>
            <a:pPr>
              <a:spcAft>
                <a:spcPts val="800"/>
              </a:spcAft>
            </a:pPr>
            <a:r>
              <a:rPr sz="1800">
                <a:solidFill>
                  <a:srgbClr val="D0CB17"/>
                </a:solidFill>
                <a:latin typeface="Poppins"/>
              </a:rPr>
              <a:t>• </a:t>
            </a:r>
            <a:r>
              <a:rPr sz="1800">
                <a:solidFill>
                  <a:srgbClr val="2C3E50"/>
                </a:solidFill>
                <a:latin typeface="Poppins"/>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Bef>
                <a:spcPts val="800"/>
              </a:spcBef>
              <a:spcAft>
                <a:spcPts val="1000"/>
              </a:spcAft>
              <a:defRPr sz="2200" b="1" i="0">
                <a:solidFill>
                  <a:srgbClr val="BD5091"/>
                </a:solidFill>
                <a:latin typeface="Poppins"/>
              </a:defRPr>
            </a:pPr>
            <a: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a:p>
            <a:pPr>
              <a:spcBef>
                <a:spcPts val="800"/>
              </a:spcBef>
              <a:spcAft>
                <a:spcPts val="1000"/>
              </a:spcAft>
              <a:defRPr sz="2200" b="1" i="0">
                <a:solidFill>
                  <a:srgbClr val="BD5091"/>
                </a:solidFill>
                <a:latin typeface="Poppins"/>
              </a:defRPr>
            </a:pPr>
            <a:r>
              <a:t>Capacity Building</a:t>
            </a:r>
          </a:p>
          <a:p>
            <a:pPr>
              <a:spcAft>
                <a:spcPts val="800"/>
              </a:spcAft>
            </a:pPr>
            <a:r>
              <a:rPr sz="1800">
                <a:solidFill>
                  <a:srgbClr val="D0CB17"/>
                </a:solidFill>
                <a:latin typeface="Poppins"/>
              </a:rPr>
              <a:t>• </a:t>
            </a:r>
            <a:r>
              <a:rPr sz="1800">
                <a:solidFill>
                  <a:srgbClr val="2C3E50"/>
                </a:solidFill>
                <a:latin typeface="Poppins"/>
              </a:rPr>
              <a:t>Training on data downloader for all with DHIS2 access</a:t>
            </a:r>
          </a:p>
          <a:p>
            <a:pPr>
              <a:spcAft>
                <a:spcPts val="800"/>
              </a:spcAft>
            </a:pPr>
            <a:r>
              <a:rPr sz="1800">
                <a:solidFill>
                  <a:srgbClr val="D0CB17"/>
                </a:solidFill>
                <a:latin typeface="Poppins"/>
              </a:rPr>
              <a:t>• </a:t>
            </a:r>
            <a:r>
              <a:rPr sz="1800">
                <a:solidFill>
                  <a:srgbClr val="2C3E50"/>
                </a:solidFill>
                <a:latin typeface="Poppins"/>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Adapted phone survey questionnaire</a:t>
            </a:r>
          </a:p>
          <a:p>
            <a:pPr>
              <a:spcAft>
                <a:spcPts val="800"/>
              </a:spcAft>
            </a:pPr>
            <a:r>
              <a:rPr sz="1800">
                <a:solidFill>
                  <a:srgbClr val="D0CB17"/>
                </a:solidFill>
                <a:latin typeface="Poppins"/>
              </a:rPr>
              <a:t>• </a:t>
            </a:r>
            <a:r>
              <a:rPr sz="1800">
                <a:solidFill>
                  <a:srgbClr val="2C3E50"/>
                </a:solidFill>
                <a:latin typeface="Poppins"/>
              </a:rPr>
              <a:t>First quarterly report draft</a:t>
            </a:r>
          </a:p>
          <a:p>
            <a:pPr>
              <a:spcAft>
                <a:spcPts val="800"/>
              </a:spcAft>
            </a:pPr>
            <a:r>
              <a:rPr sz="1800">
                <a:solidFill>
                  <a:srgbClr val="D0CB17"/>
                </a:solidFill>
                <a:latin typeface="Poppins"/>
              </a:rPr>
              <a:t>• </a:t>
            </a:r>
            <a:r>
              <a:rPr sz="1800">
                <a:solidFill>
                  <a:srgbClr val="2C3E50"/>
                </a:solidFill>
                <a:latin typeface="Poppins"/>
              </a:rPr>
              <a:t>Trained MoH team on data downloader tools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 Overview of the FASTR approach</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3017520"/>
          </a:xfrm>
          <a:prstGeom prst="rect">
            <a:avLst/>
          </a:prstGeom>
          <a:noFill/>
        </p:spPr>
        <p:txBody>
          <a:bodyPr wrap="square">
            <a:spAutoFit/>
          </a:bodyPr>
          <a:lstStyle/>
          <a:p>
            <a:pPr>
              <a:spcAft>
                <a:spcPts val="1200"/>
              </a:spcAft>
            </a:pPr>
            <a:r>
              <a:rPr sz="1800">
                <a:solidFill>
                  <a:srgbClr val="333333"/>
                </a:solidFill>
                <a:latin typeface="Poppins"/>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Poppins"/>
              </a:rPr>
              <a:t>Frequent Assessments and Health System Tools for Resilience (FASTR)</a:t>
            </a:r>
            <a:r>
              <a:rPr sz="1800">
                <a:solidFill>
                  <a:srgbClr val="333333"/>
                </a:solidFill>
                <a:latin typeface="Poppins"/>
              </a:rPr>
              <a:t> is the GFF's rapid-cycle analytics framework for monitoring health system performance using high-frequency data.</a:t>
            </a:r>
          </a:p>
          <a:p>
            <a:pPr>
              <a:spcAft>
                <a:spcPts val="1200"/>
              </a:spcAft>
            </a:pPr>
            <a:r>
              <a:rPr sz="1800">
                <a:solidFill>
                  <a:srgbClr val="333333"/>
                </a:solidFill>
                <a:latin typeface="Poppins"/>
              </a:rPr>
              <a:t>FASTR brings together four complementary technical approaches:</a:t>
            </a:r>
          </a:p>
          <a:p>
            <a:pPr>
              <a:spcAft>
                <a:spcPts val="800"/>
              </a:spcAft>
            </a:pPr>
            <a:r>
              <a:rPr sz="1800">
                <a:solidFill>
                  <a:srgbClr val="D0CB17"/>
                </a:solidFill>
                <a:latin typeface="Poppins"/>
              </a:rPr>
              <a:t>• </a:t>
            </a:r>
            <a:r>
              <a:rPr sz="1800">
                <a:solidFill>
                  <a:srgbClr val="2C3E50"/>
                </a:solidFill>
                <a:latin typeface="Poppins"/>
              </a:rPr>
              <a:t>Routine HMIS data analysis</a:t>
            </a:r>
          </a:p>
          <a:p>
            <a:pPr>
              <a:spcAft>
                <a:spcPts val="800"/>
              </a:spcAft>
            </a:pPr>
            <a:r>
              <a:rPr sz="1800">
                <a:solidFill>
                  <a:srgbClr val="D0CB17"/>
                </a:solidFill>
                <a:latin typeface="Poppins"/>
              </a:rPr>
              <a:t>• </a:t>
            </a:r>
            <a:r>
              <a:rPr sz="1800">
                <a:solidFill>
                  <a:srgbClr val="2C3E50"/>
                </a:solidFill>
                <a:latin typeface="Poppins"/>
              </a:rPr>
              <a:t>Health facility phone surveys</a:t>
            </a:r>
          </a:p>
          <a:p>
            <a:pPr>
              <a:spcAft>
                <a:spcPts val="800"/>
              </a:spcAft>
            </a:pPr>
            <a:r>
              <a:rPr sz="1800">
                <a:solidFill>
                  <a:srgbClr val="D0CB17"/>
                </a:solidFill>
                <a:latin typeface="Poppins"/>
              </a:rPr>
              <a:t>• </a:t>
            </a:r>
            <a:r>
              <a:rPr sz="1800">
                <a:solidFill>
                  <a:srgbClr val="2C3E50"/>
                </a:solidFill>
                <a:latin typeface="Poppins"/>
              </a:rPr>
              <a:t>High-frequency household phone surveys</a:t>
            </a:r>
          </a:p>
          <a:p>
            <a:pPr>
              <a:spcAft>
                <a:spcPts val="800"/>
              </a:spcAft>
            </a:pPr>
            <a:r>
              <a:rPr sz="1800">
                <a:solidFill>
                  <a:srgbClr val="D0CB17"/>
                </a:solidFill>
                <a:latin typeface="Poppins"/>
              </a:rPr>
              <a:t>• </a:t>
            </a:r>
            <a:r>
              <a:rPr sz="1800">
                <a:solidFill>
                  <a:srgbClr val="2C3E50"/>
                </a:solidFill>
                <a:latin typeface="Poppins"/>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5029200" y="1280160"/>
            <a:ext cx="6400800" cy="33174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920240"/>
          </a:xfrm>
          <a:prstGeom prst="rect">
            <a:avLst/>
          </a:prstGeom>
          <a:noFill/>
        </p:spPr>
        <p:txBody>
          <a:bodyPr wrap="square">
            <a:spAutoFit/>
          </a:bodyPr>
          <a:lstStyle/>
          <a:p>
            <a:pPr>
              <a:spcAft>
                <a:spcPts val="1200"/>
              </a:spcAft>
            </a:pPr>
            <a:r>
              <a:rPr sz="1800">
                <a:solidFill>
                  <a:srgbClr val="333333"/>
                </a:solidFill>
                <a:latin typeface="Poppins"/>
              </a:rPr>
              <a:t>Rapid-cycle approaches using routine HMIS data can:</a:t>
            </a:r>
          </a:p>
          <a:p>
            <a:pPr>
              <a:spcAft>
                <a:spcPts val="800"/>
              </a:spcAft>
            </a:pPr>
            <a:r>
              <a:rPr sz="1800">
                <a:solidFill>
                  <a:srgbClr val="D0CB17"/>
                </a:solidFill>
                <a:latin typeface="Poppins"/>
              </a:rPr>
              <a:t>• </a:t>
            </a:r>
            <a:r>
              <a:rPr sz="1800" b="1">
                <a:solidFill>
                  <a:srgbClr val="21568C"/>
                </a:solidFill>
                <a:latin typeface="Poppins"/>
              </a:rPr>
              <a:t>Evaluate HMIS data quality</a:t>
            </a:r>
            <a:r>
              <a:rPr sz="1800">
                <a:solidFill>
                  <a:srgbClr val="2C3E50"/>
                </a:solidFill>
                <a:latin typeface="Poppins"/>
              </a:rPr>
              <a:t> at national and sub-national levels</a:t>
            </a:r>
          </a:p>
          <a:p>
            <a:pPr>
              <a:spcAft>
                <a:spcPts val="800"/>
              </a:spcAft>
            </a:pPr>
            <a:r>
              <a:rPr sz="1800">
                <a:solidFill>
                  <a:srgbClr val="D0CB17"/>
                </a:solidFill>
                <a:latin typeface="Poppins"/>
              </a:rPr>
              <a:t>• </a:t>
            </a:r>
            <a:r>
              <a:rPr sz="1800" b="1">
                <a:solidFill>
                  <a:srgbClr val="21568C"/>
                </a:solidFill>
                <a:latin typeface="Poppins"/>
              </a:rPr>
              <a:t>Measure monthly changes</a:t>
            </a:r>
            <a:r>
              <a:rPr sz="1800">
                <a:solidFill>
                  <a:srgbClr val="2C3E50"/>
                </a:solidFill>
                <a:latin typeface="Poppins"/>
              </a:rPr>
              <a:t> in health service utilization</a:t>
            </a:r>
          </a:p>
          <a:p>
            <a:pPr>
              <a:spcAft>
                <a:spcPts val="800"/>
              </a:spcAft>
            </a:pPr>
            <a:r>
              <a:rPr sz="1800">
                <a:solidFill>
                  <a:srgbClr val="D0CB17"/>
                </a:solidFill>
                <a:latin typeface="Poppins"/>
              </a:rPr>
              <a:t>• </a:t>
            </a:r>
            <a:r>
              <a:rPr sz="1800" b="1">
                <a:solidFill>
                  <a:srgbClr val="21568C"/>
                </a:solidFill>
                <a:latin typeface="Poppins"/>
              </a:rPr>
              <a:t>Compare coverage trends</a:t>
            </a:r>
            <a:r>
              <a:rPr sz="1800">
                <a:solidFill>
                  <a:srgbClr val="2C3E50"/>
                </a:solidFill>
                <a:latin typeface="Poppins"/>
              </a:rPr>
              <a:t> with country targets</a:t>
            </a:r>
          </a:p>
        </p:txBody>
      </p:sp>
      <p:pic>
        <p:nvPicPr>
          <p:cNvPr id="5" name="Picture 4" descr="HMIS_data_flow.png"/>
          <p:cNvPicPr>
            <a:picLocks noChangeAspect="1"/>
          </p:cNvPicPr>
          <p:nvPr/>
        </p:nvPicPr>
        <p:blipFill>
          <a:blip r:embed="rId2"/>
          <a:stretch>
            <a:fillRect/>
          </a:stretch>
        </p:blipFill>
        <p:spPr>
          <a:xfrm>
            <a:off x="5029200" y="1280160"/>
            <a:ext cx="6400800" cy="134416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2286000"/>
          </a:xfrm>
          <a:prstGeom prst="rect">
            <a:avLst/>
          </a:prstGeom>
          <a:noFill/>
        </p:spPr>
        <p:txBody>
          <a:bodyPr wrap="square">
            <a:spAutoFit/>
          </a:bodyPr>
          <a:lstStyle/>
          <a:p>
            <a:pPr>
              <a:spcAft>
                <a:spcPts val="1200"/>
              </a:spcAft>
            </a:pPr>
            <a:r>
              <a:rPr sz="1800">
                <a:solidFill>
                  <a:srgbClr val="333333"/>
                </a:solidFill>
                <a:latin typeface="Poppins"/>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Poppins"/>
              </a:rPr>
              <a:t>FASTR's rapid-cycle analytics address this gap by providing:</a:t>
            </a:r>
          </a:p>
          <a:p>
            <a:pPr>
              <a:spcAft>
                <a:spcPts val="800"/>
              </a:spcAft>
            </a:pPr>
            <a:r>
              <a:rPr sz="1800">
                <a:solidFill>
                  <a:srgbClr val="D0CB17"/>
                </a:solidFill>
                <a:latin typeface="Poppins"/>
              </a:rPr>
              <a:t>• </a:t>
            </a:r>
            <a:r>
              <a:rPr sz="1800">
                <a:solidFill>
                  <a:srgbClr val="2C3E50"/>
                </a:solidFill>
                <a:latin typeface="Poppins"/>
              </a:rPr>
              <a:t>Timely insights aligned with country decision cycles</a:t>
            </a:r>
          </a:p>
          <a:p>
            <a:pPr>
              <a:spcAft>
                <a:spcPts val="800"/>
              </a:spcAft>
            </a:pPr>
            <a:r>
              <a:rPr sz="1800">
                <a:solidFill>
                  <a:srgbClr val="D0CB17"/>
                </a:solidFill>
                <a:latin typeface="Poppins"/>
              </a:rPr>
              <a:t>• </a:t>
            </a:r>
            <a:r>
              <a:rPr sz="1800">
                <a:solidFill>
                  <a:srgbClr val="2C3E50"/>
                </a:solidFill>
                <a:latin typeface="Poppins"/>
              </a:rPr>
              <a:t>Continuous learning rather than one-off assessments</a:t>
            </a:r>
          </a:p>
          <a:p>
            <a:pPr>
              <a:spcAft>
                <a:spcPts val="800"/>
              </a:spcAft>
            </a:pPr>
            <a:r>
              <a:rPr sz="1800">
                <a:solidFill>
                  <a:srgbClr val="D0CB17"/>
                </a:solidFill>
                <a:latin typeface="Poppins"/>
              </a:rPr>
              <a:t>• </a:t>
            </a:r>
            <a:r>
              <a:rPr sz="1800">
                <a:solidFill>
                  <a:srgbClr val="2C3E50"/>
                </a:solidFill>
                <a:latin typeface="Poppins"/>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5029200" y="1280160"/>
            <a:ext cx="6400800" cy="323481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2651760"/>
          </a:xfrm>
          <a:prstGeom prst="rect">
            <a:avLst/>
          </a:prstGeom>
          <a:noFill/>
        </p:spPr>
        <p:txBody>
          <a:bodyPr wrap="square">
            <a:spAutoFit/>
          </a:bodyPr>
          <a:lstStyle/>
          <a:p>
            <a:pPr>
              <a:spcAft>
                <a:spcPts val="1200"/>
              </a:spcAft>
            </a:pPr>
            <a:r>
              <a:rPr sz="1800">
                <a:solidFill>
                  <a:srgbClr val="333333"/>
                </a:solidFill>
                <a:latin typeface="Poppins"/>
              </a:rPr>
              <a:t>### Core indicators</a:t>
            </a:r>
          </a:p>
          <a:p>
            <a:pPr>
              <a:spcAft>
                <a:spcPts val="1200"/>
              </a:spcAft>
            </a:pPr>
            <a:r>
              <a:rPr sz="1800">
                <a:solidFill>
                  <a:srgbClr val="333333"/>
                </a:solidFill>
                <a:latin typeface="Poppins"/>
              </a:rPr>
              <a:t>FASTR prioritizes a core set of RMNCAH-N indicators that:</a:t>
            </a:r>
          </a:p>
          <a:p>
            <a:pPr>
              <a:spcAft>
                <a:spcPts val="800"/>
              </a:spcAft>
            </a:pPr>
            <a:r>
              <a:rPr sz="1800">
                <a:solidFill>
                  <a:srgbClr val="D0CB17"/>
                </a:solidFill>
                <a:latin typeface="Poppins"/>
              </a:rPr>
              <a:t>• </a:t>
            </a:r>
            <a:r>
              <a:rPr sz="1800">
                <a:solidFill>
                  <a:srgbClr val="2C3E50"/>
                </a:solidFill>
                <a:latin typeface="Poppins"/>
              </a:rPr>
              <a:t>Represent key service delivery contacts across the continuum of care</a:t>
            </a:r>
          </a:p>
          <a:p>
            <a:pPr>
              <a:spcAft>
                <a:spcPts val="800"/>
              </a:spcAft>
            </a:pPr>
            <a:r>
              <a:rPr sz="1800">
                <a:solidFill>
                  <a:srgbClr val="D0CB17"/>
                </a:solidFill>
                <a:latin typeface="Poppins"/>
              </a:rPr>
              <a:t>• </a:t>
            </a:r>
            <a:r>
              <a:rPr sz="1800">
                <a:solidFill>
                  <a:srgbClr val="2C3E50"/>
                </a:solidFill>
                <a:latin typeface="Poppins"/>
              </a:rPr>
              <a:t>Have relatively high reporting completeness and volumes</a:t>
            </a:r>
          </a:p>
          <a:p>
            <a:pPr>
              <a:spcAft>
                <a:spcPts val="800"/>
              </a:spcAft>
            </a:pPr>
            <a:r>
              <a:rPr sz="1800">
                <a:solidFill>
                  <a:srgbClr val="D0CB17"/>
                </a:solidFill>
                <a:latin typeface="Poppins"/>
              </a:rPr>
              <a:t>• </a:t>
            </a:r>
            <a:r>
              <a:rPr sz="1800">
                <a:solidFill>
                  <a:srgbClr val="2C3E50"/>
                </a:solidFill>
                <a:latin typeface="Poppins"/>
              </a:rPr>
              <a:t>Serve as proxies for broader service delivery performance</a:t>
            </a:r>
          </a:p>
          <a:p>
            <a:pPr>
              <a:spcAft>
                <a:spcPts val="1200"/>
              </a:spcAft>
            </a:pPr>
            <a:r>
              <a:rPr sz="1800" b="1">
                <a:solidFill>
                  <a:srgbClr val="21568C"/>
                </a:solidFill>
                <a:latin typeface="Poppins"/>
              </a:rPr>
              <a:t>The indicator set can be expanded to reflect country-specific priorities.</a:t>
            </a:r>
          </a:p>
        </p:txBody>
      </p:sp>
      <p:sp>
        <p:nvSpPr>
          <p:cNvPr id="5" name="TextBox 4"/>
          <p:cNvSpPr txBox="1"/>
          <p:nvPr/>
        </p:nvSpPr>
        <p:spPr>
          <a:xfrm>
            <a:off x="6400800" y="1280160"/>
            <a:ext cx="5303520" cy="2651760"/>
          </a:xfrm>
          <a:prstGeom prst="rect">
            <a:avLst/>
          </a:prstGeom>
          <a:noFill/>
        </p:spPr>
        <p:txBody>
          <a:bodyPr wrap="square">
            <a:spAutoFit/>
          </a:bodyPr>
          <a:lstStyle/>
          <a:p>
            <a:pPr>
              <a:spcAft>
                <a:spcPts val="1200"/>
              </a:spcAft>
            </a:pPr>
            <a:r>
              <a:rPr sz="1800">
                <a:solidFill>
                  <a:srgbClr val="333333"/>
                </a:solidFill>
                <a:latin typeface="Poppins"/>
              </a:rPr>
              <a:t>### Core data quality metrics</a:t>
            </a:r>
          </a:p>
          <a:p>
            <a:pPr>
              <a:spcAft>
                <a:spcPts val="1200"/>
              </a:spcAft>
            </a:pPr>
            <a:r>
              <a:rPr sz="1800">
                <a:solidFill>
                  <a:srgbClr val="333333"/>
                </a:solidFill>
                <a:latin typeface="Poppins"/>
              </a:rPr>
              <a:t>Analysis is anchored in a standardized set of data quality metrics:</a:t>
            </a:r>
          </a:p>
          <a:p>
            <a:pPr>
              <a:spcAft>
                <a:spcPts val="800"/>
              </a:spcAft>
            </a:pPr>
            <a:r>
              <a:rPr sz="1800">
                <a:solidFill>
                  <a:srgbClr val="D0CB17"/>
                </a:solidFill>
                <a:latin typeface="Poppins"/>
              </a:rPr>
              <a:t>• </a:t>
            </a:r>
            <a:r>
              <a:rPr sz="1800">
                <a:solidFill>
                  <a:srgbClr val="2C3E50"/>
                </a:solidFill>
                <a:latin typeface="Poppins"/>
              </a:rPr>
              <a:t>Reporting completeness</a:t>
            </a:r>
          </a:p>
          <a:p>
            <a:pPr>
              <a:spcAft>
                <a:spcPts val="800"/>
              </a:spcAft>
            </a:pPr>
            <a:r>
              <a:rPr sz="1800">
                <a:solidFill>
                  <a:srgbClr val="D0CB17"/>
                </a:solidFill>
                <a:latin typeface="Poppins"/>
              </a:rPr>
              <a:t>• </a:t>
            </a:r>
            <a:r>
              <a:rPr sz="1800">
                <a:solidFill>
                  <a:srgbClr val="2C3E50"/>
                </a:solidFill>
                <a:latin typeface="Poppins"/>
              </a:rPr>
              <a:t>Extreme value (outlier) detection</a:t>
            </a:r>
          </a:p>
          <a:p>
            <a:pPr>
              <a:spcAft>
                <a:spcPts val="800"/>
              </a:spcAft>
            </a:pPr>
            <a:r>
              <a:rPr sz="1800">
                <a:solidFill>
                  <a:srgbClr val="D0CB17"/>
                </a:solidFill>
                <a:latin typeface="Poppins"/>
              </a:rPr>
              <a:t>• </a:t>
            </a:r>
            <a:r>
              <a:rPr sz="1800">
                <a:solidFill>
                  <a:srgbClr val="2C3E50"/>
                </a:solidFill>
                <a:latin typeface="Poppins"/>
              </a:rPr>
              <a:t>Consistency across related indicators</a:t>
            </a:r>
          </a:p>
          <a:p>
            <a:pPr>
              <a:spcAft>
                <a:spcPts val="1200"/>
              </a:spcAft>
            </a:pPr>
            <a:r>
              <a:rPr sz="1800" b="1">
                <a:solidFill>
                  <a:srgbClr val="21568C"/>
                </a:solidFill>
                <a:latin typeface="Poppins"/>
              </a:rPr>
              <a:t>These metrics are summarized into an overall data quality 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2: HMIS data extraction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Poppins"/>
              </a:rPr>
              <a:t>The FASTR methodology includes specific approaches to:</a:t>
            </a:r>
          </a:p>
          <a:p>
            <a:pPr>
              <a:spcAft>
                <a:spcPts val="800"/>
              </a:spcAft>
            </a:pPr>
            <a:r>
              <a:rPr sz="1800">
                <a:solidFill>
                  <a:srgbClr val="D0CB17"/>
                </a:solidFill>
                <a:latin typeface="Poppins"/>
              </a:rPr>
              <a:t>• </a:t>
            </a:r>
            <a:r>
              <a:rPr sz="1800">
                <a:solidFill>
                  <a:srgbClr val="2C3E50"/>
                </a:solidFill>
                <a:latin typeface="Poppins"/>
              </a:rPr>
              <a:t>Identify and adjust for outliers</a:t>
            </a:r>
          </a:p>
          <a:p>
            <a:pPr>
              <a:spcAft>
                <a:spcPts val="800"/>
              </a:spcAft>
            </a:pPr>
            <a:r>
              <a:rPr sz="1800">
                <a:solidFill>
                  <a:srgbClr val="D0CB17"/>
                </a:solidFill>
                <a:latin typeface="Poppins"/>
              </a:rPr>
              <a:t>• </a:t>
            </a:r>
            <a:r>
              <a:rPr sz="1800">
                <a:solidFill>
                  <a:srgbClr val="2C3E50"/>
                </a:solidFill>
                <a:latin typeface="Poppins"/>
              </a:rPr>
              <a:t>Adjust for incomplete reporting</a:t>
            </a:r>
          </a:p>
          <a:p>
            <a:pPr>
              <a:spcAft>
                <a:spcPts val="800"/>
              </a:spcAft>
            </a:pPr>
            <a:r>
              <a:rPr sz="1800">
                <a:solidFill>
                  <a:srgbClr val="D0CB17"/>
                </a:solidFill>
                <a:latin typeface="Poppins"/>
              </a:rPr>
              <a:t>• </a:t>
            </a:r>
            <a:r>
              <a:rPr sz="1800">
                <a:solidFill>
                  <a:srgbClr val="2C3E50"/>
                </a:solidFill>
                <a:latin typeface="Poppins"/>
              </a:rPr>
              <a:t>Apply consistent data quality metrics</a:t>
            </a:r>
          </a:p>
          <a:p>
            <a:pPr>
              <a:spcAft>
                <a:spcPts val="1400"/>
              </a:spcAft>
            </a:pPr>
            <a:r>
              <a:rPr sz="1800">
                <a:solidFill>
                  <a:srgbClr val="333333"/>
                </a:solidFill>
                <a:latin typeface="Poppins"/>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Poppins"/>
              </a:rPr>
              <a:t>• </a:t>
            </a:r>
            <a:r>
              <a:rPr sz="1800">
                <a:solidFill>
                  <a:srgbClr val="2C3E50"/>
                </a:solidFill>
                <a:latin typeface="Poppins"/>
              </a:rPr>
              <a:t>Identifying significant increases or decreases in service volume</a:t>
            </a:r>
          </a:p>
          <a:p>
            <a:pPr>
              <a:spcAft>
                <a:spcPts val="800"/>
              </a:spcAft>
            </a:pPr>
            <a:r>
              <a:rPr sz="1800">
                <a:solidFill>
                  <a:srgbClr val="D0CB17"/>
                </a:solidFill>
                <a:latin typeface="Poppins"/>
              </a:rPr>
              <a:t>• </a:t>
            </a:r>
            <a:r>
              <a:rPr sz="1800">
                <a:solidFill>
                  <a:srgbClr val="2C3E50"/>
                </a:solidFill>
                <a:latin typeface="Poppins"/>
              </a:rPr>
              <a:t>Adjusting for data quality issues</a:t>
            </a:r>
          </a:p>
          <a:p>
            <a:pPr>
              <a:spcAft>
                <a:spcPts val="800"/>
              </a:spcAft>
            </a:pPr>
            <a:r>
              <a:rPr sz="1800">
                <a:solidFill>
                  <a:srgbClr val="D0CB17"/>
                </a:solidFill>
                <a:latin typeface="Poppins"/>
              </a:rPr>
              <a:t>• </a:t>
            </a:r>
            <a:r>
              <a:rPr sz="1800">
                <a:solidFill>
                  <a:srgbClr val="2C3E50"/>
                </a:solidFill>
                <a:latin typeface="Poppins"/>
              </a:rPr>
              <a:t>Accounting for expected seasonal variations</a:t>
            </a:r>
          </a:p>
          <a:p>
            <a:pPr>
              <a:spcAft>
                <a:spcPts val="800"/>
              </a:spcAft>
            </a:pPr>
            <a:r>
              <a:rPr sz="1800">
                <a:solidFill>
                  <a:srgbClr val="D0CB17"/>
                </a:solidFill>
                <a:latin typeface="Poppins"/>
              </a:rPr>
              <a:t>• </a:t>
            </a:r>
            <a:r>
              <a:rPr sz="1800">
                <a:solidFill>
                  <a:srgbClr val="2C3E50"/>
                </a:solidFill>
                <a:latin typeface="Poppins"/>
              </a:rPr>
              <a:t>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Data should be downloaded for each </a:t>
            </a:r>
            <a:r>
              <a:rPr sz="1800" b="1">
                <a:solidFill>
                  <a:srgbClr val="21568C"/>
                </a:solidFill>
                <a:latin typeface="Poppins"/>
              </a:rPr>
              <a:t>indicator of interest</a:t>
            </a:r>
            <a:r>
              <a:rPr sz="1800">
                <a:solidFill>
                  <a:srgbClr val="333333"/>
                </a:solidFill>
                <a:latin typeface="Poppins"/>
              </a:rPr>
              <a:t>, at </a:t>
            </a:r>
            <a:r>
              <a:rPr sz="1800" b="1">
                <a:solidFill>
                  <a:srgbClr val="21568C"/>
                </a:solidFill>
                <a:latin typeface="Poppins"/>
              </a:rPr>
              <a:t>facility level</a:t>
            </a:r>
            <a:r>
              <a:rPr sz="1800">
                <a:solidFill>
                  <a:srgbClr val="333333"/>
                </a:solidFill>
                <a:latin typeface="Poppins"/>
              </a:rPr>
              <a:t>, and </a:t>
            </a:r>
            <a:r>
              <a:rPr sz="1800" b="1">
                <a:solidFill>
                  <a:srgbClr val="21568C"/>
                </a:solidFill>
                <a:latin typeface="Poppins"/>
              </a:rPr>
              <a:t>monthly</a:t>
            </a:r>
            <a:r>
              <a:rPr sz="1800">
                <a:solidFill>
                  <a:srgbClr val="333333"/>
                </a:solidFill>
                <a:latin typeface="Poppins"/>
              </a:rPr>
              <a:t> for the </a:t>
            </a:r>
            <a:r>
              <a:rPr sz="1800" b="1">
                <a:solidFill>
                  <a:srgbClr val="21568C"/>
                </a:solidFill>
                <a:latin typeface="Poppins"/>
              </a:rPr>
              <a:t>period of interest</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long format</a:t>
            </a:r>
            <a:r>
              <a:rPr sz="1800">
                <a:solidFill>
                  <a:srgbClr val="2C3E50"/>
                </a:solidFill>
                <a:latin typeface="Poppins"/>
              </a:rPr>
              <a:t> meaning each row represents a single observation or measurement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.csv format</a:t>
            </a:r>
            <a:r>
              <a:rPr sz="1800">
                <a:solidFill>
                  <a:srgbClr val="2C3E50"/>
                </a:solidFill>
                <a:latin typeface="Poppins"/>
              </a:rPr>
              <a:t> and can be saved in either a single .csv file or multiple .csv files</a:t>
            </a:r>
          </a:p>
          <a:p>
            <a:pPr>
              <a:spcBef>
                <a:spcPts val="800"/>
              </a:spcBef>
              <a:spcAft>
                <a:spcPts val="1000"/>
              </a:spcAft>
              <a:defRPr sz="2200" b="1" i="0">
                <a:solidFill>
                  <a:srgbClr val="BD5091"/>
                </a:solidFill>
                <a:latin typeface="Poppins"/>
              </a:defRPr>
            </a:pPr>
            <a:r>
              <a:t>Why monthly facility level data?</a:t>
            </a:r>
          </a:p>
          <a:p>
            <a:pPr>
              <a:spcAft>
                <a:spcPts val="1400"/>
              </a:spcAft>
            </a:pPr>
            <a:r>
              <a:rPr sz="1800">
                <a:solidFill>
                  <a:srgbClr val="333333"/>
                </a:solidFill>
                <a:latin typeface="Poppins"/>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Poppins"/>
                        </a:defRPr>
                      </a:pPr>
                      <a:r>
                        <a:t>Element</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a:solidFill>
                            <a:srgbClr val="2C3E50"/>
                          </a:solidFill>
                          <a:latin typeface="Poppins"/>
                        </a:rPr>
                        <a:t>Org units</a:t>
                      </a:r>
                    </a:p>
                  </a:txBody>
                  <a:tcPr/>
                </a:tc>
                <a:tc>
                  <a:txBody>
                    <a:bodyPr wrap="square"/>
                    <a:lstStyle/>
                    <a:p>
                      <a:r>
                        <a:rPr sz="1400">
                          <a:solidFill>
                            <a:srgbClr val="2C3E50"/>
                          </a:solidFill>
                          <a:latin typeface="Poppins"/>
                        </a:rPr>
                        <a:t>Organizational unit identifier</a:t>
                      </a:r>
                    </a:p>
                  </a:txBody>
                  <a:tcPr/>
                </a:tc>
              </a:tr>
              <a:tr h="320040">
                <a:tc>
                  <a:txBody>
                    <a:bodyPr wrap="square"/>
                    <a:lstStyle/>
                    <a:p>
                      <a:r>
                        <a:rPr sz="1400">
                          <a:solidFill>
                            <a:srgbClr val="2C3E50"/>
                          </a:solidFill>
                          <a:latin typeface="Poppins"/>
                        </a:rPr>
                        <a:t>Period</a:t>
                      </a:r>
                    </a:p>
                  </a:txBody>
                  <a:tcPr/>
                </a:tc>
                <a:tc>
                  <a:txBody>
                    <a:bodyPr wrap="square"/>
                    <a:lstStyle/>
                    <a:p>
                      <a:r>
                        <a:rPr sz="1400">
                          <a:solidFill>
                            <a:srgbClr val="2C3E50"/>
                          </a:solidFill>
                          <a:latin typeface="Poppins"/>
                        </a:rPr>
                        <a:t>Time period of the data</a:t>
                      </a:r>
                    </a:p>
                  </a:txBody>
                  <a:tcPr/>
                </a:tc>
              </a:tr>
              <a:tr h="320040">
                <a:tc>
                  <a:txBody>
                    <a:bodyPr wrap="square"/>
                    <a:lstStyle/>
                    <a:p>
                      <a:r>
                        <a:rPr sz="1400">
                          <a:solidFill>
                            <a:srgbClr val="2C3E50"/>
                          </a:solidFill>
                          <a:latin typeface="Poppins"/>
                        </a:rPr>
                        <a:t>Indicator name</a:t>
                      </a:r>
                    </a:p>
                  </a:txBody>
                  <a:tcPr/>
                </a:tc>
                <a:tc>
                  <a:txBody>
                    <a:bodyPr wrap="square"/>
                    <a:lstStyle/>
                    <a:p>
                      <a:r>
                        <a:rPr sz="1400">
                          <a:solidFill>
                            <a:srgbClr val="2C3E50"/>
                          </a:solidFill>
                          <a:latin typeface="Poppins"/>
                        </a:rPr>
                        <a:t>Name of the indicator</a:t>
                      </a:r>
                    </a:p>
                  </a:txBody>
                  <a:tcPr/>
                </a:tc>
              </a:tr>
              <a:tr h="320040">
                <a:tc>
                  <a:txBody>
                    <a:bodyPr wrap="square"/>
                    <a:lstStyle/>
                    <a:p>
                      <a:r>
                        <a:rPr sz="1400">
                          <a:solidFill>
                            <a:srgbClr val="2C3E50"/>
                          </a:solidFill>
                          <a:latin typeface="Poppins"/>
                        </a:rPr>
                        <a:t>Total/count</a:t>
                      </a:r>
                    </a:p>
                  </a:txBody>
                  <a:tcPr/>
                </a:tc>
                <a:tc>
                  <a:txBody>
                    <a:bodyPr wrap="square"/>
                    <a:lstStyle/>
                    <a:p>
                      <a:r>
                        <a:rPr sz="1400">
                          <a:solidFill>
                            <a:srgbClr val="2C3E50"/>
                          </a:solidFill>
                          <a:latin typeface="Poppins"/>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Initial FASTR analysis</a:t>
            </a:r>
          </a:p>
          <a:p>
            <a:pPr>
              <a:spcAft>
                <a:spcPts val="800"/>
              </a:spcAft>
            </a:pPr>
            <a:r>
              <a:rPr sz="1800">
                <a:solidFill>
                  <a:srgbClr val="D0CB17"/>
                </a:solidFill>
                <a:latin typeface="Poppins"/>
              </a:rPr>
              <a:t>• </a:t>
            </a:r>
            <a:r>
              <a:rPr sz="1800">
                <a:solidFill>
                  <a:srgbClr val="2C3E50"/>
                </a:solidFill>
                <a:latin typeface="Poppins"/>
              </a:rPr>
              <a:t>Download approximately </a:t>
            </a:r>
            <a:r>
              <a:rPr sz="1800" b="1">
                <a:solidFill>
                  <a:srgbClr val="21568C"/>
                </a:solidFill>
                <a:latin typeface="Poppins"/>
              </a:rPr>
              <a:t>five years</a:t>
            </a:r>
            <a:r>
              <a:rPr sz="1800">
                <a:solidFill>
                  <a:srgbClr val="2C3E50"/>
                </a:solidFill>
                <a:latin typeface="Poppins"/>
              </a:rPr>
              <a:t> of historical data</a:t>
            </a:r>
          </a:p>
          <a:p>
            <a:pPr>
              <a:spcAft>
                <a:spcPts val="800"/>
              </a:spcAft>
            </a:pPr>
            <a:r>
              <a:rPr sz="1800">
                <a:solidFill>
                  <a:srgbClr val="D0CB17"/>
                </a:solidFill>
                <a:latin typeface="Poppins"/>
              </a:rPr>
              <a:t>• </a:t>
            </a:r>
            <a:r>
              <a:rPr sz="1800">
                <a:solidFill>
                  <a:srgbClr val="2C3E50"/>
                </a:solidFill>
                <a:latin typeface="Poppins"/>
              </a:rPr>
              <a:t>Exact period depends on data availability and consistency in indicator definitions</a:t>
            </a:r>
          </a:p>
          <a:p>
            <a:pPr>
              <a:spcBef>
                <a:spcPts val="800"/>
              </a:spcBef>
              <a:spcAft>
                <a:spcPts val="1000"/>
              </a:spcAft>
              <a:defRPr sz="2200" b="1" i="0">
                <a:solidFill>
                  <a:srgbClr val="BD5091"/>
                </a:solidFill>
                <a:latin typeface="Poppins"/>
              </a:defRPr>
            </a:pPr>
            <a:r>
              <a:t>Routine update to FASTR analysis</a:t>
            </a:r>
          </a:p>
          <a:p>
            <a:pPr>
              <a:spcAft>
                <a:spcPts val="800"/>
              </a:spcAft>
            </a:pPr>
            <a:r>
              <a:rPr sz="1800">
                <a:solidFill>
                  <a:srgbClr val="D0CB17"/>
                </a:solidFill>
                <a:latin typeface="Poppins"/>
              </a:rPr>
              <a:t>• </a:t>
            </a:r>
            <a:r>
              <a:rPr sz="1800">
                <a:solidFill>
                  <a:srgbClr val="2C3E50"/>
                </a:solidFill>
                <a:latin typeface="Poppins"/>
              </a:rPr>
              <a:t>Download new data covering the most recent months not previously included (usually </a:t>
            </a:r>
            <a:r>
              <a:rPr sz="1800" b="1">
                <a:solidFill>
                  <a:srgbClr val="21568C"/>
                </a:solidFill>
                <a:latin typeface="Poppins"/>
              </a:rPr>
              <a:t>three months</a:t>
            </a:r>
            <a:r>
              <a:rPr sz="1800">
                <a:solidFill>
                  <a:srgbClr val="2C3E50"/>
                </a:solidFill>
                <a:latin typeface="Poppins"/>
              </a:rPr>
              <a:t> for quarterly implementation)</a:t>
            </a:r>
          </a:p>
          <a:p>
            <a:pPr>
              <a:spcAft>
                <a:spcPts val="800"/>
              </a:spcAft>
            </a:pPr>
            <a:r>
              <a:rPr sz="1800">
                <a:solidFill>
                  <a:srgbClr val="D0CB17"/>
                </a:solidFill>
                <a:latin typeface="Poppins"/>
              </a:rPr>
              <a:t>• </a:t>
            </a:r>
            <a:r>
              <a:rPr sz="1800">
                <a:solidFill>
                  <a:srgbClr val="2C3E50"/>
                </a:solidFill>
                <a:latin typeface="Poppins"/>
              </a:rPr>
              <a:t>Include the </a:t>
            </a:r>
            <a:r>
              <a:rPr sz="1800" b="1">
                <a:solidFill>
                  <a:srgbClr val="21568C"/>
                </a:solidFill>
                <a:latin typeface="Poppins"/>
              </a:rPr>
              <a:t>three preceding months</a:t>
            </a:r>
            <a:r>
              <a:rPr sz="1800">
                <a:solidFill>
                  <a:srgbClr val="2C3E50"/>
                </a:solidFill>
                <a:latin typeface="Poppins"/>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We offer two tools for bulk DHIS2 data extraction:</a:t>
            </a:r>
          </a:p>
          <a:p>
            <a:pPr>
              <a:spcAft>
                <a:spcPts val="1400"/>
              </a:spcAft>
            </a:pPr>
            <a:r>
              <a:rPr sz="1800" b="1">
                <a:solidFill>
                  <a:srgbClr val="21568C"/>
                </a:solidFill>
                <a:latin typeface="Poppins"/>
              </a:rPr>
              <a:t>API Script</a:t>
            </a:r>
            <a:r>
              <a:rPr sz="1800">
                <a:solidFill>
                  <a:srgbClr val="333333"/>
                </a:solidFill>
                <a:latin typeface="Poppins"/>
              </a:rPr>
              <a:t> (Google Colab)</a:t>
            </a:r>
          </a:p>
          <a:p>
            <a:pPr>
              <a:spcAft>
                <a:spcPts val="800"/>
              </a:spcAft>
            </a:pPr>
            <a:r>
              <a:rPr sz="1800">
                <a:solidFill>
                  <a:srgbClr val="D0CB17"/>
                </a:solidFill>
                <a:latin typeface="Poppins"/>
              </a:rPr>
              <a:t>• </a:t>
            </a:r>
            <a:r>
              <a:rPr sz="1800">
                <a:solidFill>
                  <a:srgbClr val="2C3E50"/>
                </a:solidFill>
                <a:latin typeface="Poppins"/>
              </a:rPr>
              <a:t>Input login credentials, specify timeframes, indicators, and administrative levels</a:t>
            </a:r>
          </a:p>
          <a:p>
            <a:pPr>
              <a:spcAft>
                <a:spcPts val="800"/>
              </a:spcAft>
            </a:pPr>
            <a:r>
              <a:rPr sz="1800">
                <a:solidFill>
                  <a:srgbClr val="D0CB17"/>
                </a:solidFill>
                <a:latin typeface="Poppins"/>
              </a:rPr>
              <a:t>• </a:t>
            </a:r>
            <a:r>
              <a:rPr sz="1800">
                <a:solidFill>
                  <a:srgbClr val="2C3E50"/>
                </a:solidFill>
                <a:latin typeface="Poppins"/>
              </a:rPr>
              <a:t>Download data as a .csv file</a:t>
            </a:r>
          </a:p>
          <a:p>
            <a:pPr>
              <a:spcAft>
                <a:spcPts val="1400"/>
              </a:spcAft>
            </a:pPr>
            <a:r>
              <a:rPr sz="1800" b="1">
                <a:solidFill>
                  <a:srgbClr val="21568C"/>
                </a:solidFill>
                <a:latin typeface="Poppins"/>
              </a:rPr>
              <a:t>Data Downloader</a:t>
            </a:r>
          </a:p>
          <a:p>
            <a:pPr>
              <a:spcAft>
                <a:spcPts val="800"/>
              </a:spcAft>
            </a:pPr>
            <a:r>
              <a:rPr sz="1800">
                <a:solidFill>
                  <a:srgbClr val="D0CB17"/>
                </a:solidFill>
                <a:latin typeface="Poppins"/>
              </a:rPr>
              <a:t>• </a:t>
            </a:r>
            <a:r>
              <a:rPr sz="1800">
                <a:solidFill>
                  <a:srgbClr val="2C3E50"/>
                </a:solidFill>
                <a:latin typeface="Poppins"/>
              </a:rPr>
              <a:t>More intuitive, streamlined interface</a:t>
            </a:r>
          </a:p>
          <a:p>
            <a:pPr>
              <a:spcAft>
                <a:spcPts val="800"/>
              </a:spcAft>
            </a:pPr>
            <a:r>
              <a:rPr sz="1800">
                <a:solidFill>
                  <a:srgbClr val="D0CB17"/>
                </a:solidFill>
                <a:latin typeface="Poppins"/>
              </a:rPr>
              <a:t>• </a:t>
            </a:r>
            <a:r>
              <a:rPr sz="1800">
                <a:solidFill>
                  <a:srgbClr val="2C3E50"/>
                </a:solidFill>
                <a:latin typeface="Poppins"/>
              </a:rPr>
              <a:t>Recommended for most users</a:t>
            </a:r>
          </a:p>
          <a:p>
            <a:pPr>
              <a:spcAft>
                <a:spcPts val="1400"/>
              </a:spcAft>
            </a:pPr>
            <a:r>
              <a:rPr sz="1800">
                <a:solidFill>
                  <a:srgbClr val="333333"/>
                </a:solidFill>
                <a:latin typeface="Poppins"/>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Data Downloader is a desktop application for extracting data from DHIS2.</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Connect to any DHIS2 instance</a:t>
            </a:r>
          </a:p>
          <a:p>
            <a:pPr>
              <a:spcAft>
                <a:spcPts val="800"/>
              </a:spcAft>
            </a:pPr>
            <a:r>
              <a:rPr sz="1800">
                <a:solidFill>
                  <a:srgbClr val="D0CB17"/>
                </a:solidFill>
                <a:latin typeface="Poppins"/>
              </a:rPr>
              <a:t>• </a:t>
            </a:r>
            <a:r>
              <a:rPr sz="1800">
                <a:solidFill>
                  <a:srgbClr val="2C3E50"/>
                </a:solidFill>
                <a:latin typeface="Poppins"/>
              </a:rPr>
              <a:t>Browse and select data elements and indicators</a:t>
            </a:r>
          </a:p>
          <a:p>
            <a:pPr>
              <a:spcAft>
                <a:spcPts val="800"/>
              </a:spcAft>
            </a:pPr>
            <a:r>
              <a:rPr sz="1800">
                <a:solidFill>
                  <a:srgbClr val="D0CB17"/>
                </a:solidFill>
                <a:latin typeface="Poppins"/>
              </a:rPr>
              <a:t>• </a:t>
            </a:r>
            <a:r>
              <a:rPr sz="1800">
                <a:solidFill>
                  <a:srgbClr val="2C3E50"/>
                </a:solidFill>
                <a:latin typeface="Poppins"/>
              </a:rPr>
              <a:t>Download facility-level data in CSV format</a:t>
            </a:r>
          </a:p>
          <a:p>
            <a:pPr>
              <a:spcAft>
                <a:spcPts val="800"/>
              </a:spcAft>
            </a:pPr>
            <a:r>
              <a:rPr sz="1800">
                <a:solidFill>
                  <a:srgbClr val="D0CB17"/>
                </a:solidFill>
                <a:latin typeface="Poppins"/>
              </a:rPr>
              <a:t>• </a:t>
            </a:r>
            <a:r>
              <a:rPr sz="1800">
                <a:solidFill>
                  <a:srgbClr val="2C3E50"/>
                </a:solidFill>
                <a:latin typeface="Poppins"/>
              </a:rPr>
              <a:t>Maintain download history</a:t>
            </a:r>
          </a:p>
          <a:p>
            <a:pPr>
              <a:spcAft>
                <a:spcPts val="1400"/>
              </a:spcAft>
            </a:pPr>
            <a:r>
              <a:rPr sz="1800" b="1">
                <a:solidFill>
                  <a:srgbClr val="21568C"/>
                </a:solidFill>
                <a:latin typeface="Poppins"/>
              </a:rPr>
              <a:t>Download from GitHub:</a:t>
            </a:r>
          </a:p>
          <a:p>
            <a:pPr>
              <a:spcAft>
                <a:spcPts val="1400"/>
              </a:spcAft>
            </a:pPr>
            <a:r>
              <a:rPr sz="1800">
                <a:solidFill>
                  <a:srgbClr val="333333"/>
                </a:solidFill>
                <a:latin typeface="Poppins"/>
              </a:rPr>
              <a:t>https://github.com/worldbank/DHIS2-Downloader/releases/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685800" y="1280160"/>
            <a:ext cx="5943600" cy="4781870"/>
          </a:xfrm>
          <a:prstGeom prst="rect">
            <a:avLst/>
          </a:prstGeom>
        </p:spPr>
      </p:pic>
      <p:sp>
        <p:nvSpPr>
          <p:cNvPr id="5" name="TextBox 4"/>
          <p:cNvSpPr txBox="1"/>
          <p:nvPr/>
        </p:nvSpPr>
        <p:spPr>
          <a:xfrm>
            <a:off x="6858000" y="1280160"/>
            <a:ext cx="4572000" cy="1920240"/>
          </a:xfrm>
          <a:prstGeom prst="rect">
            <a:avLst/>
          </a:prstGeom>
          <a:noFill/>
        </p:spPr>
        <p:txBody>
          <a:bodyPr wrap="square">
            <a:spAutoFit/>
          </a:bodyPr>
          <a:lstStyle/>
          <a:p>
            <a:pPr>
              <a:spcAft>
                <a:spcPts val="1200"/>
              </a:spcAft>
            </a:pPr>
            <a:r>
              <a:rPr sz="1800" b="1">
                <a:solidFill>
                  <a:srgbClr val="21568C"/>
                </a:solidFill>
                <a:latin typeface="Poppins"/>
              </a:rPr>
              <a:t>Connect to your DHIS2 instance</a:t>
            </a:r>
          </a:p>
          <a:p>
            <a:pPr>
              <a:spcAft>
                <a:spcPts val="800"/>
              </a:spcAft>
            </a:pPr>
            <a:r>
              <a:rPr sz="1800">
                <a:solidFill>
                  <a:srgbClr val="D0CB17"/>
                </a:solidFill>
                <a:latin typeface="Poppins"/>
              </a:rPr>
              <a:t>• </a:t>
            </a:r>
            <a:r>
              <a:rPr sz="1800">
                <a:solidFill>
                  <a:srgbClr val="2C3E50"/>
                </a:solidFill>
                <a:latin typeface="Poppins"/>
              </a:rPr>
              <a:t>Enter your DHIS2 server URL</a:t>
            </a:r>
          </a:p>
          <a:p>
            <a:pPr>
              <a:spcAft>
                <a:spcPts val="800"/>
              </a:spcAft>
            </a:pPr>
            <a:r>
              <a:rPr sz="1800">
                <a:solidFill>
                  <a:srgbClr val="D0CB17"/>
                </a:solidFill>
                <a:latin typeface="Poppins"/>
              </a:rPr>
              <a:t>• </a:t>
            </a:r>
            <a:r>
              <a:rPr sz="1800">
                <a:solidFill>
                  <a:srgbClr val="2C3E50"/>
                </a:solidFill>
                <a:latin typeface="Poppins"/>
              </a:rPr>
              <a:t>Provide your username and password</a:t>
            </a:r>
          </a:p>
          <a:p>
            <a:pPr>
              <a:spcAft>
                <a:spcPts val="800"/>
              </a:spcAft>
            </a:pPr>
            <a:r>
              <a:rPr sz="1800">
                <a:solidFill>
                  <a:srgbClr val="D0CB17"/>
                </a:solidFill>
                <a:latin typeface="Poppins"/>
              </a:rPr>
              <a:t>• </a:t>
            </a:r>
            <a:r>
              <a:rPr sz="1800">
                <a:solidFill>
                  <a:srgbClr val="2C3E50"/>
                </a:solidFill>
                <a:latin typeface="Poppins"/>
              </a:rPr>
              <a:t>The tool securely stores credentials for future sessions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685800" y="1280160"/>
            <a:ext cx="5943600" cy="3477376"/>
          </a:xfrm>
          <a:prstGeom prst="rect">
            <a:avLst/>
          </a:prstGeom>
        </p:spPr>
      </p:pic>
      <p:sp>
        <p:nvSpPr>
          <p:cNvPr id="5" name="TextBox 4"/>
          <p:cNvSpPr txBox="1"/>
          <p:nvPr/>
        </p:nvSpPr>
        <p:spPr>
          <a:xfrm>
            <a:off x="6858000" y="1280160"/>
            <a:ext cx="4572000" cy="2286000"/>
          </a:xfrm>
          <a:prstGeom prst="rect">
            <a:avLst/>
          </a:prstGeom>
          <a:noFill/>
        </p:spPr>
        <p:txBody>
          <a:bodyPr wrap="square">
            <a:spAutoFit/>
          </a:bodyPr>
          <a:lstStyle/>
          <a:p>
            <a:pPr>
              <a:spcAft>
                <a:spcPts val="1200"/>
              </a:spcAft>
            </a:pPr>
            <a:r>
              <a:rPr sz="1800" b="1">
                <a:solidFill>
                  <a:srgbClr val="21568C"/>
                </a:solidFill>
                <a:latin typeface="Poppins"/>
              </a:rPr>
              <a:t>Main interface</a:t>
            </a:r>
          </a:p>
          <a:p>
            <a:pPr>
              <a:spcAft>
                <a:spcPts val="800"/>
              </a:spcAft>
            </a:pPr>
            <a:r>
              <a:rPr sz="1800">
                <a:solidFill>
                  <a:srgbClr val="D0CB17"/>
                </a:solidFill>
                <a:latin typeface="Poppins"/>
              </a:rPr>
              <a:t>• </a:t>
            </a:r>
            <a:r>
              <a:rPr sz="1800">
                <a:solidFill>
                  <a:srgbClr val="2C3E50"/>
                </a:solidFill>
                <a:latin typeface="Poppins"/>
              </a:rPr>
              <a:t>Browse available data elements and indicators</a:t>
            </a:r>
          </a:p>
          <a:p>
            <a:pPr>
              <a:spcAft>
                <a:spcPts val="800"/>
              </a:spcAft>
            </a:pPr>
            <a:r>
              <a:rPr sz="1800">
                <a:solidFill>
                  <a:srgbClr val="D0CB17"/>
                </a:solidFill>
                <a:latin typeface="Poppins"/>
              </a:rPr>
              <a:t>• </a:t>
            </a:r>
            <a:r>
              <a:rPr sz="1800">
                <a:solidFill>
                  <a:srgbClr val="2C3E50"/>
                </a:solidFill>
                <a:latin typeface="Poppins"/>
              </a:rPr>
              <a:t>Select time periods and organization units</a:t>
            </a:r>
          </a:p>
          <a:p>
            <a:pPr>
              <a:spcAft>
                <a:spcPts val="800"/>
              </a:spcAft>
            </a:pPr>
            <a:r>
              <a:rPr sz="1800">
                <a:solidFill>
                  <a:srgbClr val="D0CB17"/>
                </a:solidFill>
                <a:latin typeface="Poppins"/>
              </a:rPr>
              <a:t>• </a:t>
            </a:r>
            <a:r>
              <a:rPr sz="1800">
                <a:solidFill>
                  <a:srgbClr val="2C3E50"/>
                </a:solidFill>
                <a:latin typeface="Poppins"/>
              </a:rPr>
              <a:t>Configure download options</a:t>
            </a:r>
          </a:p>
          <a:p>
            <a:pPr>
              <a:spcAft>
                <a:spcPts val="800"/>
              </a:spcAft>
            </a:pPr>
            <a:r>
              <a:rPr sz="1800">
                <a:solidFill>
                  <a:srgbClr val="D0CB17"/>
                </a:solidFill>
                <a:latin typeface="Poppins"/>
              </a:rPr>
              <a:t>• </a:t>
            </a:r>
            <a:r>
              <a:rPr sz="1800">
                <a:solidFill>
                  <a:srgbClr val="2C3E50"/>
                </a:solidFill>
                <a:latin typeface="Poppins"/>
              </a:rPr>
              <a:t>Start data extraction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685800" y="1280160"/>
            <a:ext cx="5943600" cy="3286374"/>
          </a:xfrm>
          <a:prstGeom prst="rect">
            <a:avLst/>
          </a:prstGeom>
        </p:spPr>
      </p:pic>
      <p:sp>
        <p:nvSpPr>
          <p:cNvPr id="5" name="TextBox 4"/>
          <p:cNvSpPr txBox="1"/>
          <p:nvPr/>
        </p:nvSpPr>
        <p:spPr>
          <a:xfrm>
            <a:off x="6858000" y="1280160"/>
            <a:ext cx="4572000" cy="2286000"/>
          </a:xfrm>
          <a:prstGeom prst="rect">
            <a:avLst/>
          </a:prstGeom>
          <a:noFill/>
        </p:spPr>
        <p:txBody>
          <a:bodyPr wrap="square">
            <a:spAutoFit/>
          </a:bodyPr>
          <a:lstStyle/>
          <a:p>
            <a:pPr>
              <a:spcAft>
                <a:spcPts val="1200"/>
              </a:spcAft>
            </a:pPr>
            <a:r>
              <a:rPr sz="1800" b="1">
                <a:solidFill>
                  <a:srgbClr val="21568C"/>
                </a:solidFill>
                <a:latin typeface="Poppins"/>
              </a:rPr>
              <a:t>Track your downloads</a:t>
            </a:r>
          </a:p>
          <a:p>
            <a:pPr>
              <a:spcAft>
                <a:spcPts val="800"/>
              </a:spcAft>
            </a:pPr>
            <a:r>
              <a:rPr sz="1800">
                <a:solidFill>
                  <a:srgbClr val="D0CB17"/>
                </a:solidFill>
                <a:latin typeface="Poppins"/>
              </a:rPr>
              <a:t>• </a:t>
            </a:r>
            <a:r>
              <a:rPr sz="1800">
                <a:solidFill>
                  <a:srgbClr val="2C3E50"/>
                </a:solidFill>
                <a:latin typeface="Poppins"/>
              </a:rPr>
              <a:t>View all previous download sessions</a:t>
            </a:r>
          </a:p>
          <a:p>
            <a:pPr>
              <a:spcAft>
                <a:spcPts val="800"/>
              </a:spcAft>
            </a:pPr>
            <a:r>
              <a:rPr sz="1800">
                <a:solidFill>
                  <a:srgbClr val="D0CB17"/>
                </a:solidFill>
                <a:latin typeface="Poppins"/>
              </a:rPr>
              <a:t>• </a:t>
            </a:r>
            <a:r>
              <a:rPr sz="1800">
                <a:solidFill>
                  <a:srgbClr val="2C3E50"/>
                </a:solidFill>
                <a:latin typeface="Poppins"/>
              </a:rPr>
              <a:t>Re-download data with same parameters</a:t>
            </a:r>
          </a:p>
          <a:p>
            <a:pPr>
              <a:spcAft>
                <a:spcPts val="800"/>
              </a:spcAft>
            </a:pPr>
            <a:r>
              <a:rPr sz="1800">
                <a:solidFill>
                  <a:srgbClr val="D0CB17"/>
                </a:solidFill>
                <a:latin typeface="Poppins"/>
              </a:rPr>
              <a:t>• </a:t>
            </a:r>
            <a:r>
              <a:rPr sz="1800">
                <a:solidFill>
                  <a:srgbClr val="2C3E50"/>
                </a:solidFill>
                <a:latin typeface="Poppins"/>
              </a:rPr>
              <a:t>Access download logs and status</a:t>
            </a:r>
          </a:p>
          <a:p>
            <a:pPr>
              <a:spcAft>
                <a:spcPts val="800"/>
              </a:spcAft>
            </a:pPr>
            <a:r>
              <a:rPr sz="1800">
                <a:solidFill>
                  <a:srgbClr val="D0CB17"/>
                </a:solidFill>
                <a:latin typeface="Poppins"/>
              </a:rPr>
              <a:t>• </a:t>
            </a:r>
            <a:r>
              <a:rPr sz="1800">
                <a:solidFill>
                  <a:srgbClr val="2C3E50"/>
                </a:solidFill>
                <a:latin typeface="Poppins"/>
              </a:rPr>
              <a:t>Manage downloaded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685800" y="1280160"/>
            <a:ext cx="5943600" cy="3533429"/>
          </a:xfrm>
          <a:prstGeom prst="rect">
            <a:avLst/>
          </a:prstGeom>
        </p:spPr>
      </p:pic>
      <p:sp>
        <p:nvSpPr>
          <p:cNvPr id="5" name="TextBox 4"/>
          <p:cNvSpPr txBox="1"/>
          <p:nvPr/>
        </p:nvSpPr>
        <p:spPr>
          <a:xfrm>
            <a:off x="6858000" y="1280160"/>
            <a:ext cx="4572000" cy="2286000"/>
          </a:xfrm>
          <a:prstGeom prst="rect">
            <a:avLst/>
          </a:prstGeom>
          <a:noFill/>
        </p:spPr>
        <p:txBody>
          <a:bodyPr wrap="square">
            <a:spAutoFit/>
          </a:bodyPr>
          <a:lstStyle/>
          <a:p>
            <a:pPr>
              <a:spcAft>
                <a:spcPts val="1200"/>
              </a:spcAft>
            </a:pPr>
            <a:r>
              <a:rPr sz="1800" b="1">
                <a:solidFill>
                  <a:srgbClr val="21568C"/>
                </a:solidFill>
                <a:latin typeface="Poppins"/>
              </a:rPr>
              <a:t>Explore available data</a:t>
            </a:r>
          </a:p>
          <a:p>
            <a:pPr>
              <a:spcAft>
                <a:spcPts val="800"/>
              </a:spcAft>
            </a:pPr>
            <a:r>
              <a:rPr sz="1800">
                <a:solidFill>
                  <a:srgbClr val="D0CB17"/>
                </a:solidFill>
                <a:latin typeface="Poppins"/>
              </a:rPr>
              <a:t>• </a:t>
            </a:r>
            <a:r>
              <a:rPr sz="1800">
                <a:solidFill>
                  <a:srgbClr val="2C3E50"/>
                </a:solidFill>
                <a:latin typeface="Poppins"/>
              </a:rPr>
              <a:t>Browse all data elements from your DHIS2</a:t>
            </a:r>
          </a:p>
          <a:p>
            <a:pPr>
              <a:spcAft>
                <a:spcPts val="800"/>
              </a:spcAft>
            </a:pPr>
            <a:r>
              <a:rPr sz="1800">
                <a:solidFill>
                  <a:srgbClr val="D0CB17"/>
                </a:solidFill>
                <a:latin typeface="Poppins"/>
              </a:rPr>
              <a:t>• </a:t>
            </a:r>
            <a:r>
              <a:rPr sz="1800">
                <a:solidFill>
                  <a:srgbClr val="2C3E50"/>
                </a:solidFill>
                <a:latin typeface="Poppins"/>
              </a:rPr>
              <a:t>Search by name or code</a:t>
            </a:r>
          </a:p>
          <a:p>
            <a:pPr>
              <a:spcAft>
                <a:spcPts val="800"/>
              </a:spcAft>
            </a:pPr>
            <a:r>
              <a:rPr sz="1800">
                <a:solidFill>
                  <a:srgbClr val="D0CB17"/>
                </a:solidFill>
                <a:latin typeface="Poppins"/>
              </a:rPr>
              <a:t>• </a:t>
            </a:r>
            <a:r>
              <a:rPr sz="1800">
                <a:solidFill>
                  <a:srgbClr val="2C3E50"/>
                </a:solidFill>
                <a:latin typeface="Poppins"/>
              </a:rPr>
              <a:t>View metadata and definitions</a:t>
            </a:r>
          </a:p>
          <a:p>
            <a:pPr>
              <a:spcAft>
                <a:spcPts val="800"/>
              </a:spcAft>
            </a:pPr>
            <a:r>
              <a:rPr sz="1800">
                <a:solidFill>
                  <a:srgbClr val="D0CB17"/>
                </a:solidFill>
                <a:latin typeface="Poppins"/>
              </a:rPr>
              <a:t>• </a:t>
            </a:r>
            <a:r>
              <a:rPr sz="1800">
                <a:solidFill>
                  <a:srgbClr val="2C3E50"/>
                </a:solidFill>
                <a:latin typeface="Poppins"/>
              </a:rPr>
              <a:t>Identify indicators for your analysis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685800" y="1280160"/>
            <a:ext cx="5943600" cy="3697083"/>
          </a:xfrm>
          <a:prstGeom prst="rect">
            <a:avLst/>
          </a:prstGeom>
        </p:spPr>
      </p:pic>
      <p:sp>
        <p:nvSpPr>
          <p:cNvPr id="5" name="TextBox 4"/>
          <p:cNvSpPr txBox="1"/>
          <p:nvPr/>
        </p:nvSpPr>
        <p:spPr>
          <a:xfrm>
            <a:off x="6858000" y="1280160"/>
            <a:ext cx="4572000" cy="2286000"/>
          </a:xfrm>
          <a:prstGeom prst="rect">
            <a:avLst/>
          </a:prstGeom>
          <a:noFill/>
        </p:spPr>
        <p:txBody>
          <a:bodyPr wrap="square">
            <a:spAutoFit/>
          </a:bodyPr>
          <a:lstStyle/>
          <a:p>
            <a:pPr>
              <a:spcAft>
                <a:spcPts val="1200"/>
              </a:spcAft>
            </a:pPr>
            <a:r>
              <a:rPr sz="1800" b="1">
                <a:solidFill>
                  <a:srgbClr val="21568C"/>
                </a:solidFill>
                <a:latin typeface="Poppins"/>
              </a:rPr>
              <a:t>Facility management</a:t>
            </a:r>
          </a:p>
          <a:p>
            <a:pPr>
              <a:spcAft>
                <a:spcPts val="800"/>
              </a:spcAft>
            </a:pPr>
            <a:r>
              <a:rPr sz="1800">
                <a:solidFill>
                  <a:srgbClr val="D0CB17"/>
                </a:solidFill>
                <a:latin typeface="Poppins"/>
              </a:rPr>
              <a:t>• </a:t>
            </a:r>
            <a:r>
              <a:rPr sz="1800">
                <a:solidFill>
                  <a:srgbClr val="2C3E50"/>
                </a:solidFill>
                <a:latin typeface="Poppins"/>
              </a:rPr>
              <a:t>View complete facility list</a:t>
            </a:r>
          </a:p>
          <a:p>
            <a:pPr>
              <a:spcAft>
                <a:spcPts val="800"/>
              </a:spcAft>
            </a:pPr>
            <a:r>
              <a:rPr sz="1800">
                <a:solidFill>
                  <a:srgbClr val="D0CB17"/>
                </a:solidFill>
                <a:latin typeface="Poppins"/>
              </a:rPr>
              <a:t>• </a:t>
            </a:r>
            <a:r>
              <a:rPr sz="1800">
                <a:solidFill>
                  <a:srgbClr val="2C3E50"/>
                </a:solidFill>
                <a:latin typeface="Poppins"/>
              </a:rPr>
              <a:t>Filter by administrative level</a:t>
            </a:r>
          </a:p>
          <a:p>
            <a:pPr>
              <a:spcAft>
                <a:spcPts val="800"/>
              </a:spcAft>
            </a:pPr>
            <a:r>
              <a:rPr sz="1800">
                <a:solidFill>
                  <a:srgbClr val="D0CB17"/>
                </a:solidFill>
                <a:latin typeface="Poppins"/>
              </a:rPr>
              <a:t>• </a:t>
            </a:r>
            <a:r>
              <a:rPr sz="1800">
                <a:solidFill>
                  <a:srgbClr val="2C3E50"/>
                </a:solidFill>
                <a:latin typeface="Poppins"/>
              </a:rPr>
              <a:t>Search by facility name</a:t>
            </a:r>
          </a:p>
          <a:p>
            <a:pPr>
              <a:spcAft>
                <a:spcPts val="800"/>
              </a:spcAft>
            </a:pPr>
            <a:r>
              <a:rPr sz="1800">
                <a:solidFill>
                  <a:srgbClr val="D0CB17"/>
                </a:solidFill>
                <a:latin typeface="Poppins"/>
              </a:rPr>
              <a:t>• </a:t>
            </a:r>
            <a:r>
              <a:rPr sz="1800">
                <a:solidFill>
                  <a:srgbClr val="2C3E50"/>
                </a:solidFill>
                <a:latin typeface="Poppins"/>
              </a:rPr>
              <a:t>Export facility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685800" y="1280160"/>
            <a:ext cx="5943600" cy="3689644"/>
          </a:xfrm>
          <a:prstGeom prst="rect">
            <a:avLst/>
          </a:prstGeom>
        </p:spPr>
      </p:pic>
      <p:sp>
        <p:nvSpPr>
          <p:cNvPr id="5" name="TextBox 4"/>
          <p:cNvSpPr txBox="1"/>
          <p:nvPr/>
        </p:nvSpPr>
        <p:spPr>
          <a:xfrm>
            <a:off x="6858000" y="1280160"/>
            <a:ext cx="4572000" cy="2286000"/>
          </a:xfrm>
          <a:prstGeom prst="rect">
            <a:avLst/>
          </a:prstGeom>
          <a:noFill/>
        </p:spPr>
        <p:txBody>
          <a:bodyPr wrap="square">
            <a:spAutoFit/>
          </a:bodyPr>
          <a:lstStyle/>
          <a:p>
            <a:pPr>
              <a:spcAft>
                <a:spcPts val="1200"/>
              </a:spcAft>
            </a:pPr>
            <a:r>
              <a:rPr sz="1800" b="1">
                <a:solidFill>
                  <a:srgbClr val="21568C"/>
                </a:solidFill>
                <a:latin typeface="Poppins"/>
              </a:rPr>
              <a:t>Geographic visualization</a:t>
            </a:r>
          </a:p>
          <a:p>
            <a:pPr>
              <a:spcAft>
                <a:spcPts val="800"/>
              </a:spcAft>
            </a:pPr>
            <a:r>
              <a:rPr sz="1800">
                <a:solidFill>
                  <a:srgbClr val="D0CB17"/>
                </a:solidFill>
                <a:latin typeface="Poppins"/>
              </a:rPr>
              <a:t>• </a:t>
            </a:r>
            <a:r>
              <a:rPr sz="1800">
                <a:solidFill>
                  <a:srgbClr val="2C3E50"/>
                </a:solidFill>
                <a:latin typeface="Poppins"/>
              </a:rPr>
              <a:t>Download GeoJSON boundary files</a:t>
            </a:r>
          </a:p>
          <a:p>
            <a:pPr>
              <a:spcAft>
                <a:spcPts val="800"/>
              </a:spcAft>
            </a:pPr>
            <a:r>
              <a:rPr sz="1800">
                <a:solidFill>
                  <a:srgbClr val="D0CB17"/>
                </a:solidFill>
                <a:latin typeface="Poppins"/>
              </a:rPr>
              <a:t>• </a:t>
            </a:r>
            <a:r>
              <a:rPr sz="1800">
                <a:solidFill>
                  <a:srgbClr val="2C3E50"/>
                </a:solidFill>
                <a:latin typeface="Poppins"/>
              </a:rPr>
              <a:t>Toggle administrative boundaries by level (Level 1 = country, Level 2 = regions, etc.)</a:t>
            </a:r>
          </a:p>
          <a:p>
            <a:pPr>
              <a:spcAft>
                <a:spcPts val="800"/>
              </a:spcAft>
            </a:pPr>
            <a:r>
              <a:rPr sz="1800">
                <a:solidFill>
                  <a:srgbClr val="D0CB17"/>
                </a:solidFill>
                <a:latin typeface="Poppins"/>
              </a:rPr>
              <a:t>• </a:t>
            </a:r>
            <a:r>
              <a:rPr sz="1800">
                <a:solidFill>
                  <a:srgbClr val="2C3E50"/>
                </a:solidFill>
                <a:latin typeface="Poppins"/>
              </a:rPr>
              <a:t>Higher levels display facility points</a:t>
            </a:r>
          </a:p>
          <a:p>
            <a:pPr>
              <a:spcAft>
                <a:spcPts val="800"/>
              </a:spcAft>
            </a:pPr>
            <a:r>
              <a:rPr sz="1800">
                <a:solidFill>
                  <a:srgbClr val="D0CB17"/>
                </a:solidFill>
                <a:latin typeface="Poppins"/>
              </a:rPr>
              <a:t>• </a:t>
            </a:r>
            <a:r>
              <a:rPr sz="1800">
                <a:solidFill>
                  <a:srgbClr val="2C3E50"/>
                </a:solidFill>
                <a:latin typeface="Poppins"/>
              </a:rPr>
              <a:t>Useful for verifying geographic structure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3: Introduction to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analytics platform is a web-based tool for data quality assessment, adjustment, and analysis of routine health data.</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Upload and analyze data from DHIS2 and other sources</a:t>
            </a:r>
          </a:p>
          <a:p>
            <a:pPr>
              <a:spcAft>
                <a:spcPts val="800"/>
              </a:spcAft>
            </a:pPr>
            <a:r>
              <a:rPr sz="1800">
                <a:solidFill>
                  <a:srgbClr val="D0CB17"/>
                </a:solidFill>
                <a:latin typeface="Poppins"/>
              </a:rPr>
              <a:t>• </a:t>
            </a:r>
            <a:r>
              <a:rPr sz="1800">
                <a:solidFill>
                  <a:srgbClr val="2C3E50"/>
                </a:solidFill>
                <a:latin typeface="Poppins"/>
              </a:rPr>
              <a:t>Built-in statistical methods for data quality adjustment</a:t>
            </a:r>
          </a:p>
          <a:p>
            <a:pPr>
              <a:spcAft>
                <a:spcPts val="800"/>
              </a:spcAft>
            </a:pPr>
            <a:r>
              <a:rPr sz="1800">
                <a:solidFill>
                  <a:srgbClr val="D0CB17"/>
                </a:solidFill>
                <a:latin typeface="Poppins"/>
              </a:rPr>
              <a:t>• </a:t>
            </a:r>
            <a:r>
              <a:rPr sz="1800">
                <a:solidFill>
                  <a:srgbClr val="2C3E50"/>
                </a:solidFill>
                <a:latin typeface="Poppins"/>
              </a:rPr>
              <a:t>User-friendly interface for running analyses</a:t>
            </a:r>
          </a:p>
          <a:p>
            <a:pPr>
              <a:spcAft>
                <a:spcPts val="800"/>
              </a:spcAft>
            </a:pPr>
            <a:r>
              <a:rPr sz="1800">
                <a:solidFill>
                  <a:srgbClr val="D0CB17"/>
                </a:solidFill>
                <a:latin typeface="Poppins"/>
              </a:rPr>
              <a:t>• </a:t>
            </a:r>
            <a:r>
              <a:rPr sz="1800">
                <a:solidFill>
                  <a:srgbClr val="2C3E50"/>
                </a:solidFill>
                <a:latin typeface="Poppins"/>
              </a:rPr>
              <a:t>Flexible visualization and export options</a:t>
            </a:r>
          </a:p>
          <a:p>
            <a:pPr>
              <a:spcAft>
                <a:spcPts val="1400"/>
              </a:spcAft>
            </a:pPr>
            <a:r>
              <a:rPr sz="1800" b="1">
                <a:solidFill>
                  <a:srgbClr val="21568C"/>
                </a:solidFill>
                <a:latin typeface="Poppins"/>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Navigate to the FASTR platform</a:t>
            </a:r>
          </a:p>
          <a:p>
            <a:pPr>
              <a:spcAft>
                <a:spcPts val="800"/>
              </a:spcAft>
            </a:pPr>
            <a:r>
              <a:rPr sz="1800">
                <a:solidFill>
                  <a:srgbClr val="D0CB17"/>
                </a:solidFill>
                <a:latin typeface="Poppins"/>
              </a:rPr>
              <a:t>• </a:t>
            </a:r>
            <a:r>
              <a:rPr sz="1800">
                <a:solidFill>
                  <a:srgbClr val="2C3E50"/>
                </a:solidFill>
                <a:latin typeface="Poppins"/>
              </a:rPr>
              <a:t>Explore user roles: Administrator, Editor, Viewer</a:t>
            </a:r>
          </a:p>
          <a:p>
            <a:pPr>
              <a:spcAft>
                <a:spcPts val="800"/>
              </a:spcAft>
            </a:pPr>
            <a:r>
              <a:rPr sz="1800">
                <a:solidFill>
                  <a:srgbClr val="D0CB17"/>
                </a:solidFill>
                <a:latin typeface="Poppins"/>
              </a:rPr>
              <a:t>• </a:t>
            </a:r>
            <a:r>
              <a:rPr sz="1800">
                <a:solidFill>
                  <a:srgbClr val="2C3E50"/>
                </a:solidFill>
                <a:latin typeface="Poppins"/>
              </a:rPr>
              <a:t>Review user management and permissions</a:t>
            </a:r>
          </a:p>
          <a:p>
            <a:pPr>
              <a:spcAft>
                <a:spcPts val="800"/>
              </a:spcAft>
            </a:pPr>
            <a:r>
              <a:rPr sz="1800">
                <a:solidFill>
                  <a:srgbClr val="D0CB17"/>
                </a:solidFill>
                <a:latin typeface="Poppins"/>
              </a:rPr>
              <a:t>• </a:t>
            </a:r>
            <a:r>
              <a:rPr sz="1800">
                <a:solidFill>
                  <a:srgbClr val="2C3E50"/>
                </a:solidFill>
                <a:latin typeface="Poppins"/>
              </a:rPr>
              <a:t>Understand the workflow for uploading data and making analytical decisions</a:t>
            </a:r>
          </a:p>
          <a:p>
            <a:pPr>
              <a:spcAft>
                <a:spcPts val="1400"/>
              </a:spcAft>
            </a:pPr>
            <a:r>
              <a:rPr sz="1800" i="1">
                <a:solidFill>
                  <a:srgbClr val="1F9A9C"/>
                </a:solidFill>
                <a:latin typeface="Poppins"/>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4: Configuring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1, we covered:</a:t>
            </a:r>
          </a:p>
          <a:p>
            <a:pPr>
              <a:spcAft>
                <a:spcPts val="800"/>
              </a:spcAft>
            </a:pPr>
            <a:r>
              <a:rPr sz="1800">
                <a:solidFill>
                  <a:srgbClr val="D0CB17"/>
                </a:solidFill>
                <a:latin typeface="Poppins"/>
              </a:rPr>
              <a:t>• </a:t>
            </a:r>
            <a:r>
              <a:rPr sz="1800">
                <a:solidFill>
                  <a:srgbClr val="2C3E50"/>
                </a:solidFill>
                <a:latin typeface="Poppins"/>
              </a:rPr>
              <a:t>The FASTR approach and rapid-cycle analytics methodology</a:t>
            </a:r>
          </a:p>
          <a:p>
            <a:pPr>
              <a:spcAft>
                <a:spcPts val="800"/>
              </a:spcAft>
            </a:pPr>
            <a:r>
              <a:rPr sz="1800">
                <a:solidFill>
                  <a:srgbClr val="D0CB17"/>
                </a:solidFill>
                <a:latin typeface="Poppins"/>
              </a:rPr>
              <a:t>• </a:t>
            </a:r>
            <a:r>
              <a:rPr sz="1800">
                <a:solidFill>
                  <a:srgbClr val="2C3E50"/>
                </a:solidFill>
                <a:latin typeface="Poppins"/>
              </a:rPr>
              <a:t>Data extraction from DHIS2 using the Data Downloader</a:t>
            </a:r>
          </a:p>
          <a:p>
            <a:pPr>
              <a:spcAft>
                <a:spcPts val="800"/>
              </a:spcAft>
            </a:pPr>
            <a:r>
              <a:rPr sz="1800">
                <a:solidFill>
                  <a:srgbClr val="D0CB17"/>
                </a:solidFill>
                <a:latin typeface="Poppins"/>
              </a:rPr>
              <a:t>• </a:t>
            </a:r>
            <a:r>
              <a:rPr sz="1800">
                <a:solidFill>
                  <a:srgbClr val="2C3E50"/>
                </a:solidFill>
                <a:latin typeface="Poppins"/>
              </a:rPr>
              <a:t>Introduction to the FASTR Analytics Platform</a:t>
            </a:r>
          </a:p>
          <a:p>
            <a:pPr>
              <a:spcAft>
                <a:spcPts val="800"/>
              </a:spcAft>
            </a:pPr>
            <a:r>
              <a:rPr sz="1800">
                <a:solidFill>
                  <a:srgbClr val="D0CB17"/>
                </a:solidFill>
                <a:latin typeface="Poppins"/>
              </a:rPr>
              <a:t>• </a:t>
            </a:r>
            <a:r>
              <a:rPr sz="1800">
                <a:solidFill>
                  <a:srgbClr val="2C3E50"/>
                </a:solidFill>
                <a:latin typeface="Poppins"/>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will:</a:t>
            </a:r>
          </a:p>
          <a:p>
            <a:pPr>
              <a:spcAft>
                <a:spcPts val="800"/>
              </a:spcAft>
            </a:pPr>
            <a:r>
              <a:rPr sz="1800">
                <a:solidFill>
                  <a:srgbClr val="D0CB17"/>
                </a:solidFill>
                <a:latin typeface="Poppins"/>
              </a:rPr>
              <a:t>• </a:t>
            </a:r>
            <a:r>
              <a:rPr sz="1800">
                <a:solidFill>
                  <a:srgbClr val="2C3E50"/>
                </a:solidFill>
                <a:latin typeface="Poppins"/>
              </a:rPr>
              <a:t>Explore FASTR methods for data quality and analysis</a:t>
            </a:r>
          </a:p>
          <a:p>
            <a:pPr>
              <a:spcAft>
                <a:spcPts val="800"/>
              </a:spcAft>
            </a:pPr>
            <a:r>
              <a:rPr sz="1800">
                <a:solidFill>
                  <a:srgbClr val="D0CB17"/>
                </a:solidFill>
                <a:latin typeface="Poppins"/>
              </a:rPr>
              <a:t>• </a:t>
            </a:r>
            <a:r>
              <a:rPr sz="1800">
                <a:solidFill>
                  <a:srgbClr val="2C3E50"/>
                </a:solidFill>
                <a:latin typeface="Poppins"/>
              </a:rPr>
              <a:t>Create and configure projects</a:t>
            </a:r>
          </a:p>
          <a:p>
            <a:pPr>
              <a:spcAft>
                <a:spcPts val="800"/>
              </a:spcAft>
            </a:pPr>
            <a:r>
              <a:rPr sz="1800">
                <a:solidFill>
                  <a:srgbClr val="D0CB17"/>
                </a:solidFill>
                <a:latin typeface="Poppins"/>
              </a:rPr>
              <a:t>• </a:t>
            </a:r>
            <a:r>
              <a:rPr sz="1800">
                <a:solidFill>
                  <a:srgbClr val="2C3E50"/>
                </a:solidFill>
                <a:latin typeface="Poppins"/>
              </a:rPr>
              <a:t>Build visualizations</a:t>
            </a:r>
          </a:p>
          <a:p>
            <a:pPr>
              <a:spcAft>
                <a:spcPts val="800"/>
              </a:spcAft>
            </a:pPr>
            <a:r>
              <a:rPr sz="1800">
                <a:solidFill>
                  <a:srgbClr val="D0CB17"/>
                </a:solidFill>
                <a:latin typeface="Poppins"/>
              </a:rPr>
              <a:t>• </a:t>
            </a:r>
            <a:r>
              <a:rPr sz="1800">
                <a:solidFill>
                  <a:srgbClr val="2C3E50"/>
                </a:solidFill>
                <a:latin typeface="Poppins"/>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5: Overview of FASTR methods and analytical outputs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 where each step builds on the previous:</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9286875" cy="371475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may fall outside plausible ranges</a:t>
            </a:r>
          </a:p>
          <a:p>
            <a:pPr>
              <a:spcAft>
                <a:spcPts val="800"/>
              </a:spcAft>
            </a:pPr>
            <a:r>
              <a:rPr sz="1800">
                <a:solidFill>
                  <a:srgbClr val="D0CB17"/>
                </a:solidFill>
                <a:latin typeface="Poppins"/>
              </a:rPr>
              <a:t>• </a:t>
            </a:r>
            <a:r>
              <a:rPr sz="1800">
                <a:solidFill>
                  <a:srgbClr val="2C3E50"/>
                </a:solidFill>
                <a:latin typeface="Poppins"/>
              </a:rPr>
              <a:t>Reporting gaps affect data completeness</a:t>
            </a:r>
          </a:p>
          <a:p>
            <a:pPr>
              <a:spcAft>
                <a:spcPts val="800"/>
              </a:spcAft>
            </a:pPr>
            <a:r>
              <a:rPr sz="1800">
                <a:solidFill>
                  <a:srgbClr val="D0CB17"/>
                </a:solidFill>
                <a:latin typeface="Poppins"/>
              </a:rPr>
              <a:t>• </a:t>
            </a:r>
            <a:r>
              <a:rPr sz="1800">
                <a:solidFill>
                  <a:srgbClr val="2C3E50"/>
                </a:solidFill>
                <a:latin typeface="Poppins"/>
              </a:rPr>
              <a:t>Inconsistencies exist between related indicators</a:t>
            </a:r>
          </a:p>
          <a:p>
            <a:pPr>
              <a:spcAft>
                <a:spcPts val="1400"/>
              </a:spcAft>
            </a:pPr>
            <a:r>
              <a:rPr sz="1800" b="1">
                <a:solidFill>
                  <a:srgbClr val="21568C"/>
                </a:solidFill>
                <a:latin typeface="Poppins"/>
              </a:rPr>
              <a:t>Implications:</a:t>
            </a:r>
            <a:r>
              <a:rPr sz="1800">
                <a:solidFill>
                  <a:srgbClr val="333333"/>
                </a:solidFill>
                <a:latin typeface="Poppins"/>
              </a:rPr>
              <a:t> Data quality limitations affect decision-making</a:t>
            </a:r>
          </a:p>
          <a:p>
            <a:pPr>
              <a:spcAft>
                <a:spcPts val="800"/>
              </a:spcAft>
            </a:pPr>
            <a:r>
              <a:rPr sz="1800">
                <a:solidFill>
                  <a:srgbClr val="D0CB17"/>
                </a:solidFill>
                <a:latin typeface="Poppins"/>
              </a:rPr>
              <a:t>• </a:t>
            </a:r>
            <a:r>
              <a:rPr sz="1800">
                <a:solidFill>
                  <a:srgbClr val="2C3E50"/>
                </a:solidFill>
                <a:latin typeface="Poppins"/>
              </a:rPr>
              <a:t>Inaccurate assessments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requiring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1400"/>
              </a:spcAft>
            </a:pPr>
            <a:r>
              <a:rPr sz="1800">
                <a:solidFill>
                  <a:srgbClr val="333333"/>
                </a:solidFill>
                <a:latin typeface="Poppins"/>
              </a:rPr>
              <a:t>Data quality assessment enables ongoing monitoring to:</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 across the HMIS</a:t>
            </a:r>
          </a:p>
          <a:p>
            <a:pPr>
              <a:spcAft>
                <a:spcPts val="800"/>
              </a:spcAft>
            </a:pPr>
            <a:r>
              <a:rPr sz="1800">
                <a:solidFill>
                  <a:srgbClr val="D0CB17"/>
                </a:solidFill>
                <a:latin typeface="Poppins"/>
              </a:rPr>
              <a:t>• </a:t>
            </a:r>
            <a:r>
              <a:rPr sz="1800">
                <a:solidFill>
                  <a:srgbClr val="2C3E50"/>
                </a:solidFill>
                <a:latin typeface="Poppins"/>
              </a:rPr>
              <a:t>Guide targeted data quality interventions and supportive supervision in areas with weaker data quality</a:t>
            </a:r>
          </a:p>
          <a:p>
            <a:pPr>
              <a:spcAft>
                <a:spcPts val="800"/>
              </a:spcAft>
            </a:pPr>
            <a:r>
              <a:rPr sz="1800">
                <a:solidFill>
                  <a:srgbClr val="D0CB17"/>
                </a:solidFill>
                <a:latin typeface="Poppins"/>
              </a:rPr>
              <a:t>• </a:t>
            </a:r>
            <a:r>
              <a:rPr sz="1800">
                <a:solidFill>
                  <a:srgbClr val="2C3E50"/>
                </a:solidFill>
                <a:latin typeface="Poppins"/>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Completeness</a:t>
            </a:r>
          </a:p>
          <a:p>
            <a:pPr>
              <a:spcAft>
                <a:spcPts val="1400"/>
              </a:spcAft>
            </a:pPr>
            <a:r>
              <a:rPr sz="1800">
                <a:solidFill>
                  <a:srgbClr val="333333"/>
                </a:solidFill>
                <a:latin typeface="Poppins"/>
              </a:rPr>
              <a:t>Are health facilities submitting reports consistently?</a:t>
            </a:r>
          </a:p>
          <a:p>
            <a:pPr>
              <a:spcAft>
                <a:spcPts val="1400"/>
              </a:spcAft>
            </a:pPr>
            <a:r>
              <a:rPr sz="1800" b="1">
                <a:solidFill>
                  <a:srgbClr val="21568C"/>
                </a:solidFill>
                <a:latin typeface="Poppins"/>
              </a:rPr>
              <a:t>2. Outlier prevalence</a:t>
            </a:r>
          </a:p>
          <a:p>
            <a:pPr>
              <a:spcAft>
                <a:spcPts val="1400"/>
              </a:spcAft>
            </a:pPr>
            <a:r>
              <a:rPr sz="1800">
                <a:solidFill>
                  <a:srgbClr val="333333"/>
                </a:solidFill>
                <a:latin typeface="Poppins"/>
              </a:rPr>
              <a:t>Are reported values within plausible ranges?</a:t>
            </a:r>
          </a:p>
          <a:p>
            <a:pPr>
              <a:spcAft>
                <a:spcPts val="1400"/>
              </a:spcAft>
            </a:pPr>
            <a:r>
              <a:rPr sz="1800" b="1">
                <a:solidFill>
                  <a:srgbClr val="21568C"/>
                </a:solidFill>
                <a:latin typeface="Poppins"/>
              </a:rPr>
              <a:t>3. Internal consistency</a:t>
            </a:r>
          </a:p>
          <a:p>
            <a:pPr>
              <a:spcAft>
                <a:spcPts val="1400"/>
              </a:spcAft>
            </a:pPr>
            <a:r>
              <a:rPr sz="1800">
                <a:solidFill>
                  <a:srgbClr val="333333"/>
                </a:solidFill>
                <a:latin typeface="Poppins"/>
              </a:rPr>
              <a:t>Do related indicators demonstrate expected relationships?</a:t>
            </a:r>
          </a:p>
          <a:p>
            <a:pPr>
              <a:spcAft>
                <a:spcPts val="1400"/>
              </a:spcAft>
            </a:pPr>
            <a:r>
              <a:rPr sz="1800">
                <a:solidFill>
                  <a:srgbClr val="333333"/>
                </a:solidFill>
                <a:latin typeface="Poppins"/>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b="1">
                <a:solidFill>
                  <a:srgbClr val="21568C"/>
                </a:solidFill>
                <a:latin typeface="Poppins"/>
              </a:rPr>
              <a:t>What it measures:</a:t>
            </a:r>
            <a:r>
              <a:rPr sz="1800">
                <a:solidFill>
                  <a:srgbClr val="333333"/>
                </a:solidFill>
                <a:latin typeface="Poppins"/>
              </a:rPr>
              <a:t> The extent to which facilities report data on selected core indicators</a:t>
            </a:r>
          </a:p>
          <a:p>
            <a:pPr>
              <a:spcAft>
                <a:spcPts val="1400"/>
              </a:spcAft>
            </a:pPr>
            <a:r>
              <a:rPr sz="1800" b="1">
                <a:solidFill>
                  <a:srgbClr val="21568C"/>
                </a:solidFill>
                <a:latin typeface="Poppins"/>
              </a:rPr>
              <a:t>Why it matters:</a:t>
            </a:r>
          </a:p>
          <a:p>
            <a:pPr>
              <a:spcAft>
                <a:spcPts val="800"/>
              </a:spcAft>
            </a:pPr>
            <a:r>
              <a:rPr sz="1800">
                <a:solidFill>
                  <a:srgbClr val="D0CB17"/>
                </a:solidFill>
                <a:latin typeface="Poppins"/>
              </a:rPr>
              <a:t>• </a:t>
            </a:r>
            <a:r>
              <a:rPr sz="1800">
                <a:solidFill>
                  <a:srgbClr val="2C3E50"/>
                </a:solidFill>
                <a:latin typeface="Poppins"/>
              </a:rPr>
              <a:t>Higher completeness improves data reliability</a:t>
            </a:r>
          </a:p>
          <a:p>
            <a:pPr>
              <a:spcAft>
                <a:spcPts val="800"/>
              </a:spcAft>
            </a:pPr>
            <a:r>
              <a:rPr sz="1800">
                <a:solidFill>
                  <a:srgbClr val="D0CB17"/>
                </a:solidFill>
                <a:latin typeface="Poppins"/>
              </a:rPr>
              <a:t>• </a:t>
            </a:r>
            <a:r>
              <a:rPr sz="1800">
                <a:solidFill>
                  <a:srgbClr val="2C3E50"/>
                </a:solidFill>
                <a:latin typeface="Poppins"/>
              </a:rPr>
              <a:t>Stability over time strengthens trend analysis</a:t>
            </a:r>
          </a:p>
          <a:p>
            <a:pPr>
              <a:spcAft>
                <a:spcPts val="1400"/>
              </a:spcAft>
            </a:pPr>
            <a:r>
              <a:rPr sz="1800" b="1">
                <a:solidFill>
                  <a:srgbClr val="21568C"/>
                </a:solidFill>
                <a:latin typeface="Poppins"/>
              </a:rPr>
              <a:t>Key distinction:</a:t>
            </a:r>
          </a:p>
          <a:p>
            <a:pPr>
              <a:spcAft>
                <a:spcPts val="1400"/>
              </a:spcAft>
            </a:pPr>
            <a:r>
              <a:rPr sz="1800">
                <a:solidFill>
                  <a:srgbClr val="333333"/>
                </a:solidFill>
                <a:latin typeface="Poppins"/>
              </a:rPr>
              <a:t>Indicator completeness ≠ reporting completeness. This metric examines specific data elements, not just whether the monthly form was submitted.</a:t>
            </a:r>
          </a:p>
        </p:txBody>
      </p:sp>
      <p:pic>
        <p:nvPicPr>
          <p:cNvPr id="5" name="Picture 4" descr="completeness_illustration.png"/>
          <p:cNvPicPr>
            <a:picLocks noChangeAspect="1"/>
          </p:cNvPicPr>
          <p:nvPr/>
        </p:nvPicPr>
        <p:blipFill>
          <a:blip r:embed="rId2"/>
          <a:stretch>
            <a:fillRect/>
          </a:stretch>
        </p:blipFill>
        <p:spPr>
          <a:xfrm>
            <a:off x="6629400" y="1371600"/>
            <a:ext cx="5029200" cy="260131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completeness is defined as:</a:t>
            </a:r>
          </a:p>
          <a:p>
            <a:pPr>
              <a:spcAft>
                <a:spcPts val="1400"/>
              </a:spcAft>
            </a:pPr>
            <a:r>
              <a:rPr sz="1800" b="1">
                <a:solidFill>
                  <a:srgbClr val="21568C"/>
                </a:solidFill>
                <a:latin typeface="Poppins"/>
              </a:rPr>
              <a:t>The percentage of reporting facilities each month out of the total number of facilities expected to report.</a:t>
            </a:r>
          </a:p>
          <a:p>
            <a:pPr>
              <a:spcAft>
                <a:spcPts val="800"/>
              </a:spcAft>
            </a:pPr>
            <a:r>
              <a:rPr sz="1800">
                <a:solidFill>
                  <a:srgbClr val="D0CB17"/>
                </a:solidFill>
                <a:latin typeface="Poppins"/>
              </a:rPr>
              <a:t>• </a:t>
            </a:r>
            <a:r>
              <a:rPr sz="1800">
                <a:solidFill>
                  <a:srgbClr val="2C3E50"/>
                </a:solidFill>
                <a:latin typeface="Poppins"/>
              </a:rPr>
              <a:t>A facility is deemed to be "reporting" if there is a non-missing, non-zero value recorded for the indicator and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anytime within a year</a:t>
            </a:r>
          </a:p>
          <a:p>
            <a:pPr>
              <a:spcAft>
                <a:spcPts val="800"/>
              </a:spcAft>
            </a:pPr>
            <a:r>
              <a:rPr sz="1800">
                <a:solidFill>
                  <a:srgbClr val="D0CB17"/>
                </a:solidFill>
                <a:latin typeface="Poppins"/>
              </a:rPr>
              <a:t>• </a:t>
            </a:r>
            <a:r>
              <a:rPr sz="1800">
                <a:solidFill>
                  <a:srgbClr val="2C3E50"/>
                </a:solidFill>
                <a:latin typeface="Poppins"/>
              </a:rPr>
              <a:t>Facilities that do not report for six or more consecutive months at the beginning or end of their reporting period are classified as </a:t>
            </a:r>
            <a:r>
              <a:rPr sz="1800" b="1">
                <a:solidFill>
                  <a:srgbClr val="21568C"/>
                </a:solidFill>
                <a:latin typeface="Poppins"/>
              </a:rPr>
              <a:t>inactive</a:t>
            </a:r>
            <a:r>
              <a:rPr sz="1800">
                <a:solidFill>
                  <a:srgbClr val="2C3E50"/>
                </a:solidFill>
                <a:latin typeface="Poppins"/>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Poppins"/>
              </a:rPr>
              <a:t>• </a:t>
            </a:r>
            <a:r>
              <a:rPr sz="1800">
                <a:solidFill>
                  <a:srgbClr val="2C3E50"/>
                </a:solidFill>
                <a:latin typeface="Poppins"/>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complete:</a:t>
            </a:r>
          </a:p>
          <a:p>
            <a:pPr>
              <a:spcAft>
                <a:spcPts val="1000"/>
              </a:spcAft>
            </a:pPr>
            <a:r>
              <a:rPr sz="1800" b="1">
                <a:solidFill>
                  <a:srgbClr val="21568C"/>
                </a:solidFill>
                <a:latin typeface="Poppins"/>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Poppins"/>
              </a:rPr>
              <a:t>Outliers can be the result of changes in programmatic activities (such as an intensified campaign) or can be data quality problems.</a:t>
            </a:r>
          </a:p>
          <a:p>
            <a:pPr>
              <a:spcAft>
                <a:spcPts val="1400"/>
              </a:spcAft>
            </a:pPr>
            <a:r>
              <a:rPr sz="1800">
                <a:solidFill>
                  <a:srgbClr val="333333"/>
                </a:solidFill>
                <a:latin typeface="Poppins"/>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identified by assessing the within-facility variation in monthly reporting for each indicator.</a:t>
            </a:r>
          </a:p>
          <a:p>
            <a:pPr>
              <a:spcAft>
                <a:spcPts val="1400"/>
              </a:spcAft>
            </a:pPr>
            <a:r>
              <a:rPr sz="1800">
                <a:solidFill>
                  <a:srgbClr val="333333"/>
                </a:solidFill>
                <a:latin typeface="Poppins"/>
              </a:rPr>
              <a:t>An outlier is defined as:</a:t>
            </a:r>
          </a:p>
          <a:p>
            <a:pPr>
              <a:spcAft>
                <a:spcPts val="1400"/>
              </a:spcAft>
            </a:pPr>
            <a:r>
              <a:rPr sz="1800">
                <a:solidFill>
                  <a:srgbClr val="333333"/>
                </a:solidFill>
                <a:latin typeface="Poppins"/>
              </a:rPr>
              <a:t>A value greater than </a:t>
            </a:r>
            <a:r>
              <a:rPr sz="1800" b="1">
                <a:solidFill>
                  <a:srgbClr val="21568C"/>
                </a:solidFill>
                <a:latin typeface="Poppins"/>
              </a:rPr>
              <a:t>10 times the median absolute deviation (MAD)</a:t>
            </a:r>
            <a:r>
              <a:rPr sz="1800">
                <a:solidFill>
                  <a:srgbClr val="333333"/>
                </a:solidFill>
                <a:latin typeface="Poppins"/>
              </a:rPr>
              <a:t> from the monthly median value for the indicator in each time period, </a:t>
            </a:r>
            <a:r>
              <a:rPr sz="1800" b="1">
                <a:solidFill>
                  <a:srgbClr val="21568C"/>
                </a:solidFill>
                <a:latin typeface="Poppins"/>
              </a:rPr>
              <a:t>OR</a:t>
            </a:r>
            <a:r>
              <a:rPr sz="1800">
                <a:solidFill>
                  <a:srgbClr val="333333"/>
                </a:solidFill>
                <a:latin typeface="Poppins"/>
              </a:rPr>
              <a:t> a value for which the proportional contribution in volume for a facility, indicator, and time period is </a:t>
            </a:r>
            <a:r>
              <a:rPr sz="1800" b="1">
                <a:solidFill>
                  <a:srgbClr val="21568C"/>
                </a:solidFill>
                <a:latin typeface="Poppins"/>
              </a:rPr>
              <a:t>greater than 80%</a:t>
            </a:r>
          </a:p>
          <a:p>
            <a:pPr>
              <a:spcAft>
                <a:spcPts val="1400"/>
              </a:spcAft>
            </a:pPr>
            <a:r>
              <a:rPr sz="1800" b="1">
                <a:solidFill>
                  <a:srgbClr val="21568C"/>
                </a:solidFill>
                <a:latin typeface="Poppins"/>
              </a:rPr>
              <a:t>AND</a:t>
            </a:r>
            <a:r>
              <a:rPr sz="1800">
                <a:solidFill>
                  <a:srgbClr val="333333"/>
                </a:solidFill>
                <a:latin typeface="Poppins"/>
              </a:rPr>
              <a:t> for which:</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or equal to the median</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not missing</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outliers:</a:t>
            </a:r>
          </a:p>
          <a:p>
            <a:pPr>
              <a:spcAft>
                <a:spcPts val="1000"/>
              </a:spcAft>
            </a:pPr>
            <a:r>
              <a:rPr sz="1800" b="1">
                <a:solidFill>
                  <a:srgbClr val="21568C"/>
                </a:solidFill>
                <a:latin typeface="Poppins"/>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280160"/>
          <a:ext cx="4114800" cy="1280160"/>
        </p:xfrm>
        <a:graphic>
          <a:graphicData uri="http://schemas.openxmlformats.org/drawingml/2006/table">
            <a:tbl>
              <a:tblPr firstRow="1" bandRow="1">
                <a:tableStyleId>{5C22544A-7EE6-4342-B048-85BDC9FD1C3A}</a:tableStyleId>
              </a:tblPr>
              <a:tblGrid>
                <a:gridCol w="2057400"/>
                <a:gridCol w="2057400"/>
              </a:tblGrid>
              <a:tr h="320040">
                <a:tc>
                  <a:txBody>
                    <a:bodyPr wrap="square"/>
                    <a:lstStyle/>
                    <a:p>
                      <a:pPr>
                        <a:defRPr sz="1200" b="1">
                          <a:solidFill>
                            <a:srgbClr val="21568C"/>
                          </a:solidFill>
                          <a:latin typeface="Poppins"/>
                        </a:defRPr>
                      </a:pPr>
                      <a:r>
                        <a:t>Indicator pair</a:t>
                      </a:r>
                    </a:p>
                  </a:txBody>
                  <a:tcPr>
                    <a:solidFill>
                      <a:srgbClr val="CAE6E9"/>
                    </a:solidFill>
                  </a:tcPr>
                </a:tc>
                <a:tc>
                  <a:txBody>
                    <a:bodyPr wrap="square"/>
                    <a:lstStyle/>
                    <a:p>
                      <a:pPr>
                        <a:defRPr sz="1200" b="1">
                          <a:solidFill>
                            <a:srgbClr val="21568C"/>
                          </a:solidFill>
                          <a:latin typeface="Poppins"/>
                        </a:defRPr>
                      </a:pPr>
                      <a:r>
                        <a:t>Expected relationship</a:t>
                      </a:r>
                    </a:p>
                  </a:txBody>
                  <a:tcPr>
                    <a:solidFill>
                      <a:srgbClr val="CAE6E9"/>
                    </a:solidFill>
                  </a:tcPr>
                </a:tc>
              </a:tr>
              <a:tr h="320040">
                <a:tc>
                  <a:txBody>
                    <a:bodyPr wrap="square"/>
                    <a:lstStyle/>
                    <a:p>
                      <a:r>
                        <a:rPr sz="1200">
                          <a:solidFill>
                            <a:srgbClr val="2C3E50"/>
                          </a:solidFill>
                          <a:latin typeface="Poppins"/>
                        </a:rPr>
                        <a:t>ANC1 / ANC4</a:t>
                      </a:r>
                    </a:p>
                  </a:txBody>
                  <a:tcPr/>
                </a:tc>
                <a:tc>
                  <a:txBody>
                    <a:bodyPr wrap="square"/>
                    <a:lstStyle/>
                    <a:p>
                      <a:r>
                        <a:rPr sz="1200">
                          <a:solidFill>
                            <a:srgbClr val="2C3E50"/>
                          </a:solidFill>
                          <a:latin typeface="Poppins"/>
                        </a:rPr>
                        <a:t>Ratio should be ≥ 0.95</a:t>
                      </a:r>
                    </a:p>
                  </a:txBody>
                  <a:tcPr/>
                </a:tc>
              </a:tr>
              <a:tr h="320040">
                <a:tc>
                  <a:txBody>
                    <a:bodyPr wrap="square"/>
                    <a:lstStyle/>
                    <a:p>
                      <a:r>
                        <a:rPr sz="1200">
                          <a:solidFill>
                            <a:srgbClr val="2C3E50"/>
                          </a:solidFill>
                          <a:latin typeface="Poppins"/>
                        </a:rPr>
                        <a:t>Penta1 / Penta3</a:t>
                      </a:r>
                    </a:p>
                  </a:txBody>
                  <a:tcPr/>
                </a:tc>
                <a:tc>
                  <a:txBody>
                    <a:bodyPr wrap="square"/>
                    <a:lstStyle/>
                    <a:p>
                      <a:r>
                        <a:rPr sz="1200">
                          <a:solidFill>
                            <a:srgbClr val="2C3E50"/>
                          </a:solidFill>
                          <a:latin typeface="Poppins"/>
                        </a:rPr>
                        <a:t>Ratio should be ≥ 0.95</a:t>
                      </a:r>
                    </a:p>
                  </a:txBody>
                  <a:tcPr/>
                </a:tc>
              </a:tr>
              <a:tr h="320040">
                <a:tc>
                  <a:txBody>
                    <a:bodyPr wrap="square"/>
                    <a:lstStyle/>
                    <a:p>
                      <a:r>
                        <a:rPr sz="1200">
                          <a:solidFill>
                            <a:srgbClr val="2C3E50"/>
                          </a:solidFill>
                          <a:latin typeface="Poppins"/>
                        </a:rPr>
                        <a:t>BCG / Facility delivery</a:t>
                      </a:r>
                    </a:p>
                  </a:txBody>
                  <a:tcPr/>
                </a:tc>
                <a:tc>
                  <a:txBody>
                    <a:bodyPr wrap="square"/>
                    <a:lstStyle/>
                    <a:p>
                      <a:r>
                        <a:rPr sz="1200">
                          <a:solidFill>
                            <a:srgbClr val="2C3E50"/>
                          </a:solidFill>
                          <a:latin typeface="Poppins"/>
                        </a:rPr>
                        <a:t>Within 30% (≥0.7 and ≤1.3)</a:t>
                      </a:r>
                    </a:p>
                  </a:txBody>
                  <a:tcPr/>
                </a:tc>
              </a:tr>
            </a:tbl>
          </a:graphicData>
        </a:graphic>
      </p:graphicFrame>
      <p:sp>
        <p:nvSpPr>
          <p:cNvPr id="5" name="TextBox 4"/>
          <p:cNvSpPr txBox="1"/>
          <p:nvPr/>
        </p:nvSpPr>
        <p:spPr>
          <a:xfrm>
            <a:off x="685800" y="2743200"/>
            <a:ext cx="4114800" cy="1188720"/>
          </a:xfrm>
          <a:prstGeom prst="rect">
            <a:avLst/>
          </a:prstGeom>
          <a:noFill/>
        </p:spPr>
        <p:txBody>
          <a:bodyPr wrap="square">
            <a:spAutoFit/>
          </a:bodyPr>
          <a:lstStyle/>
          <a:p>
            <a:pPr>
              <a:spcAft>
                <a:spcPts val="1200"/>
              </a:spcAft>
            </a:pPr>
            <a:r>
              <a:rPr sz="1800">
                <a:solidFill>
                  <a:srgbClr val="333333"/>
                </a:solidFill>
                <a:latin typeface="Poppins"/>
              </a:rPr>
              <a:t>These pairs have expected relationships. We expect ANC1 &gt; ANC4 since not all women complete four visits.</a:t>
            </a:r>
          </a:p>
          <a:p>
            <a:pPr>
              <a:spcAft>
                <a:spcPts val="1200"/>
              </a:spcAft>
            </a:pPr>
            <a:r>
              <a:rPr sz="1800">
                <a:solidFill>
                  <a:srgbClr val="333333"/>
                </a:solidFill>
                <a:latin typeface="Poppins"/>
              </a:rPr>
              <a:t>BCG is a birth dose vaccine so we expect similar numbers to facility deliveries, with a 30% tolerance for variability.</a:t>
            </a:r>
          </a:p>
        </p:txBody>
      </p:sp>
      <p:pic>
        <p:nvPicPr>
          <p:cNvPr id="6" name="Picture 5" descr="consistency_illustration.png"/>
          <p:cNvPicPr>
            <a:picLocks noChangeAspect="1"/>
          </p:cNvPicPr>
          <p:nvPr/>
        </p:nvPicPr>
        <p:blipFill>
          <a:blip r:embed="rId2"/>
          <a:stretch>
            <a:fillRect/>
          </a:stretch>
        </p:blipFill>
        <p:spPr>
          <a:xfrm>
            <a:off x="5029200" y="1280160"/>
            <a:ext cx="6400800" cy="39624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Patients often access different services at different facilities within a district:</a:t>
            </a:r>
          </a:p>
          <a:p>
            <a:pPr>
              <a:spcAft>
                <a:spcPts val="800"/>
              </a:spcAft>
            </a:pPr>
            <a:r>
              <a:rPr sz="1800">
                <a:solidFill>
                  <a:srgbClr val="D0CB17"/>
                </a:solidFill>
                <a:latin typeface="Poppins"/>
              </a:rPr>
              <a:t>• </a:t>
            </a:r>
            <a:r>
              <a:rPr sz="1800">
                <a:solidFill>
                  <a:srgbClr val="2C3E50"/>
                </a:solidFill>
                <a:latin typeface="Poppins"/>
              </a:rPr>
              <a:t>A woman may attend </a:t>
            </a:r>
            <a:r>
              <a:rPr sz="1800" b="1">
                <a:solidFill>
                  <a:srgbClr val="21568C"/>
                </a:solidFill>
                <a:latin typeface="Poppins"/>
              </a:rPr>
              <a:t>ANC1</a:t>
            </a:r>
            <a:r>
              <a:rPr sz="1800">
                <a:solidFill>
                  <a:srgbClr val="2C3E50"/>
                </a:solidFill>
                <a:latin typeface="Poppins"/>
              </a:rPr>
              <a:t> at a nearby health post, but travel to a health centre for </a:t>
            </a:r>
            <a:r>
              <a:rPr sz="1800" b="1">
                <a:solidFill>
                  <a:srgbClr val="21568C"/>
                </a:solidFill>
                <a:latin typeface="Poppins"/>
              </a:rPr>
              <a:t>ANC4</a:t>
            </a:r>
          </a:p>
          <a:p>
            <a:pPr>
              <a:spcAft>
                <a:spcPts val="800"/>
              </a:spcAft>
            </a:pPr>
            <a:r>
              <a:rPr sz="1800">
                <a:solidFill>
                  <a:srgbClr val="D0CB17"/>
                </a:solidFill>
                <a:latin typeface="Poppins"/>
              </a:rPr>
              <a:t>• </a:t>
            </a:r>
            <a:r>
              <a:rPr sz="1800">
                <a:solidFill>
                  <a:srgbClr val="2C3E50"/>
                </a:solidFill>
                <a:latin typeface="Poppins"/>
              </a:rPr>
              <a:t>A child may receive </a:t>
            </a:r>
            <a:r>
              <a:rPr sz="1800" b="1">
                <a:solidFill>
                  <a:srgbClr val="21568C"/>
                </a:solidFill>
                <a:latin typeface="Poppins"/>
              </a:rPr>
              <a:t>Penta1</a:t>
            </a:r>
            <a:r>
              <a:rPr sz="1800">
                <a:solidFill>
                  <a:srgbClr val="2C3E50"/>
                </a:solidFill>
                <a:latin typeface="Poppins"/>
              </a:rPr>
              <a:t> at a local clinic, but complete </a:t>
            </a:r>
            <a:r>
              <a:rPr sz="1800" b="1">
                <a:solidFill>
                  <a:srgbClr val="21568C"/>
                </a:solidFill>
                <a:latin typeface="Poppins"/>
              </a:rPr>
              <a:t>Penta3</a:t>
            </a:r>
            <a:r>
              <a:rPr sz="1800">
                <a:solidFill>
                  <a:srgbClr val="2C3E50"/>
                </a:solidFill>
                <a:latin typeface="Poppins"/>
              </a:rPr>
              <a:t> at a district hospital</a:t>
            </a:r>
          </a:p>
          <a:p>
            <a:pPr>
              <a:spcAft>
                <a:spcPts val="1400"/>
              </a:spcAft>
            </a:pPr>
            <a:r>
              <a:rPr sz="1800">
                <a:solidFill>
                  <a:srgbClr val="333333"/>
                </a:solidFill>
                <a:latin typeface="Poppins"/>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composite measure of data quality provides an overall view of how well a dataset meets quality standards.</a:t>
            </a:r>
          </a:p>
          <a:p>
            <a:pPr>
              <a:spcAft>
                <a:spcPts val="1400"/>
              </a:spcAft>
            </a:pPr>
            <a:r>
              <a:rPr sz="1800">
                <a:solidFill>
                  <a:srgbClr val="333333"/>
                </a:solidFill>
                <a:latin typeface="Poppins"/>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we defined adequate data quality as:</a:t>
            </a:r>
          </a:p>
          <a:p>
            <a:pPr>
              <a:spcAft>
                <a:spcPts val="800"/>
              </a:spcAft>
            </a:pPr>
            <a:r>
              <a:rPr sz="1800">
                <a:solidFill>
                  <a:srgbClr val="D0CB17"/>
                </a:solidFill>
                <a:latin typeface="Poppins"/>
              </a:rPr>
              <a:t>• </a:t>
            </a:r>
            <a:r>
              <a:rPr sz="1800">
                <a:solidFill>
                  <a:srgbClr val="2C3E50"/>
                </a:solidFill>
                <a:latin typeface="Poppins"/>
              </a:rPr>
              <a:t>No missing indicator data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No outliers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meeting all DQA criteria:</a:t>
            </a:r>
          </a:p>
          <a:p>
            <a:pPr>
              <a:spcAft>
                <a:spcPts val="1000"/>
              </a:spcAft>
            </a:pPr>
            <a:r>
              <a:rPr sz="1800" b="1">
                <a:solidFill>
                  <a:srgbClr val="21568C"/>
                </a:solidFill>
                <a:latin typeface="Poppins"/>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mean DQA score shows how close a facility's data is to meeting all quality criteria. A score of </a:t>
            </a:r>
            <a:r>
              <a:rPr sz="1800" b="1">
                <a:solidFill>
                  <a:srgbClr val="21568C"/>
                </a:solidFill>
                <a:latin typeface="Poppins"/>
              </a:rPr>
              <a:t>100% means the data passes</a:t>
            </a:r>
            <a:r>
              <a:rPr sz="1800">
                <a:solidFill>
                  <a:srgbClr val="333333"/>
                </a:solidFill>
                <a:latin typeface="Poppins"/>
              </a:rPr>
              <a:t> all DQA checks—no missing values, no outliers, and consistent reporting.</a:t>
            </a:r>
          </a:p>
          <a:p>
            <a:pPr>
              <a:spcAft>
                <a:spcPts val="1000"/>
              </a:spcAft>
            </a:pPr>
            <a:r>
              <a:rPr sz="1800" b="1">
                <a:solidFill>
                  <a:srgbClr val="21568C"/>
                </a:solidFill>
                <a:latin typeface="Poppins"/>
              </a:rPr>
              <a:t>Mean DQA = (completeness &amp; outlier score + consistency score) /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Proportion threshold for outlier detection</a:t>
                      </a:r>
                    </a:p>
                  </a:txBody>
                  <a:tcPr/>
                </a:tc>
                <a:tc>
                  <a:txBody>
                    <a:bodyPr wrap="square"/>
                    <a:lstStyle/>
                    <a:p>
                      <a:r>
                        <a:rPr sz="1400">
                          <a:solidFill>
                            <a:srgbClr val="2C3E50"/>
                          </a:solidFill>
                          <a:latin typeface="Poppins"/>
                        </a:rPr>
                        <a:t>Adjusts the threshold for proportional contribution to flag a facility-month as an outlier</a:t>
                      </a:r>
                    </a:p>
                  </a:txBody>
                  <a:tcPr/>
                </a:tc>
              </a:tr>
              <a:tr h="320040">
                <a:tc>
                  <a:txBody>
                    <a:bodyPr wrap="square"/>
                    <a:lstStyle/>
                    <a:p>
                      <a:r>
                        <a:rPr sz="1400" b="1">
                          <a:solidFill>
                            <a:srgbClr val="21568C"/>
                          </a:solidFill>
                          <a:latin typeface="Poppins"/>
                        </a:rPr>
                        <a:t>Minimum count threshold for consideration</a:t>
                      </a:r>
                    </a:p>
                  </a:txBody>
                  <a:tcPr/>
                </a:tc>
                <a:tc>
                  <a:txBody>
                    <a:bodyPr wrap="square"/>
                    <a:lstStyle/>
                    <a:p>
                      <a:r>
                        <a:rPr sz="1400">
                          <a:solidFill>
                            <a:srgbClr val="2C3E50"/>
                          </a:solidFill>
                          <a:latin typeface="Poppins"/>
                        </a:rPr>
                        <a:t>Defines the minimum count required for a facility-month to be considered an outlier</a:t>
                      </a:r>
                    </a:p>
                  </a:txBody>
                  <a:tcPr/>
                </a:tc>
              </a:tr>
              <a:tr h="320040">
                <a:tc>
                  <a:txBody>
                    <a:bodyPr wrap="square"/>
                    <a:lstStyle/>
                    <a:p>
                      <a:r>
                        <a:rPr sz="1400" b="1">
                          <a:solidFill>
                            <a:srgbClr val="21568C"/>
                          </a:solidFill>
                          <a:latin typeface="Poppins"/>
                        </a:rPr>
                        <a:t>Number of MADs</a:t>
                      </a:r>
                    </a:p>
                  </a:txBody>
                  <a:tcPr/>
                </a:tc>
                <a:tc>
                  <a:txBody>
                    <a:bodyPr wrap="square"/>
                    <a:lstStyle/>
                    <a:p>
                      <a:r>
                        <a:rPr sz="1400">
                          <a:solidFill>
                            <a:srgbClr val="2C3E50"/>
                          </a:solidFill>
                          <a:latin typeface="Poppins"/>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Poppins"/>
                        </a:rPr>
                        <a:t>Indicators subjected to DQA</a:t>
                      </a:r>
                    </a:p>
                  </a:txBody>
                  <a:tcPr/>
                </a:tc>
                <a:tc>
                  <a:txBody>
                    <a:bodyPr wrap="square"/>
                    <a:lstStyle/>
                    <a:p>
                      <a:r>
                        <a:rPr sz="1400">
                          <a:solidFill>
                            <a:srgbClr val="2C3E50"/>
                          </a:solidFill>
                          <a:latin typeface="Poppins"/>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Poppins"/>
                        </a:rPr>
                        <a:t>Consistency pairs used</a:t>
                      </a:r>
                    </a:p>
                  </a:txBody>
                  <a:tcPr/>
                </a:tc>
                <a:tc>
                  <a:txBody>
                    <a:bodyPr wrap="square"/>
                    <a:lstStyle/>
                    <a:p>
                      <a:r>
                        <a:rPr sz="1400">
                          <a:solidFill>
                            <a:srgbClr val="2C3E50"/>
                          </a:solidFill>
                          <a:latin typeface="Poppins"/>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Poppins"/>
                        </a:defRPr>
                      </a:pPr>
                      <a:r>
                        <a:t>Issue</a:t>
                      </a:r>
                    </a:p>
                  </a:txBody>
                  <a:tcPr>
                    <a:solidFill>
                      <a:srgbClr val="CAE6E9"/>
                    </a:solidFill>
                  </a:tcPr>
                </a:tc>
                <a:tc>
                  <a:txBody>
                    <a:bodyPr wrap="square"/>
                    <a:lstStyle/>
                    <a:p>
                      <a:pPr>
                        <a:defRPr sz="1400" b="1">
                          <a:solidFill>
                            <a:srgbClr val="21568C"/>
                          </a:solidFill>
                          <a:latin typeface="Poppins"/>
                        </a:defRPr>
                      </a:pPr>
                      <a:r>
                        <a:t>Impact on analysis</a:t>
                      </a:r>
                    </a:p>
                  </a:txBody>
                  <a:tcPr>
                    <a:solidFill>
                      <a:srgbClr val="CAE6E9"/>
                    </a:solidFill>
                  </a:tcPr>
                </a:tc>
              </a:tr>
              <a:tr h="320040">
                <a:tc>
                  <a:txBody>
                    <a:bodyPr wrap="square"/>
                    <a:lstStyle/>
                    <a:p>
                      <a:r>
                        <a:rPr sz="1400" b="1">
                          <a:solidFill>
                            <a:srgbClr val="21568C"/>
                          </a:solidFill>
                          <a:latin typeface="Poppins"/>
                        </a:rPr>
                        <a:t>Outliers</a:t>
                      </a:r>
                    </a:p>
                  </a:txBody>
                  <a:tcPr/>
                </a:tc>
                <a:tc>
                  <a:txBody>
                    <a:bodyPr wrap="square"/>
                    <a:lstStyle/>
                    <a:p>
                      <a:r>
                        <a:rPr sz="1400">
                          <a:solidFill>
                            <a:srgbClr val="2C3E50"/>
                          </a:solidFill>
                          <a:latin typeface="Poppins"/>
                        </a:rPr>
                        <a:t>Extreme values create artificial spikes in service volumes</a:t>
                      </a:r>
                    </a:p>
                  </a:txBody>
                  <a:tcPr/>
                </a:tc>
              </a:tr>
              <a:tr h="320040">
                <a:tc>
                  <a:txBody>
                    <a:bodyPr wrap="square"/>
                    <a:lstStyle/>
                    <a:p>
                      <a:r>
                        <a:rPr sz="1400" b="1">
                          <a:solidFill>
                            <a:srgbClr val="21568C"/>
                          </a:solidFill>
                          <a:latin typeface="Poppins"/>
                        </a:rPr>
                        <a:t>Incomplete reporting</a:t>
                      </a:r>
                    </a:p>
                  </a:txBody>
                  <a:tcPr/>
                </a:tc>
                <a:tc>
                  <a:txBody>
                    <a:bodyPr wrap="square"/>
                    <a:lstStyle/>
                    <a:p>
                      <a:r>
                        <a:rPr sz="1400">
                          <a:solidFill>
                            <a:srgbClr val="2C3E50"/>
                          </a:solidFill>
                          <a:latin typeface="Poppins"/>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Poppins"/>
                        </a:defRPr>
                      </a:pPr>
                      <a:r>
                        <a:t>Scenario</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Unadjusted</a:t>
                      </a:r>
                    </a:p>
                  </a:txBody>
                  <a:tcPr/>
                </a:tc>
                <a:tc>
                  <a:txBody>
                    <a:bodyPr wrap="square"/>
                    <a:lstStyle/>
                    <a:p>
                      <a:r>
                        <a:rPr sz="1400">
                          <a:solidFill>
                            <a:srgbClr val="2C3E50"/>
                          </a:solidFill>
                          <a:latin typeface="Poppins"/>
                        </a:rPr>
                        <a:t>Original reported values</a:t>
                      </a:r>
                    </a:p>
                  </a:txBody>
                  <a:tcPr/>
                </a:tc>
              </a:tr>
              <a:tr h="320040">
                <a:tc>
                  <a:txBody>
                    <a:bodyPr wrap="square"/>
                    <a:lstStyle/>
                    <a:p>
                      <a:r>
                        <a:rPr sz="1400" b="1">
                          <a:solidFill>
                            <a:srgbClr val="21568C"/>
                          </a:solidFill>
                          <a:latin typeface="Poppins"/>
                        </a:rPr>
                        <a:t>Outliers adjusted</a:t>
                      </a:r>
                    </a:p>
                  </a:txBody>
                  <a:tcPr/>
                </a:tc>
                <a:tc>
                  <a:txBody>
                    <a:bodyPr wrap="square"/>
                    <a:lstStyle/>
                    <a:p>
                      <a:r>
                        <a:rPr sz="1400">
                          <a:solidFill>
                            <a:srgbClr val="2C3E50"/>
                          </a:solidFill>
                          <a:latin typeface="Poppins"/>
                        </a:rPr>
                        <a:t>Extreme values replaced</a:t>
                      </a:r>
                    </a:p>
                  </a:txBody>
                  <a:tcPr/>
                </a:tc>
              </a:tr>
              <a:tr h="320040">
                <a:tc>
                  <a:txBody>
                    <a:bodyPr wrap="square"/>
                    <a:lstStyle/>
                    <a:p>
                      <a:r>
                        <a:rPr sz="1400" b="1">
                          <a:solidFill>
                            <a:srgbClr val="21568C"/>
                          </a:solidFill>
                          <a:latin typeface="Poppins"/>
                        </a:rPr>
                        <a:t>Completeness adjusted</a:t>
                      </a:r>
                    </a:p>
                  </a:txBody>
                  <a:tcPr/>
                </a:tc>
                <a:tc>
                  <a:txBody>
                    <a:bodyPr wrap="square"/>
                    <a:lstStyle/>
                    <a:p>
                      <a:r>
                        <a:rPr sz="1400">
                          <a:solidFill>
                            <a:srgbClr val="2C3E50"/>
                          </a:solidFill>
                          <a:latin typeface="Poppins"/>
                        </a:rPr>
                        <a:t>Missing values imputed</a:t>
                      </a:r>
                    </a:p>
                  </a:txBody>
                  <a:tcPr/>
                </a:tc>
              </a:tr>
              <a:tr h="320040">
                <a:tc>
                  <a:txBody>
                    <a:bodyPr wrap="square"/>
                    <a:lstStyle/>
                    <a:p>
                      <a:r>
                        <a:rPr sz="1400" b="1">
                          <a:solidFill>
                            <a:srgbClr val="21568C"/>
                          </a:solidFill>
                          <a:latin typeface="Poppins"/>
                        </a:rPr>
                        <a:t>Both adjusted</a:t>
                      </a:r>
                    </a:p>
                  </a:txBody>
                  <a:tcPr/>
                </a:tc>
                <a:tc>
                  <a:txBody>
                    <a:bodyPr wrap="square"/>
                    <a:lstStyle/>
                    <a:p>
                      <a:r>
                        <a:rPr sz="1400">
                          <a:solidFill>
                            <a:srgbClr val="2C3E50"/>
                          </a:solidFill>
                          <a:latin typeface="Poppins"/>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Certain indicators are excluded from the adjustment process:</a:t>
            </a:r>
          </a:p>
          <a:p>
            <a:pPr>
              <a:spcAft>
                <a:spcPts val="800"/>
              </a:spcAft>
            </a:pPr>
            <a:r>
              <a:rPr sz="1800">
                <a:solidFill>
                  <a:srgbClr val="D0CB17"/>
                </a:solidFill>
                <a:latin typeface="Poppins"/>
              </a:rPr>
              <a:t>• </a:t>
            </a:r>
            <a:r>
              <a:rPr sz="1800" b="1">
                <a:solidFill>
                  <a:srgbClr val="21568C"/>
                </a:solidFill>
                <a:latin typeface="Poppins"/>
              </a:rPr>
              <a:t>Mortality indicators</a:t>
            </a:r>
            <a:r>
              <a:rPr sz="1800">
                <a:solidFill>
                  <a:srgbClr val="2C3E50"/>
                </a:solidFill>
                <a:latin typeface="Poppins"/>
              </a:rPr>
              <a:t> (maternal deaths, neonatal deaths, under-5 deaths): These represent discrete events where smoothing or imputation is not appropriate</a:t>
            </a:r>
          </a:p>
          <a:p>
            <a:pPr>
              <a:spcAft>
                <a:spcPts val="800"/>
              </a:spcAft>
            </a:pPr>
            <a:r>
              <a:rPr sz="1800">
                <a:solidFill>
                  <a:srgbClr val="D0CB17"/>
                </a:solidFill>
                <a:latin typeface="Poppins"/>
              </a:rPr>
              <a:t>• </a:t>
            </a:r>
            <a:r>
              <a:rPr sz="1800" b="1">
                <a:solidFill>
                  <a:srgbClr val="21568C"/>
                </a:solidFill>
                <a:latin typeface="Poppins"/>
              </a:rPr>
              <a:t>Low-volume indicators</a:t>
            </a:r>
            <a:r>
              <a:rPr sz="1800">
                <a:solidFill>
                  <a:srgbClr val="2C3E50"/>
                </a:solidFill>
                <a:latin typeface="Poppins"/>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3 months before + 3 months after the outlier</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When insufficient preceding data (e.g., start of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When insufficient following data (e.g., end of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Same month, previous year</a:t>
                      </a:r>
                    </a:p>
                  </a:txBody>
                  <a:tcPr/>
                </a:tc>
                <a:tc>
                  <a:txBody>
                    <a:bodyPr wrap="square"/>
                    <a:lstStyle/>
                    <a:p>
                      <a:r>
                        <a:rPr sz="1400">
                          <a:solidFill>
                            <a:srgbClr val="2C3E50"/>
                          </a:solidFill>
                          <a:latin typeface="Poppins"/>
                        </a:rPr>
                        <a:t>When rolling averages unavailable; useful for seasonal indicators</a:t>
                      </a:r>
                    </a:p>
                  </a:txBody>
                  <a:tcPr/>
                </a:tc>
              </a:tr>
              <a:tr h="320040">
                <a:tc>
                  <a:txBody>
                    <a:bodyPr wrap="square"/>
                    <a:lstStyle/>
                    <a:p>
                      <a:r>
                        <a:rPr sz="1400">
                          <a:solidFill>
                            <a:srgbClr val="2C3E50"/>
                          </a:solidFill>
                          <a:latin typeface="Poppins"/>
                        </a:rPr>
                        <a:t>5</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When sufficient data exists before and after the gap</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For gaps at the start of the time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For gaps at the end of the time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Poppins"/>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Measure changes in service volume</a:t>
            </a:r>
          </a:p>
          <a:p>
            <a:pPr>
              <a:spcAft>
                <a:spcPts val="1400"/>
              </a:spcAft>
            </a:pPr>
            <a:r>
              <a:rPr sz="1800">
                <a:solidFill>
                  <a:srgbClr val="333333"/>
                </a:solidFill>
                <a:latin typeface="Poppins"/>
              </a:rPr>
              <a:t>Year-over-year comparison of service volumes identifies increases or decreases across regions and indicators.</a:t>
            </a:r>
          </a:p>
          <a:p>
            <a:pPr>
              <a:spcAft>
                <a:spcPts val="1400"/>
              </a:spcAft>
            </a:pPr>
            <a:r>
              <a:rPr sz="1800" b="1">
                <a:solidFill>
                  <a:srgbClr val="21568C"/>
                </a:solidFill>
                <a:latin typeface="Poppins"/>
              </a:rPr>
              <a:t>2. Detect and quantify disruptions</a:t>
            </a:r>
          </a:p>
          <a:p>
            <a:pPr>
              <a:spcAft>
                <a:spcPts val="1400"/>
              </a:spcAft>
            </a:pPr>
            <a:r>
              <a:rPr sz="1800">
                <a:solidFill>
                  <a:srgbClr val="333333"/>
                </a:solidFill>
                <a:latin typeface="Poppins"/>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over time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Year-over-year percent change</a:t>
            </a:r>
            <a:r>
              <a:rPr sz="1800">
                <a:solidFill>
                  <a:srgbClr val="333333"/>
                </a:solidFill>
                <a:latin typeface="Poppins"/>
              </a:rPr>
              <a:t> quantifies shifts in service delivery between consecutive years.</a:t>
            </a:r>
          </a:p>
          <a:p>
            <a:pPr>
              <a:spcAft>
                <a:spcPts val="1400"/>
              </a:spcAft>
            </a:pPr>
            <a:r>
              <a:rPr sz="1800">
                <a:solidFill>
                  <a:srgbClr val="333333"/>
                </a:solidFill>
                <a:latin typeface="Poppins"/>
              </a:rPr>
              <a:t>For each indicator and region, total volume in the current year is compared to the previous year:</a:t>
            </a:r>
          </a:p>
          <a:p>
            <a:pPr>
              <a:spcAft>
                <a:spcPts val="1400"/>
              </a:spcAft>
            </a:pPr>
            <a:r>
              <a:rPr sz="1800" b="1">
                <a:solidFill>
                  <a:srgbClr val="21568C"/>
                </a:solidFill>
                <a:latin typeface="Poppins"/>
              </a:rPr>
              <a:t>Percent change</a:t>
            </a:r>
            <a:r>
              <a:rPr sz="1800">
                <a:solidFill>
                  <a:srgbClr val="333333"/>
                </a:solidFill>
                <a:latin typeface="Poppins"/>
              </a:rPr>
              <a:t> = (Current year − Previous year) ÷ Previous year × 100</a:t>
            </a:r>
          </a:p>
          <a:p>
            <a:pPr>
              <a:spcAft>
                <a:spcPts val="1400"/>
              </a:spcAft>
            </a:pPr>
            <a:r>
              <a:rPr sz="1800">
                <a:solidFill>
                  <a:srgbClr val="333333"/>
                </a:solidFill>
                <a:latin typeface="Poppins"/>
              </a:rPr>
              <a:t>Changes exceeding </a:t>
            </a:r>
            <a:r>
              <a:rPr sz="1800" b="1">
                <a:solidFill>
                  <a:srgbClr val="21568C"/>
                </a:solidFill>
                <a:latin typeface="Poppins"/>
              </a:rPr>
              <a:t>±10%</a:t>
            </a:r>
            <a:r>
              <a:rPr sz="1800">
                <a:solidFill>
                  <a:srgbClr val="333333"/>
                </a:solidFill>
                <a:latin typeface="Poppins"/>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Interpretation</a:t>
            </a:r>
          </a:p>
          <a:p>
            <a:pPr>
              <a:spcAft>
                <a:spcPts val="1400"/>
              </a:spcAft>
            </a:pPr>
            <a:r>
              <a:rPr sz="1800" b="1">
                <a:solidFill>
                  <a:srgbClr val="21568C"/>
                </a:solidFill>
                <a:latin typeface="Poppins"/>
              </a:rPr>
              <a:t>Bars</a:t>
            </a:r>
            <a:r>
              <a:rPr sz="1800">
                <a:solidFill>
                  <a:srgbClr val="333333"/>
                </a:solidFill>
                <a:latin typeface="Poppins"/>
              </a:rPr>
              <a:t> show annual service volumes by region. </a:t>
            </a:r>
            <a:r>
              <a:rPr sz="1800" b="1">
                <a:solidFill>
                  <a:srgbClr val="21568C"/>
                </a:solidFill>
                <a:latin typeface="Poppins"/>
              </a:rPr>
              <a:t>Percentages</a:t>
            </a:r>
            <a:r>
              <a:rPr sz="1800">
                <a:solidFill>
                  <a:srgbClr val="333333"/>
                </a:solidFill>
                <a:latin typeface="Poppins"/>
              </a:rPr>
              <a:t> indicate year-over-year change.</a:t>
            </a:r>
          </a:p>
          <a:p>
            <a:pPr>
              <a:spcAft>
                <a:spcPts val="1400"/>
              </a:spcAft>
            </a:pPr>
            <a:r>
              <a:rPr sz="1800" b="1">
                <a:solidFill>
                  <a:srgbClr val="21568C"/>
                </a:solidFill>
                <a:latin typeface="Poppins"/>
              </a:rPr>
              <a:t>Key considerations:</a:t>
            </a:r>
          </a:p>
          <a:p>
            <a:pPr>
              <a:spcAft>
                <a:spcPts val="800"/>
              </a:spcAft>
            </a:pPr>
            <a:r>
              <a:rPr sz="1800">
                <a:solidFill>
                  <a:srgbClr val="D0CB17"/>
                </a:solidFill>
                <a:latin typeface="Poppins"/>
              </a:rPr>
              <a:t>• </a:t>
            </a:r>
            <a:r>
              <a:rPr sz="1800">
                <a:solidFill>
                  <a:srgbClr val="2C3E50"/>
                </a:solidFill>
                <a:latin typeface="Poppins"/>
              </a:rPr>
              <a:t>Which regions exhibit the largest changes?</a:t>
            </a:r>
          </a:p>
          <a:p>
            <a:pPr>
              <a:spcAft>
                <a:spcPts val="800"/>
              </a:spcAft>
            </a:pPr>
            <a:r>
              <a:rPr sz="1800">
                <a:solidFill>
                  <a:srgbClr val="D0CB17"/>
                </a:solidFill>
                <a:latin typeface="Poppins"/>
              </a:rPr>
              <a:t>• </a:t>
            </a:r>
            <a:r>
              <a:rPr sz="1800">
                <a:solidFill>
                  <a:srgbClr val="2C3E50"/>
                </a:solidFill>
                <a:latin typeface="Poppins"/>
              </a:rPr>
              <a:t>Are changes consistent across regions or geographically concentrated?</a:t>
            </a:r>
          </a:p>
          <a:p>
            <a:pPr>
              <a:spcAft>
                <a:spcPts val="800"/>
              </a:spcAft>
            </a:pPr>
            <a:r>
              <a:rPr sz="1800">
                <a:solidFill>
                  <a:srgbClr val="D0CB17"/>
                </a:solidFill>
                <a:latin typeface="Poppins"/>
              </a:rPr>
              <a:t>• </a:t>
            </a:r>
            <a:r>
              <a:rPr sz="1800">
                <a:solidFill>
                  <a:srgbClr val="2C3E50"/>
                </a:solidFill>
                <a:latin typeface="Poppins"/>
              </a:rPr>
              <a:t>Do patterns vary by indicator?</a:t>
            </a:r>
          </a:p>
        </p:txBody>
      </p:sp>
      <p:pic>
        <p:nvPicPr>
          <p:cNvPr id="5" name="Picture 4" descr="Module3_1_Change_in_service_volume.png"/>
          <p:cNvPicPr>
            <a:picLocks noChangeAspect="1"/>
          </p:cNvPicPr>
          <p:nvPr/>
        </p:nvPicPr>
        <p:blipFill>
          <a:blip r:embed="rId2"/>
          <a:stretch>
            <a:fillRect/>
          </a:stretch>
        </p:blipFill>
        <p:spPr>
          <a:xfrm>
            <a:off x="6629400" y="1371600"/>
            <a:ext cx="5321479" cy="32385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isruption_chart.png"/>
          <p:cNvPicPr>
            <a:picLocks noChangeAspect="1"/>
          </p:cNvPicPr>
          <p:nvPr/>
        </p:nvPicPr>
        <p:blipFill>
          <a:blip r:embed="rId2"/>
          <a:stretch>
            <a:fillRect/>
          </a:stretch>
        </p:blipFill>
        <p:spPr>
          <a:xfrm>
            <a:off x="1523847" y="1371600"/>
            <a:ext cx="9144000" cy="476888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Disruptions</a:t>
            </a:r>
            <a:r>
              <a:rPr sz="1800">
                <a:solidFill>
                  <a:srgbClr val="333333"/>
                </a:solidFill>
                <a:latin typeface="Poppins"/>
              </a:rPr>
              <a:t> are flagged when volumes fall below anticipated levels, signaling potential barriers to access, resource shortages, or system failures.</a:t>
            </a:r>
          </a:p>
          <a:p>
            <a:pPr>
              <a:spcAft>
                <a:spcPts val="1000"/>
              </a:spcAft>
            </a:pPr>
            <a:r>
              <a:rPr sz="1800" b="1">
                <a:solidFill>
                  <a:srgbClr val="21568C"/>
                </a:solidFill>
                <a:latin typeface="Poppins"/>
              </a:rPr>
              <a:t>Surpluses</a:t>
            </a:r>
            <a:r>
              <a:rPr sz="1800">
                <a:solidFill>
                  <a:srgbClr val="333333"/>
                </a:solidFill>
                <a:latin typeface="Poppins"/>
              </a:rPr>
              <a:t> occur when volumes exceed expectations, which may indicate increased demand, over-reporting, or changes in service delivery.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Using past data to set expectations:</a:t>
            </a:r>
            <a:r>
              <a:rPr sz="1800">
                <a:solidFill>
                  <a:srgbClr val="333333"/>
                </a:solidFill>
                <a:latin typeface="Poppins"/>
              </a:rPr>
              <a:t> We look at the past few years of data to understand the typical pattern for each month, accounting for regular seasonal changes.</a:t>
            </a:r>
          </a:p>
          <a:p>
            <a:pPr>
              <a:spcAft>
                <a:spcPts val="1400"/>
              </a:spcAft>
            </a:pPr>
            <a:r>
              <a:rPr sz="1800" b="1">
                <a:solidFill>
                  <a:srgbClr val="21568C"/>
                </a:solidFill>
                <a:latin typeface="Poppins"/>
              </a:rPr>
              <a:t>Spotting unusual changes:</a:t>
            </a:r>
            <a:r>
              <a:rPr sz="1800">
                <a:solidFill>
                  <a:srgbClr val="333333"/>
                </a:solidFill>
                <a:latin typeface="Poppins"/>
              </a:rPr>
              <a:t> We compare current service volumes to expectations. If we see volumes much higher or lower than expected, we flag it as an unusual change.</a:t>
            </a:r>
          </a:p>
          <a:p>
            <a:pPr>
              <a:spcAft>
                <a:spcPts val="1400"/>
              </a:spcAft>
            </a:pPr>
            <a:r>
              <a:rPr sz="1800" b="1">
                <a:solidFill>
                  <a:srgbClr val="21568C"/>
                </a:solidFill>
                <a:latin typeface="Poppins"/>
              </a:rPr>
              <a:t>Handling past disruptions:</a:t>
            </a:r>
            <a:r>
              <a:rPr sz="1800">
                <a:solidFill>
                  <a:srgbClr val="333333"/>
                </a:solidFill>
                <a:latin typeface="Poppins"/>
              </a:rPr>
              <a:t> We adjust historical data by removing previous big, unexpected changes so one-off events don't skew our understanding of what's "normal."</a:t>
            </a:r>
          </a:p>
          <a:p>
            <a:pPr>
              <a:spcAft>
                <a:spcPts val="1400"/>
              </a:spcAft>
            </a:pPr>
            <a:r>
              <a:rPr sz="1800" b="1">
                <a:solidFill>
                  <a:srgbClr val="21568C"/>
                </a:solidFill>
                <a:latin typeface="Poppins"/>
              </a:rPr>
              <a:t>Detecting disruptions over time:</a:t>
            </a:r>
            <a:r>
              <a:rPr sz="1800">
                <a:solidFill>
                  <a:srgbClr val="333333"/>
                </a:solidFill>
                <a:latin typeface="Poppins"/>
              </a:rPr>
              <a:t> We look at trends to see if there are clear shifts in health service use over several months.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Extension of service utilization analysis, using more complex statistical approaches not available in DHIS2.</a:t>
            </a:r>
          </a:p>
          <a:p>
            <a:pPr>
              <a:spcAft>
                <a:spcPts val="1400"/>
              </a:spcAft>
            </a:pPr>
            <a:r>
              <a:rPr sz="1800">
                <a:solidFill>
                  <a:srgbClr val="333333"/>
                </a:solidFill>
                <a:latin typeface="Poppins"/>
              </a:rPr>
              <a:t>Using a regression framework, we are able to:</a:t>
            </a:r>
          </a:p>
          <a:p>
            <a:pPr>
              <a:spcAft>
                <a:spcPts val="800"/>
              </a:spcAft>
            </a:pPr>
            <a:r>
              <a:rPr sz="1800">
                <a:solidFill>
                  <a:srgbClr val="D0CB17"/>
                </a:solidFill>
                <a:latin typeface="Poppins"/>
              </a:rPr>
              <a:t>• </a:t>
            </a:r>
            <a:r>
              <a:rPr sz="1800">
                <a:solidFill>
                  <a:srgbClr val="2C3E50"/>
                </a:solidFill>
                <a:latin typeface="Poppins"/>
              </a:rPr>
              <a:t>Account for seasonality</a:t>
            </a:r>
          </a:p>
          <a:p>
            <a:pPr>
              <a:spcAft>
                <a:spcPts val="800"/>
              </a:spcAft>
            </a:pPr>
            <a:r>
              <a:rPr sz="1800">
                <a:solidFill>
                  <a:srgbClr val="D0CB17"/>
                </a:solidFill>
                <a:latin typeface="Poppins"/>
              </a:rPr>
              <a:t>• </a:t>
            </a:r>
            <a:r>
              <a:rPr sz="1800">
                <a:solidFill>
                  <a:srgbClr val="2C3E50"/>
                </a:solidFill>
                <a:latin typeface="Poppins"/>
              </a:rPr>
              <a:t>Exclude unusual changes to ensure one-off events aren't influencing normal trends</a:t>
            </a:r>
          </a:p>
          <a:p>
            <a:pPr>
              <a:spcAft>
                <a:spcPts val="800"/>
              </a:spcAft>
            </a:pPr>
            <a:r>
              <a:rPr sz="1800">
                <a:solidFill>
                  <a:srgbClr val="D0CB17"/>
                </a:solidFill>
                <a:latin typeface="Poppins"/>
              </a:rPr>
              <a:t>• </a:t>
            </a:r>
            <a:r>
              <a:rPr sz="1800">
                <a:solidFill>
                  <a:srgbClr val="2C3E50"/>
                </a:solidFill>
                <a:latin typeface="Poppins"/>
              </a:rPr>
              <a:t>Use historical data as a baseline for context</a:t>
            </a:r>
          </a:p>
          <a:p>
            <a:pPr>
              <a:spcAft>
                <a:spcPts val="800"/>
              </a:spcAft>
            </a:pPr>
            <a:r>
              <a:rPr sz="1800">
                <a:solidFill>
                  <a:srgbClr val="D0CB17"/>
                </a:solidFill>
                <a:latin typeface="Poppins"/>
              </a:rPr>
              <a:t>• </a:t>
            </a:r>
            <a:r>
              <a:rPr sz="1800">
                <a:solidFill>
                  <a:srgbClr val="2C3E50"/>
                </a:solidFill>
                <a:latin typeface="Poppins"/>
              </a:rPr>
              <a:t>Detect disruptions and recovery patterns</a:t>
            </a:r>
          </a:p>
          <a:p>
            <a:pPr>
              <a:spcAft>
                <a:spcPts val="800"/>
              </a:spcAft>
            </a:pPr>
            <a:r>
              <a:rPr sz="1800">
                <a:solidFill>
                  <a:srgbClr val="D0CB17"/>
                </a:solidFill>
                <a:latin typeface="Poppins"/>
              </a:rPr>
              <a:t>• </a:t>
            </a:r>
            <a:r>
              <a:rPr sz="1800">
                <a:solidFill>
                  <a:srgbClr val="2C3E50"/>
                </a:solidFill>
                <a:latin typeface="Poppins"/>
              </a:rPr>
              <a:t>Quantify changes with a robust methodology as compared to just observing simple fluctuations in a trend line</a:t>
            </a:r>
          </a:p>
          <a:p>
            <a:pPr>
              <a:spcAft>
                <a:spcPts val="1400"/>
              </a:spcAft>
            </a:pPr>
            <a:r>
              <a:rPr sz="1800">
                <a:solidFill>
                  <a:srgbClr val="333333"/>
                </a:solidFill>
                <a:latin typeface="Poppins"/>
              </a:rPr>
              <a:t>This improves the ability to interpret and compare utilization data across national and sub-national areas without needing population denominators.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National-level comparison of observed service volumes against expected values derived from historical trends and seasonal patterns.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Subnational disaggregation enables identification of geographic areas where disruptions are concentrated.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variable to use for modeling</a:t>
                      </a:r>
                    </a:p>
                  </a:txBody>
                  <a:tcPr/>
                </a:tc>
                <a:tc>
                  <a:txBody>
                    <a:bodyPr wrap="square"/>
                    <a:lstStyle/>
                    <a:p>
                      <a:r>
                        <a:rPr sz="1400">
                          <a:solidFill>
                            <a:srgbClr val="2C3E50"/>
                          </a:solidFill>
                          <a:latin typeface="Poppins"/>
                        </a:rPr>
                        <a:t>Which adjusted count to use for calculating expected values</a:t>
                      </a:r>
                    </a:p>
                  </a:txBody>
                  <a:tcPr/>
                </a:tc>
              </a:tr>
              <a:tr h="320040">
                <a:tc>
                  <a:txBody>
                    <a:bodyPr wrap="square"/>
                    <a:lstStyle/>
                    <a:p>
                      <a:r>
                        <a:rPr sz="1400" b="1">
                          <a:solidFill>
                            <a:srgbClr val="21568C"/>
                          </a:solidFill>
                          <a:latin typeface="Poppins"/>
                        </a:rPr>
                        <a:t>Count variable to use for visualization</a:t>
                      </a:r>
                    </a:p>
                  </a:txBody>
                  <a:tcPr/>
                </a:tc>
                <a:tc>
                  <a:txBody>
                    <a:bodyPr wrap="square"/>
                    <a:lstStyle/>
                    <a:p>
                      <a:r>
                        <a:rPr sz="1400">
                          <a:solidFill>
                            <a:srgbClr val="2C3E50"/>
                          </a:solidFill>
                          <a:latin typeface="Poppins"/>
                        </a:rPr>
                        <a:t>Which adjusted count to use as actual observed values</a:t>
                      </a:r>
                    </a:p>
                  </a:txBody>
                  <a:tcPr/>
                </a:tc>
              </a:tr>
              <a:tr h="320040">
                <a:tc>
                  <a:txBody>
                    <a:bodyPr wrap="square"/>
                    <a:lstStyle/>
                    <a:p>
                      <a:r>
                        <a:rPr sz="1400" b="1">
                          <a:solidFill>
                            <a:srgbClr val="21568C"/>
                          </a:solidFill>
                          <a:latin typeface="Poppins"/>
                        </a:rPr>
                        <a:t>Run district-level model</a:t>
                      </a:r>
                    </a:p>
                  </a:txBody>
                  <a:tcPr/>
                </a:tc>
                <a:tc>
                  <a:txBody>
                    <a:bodyPr wrap="square"/>
                    <a:lstStyle/>
                    <a:p>
                      <a:r>
                        <a:rPr sz="1400">
                          <a:solidFill>
                            <a:srgbClr val="2C3E50"/>
                          </a:solidFill>
                          <a:latin typeface="Poppins"/>
                        </a:rPr>
                        <a:t>Run regressions at admin_area_3 level. Set to Yes for detailed analysis, No for faster runtime</a:t>
                      </a:r>
                    </a:p>
                  </a:txBody>
                  <a:tcPr/>
                </a:tc>
              </a:tr>
              <a:tr h="320040">
                <a:tc>
                  <a:txBody>
                    <a:bodyPr wrap="square"/>
                    <a:lstStyle/>
                    <a:p>
                      <a:r>
                        <a:rPr sz="1400" b="1">
                          <a:solidFill>
                            <a:srgbClr val="21568C"/>
                          </a:solidFill>
                          <a:latin typeface="Poppins"/>
                        </a:rPr>
                        <a:t>Run admin_area_4 analysis</a:t>
                      </a:r>
                    </a:p>
                  </a:txBody>
                  <a:tcPr/>
                </a:tc>
                <a:tc>
                  <a:txBody>
                    <a:bodyPr wrap="square"/>
                    <a:lstStyle/>
                    <a:p>
                      <a:r>
                        <a:rPr sz="1400">
                          <a:solidFill>
                            <a:srgbClr val="2C3E50"/>
                          </a:solidFill>
                          <a:latin typeface="Poppins"/>
                        </a:rPr>
                        <a:t>Run finest-level analysis. Warning: can be very slow for large datasets</a:t>
                      </a:r>
                    </a:p>
                  </a:txBody>
                  <a:tcPr/>
                </a:tc>
              </a:tr>
              <a:tr h="320040">
                <a:tc>
                  <a:txBody>
                    <a:bodyPr wrap="square"/>
                    <a:lstStyle/>
                    <a:p>
                      <a:r>
                        <a:rPr sz="1400" b="1">
                          <a:solidFill>
                            <a:srgbClr val="21568C"/>
                          </a:solidFill>
                          <a:latin typeface="Poppins"/>
                        </a:rPr>
                        <a:t>Threshold for MAD-based control limits</a:t>
                      </a:r>
                    </a:p>
                  </a:txBody>
                  <a:tcPr/>
                </a:tc>
                <a:tc>
                  <a:txBody>
                    <a:bodyPr wrap="square"/>
                    <a:lstStyle/>
                    <a:p>
                      <a:r>
                        <a:rPr sz="1400">
                          <a:solidFill>
                            <a:srgbClr val="2C3E50"/>
                          </a:solidFill>
                          <a:latin typeface="Poppins"/>
                        </a:rPr>
                        <a:t>Number of MADs to flag sharp deviations. Default 1.5; higher = less sensitive</a:t>
                      </a:r>
                    </a:p>
                  </a:txBody>
                  <a:tcPr/>
                </a:tc>
              </a:tr>
              <a:tr h="320040">
                <a:tc>
                  <a:txBody>
                    <a:bodyPr wrap="square"/>
                    <a:lstStyle/>
                    <a:p>
                      <a:r>
                        <a:rPr sz="1400" b="1">
                          <a:solidFill>
                            <a:srgbClr val="21568C"/>
                          </a:solidFill>
                          <a:latin typeface="Poppins"/>
                        </a:rPr>
                        <a:t>Smoothing window (k)</a:t>
                      </a:r>
                    </a:p>
                  </a:txBody>
                  <a:tcPr/>
                </a:tc>
                <a:tc>
                  <a:txBody>
                    <a:bodyPr wrap="square"/>
                    <a:lstStyle/>
                    <a:p>
                      <a:r>
                        <a:rPr sz="1400">
                          <a:solidFill>
                            <a:srgbClr val="2C3E50"/>
                          </a:solidFill>
                          <a:latin typeface="Poppins"/>
                        </a:rPr>
                        <a:t>Window size in months for rolling median smoothing. Must be odd. Default 7</a:t>
                      </a:r>
                    </a:p>
                  </a:txBody>
                  <a:tcPr/>
                </a:tc>
              </a:tr>
              <a:tr h="320040">
                <a:tc>
                  <a:txBody>
                    <a:bodyPr wrap="square"/>
                    <a:lstStyle/>
                    <a:p>
                      <a:r>
                        <a:rPr sz="1400" b="1">
                          <a:solidFill>
                            <a:srgbClr val="21568C"/>
                          </a:solidFill>
                          <a:latin typeface="Poppins"/>
                        </a:rPr>
                        <a:t>Dip threshold</a:t>
                      </a:r>
                    </a:p>
                  </a:txBody>
                  <a:tcPr/>
                </a:tc>
                <a:tc>
                  <a:txBody>
                    <a:bodyPr wrap="square"/>
                    <a:lstStyle/>
                    <a:p>
                      <a:r>
                        <a:rPr sz="1400">
                          <a:solidFill>
                            <a:srgbClr val="2C3E50"/>
                          </a:solidFill>
                          <a:latin typeface="Poppins"/>
                        </a:rPr>
                        <a:t>Flag if actual falls below this proportion of expected. Default 0.9 (≥10% drop); use 0.8 to flag only big drops</a:t>
                      </a:r>
                    </a:p>
                  </a:txBody>
                  <a:tcPr/>
                </a:tc>
              </a:tr>
              <a:tr h="320040">
                <a:tc>
                  <a:txBody>
                    <a:bodyPr wrap="square"/>
                    <a:lstStyle/>
                    <a:p>
                      <a:r>
                        <a:rPr sz="1400" b="1">
                          <a:solidFill>
                            <a:srgbClr val="21568C"/>
                          </a:solidFill>
                          <a:latin typeface="Poppins"/>
                        </a:rPr>
                        <a:t>Difference percent threshold</a:t>
                      </a:r>
                    </a:p>
                  </a:txBody>
                  <a:tcPr/>
                </a:tc>
                <a:tc>
                  <a:txBody>
                    <a:bodyPr wrap="square"/>
                    <a:lstStyle/>
                    <a:p>
                      <a:r>
                        <a:rPr sz="1400">
                          <a:solidFill>
                            <a:srgbClr val="2C3E50"/>
                          </a:solidFill>
                          <a:latin typeface="Poppins"/>
                        </a:rPr>
                        <a:t>Highlight points where actual differs from expected by more than this percent. Default 10</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Estimating the percentage of the target population that received a given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derives and validates population denominators, significantly improving coverage estimates reported from HMIS systems.</a:t>
            </a:r>
          </a:p>
          <a:p>
            <a:pPr>
              <a:spcAft>
                <a:spcPts val="1400"/>
              </a:spcAft>
            </a:pPr>
            <a:r>
              <a:rPr sz="1800">
                <a:solidFill>
                  <a:srgbClr val="333333"/>
                </a:solidFill>
                <a:latin typeface="Poppins"/>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Poppins"/>
              </a:rPr>
              <a:t>We use these estimates to track recent trends and subnational disparities in the coverage of selected health services.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Poppins"/>
                        </a:defRPr>
                      </a:pPr>
                      <a:r>
                        <a:t>Part</a:t>
                      </a:r>
                    </a:p>
                  </a:txBody>
                  <a:tcPr>
                    <a:solidFill>
                      <a:srgbClr val="CAE6E9"/>
                    </a:solidFill>
                  </a:tcPr>
                </a:tc>
                <a:tc>
                  <a:txBody>
                    <a:bodyPr wrap="square"/>
                    <a:lstStyle/>
                    <a:p>
                      <a:pPr>
                        <a:defRPr sz="1400" b="1">
                          <a:solidFill>
                            <a:srgbClr val="21568C"/>
                          </a:solidFill>
                          <a:latin typeface="Poppins"/>
                        </a:defRPr>
                      </a:pPr>
                      <a:r>
                        <a:t>Components</a:t>
                      </a:r>
                    </a:p>
                  </a:txBody>
                  <a:tcPr>
                    <a:solidFill>
                      <a:srgbClr val="CAE6E9"/>
                    </a:solidFill>
                  </a:tcPr>
                </a:tc>
              </a:tr>
              <a:tr h="320040">
                <a:tc>
                  <a:txBody>
                    <a:bodyPr wrap="square"/>
                    <a:lstStyle/>
                    <a:p>
                      <a:r>
                        <a:rPr sz="1400" b="1">
                          <a:solidFill>
                            <a:srgbClr val="21568C"/>
                          </a:solidFill>
                          <a:latin typeface="Poppins"/>
                        </a:rPr>
                        <a:t>Part 1: Denominator calculation</a:t>
                      </a:r>
                    </a:p>
                  </a:txBody>
                  <a:tcPr/>
                </a:tc>
                <a:tc>
                  <a:txBody>
                    <a:bodyPr wrap="square"/>
                    <a:lstStyle/>
                    <a:p>
                      <a:r>
                        <a:rPr sz="1400">
                          <a:solidFill>
                            <a:srgbClr val="2C3E50"/>
                          </a:solidFill>
                          <a:latin typeface="Poppins"/>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Poppins"/>
                        </a:rPr>
                        <a:t>Part 2: Coverage estimation</a:t>
                      </a:r>
                    </a:p>
                  </a:txBody>
                  <a:tcPr/>
                </a:tc>
                <a:tc>
                  <a:txBody>
                    <a:bodyPr wrap="square"/>
                    <a:lstStyle/>
                    <a:p>
                      <a:r>
                        <a:rPr sz="1400">
                          <a:solidFill>
                            <a:srgbClr val="2C3E50"/>
                          </a:solidFill>
                          <a:latin typeface="Poppins"/>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Service coverage</a:t>
            </a:r>
            <a:r>
              <a:rPr sz="1800">
                <a:solidFill>
                  <a:srgbClr val="333333"/>
                </a:solidFill>
                <a:latin typeface="Poppins"/>
              </a:rPr>
              <a:t> represents the proportion of the target population that received a specified health service.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Poppins"/>
                        </a:defRPr>
                      </a:pPr>
                      <a:r>
                        <a:t>Service</a:t>
                      </a:r>
                    </a:p>
                  </a:txBody>
                  <a:tcPr>
                    <a:solidFill>
                      <a:srgbClr val="CAE6E9"/>
                    </a:solidFill>
                  </a:tcPr>
                </a:tc>
                <a:tc>
                  <a:txBody>
                    <a:bodyPr wrap="square"/>
                    <a:lstStyle/>
                    <a:p>
                      <a:pPr>
                        <a:defRPr sz="1400" b="1">
                          <a:solidFill>
                            <a:srgbClr val="21568C"/>
                          </a:solidFill>
                          <a:latin typeface="Poppins"/>
                        </a:defRPr>
                      </a:pPr>
                      <a:r>
                        <a:t>Target population (denominator)</a:t>
                      </a:r>
                    </a:p>
                  </a:txBody>
                  <a:tcPr>
                    <a:solidFill>
                      <a:srgbClr val="CAE6E9"/>
                    </a:solidFill>
                  </a:tcPr>
                </a:tc>
              </a:tr>
              <a:tr h="320040">
                <a:tc>
                  <a:txBody>
                    <a:bodyPr wrap="square"/>
                    <a:lstStyle/>
                    <a:p>
                      <a:r>
                        <a:rPr sz="1400">
                          <a:solidFill>
                            <a:srgbClr val="2C3E50"/>
                          </a:solidFill>
                          <a:latin typeface="Poppins"/>
                        </a:rPr>
                        <a:t>ANC1, ANC4</a:t>
                      </a:r>
                    </a:p>
                  </a:txBody>
                  <a:tcPr/>
                </a:tc>
                <a:tc>
                  <a:txBody>
                    <a:bodyPr wrap="square"/>
                    <a:lstStyle/>
                    <a:p>
                      <a:r>
                        <a:rPr sz="1400">
                          <a:solidFill>
                            <a:srgbClr val="2C3E50"/>
                          </a:solidFill>
                          <a:latin typeface="Poppins"/>
                        </a:rPr>
                        <a:t>Pregnant women</a:t>
                      </a:r>
                    </a:p>
                  </a:txBody>
                  <a:tcPr/>
                </a:tc>
              </a:tr>
              <a:tr h="320040">
                <a:tc>
                  <a:txBody>
                    <a:bodyPr wrap="square"/>
                    <a:lstStyle/>
                    <a:p>
                      <a:r>
                        <a:rPr sz="1400">
                          <a:solidFill>
                            <a:srgbClr val="2C3E50"/>
                          </a:solidFill>
                          <a:latin typeface="Poppins"/>
                        </a:rPr>
                        <a:t>Institutional delivery</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BCG</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Penta1, Penta3</a:t>
                      </a:r>
                    </a:p>
                  </a:txBody>
                  <a:tcPr/>
                </a:tc>
                <a:tc>
                  <a:txBody>
                    <a:bodyPr wrap="square"/>
                    <a:lstStyle/>
                    <a:p>
                      <a:r>
                        <a:rPr sz="1400">
                          <a:solidFill>
                            <a:srgbClr val="2C3E50"/>
                          </a:solidFill>
                          <a:latin typeface="Poppins"/>
                        </a:rPr>
                        <a:t>Infants surviving beyond neonatal period</a:t>
                      </a:r>
                    </a:p>
                  </a:txBody>
                  <a:tcPr/>
                </a:tc>
              </a:tr>
              <a:tr h="320040">
                <a:tc>
                  <a:txBody>
                    <a:bodyPr wrap="square"/>
                    <a:lstStyle/>
                    <a:p>
                      <a:r>
                        <a:rPr sz="1400">
                          <a:solidFill>
                            <a:srgbClr val="2C3E50"/>
                          </a:solidFill>
                          <a:latin typeface="Poppins"/>
                        </a:rPr>
                        <a:t>Measles1, Measles2</a:t>
                      </a:r>
                    </a:p>
                  </a:txBody>
                  <a:tcPr/>
                </a:tc>
                <a:tc>
                  <a:txBody>
                    <a:bodyPr wrap="square"/>
                    <a:lstStyle/>
                    <a:p>
                      <a:r>
                        <a:rPr sz="1400">
                          <a:solidFill>
                            <a:srgbClr val="2C3E50"/>
                          </a:solidFill>
                          <a:latin typeface="Poppins"/>
                        </a:rPr>
                        <a:t>Infants surviving beyond infancy</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Starting from ANC1 service counts, demographic adjustment factors are applied sequentially to derive denominators for other services: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Poppins"/>
                        </a:defRPr>
                      </a:pPr>
                      <a:r>
                        <a:t>Direction</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Example from Penta1</a:t>
                      </a:r>
                    </a:p>
                  </a:txBody>
                  <a:tcPr>
                    <a:solidFill>
                      <a:srgbClr val="CAE6E9"/>
                    </a:solidFill>
                  </a:tcPr>
                </a:tc>
              </a:tr>
              <a:tr h="320040">
                <a:tc>
                  <a:txBody>
                    <a:bodyPr wrap="square"/>
                    <a:lstStyle/>
                    <a:p>
                      <a:r>
                        <a:rPr sz="1400" b="1">
                          <a:solidFill>
                            <a:srgbClr val="21568C"/>
                          </a:solidFill>
                          <a:latin typeface="Poppins"/>
                        </a:rPr>
                        <a:t>Forward</a:t>
                      </a:r>
                    </a:p>
                  </a:txBody>
                  <a:tcPr/>
                </a:tc>
                <a:tc>
                  <a:txBody>
                    <a:bodyPr wrap="square"/>
                    <a:lstStyle/>
                    <a:p>
                      <a:r>
                        <a:rPr sz="1400">
                          <a:solidFill>
                            <a:srgbClr val="2C3E50"/>
                          </a:solidFill>
                          <a:latin typeface="Poppins"/>
                        </a:rPr>
                        <a:t>Apply mortality/attrition rates</a:t>
                      </a:r>
                    </a:p>
                  </a:txBody>
                  <a:tcPr/>
                </a:tc>
                <a:tc>
                  <a:txBody>
                    <a:bodyPr wrap="square"/>
                    <a:lstStyle/>
                    <a:p>
                      <a:r>
                        <a:rPr sz="1400">
                          <a:solidFill>
                            <a:srgbClr val="2C3E50"/>
                          </a:solidFill>
                          <a:latin typeface="Poppins"/>
                        </a:rPr>
                        <a:t>DPT-eligible → Measles1-eligible → Measles2-eligible</a:t>
                      </a:r>
                    </a:p>
                  </a:txBody>
                  <a:tcPr/>
                </a:tc>
              </a:tr>
              <a:tr h="320040">
                <a:tc>
                  <a:txBody>
                    <a:bodyPr wrap="square"/>
                    <a:lstStyle/>
                    <a:p>
                      <a:r>
                        <a:rPr sz="1400" b="1">
                          <a:solidFill>
                            <a:srgbClr val="21568C"/>
                          </a:solidFill>
                          <a:latin typeface="Poppins"/>
                        </a:rPr>
                        <a:t>Backward</a:t>
                      </a:r>
                    </a:p>
                  </a:txBody>
                  <a:tcPr/>
                </a:tc>
                <a:tc>
                  <a:txBody>
                    <a:bodyPr wrap="square"/>
                    <a:lstStyle/>
                    <a:p>
                      <a:r>
                        <a:rPr sz="1400">
                          <a:solidFill>
                            <a:srgbClr val="2C3E50"/>
                          </a:solidFill>
                          <a:latin typeface="Poppins"/>
                        </a:rPr>
                        <a:t>Reverse mortality rates (add deaths back)</a:t>
                      </a:r>
                    </a:p>
                  </a:txBody>
                  <a:tcPr/>
                </a:tc>
                <a:tc>
                  <a:txBody>
                    <a:bodyPr wrap="square"/>
                    <a:lstStyle/>
                    <a:p>
                      <a:r>
                        <a:rPr sz="1400">
                          <a:solidFill>
                            <a:srgbClr val="2C3E50"/>
                          </a:solidFill>
                          <a:latin typeface="Poppins"/>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Backward derivation enables estimation of upstream populations from downstream service counts.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Poppins"/>
                        </a:defRPr>
                      </a:pPr>
                      <a:r>
                        <a:t>Entry point</a:t>
                      </a:r>
                    </a:p>
                  </a:txBody>
                  <a:tcPr>
                    <a:solidFill>
                      <a:srgbClr val="CAE6E9"/>
                    </a:solidFill>
                  </a:tcPr>
                </a:tc>
                <a:tc>
                  <a:txBody>
                    <a:bodyPr wrap="square"/>
                    <a:lstStyle/>
                    <a:p>
                      <a:pPr>
                        <a:defRPr sz="1400" b="1">
                          <a:solidFill>
                            <a:srgbClr val="21568C"/>
                          </a:solidFill>
                          <a:latin typeface="Poppins"/>
                        </a:defRPr>
                      </a:pPr>
                      <a:r>
                        <a:t>Base calculation</a:t>
                      </a:r>
                    </a:p>
                  </a:txBody>
                  <a:tcPr>
                    <a:solidFill>
                      <a:srgbClr val="CAE6E9"/>
                    </a:solidFill>
                  </a:tcPr>
                </a:tc>
                <a:tc>
                  <a:txBody>
                    <a:bodyPr wrap="square"/>
                    <a:lstStyle/>
                    <a:p>
                      <a:pPr>
                        <a:defRPr sz="1400" b="1">
                          <a:solidFill>
                            <a:srgbClr val="21568C"/>
                          </a:solidFill>
                          <a:latin typeface="Poppins"/>
                        </a:defRPr>
                      </a:pPr>
                      <a:r>
                        <a:t>Forward derivation</a:t>
                      </a:r>
                    </a:p>
                  </a:txBody>
                  <a:tcPr>
                    <a:solidFill>
                      <a:srgbClr val="CAE6E9"/>
                    </a:solidFill>
                  </a:tcPr>
                </a:tc>
                <a:tc>
                  <a:txBody>
                    <a:bodyPr wrap="square"/>
                    <a:lstStyle/>
                    <a:p>
                      <a:pPr>
                        <a:defRPr sz="1400" b="1">
                          <a:solidFill>
                            <a:srgbClr val="21568C"/>
                          </a:solidFill>
                          <a:latin typeface="Poppins"/>
                        </a:defRPr>
                      </a:pPr>
                      <a:r>
                        <a:t>Backward derivation</a:t>
                      </a:r>
                    </a:p>
                  </a:txBody>
                  <a:tcPr>
                    <a:solidFill>
                      <a:srgbClr val="CAE6E9"/>
                    </a:solidFill>
                  </a:tcPr>
                </a:tc>
              </a:tr>
              <a:tr h="320040">
                <a:tc>
                  <a:txBody>
                    <a:bodyPr wrap="square"/>
                    <a:lstStyle/>
                    <a:p>
                      <a:r>
                        <a:rPr sz="1400" b="1">
                          <a:solidFill>
                            <a:srgbClr val="21568C"/>
                          </a:solidFill>
                          <a:latin typeface="Poppins"/>
                        </a:rPr>
                        <a:t>ANC1</a:t>
                      </a:r>
                    </a:p>
                  </a:txBody>
                  <a:tcPr/>
                </a:tc>
                <a:tc>
                  <a:txBody>
                    <a:bodyPr wrap="square"/>
                    <a:lstStyle/>
                    <a:p>
                      <a:r>
                        <a:rPr sz="1400">
                          <a:solidFill>
                            <a:srgbClr val="2C3E50"/>
                          </a:solidFill>
                          <a:latin typeface="Poppins"/>
                        </a:rPr>
                        <a:t>ANC1 ÷ coverage → Pregnancies</a:t>
                      </a:r>
                    </a:p>
                  </a:txBody>
                  <a:tcPr/>
                </a:tc>
                <a:tc>
                  <a:txBody>
                    <a:bodyPr wrap="square"/>
                    <a:lstStyle/>
                    <a:p>
                      <a:r>
                        <a:rPr sz="1400">
                          <a:solidFill>
                            <a:srgbClr val="2C3E50"/>
                          </a:solidFill>
                          <a:latin typeface="Poppins"/>
                        </a:rPr>
                        <a:t>Deliveries → Live births → DPT-eligible → Measles-eligible</a:t>
                      </a:r>
                    </a:p>
                  </a:txBody>
                  <a:tcPr/>
                </a:tc>
                <a:tc>
                  <a:txBody>
                    <a:bodyPr wrap="square"/>
                    <a:lstStyle/>
                    <a:p>
                      <a:r>
                        <a:rPr sz="1400">
                          <a:solidFill>
                            <a:srgbClr val="2C3E50"/>
                          </a:solidFill>
                          <a:latin typeface="Poppins"/>
                        </a:rPr>
                        <a:t>—</a:t>
                      </a:r>
                    </a:p>
                  </a:txBody>
                  <a:tcPr/>
                </a:tc>
              </a:tr>
              <a:tr h="320040">
                <a:tc>
                  <a:txBody>
                    <a:bodyPr wrap="square"/>
                    <a:lstStyle/>
                    <a:p>
                      <a:r>
                        <a:rPr sz="1400" b="1">
                          <a:solidFill>
                            <a:srgbClr val="21568C"/>
                          </a:solidFill>
                          <a:latin typeface="Poppins"/>
                        </a:rPr>
                        <a:t>Deliveries</a:t>
                      </a:r>
                    </a:p>
                  </a:txBody>
                  <a:tcPr/>
                </a:tc>
                <a:tc>
                  <a:txBody>
                    <a:bodyPr wrap="square"/>
                    <a:lstStyle/>
                    <a:p>
                      <a:r>
                        <a:rPr sz="1400">
                          <a:solidFill>
                            <a:srgbClr val="2C3E50"/>
                          </a:solidFill>
                          <a:latin typeface="Poppins"/>
                        </a:rPr>
                        <a:t>Deliveries ÷ coverage → Deliveries</a:t>
                      </a:r>
                    </a:p>
                  </a:txBody>
                  <a:tcPr/>
                </a:tc>
                <a:tc>
                  <a:txBody>
                    <a:bodyPr wrap="square"/>
                    <a:lstStyle/>
                    <a:p>
                      <a:r>
                        <a:rPr sz="1400">
                          <a:solidFill>
                            <a:srgbClr val="2C3E50"/>
                          </a:solidFill>
                          <a:latin typeface="Poppins"/>
                        </a:rPr>
                        <a:t>Live births → DPT-eligible → Measles-eligible</a:t>
                      </a:r>
                    </a:p>
                  </a:txBody>
                  <a:tcPr/>
                </a:tc>
                <a:tc>
                  <a:txBody>
                    <a:bodyPr wrap="square"/>
                    <a:lstStyle/>
                    <a:p>
                      <a:r>
                        <a:rPr sz="1400">
                          <a:solidFill>
                            <a:srgbClr val="2C3E50"/>
                          </a:solidFill>
                          <a:latin typeface="Poppins"/>
                        </a:rPr>
                        <a:t>Pregnancies</a:t>
                      </a:r>
                    </a:p>
                  </a:txBody>
                  <a:tcPr/>
                </a:tc>
              </a:tr>
              <a:tr h="320040">
                <a:tc>
                  <a:txBody>
                    <a:bodyPr wrap="square"/>
                    <a:lstStyle/>
                    <a:p>
                      <a:r>
                        <a:rPr sz="1400" b="1">
                          <a:solidFill>
                            <a:srgbClr val="21568C"/>
                          </a:solidFill>
                          <a:latin typeface="Poppins"/>
                        </a:rPr>
                        <a:t>BCG</a:t>
                      </a:r>
                    </a:p>
                  </a:txBody>
                  <a:tcPr/>
                </a:tc>
                <a:tc>
                  <a:txBody>
                    <a:bodyPr wrap="square"/>
                    <a:lstStyle/>
                    <a:p>
                      <a:r>
                        <a:rPr sz="1400">
                          <a:solidFill>
                            <a:srgbClr val="2C3E50"/>
                          </a:solidFill>
                          <a:latin typeface="Poppins"/>
                        </a:rPr>
                        <a:t>BCG ÷ coverage → Live births</a:t>
                      </a:r>
                    </a:p>
                  </a:txBody>
                  <a:tcPr/>
                </a:tc>
                <a:tc>
                  <a:txBody>
                    <a:bodyPr wrap="square"/>
                    <a:lstStyle/>
                    <a:p>
                      <a:r>
                        <a:rPr sz="1400">
                          <a:solidFill>
                            <a:srgbClr val="2C3E50"/>
                          </a:solidFill>
                          <a:latin typeface="Poppins"/>
                        </a:rPr>
                        <a:t>DPT-eligible → Measles-eligible</a:t>
                      </a:r>
                    </a:p>
                  </a:txBody>
                  <a:tcPr/>
                </a:tc>
                <a:tc>
                  <a:txBody>
                    <a:bodyPr wrap="square"/>
                    <a:lstStyle/>
                    <a:p>
                      <a:r>
                        <a:rPr sz="1400">
                          <a:solidFill>
                            <a:srgbClr val="2C3E50"/>
                          </a:solidFill>
                          <a:latin typeface="Poppins"/>
                        </a:rPr>
                        <a:t>Deliveries → Pregnancies</a:t>
                      </a:r>
                    </a:p>
                  </a:txBody>
                  <a:tcPr/>
                </a:tc>
              </a:tr>
              <a:tr h="320040">
                <a:tc>
                  <a:txBody>
                    <a:bodyPr wrap="square"/>
                    <a:lstStyle/>
                    <a:p>
                      <a:r>
                        <a:rPr sz="1400" b="1">
                          <a:solidFill>
                            <a:srgbClr val="21568C"/>
                          </a:solidFill>
                          <a:latin typeface="Poppins"/>
                        </a:rPr>
                        <a:t>Penta1</a:t>
                      </a:r>
                    </a:p>
                  </a:txBody>
                  <a:tcPr/>
                </a:tc>
                <a:tc>
                  <a:txBody>
                    <a:bodyPr wrap="square"/>
                    <a:lstStyle/>
                    <a:p>
                      <a:r>
                        <a:rPr sz="1400">
                          <a:solidFill>
                            <a:srgbClr val="2C3E50"/>
                          </a:solidFill>
                          <a:latin typeface="Poppins"/>
                        </a:rPr>
                        <a:t>Penta1 ÷ coverage → DPT-eligible</a:t>
                      </a:r>
                    </a:p>
                  </a:txBody>
                  <a:tcPr/>
                </a:tc>
                <a:tc>
                  <a:txBody>
                    <a:bodyPr wrap="square"/>
                    <a:lstStyle/>
                    <a:p>
                      <a:r>
                        <a:rPr sz="1400">
                          <a:solidFill>
                            <a:srgbClr val="2C3E50"/>
                          </a:solidFill>
                          <a:latin typeface="Poppins"/>
                        </a:rPr>
                        <a:t>Measles1-eligible → Measles2-eligible</a:t>
                      </a:r>
                    </a:p>
                  </a:txBody>
                  <a:tcPr/>
                </a:tc>
                <a:tc>
                  <a:txBody>
                    <a:bodyPr wrap="square"/>
                    <a:lstStyle/>
                    <a:p>
                      <a:r>
                        <a:rPr sz="1400">
                          <a:solidFill>
                            <a:srgbClr val="2C3E50"/>
                          </a:solidFill>
                          <a:latin typeface="Poppins"/>
                        </a:rPr>
                        <a:t>Live births → Births → Deliveries → Pregnancies</a:t>
                      </a:r>
                    </a:p>
                  </a:txBody>
                  <a:tcPr/>
                </a:tc>
              </a:tr>
              <a:tr h="320040">
                <a:tc>
                  <a:txBody>
                    <a:bodyPr wrap="square"/>
                    <a:lstStyle/>
                    <a:p>
                      <a:r>
                        <a:rPr sz="1400" b="1">
                          <a:solidFill>
                            <a:srgbClr val="21568C"/>
                          </a:solidFill>
                          <a:latin typeface="Poppins"/>
                        </a:rPr>
                        <a:t>UN WPP</a:t>
                      </a:r>
                    </a:p>
                  </a:txBody>
                  <a:tcPr/>
                </a:tc>
                <a:tc>
                  <a:txBody>
                    <a:bodyPr wrap="square"/>
                    <a:lstStyle/>
                    <a:p>
                      <a:r>
                        <a:rPr sz="1400">
                          <a:solidFill>
                            <a:srgbClr val="2C3E50"/>
                          </a:solidFill>
                          <a:latin typeface="Poppins"/>
                        </a:rPr>
                        <a:t>Crude birth rate × population → Pregnancies, live births; Under-1 pop → DPT, measles</a:t>
                      </a:r>
                    </a:p>
                  </a:txBody>
                  <a:tcPr/>
                </a:tc>
                <a:tc>
                  <a:txBody>
                    <a:bodyPr wrap="square"/>
                    <a:lstStyle/>
                    <a:p>
                      <a:r>
                        <a:rPr sz="1400">
                          <a:solidFill>
                            <a:srgbClr val="2C3E50"/>
                          </a:solidFill>
                          <a:latin typeface="Poppins"/>
                        </a:rPr>
                        <a:t>Applies mortality rates for measles denominators</a:t>
                      </a:r>
                    </a:p>
                  </a:txBody>
                  <a:tcPr/>
                </a:tc>
                <a:tc>
                  <a:txBody>
                    <a:bodyPr wrap="square"/>
                    <a:lstStyle/>
                    <a:p>
                      <a:r>
                        <a:rPr sz="1400">
                          <a:solidFill>
                            <a:srgbClr val="2C3E50"/>
                          </a:solidFill>
                          <a:latin typeface="Poppins"/>
                        </a:rPr>
                        <a:t>—</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each indicator, the module selects the denominator that produces coverage closest to the survey benchmark.</a:t>
            </a:r>
          </a:p>
          <a:p>
            <a:pPr>
              <a:spcAft>
                <a:spcPts val="1400"/>
              </a:spcAft>
            </a:pPr>
            <a:r>
              <a:rPr sz="1800" b="1">
                <a:solidFill>
                  <a:srgbClr val="21568C"/>
                </a:solidFill>
                <a:latin typeface="Poppins"/>
              </a:rPr>
              <a:t>Selection algorithm:</a:t>
            </a:r>
          </a:p>
          <a:p>
            <a:pPr>
              <a:spcAft>
                <a:spcPts val="800"/>
              </a:spcAft>
            </a:pPr>
            <a:r>
              <a:rPr sz="1800">
                <a:solidFill>
                  <a:srgbClr val="D0CB17"/>
                </a:solidFill>
                <a:latin typeface="Poppins"/>
              </a:rPr>
              <a:t>• </a:t>
            </a:r>
            <a:r>
              <a:rPr sz="1800">
                <a:solidFill>
                  <a:srgbClr val="2C3E50"/>
                </a:solidFill>
                <a:latin typeface="Poppins"/>
              </a:rPr>
              <a:t>Calculate coverage using each denominator option</a:t>
            </a:r>
          </a:p>
          <a:p>
            <a:pPr>
              <a:spcAft>
                <a:spcPts val="800"/>
              </a:spcAft>
            </a:pPr>
            <a:r>
              <a:rPr sz="1800">
                <a:solidFill>
                  <a:srgbClr val="D0CB17"/>
                </a:solidFill>
                <a:latin typeface="Poppins"/>
              </a:rPr>
              <a:t>• </a:t>
            </a:r>
            <a:r>
              <a:rPr sz="1800">
                <a:solidFill>
                  <a:srgbClr val="2C3E50"/>
                </a:solidFill>
                <a:latin typeface="Poppins"/>
              </a:rPr>
              <a:t>Calculate squared error against survey: $(coverage - survey)^2$</a:t>
            </a:r>
          </a:p>
          <a:p>
            <a:pPr>
              <a:spcAft>
                <a:spcPts val="800"/>
              </a:spcAft>
            </a:pPr>
            <a:r>
              <a:rPr sz="1800">
                <a:solidFill>
                  <a:srgbClr val="D0CB17"/>
                </a:solidFill>
                <a:latin typeface="Poppins"/>
              </a:rPr>
              <a:t>• </a:t>
            </a:r>
            <a:r>
              <a:rPr sz="1800">
                <a:solidFill>
                  <a:srgbClr val="2C3E50"/>
                </a:solidFill>
                <a:latin typeface="Poppins"/>
              </a:rPr>
              <a:t>Apply selection hierarchy (HMIS-based denominators prioritized over UN WPP)</a:t>
            </a:r>
          </a:p>
          <a:p>
            <a:pPr>
              <a:spcAft>
                <a:spcPts val="800"/>
              </a:spcAft>
            </a:pPr>
            <a:r>
              <a:rPr sz="1800">
                <a:solidFill>
                  <a:srgbClr val="D0CB17"/>
                </a:solidFill>
                <a:latin typeface="Poppins"/>
              </a:rPr>
              <a:t>• </a:t>
            </a:r>
            <a:r>
              <a:rPr sz="1800">
                <a:solidFill>
                  <a:srgbClr val="2C3E50"/>
                </a:solidFill>
                <a:latin typeface="Poppins"/>
              </a:rPr>
              <a:t>Select the HMIS-based denominator with minimum error</a:t>
            </a:r>
          </a:p>
          <a:p>
            <a:pPr>
              <a:spcAft>
                <a:spcPts val="1400"/>
              </a:spcAft>
            </a:pPr>
            <a:r>
              <a:rPr sz="1800">
                <a:solidFill>
                  <a:srgbClr val="333333"/>
                </a:solidFill>
                <a:latin typeface="Poppins"/>
              </a:rPr>
              <a:t>Selection is made per indicator and geographic area. Users may override automatic selections in Part 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module projects the most recent survey value forward using trends observed in HMIS-derived coverage:</a:t>
            </a:r>
          </a:p>
          <a:p>
            <a:pPr>
              <a:spcAft>
                <a:spcPts val="1000"/>
              </a:spcAft>
            </a:pPr>
            <a:r>
              <a:rPr sz="1800">
                <a:solidFill>
                  <a:srgbClr val="333333"/>
                </a:solidFill>
                <a:latin typeface="Poppins"/>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800"/>
              </a:spcAft>
              <a:defRPr sz="2200" b="1" i="0">
                <a:solidFill>
                  <a:srgbClr val="BD5091"/>
                </a:solidFill>
                <a:latin typeface="Poppins"/>
              </a:defRPr>
            </a:pPr>
            <a:r>
              <a:t>Interpretation</a:t>
            </a:r>
          </a:p>
          <a:p>
            <a:pPr>
              <a:spcAft>
                <a:spcPts val="1000"/>
              </a:spcAft>
            </a:pPr>
            <a:r>
              <a:rPr sz="1800" b="1">
                <a:solidFill>
                  <a:srgbClr val="21568C"/>
                </a:solidFill>
                <a:latin typeface="Poppins"/>
              </a:rPr>
              <a:t>Black line/points</a:t>
            </a:r>
            <a:r>
              <a:rPr sz="1800">
                <a:solidFill>
                  <a:srgbClr val="333333"/>
                </a:solidFill>
                <a:latin typeface="Poppins"/>
              </a:rPr>
              <a:t> show survey data (DHS/MICS) as the household survey reference. </a:t>
            </a:r>
            <a:r>
              <a:rPr sz="1800" b="1">
                <a:solidFill>
                  <a:srgbClr val="21568C"/>
                </a:solidFill>
                <a:latin typeface="Poppins"/>
              </a:rPr>
              <a:t>Grey line/points</a:t>
            </a:r>
            <a:r>
              <a:rPr sz="1800">
                <a:solidFill>
                  <a:srgbClr val="333333"/>
                </a:solidFill>
                <a:latin typeface="Poppins"/>
              </a:rPr>
              <a:t> show HMIS-based coverage from facility data. </a:t>
            </a:r>
            <a:r>
              <a:rPr sz="1800" b="1">
                <a:solidFill>
                  <a:srgbClr val="21568C"/>
                </a:solidFill>
                <a:latin typeface="Poppins"/>
              </a:rPr>
              <a:t>Red line/points</a:t>
            </a:r>
            <a:r>
              <a:rPr sz="1800">
                <a:solidFill>
                  <a:srgbClr val="333333"/>
                </a:solidFill>
                <a:latin typeface="Poppins"/>
              </a:rPr>
              <a:t> show projected coverage — survey estimates extended using HMIS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value to use</a:t>
                      </a:r>
                    </a:p>
                  </a:txBody>
                  <a:tcPr/>
                </a:tc>
                <a:tc>
                  <a:txBody>
                    <a:bodyPr wrap="square"/>
                    <a:lstStyle/>
                    <a:p>
                      <a:r>
                        <a:rPr sz="1400">
                          <a:solidFill>
                            <a:srgbClr val="2C3E50"/>
                          </a:solidFill>
                          <a:latin typeface="Poppins"/>
                        </a:rPr>
                        <a:t>Which adjusted count to use for coverage calculation</a:t>
                      </a:r>
                    </a:p>
                  </a:txBody>
                  <a:tcPr/>
                </a:tc>
              </a:tr>
              <a:tr h="320040">
                <a:tc>
                  <a:txBody>
                    <a:bodyPr wrap="square"/>
                    <a:lstStyle/>
                    <a:p>
                      <a:r>
                        <a:rPr sz="1400" b="1">
                          <a:solidFill>
                            <a:srgbClr val="21568C"/>
                          </a:solidFill>
                          <a:latin typeface="Poppins"/>
                        </a:rPr>
                        <a:t>Level to calculate coverage for</a:t>
                      </a:r>
                    </a:p>
                  </a:txBody>
                  <a:tcPr/>
                </a:tc>
                <a:tc>
                  <a:txBody>
                    <a:bodyPr wrap="square"/>
                    <a:lstStyle/>
                    <a:p>
                      <a:r>
                        <a:rPr sz="1400">
                          <a:solidFill>
                            <a:srgbClr val="2C3E50"/>
                          </a:solidFill>
                          <a:latin typeface="Poppins"/>
                        </a:rPr>
                        <a:t>Geographic levels for coverage estimation: national, provincial (admin area 2), or district (admin area 3)</a:t>
                      </a:r>
                    </a:p>
                  </a:txBody>
                  <a:tcPr/>
                </a:tc>
              </a:tr>
              <a:tr h="320040">
                <a:tc>
                  <a:txBody>
                    <a:bodyPr wrap="square"/>
                    <a:lstStyle/>
                    <a:p>
                      <a:r>
                        <a:rPr sz="1400" b="1">
                          <a:solidFill>
                            <a:srgbClr val="21568C"/>
                          </a:solidFill>
                          <a:latin typeface="Poppins"/>
                        </a:rPr>
                        <a:t>Pregnancy loss rate</a:t>
                      </a:r>
                    </a:p>
                  </a:txBody>
                  <a:tcPr/>
                </a:tc>
                <a:tc>
                  <a:txBody>
                    <a:bodyPr wrap="square"/>
                    <a:lstStyle/>
                    <a:p>
                      <a:r>
                        <a:rPr sz="1400">
                          <a:solidFill>
                            <a:srgbClr val="2C3E50"/>
                          </a:solidFill>
                          <a:latin typeface="Poppins"/>
                        </a:rPr>
                        <a:t>Proportion of pregnancies ending in loss before delivery</a:t>
                      </a:r>
                    </a:p>
                  </a:txBody>
                  <a:tcPr/>
                </a:tc>
              </a:tr>
              <a:tr h="320040">
                <a:tc>
                  <a:txBody>
                    <a:bodyPr wrap="square"/>
                    <a:lstStyle/>
                    <a:p>
                      <a:r>
                        <a:rPr sz="1400" b="1">
                          <a:solidFill>
                            <a:srgbClr val="21568C"/>
                          </a:solidFill>
                          <a:latin typeface="Poppins"/>
                        </a:rPr>
                        <a:t>Twin rate</a:t>
                      </a:r>
                    </a:p>
                  </a:txBody>
                  <a:tcPr/>
                </a:tc>
                <a:tc>
                  <a:txBody>
                    <a:bodyPr wrap="square"/>
                    <a:lstStyle/>
                    <a:p>
                      <a:r>
                        <a:rPr sz="1400">
                          <a:solidFill>
                            <a:srgbClr val="2C3E50"/>
                          </a:solidFill>
                          <a:latin typeface="Poppins"/>
                        </a:rPr>
                        <a:t>Proportion of deliveries resulting in twins</a:t>
                      </a:r>
                    </a:p>
                  </a:txBody>
                  <a:tcPr/>
                </a:tc>
              </a:tr>
              <a:tr h="320040">
                <a:tc>
                  <a:txBody>
                    <a:bodyPr wrap="square"/>
                    <a:lstStyle/>
                    <a:p>
                      <a:r>
                        <a:rPr sz="1400" b="1">
                          <a:solidFill>
                            <a:srgbClr val="21568C"/>
                          </a:solidFill>
                          <a:latin typeface="Poppins"/>
                        </a:rPr>
                        <a:t>Stillbirth rate</a:t>
                      </a:r>
                    </a:p>
                  </a:txBody>
                  <a:tcPr/>
                </a:tc>
                <a:tc>
                  <a:txBody>
                    <a:bodyPr wrap="square"/>
                    <a:lstStyle/>
                    <a:p>
                      <a:r>
                        <a:rPr sz="1400">
                          <a:solidFill>
                            <a:srgbClr val="2C3E50"/>
                          </a:solidFill>
                          <a:latin typeface="Poppins"/>
                        </a:rPr>
                        <a:t>Proportion of births that are stillbirths</a:t>
                      </a:r>
                    </a:p>
                  </a:txBody>
                  <a:tcPr/>
                </a:tc>
              </a:tr>
              <a:tr h="320040">
                <a:tc>
                  <a:txBody>
                    <a:bodyPr wrap="square"/>
                    <a:lstStyle/>
                    <a:p>
                      <a:r>
                        <a:rPr sz="1400" b="1">
                          <a:solidFill>
                            <a:srgbClr val="21568C"/>
                          </a:solidFill>
                          <a:latin typeface="Poppins"/>
                        </a:rPr>
                        <a:t>Neonatal mortality rate</a:t>
                      </a:r>
                    </a:p>
                  </a:txBody>
                  <a:tcPr/>
                </a:tc>
                <a:tc>
                  <a:txBody>
                    <a:bodyPr wrap="square"/>
                    <a:lstStyle/>
                    <a:p>
                      <a:r>
                        <a:rPr sz="1400">
                          <a:solidFill>
                            <a:srgbClr val="2C3E50"/>
                          </a:solidFill>
                          <a:latin typeface="Poppins"/>
                        </a:rPr>
                        <a:t>Deaths in first 28 days per live birth</a:t>
                      </a:r>
                    </a:p>
                  </a:txBody>
                  <a:tcPr/>
                </a:tc>
              </a:tr>
              <a:tr h="320040">
                <a:tc>
                  <a:txBody>
                    <a:bodyPr wrap="square"/>
                    <a:lstStyle/>
                    <a:p>
                      <a:r>
                        <a:rPr sz="1400" b="1">
                          <a:solidFill>
                            <a:srgbClr val="21568C"/>
                          </a:solidFill>
                          <a:latin typeface="Poppins"/>
                        </a:rPr>
                        <a:t>Postneonatal mortality rate</a:t>
                      </a:r>
                    </a:p>
                  </a:txBody>
                  <a:tcPr/>
                </a:tc>
                <a:tc>
                  <a:txBody>
                    <a:bodyPr wrap="square"/>
                    <a:lstStyle/>
                    <a:p>
                      <a:r>
                        <a:rPr sz="1400">
                          <a:solidFill>
                            <a:srgbClr val="2C3E50"/>
                          </a:solidFill>
                          <a:latin typeface="Poppins"/>
                        </a:rPr>
                        <a:t>Deaths from 28 days to 1 year per live birth</a:t>
                      </a:r>
                    </a:p>
                  </a:txBody>
                  <a:tcPr/>
                </a:tc>
              </a:tr>
              <a:tr h="320040">
                <a:tc>
                  <a:txBody>
                    <a:bodyPr wrap="square"/>
                    <a:lstStyle/>
                    <a:p>
                      <a:r>
                        <a:rPr sz="1400" b="1">
                          <a:solidFill>
                            <a:srgbClr val="21568C"/>
                          </a:solidFill>
                          <a:latin typeface="Poppins"/>
                        </a:rPr>
                        <a:t>Infant mortality rate</a:t>
                      </a:r>
                    </a:p>
                  </a:txBody>
                  <a:tcPr/>
                </a:tc>
                <a:tc>
                  <a:txBody>
                    <a:bodyPr wrap="square"/>
                    <a:lstStyle/>
                    <a:p>
                      <a:r>
                        <a:rPr sz="1400">
                          <a:solidFill>
                            <a:srgbClr val="2C3E50"/>
                          </a:solidFill>
                          <a:latin typeface="Poppins"/>
                        </a:rPr>
                        <a:t>Deaths before age 1 per live birth</a:t>
                      </a:r>
                    </a:p>
                  </a:txBody>
                  <a:tcPr/>
                </a:tc>
              </a:tr>
              <a:tr h="320040">
                <a:tc>
                  <a:txBody>
                    <a:bodyPr wrap="square"/>
                    <a:lstStyle/>
                    <a:p>
                      <a:r>
                        <a:rPr sz="1400" b="1">
                          <a:solidFill>
                            <a:srgbClr val="21568C"/>
                          </a:solidFill>
                          <a:latin typeface="Poppins"/>
                        </a:rPr>
                        <a:t>Under 5 mortality rate</a:t>
                      </a:r>
                    </a:p>
                  </a:txBody>
                  <a:tcPr/>
                </a:tc>
                <a:tc>
                  <a:txBody>
                    <a:bodyPr wrap="square"/>
                    <a:lstStyle/>
                    <a:p>
                      <a:r>
                        <a:rPr sz="1400">
                          <a:solidFill>
                            <a:srgbClr val="2C3E50"/>
                          </a:solidFill>
                          <a:latin typeface="Poppins"/>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Poppins"/>
              </a:rPr>
              <a:t>Country-specific mortality rates may be obtained from DHS reports, UN IGME, or national vital statistics.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6: Creating a project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7: Creating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Explore available chart types</a:t>
            </a:r>
          </a:p>
          <a:p>
            <a:pPr>
              <a:spcAft>
                <a:spcPts val="800"/>
              </a:spcAft>
            </a:pPr>
            <a:r>
              <a:rPr sz="1800">
                <a:solidFill>
                  <a:srgbClr val="D0CB17"/>
                </a:solidFill>
                <a:latin typeface="Poppins"/>
              </a:rPr>
              <a:t>• </a:t>
            </a:r>
            <a:r>
              <a:rPr sz="1800">
                <a:solidFill>
                  <a:srgbClr val="2C3E50"/>
                </a:solidFill>
                <a:latin typeface="Poppins"/>
              </a:rPr>
              <a:t>Create and customize visualizations</a:t>
            </a:r>
          </a:p>
          <a:p>
            <a:pPr>
              <a:spcAft>
                <a:spcPts val="800"/>
              </a:spcAft>
            </a:pPr>
            <a:r>
              <a:rPr sz="1800">
                <a:solidFill>
                  <a:srgbClr val="D0CB17"/>
                </a:solidFill>
                <a:latin typeface="Poppins"/>
              </a:rPr>
              <a:t>• </a:t>
            </a:r>
            <a:r>
              <a:rPr sz="1800">
                <a:solidFill>
                  <a:srgbClr val="2C3E50"/>
                </a:solidFill>
                <a:latin typeface="Poppins"/>
              </a:rPr>
              <a:t>Export charts for use in reports</a:t>
            </a:r>
          </a:p>
          <a:p>
            <a:pPr>
              <a:spcAft>
                <a:spcPts val="1400"/>
              </a:spcAft>
            </a:pPr>
            <a:r>
              <a:rPr sz="1800" i="1">
                <a:solidFill>
                  <a:srgbClr val="1F9A9C"/>
                </a:solidFill>
                <a:latin typeface="Poppins"/>
              </a:rPr>
              <a:t>Participants will build visualizations from their analysis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Creating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Use report templates</a:t>
            </a:r>
          </a:p>
          <a:p>
            <a:pPr>
              <a:spcAft>
                <a:spcPts val="800"/>
              </a:spcAft>
            </a:pPr>
            <a:r>
              <a:rPr sz="1800">
                <a:solidFill>
                  <a:srgbClr val="D0CB17"/>
                </a:solidFill>
                <a:latin typeface="Poppins"/>
              </a:rPr>
              <a:t>• </a:t>
            </a:r>
            <a:r>
              <a:rPr sz="1800">
                <a:solidFill>
                  <a:srgbClr val="2C3E50"/>
                </a:solidFill>
                <a:latin typeface="Poppins"/>
              </a:rPr>
              <a:t>Generate automated reports</a:t>
            </a:r>
          </a:p>
          <a:p>
            <a:pPr>
              <a:spcAft>
                <a:spcPts val="800"/>
              </a:spcAft>
            </a:pPr>
            <a:r>
              <a:rPr sz="1800">
                <a:solidFill>
                  <a:srgbClr val="D0CB17"/>
                </a:solidFill>
                <a:latin typeface="Poppins"/>
              </a:rPr>
              <a:t>• </a:t>
            </a:r>
            <a:r>
              <a:rPr sz="1800">
                <a:solidFill>
                  <a:srgbClr val="2C3E50"/>
                </a:solidFill>
                <a:latin typeface="Poppins"/>
              </a:rPr>
              <a:t>Customize report content and layout</a:t>
            </a:r>
          </a:p>
          <a:p>
            <a:pPr>
              <a:spcAft>
                <a:spcPts val="1400"/>
              </a:spcAft>
            </a:pPr>
            <a:r>
              <a:rPr sz="1800" i="1">
                <a:solidFill>
                  <a:srgbClr val="1F9A9C"/>
                </a:solidFill>
                <a:latin typeface="Poppins"/>
              </a:rPr>
              <a:t>Participants will create their first quarterly report draft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2, we covered:</a:t>
            </a:r>
          </a:p>
          <a:p>
            <a:pPr>
              <a:spcAft>
                <a:spcPts val="800"/>
              </a:spcAft>
            </a:pPr>
            <a:r>
              <a:rPr sz="1800">
                <a:solidFill>
                  <a:srgbClr val="D0CB17"/>
                </a:solidFill>
                <a:latin typeface="Poppins"/>
              </a:rPr>
              <a:t>• </a:t>
            </a:r>
            <a:r>
              <a:rPr sz="1800">
                <a:solidFill>
                  <a:srgbClr val="2C3E50"/>
                </a:solidFill>
                <a:latin typeface="Poppins"/>
              </a:rPr>
              <a:t>FASTR methods for data quality assessment and adjustment</a:t>
            </a:r>
          </a:p>
          <a:p>
            <a:pPr>
              <a:spcAft>
                <a:spcPts val="800"/>
              </a:spcAft>
            </a:pPr>
            <a:r>
              <a:rPr sz="1800">
                <a:solidFill>
                  <a:srgbClr val="D0CB17"/>
                </a:solidFill>
                <a:latin typeface="Poppins"/>
              </a:rPr>
              <a:t>• </a:t>
            </a:r>
            <a:r>
              <a:rPr sz="1800">
                <a:solidFill>
                  <a:srgbClr val="2C3E50"/>
                </a:solidFill>
                <a:latin typeface="Poppins"/>
              </a:rPr>
              <a:t>Creating and configuring projects in the platform</a:t>
            </a:r>
          </a:p>
          <a:p>
            <a:pPr>
              <a:spcAft>
                <a:spcPts val="800"/>
              </a:spcAft>
            </a:pPr>
            <a:r>
              <a:rPr sz="1800">
                <a:solidFill>
                  <a:srgbClr val="D0CB17"/>
                </a:solidFill>
                <a:latin typeface="Poppins"/>
              </a:rPr>
              <a:t>• </a:t>
            </a:r>
            <a:r>
              <a:rPr sz="1800">
                <a:solidFill>
                  <a:srgbClr val="2C3E50"/>
                </a:solidFill>
                <a:latin typeface="Poppins"/>
              </a:rPr>
              <a:t>Building visualizations from Zambia data</a:t>
            </a:r>
          </a:p>
          <a:p>
            <a:pPr>
              <a:spcAft>
                <a:spcPts val="800"/>
              </a:spcAft>
            </a:pPr>
            <a:r>
              <a:rPr sz="1800">
                <a:solidFill>
                  <a:srgbClr val="D0CB17"/>
                </a:solidFill>
                <a:latin typeface="Poppins"/>
              </a:rPr>
              <a:t>• </a:t>
            </a:r>
            <a:r>
              <a:rPr sz="1800">
                <a:solidFill>
                  <a:srgbClr val="2C3E50"/>
                </a:solidFill>
                <a:latin typeface="Poppins"/>
              </a:rPr>
              <a:t>Generating reports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move from analysis to action:</a:t>
            </a:r>
          </a:p>
          <a:p>
            <a:pPr>
              <a:spcAft>
                <a:spcPts val="800"/>
              </a:spcAft>
            </a:pPr>
            <a:r>
              <a:rPr sz="1800">
                <a:solidFill>
                  <a:srgbClr val="D0CB17"/>
                </a:solidFill>
                <a:latin typeface="Poppins"/>
              </a:rPr>
              <a:t>• </a:t>
            </a:r>
            <a:r>
              <a:rPr sz="1800">
                <a:solidFill>
                  <a:srgbClr val="2C3E50"/>
                </a:solidFill>
                <a:latin typeface="Poppins"/>
              </a:rPr>
              <a:t>Deep dive into interpretation of results</a:t>
            </a:r>
          </a:p>
          <a:p>
            <a:pPr>
              <a:spcAft>
                <a:spcPts val="800"/>
              </a:spcAft>
            </a:pPr>
            <a:r>
              <a:rPr sz="1800">
                <a:solidFill>
                  <a:srgbClr val="D0CB17"/>
                </a:solidFill>
                <a:latin typeface="Poppins"/>
              </a:rPr>
              <a:t>• </a:t>
            </a:r>
            <a:r>
              <a:rPr sz="1800">
                <a:solidFill>
                  <a:srgbClr val="2C3E50"/>
                </a:solidFill>
                <a:latin typeface="Poppins"/>
              </a:rPr>
              <a:t>Create the Q4 2025 quarterly report</a:t>
            </a:r>
          </a:p>
          <a:p>
            <a:pPr>
              <a:spcAft>
                <a:spcPts val="800"/>
              </a:spcAft>
            </a:pPr>
            <a:r>
              <a:rPr sz="1800">
                <a:solidFill>
                  <a:srgbClr val="D0CB17"/>
                </a:solidFill>
                <a:latin typeface="Poppins"/>
              </a:rPr>
              <a:t>• </a:t>
            </a:r>
            <a:r>
              <a:rPr sz="1800">
                <a:solidFill>
                  <a:srgbClr val="2C3E50"/>
                </a:solidFill>
                <a:latin typeface="Poppins"/>
              </a:rPr>
              <a:t>Present findings to the group</a:t>
            </a:r>
          </a:p>
          <a:p>
            <a:pPr>
              <a:spcAft>
                <a:spcPts val="800"/>
              </a:spcAft>
            </a:pPr>
            <a:r>
              <a:rPr sz="1800">
                <a:solidFill>
                  <a:srgbClr val="D0CB17"/>
                </a:solidFill>
                <a:latin typeface="Poppins"/>
              </a:rPr>
              <a:t>• </a:t>
            </a:r>
            <a:r>
              <a:rPr sz="1800">
                <a:solidFill>
                  <a:srgbClr val="2C3E50"/>
                </a:solidFill>
                <a:latin typeface="Poppins"/>
              </a:rPr>
              <a:t>Develop action plans for continued work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Interpretation of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Interpretation connects </a:t>
            </a:r>
            <a:r>
              <a:rPr sz="1800" b="1">
                <a:solidFill>
                  <a:srgbClr val="21568C"/>
                </a:solidFill>
                <a:latin typeface="Poppins"/>
              </a:rPr>
              <a:t>data patterns</a:t>
            </a:r>
            <a:r>
              <a:rPr sz="1800">
                <a:solidFill>
                  <a:srgbClr val="333333"/>
                </a:solidFill>
                <a:latin typeface="Poppins"/>
              </a:rPr>
              <a:t> to </a:t>
            </a:r>
            <a:r>
              <a:rPr sz="1800" b="1">
                <a:solidFill>
                  <a:srgbClr val="21568C"/>
                </a:solidFill>
                <a:latin typeface="Poppins"/>
              </a:rPr>
              <a:t>programmatic meaning</a:t>
            </a:r>
            <a:r>
              <a:rPr sz="1800">
                <a:solidFill>
                  <a:srgbClr val="333333"/>
                </a:solidFill>
                <a:latin typeface="Poppins"/>
              </a:rPr>
              <a:t>.</a:t>
            </a:r>
          </a:p>
          <a:p>
            <a:pPr>
              <a:spcAft>
                <a:spcPts val="1400"/>
              </a:spcAft>
            </a:pPr>
            <a:r>
              <a:rPr sz="1800">
                <a:solidFill>
                  <a:srgbClr val="333333"/>
                </a:solidFill>
                <a:latin typeface="Poppins"/>
              </a:rPr>
              <a:t>For every FASTR output, ask three questions:</a:t>
            </a:r>
          </a:p>
          <a:p>
            <a:pPr>
              <a:spcAft>
                <a:spcPts val="800"/>
              </a:spcAft>
            </a:pPr>
            <a:r>
              <a:rPr sz="1800">
                <a:solidFill>
                  <a:srgbClr val="D0CB17"/>
                </a:solidFill>
                <a:latin typeface="Poppins"/>
              </a:rPr>
              <a:t>• </a:t>
            </a:r>
            <a:r>
              <a:rPr sz="1800" b="1">
                <a:solidFill>
                  <a:srgbClr val="21568C"/>
                </a:solidFill>
                <a:latin typeface="Poppins"/>
              </a:rPr>
              <a:t>What does it show?</a:t>
            </a:r>
            <a:r>
              <a:rPr sz="1800">
                <a:solidFill>
                  <a:srgbClr val="2C3E50"/>
                </a:solidFill>
                <a:latin typeface="Poppins"/>
              </a:rPr>
              <a:t> — Describe the pattern accurately</a:t>
            </a:r>
          </a:p>
          <a:p>
            <a:pPr>
              <a:spcAft>
                <a:spcPts val="800"/>
              </a:spcAft>
            </a:pPr>
            <a:r>
              <a:rPr sz="1800">
                <a:solidFill>
                  <a:srgbClr val="D0CB17"/>
                </a:solidFill>
                <a:latin typeface="Poppins"/>
              </a:rPr>
              <a:t>• </a:t>
            </a:r>
            <a:r>
              <a:rPr sz="1800" b="1">
                <a:solidFill>
                  <a:srgbClr val="21568C"/>
                </a:solidFill>
                <a:latin typeface="Poppins"/>
              </a:rPr>
              <a:t>Why might that be?</a:t>
            </a:r>
            <a:r>
              <a:rPr sz="1800">
                <a:solidFill>
                  <a:srgbClr val="2C3E50"/>
                </a:solidFill>
                <a:latin typeface="Poppins"/>
              </a:rPr>
              <a:t> — Consider multiple explanations</a:t>
            </a:r>
          </a:p>
          <a:p>
            <a:pPr>
              <a:spcAft>
                <a:spcPts val="800"/>
              </a:spcAft>
            </a:pPr>
            <a:r>
              <a:rPr sz="1800">
                <a:solidFill>
                  <a:srgbClr val="D0CB17"/>
                </a:solidFill>
                <a:latin typeface="Poppins"/>
              </a:rPr>
              <a:t>• </a:t>
            </a:r>
            <a:r>
              <a:rPr sz="1800" b="1">
                <a:solidFill>
                  <a:srgbClr val="21568C"/>
                </a:solidFill>
                <a:latin typeface="Poppins"/>
              </a:rPr>
              <a:t>What should we do?</a:t>
            </a:r>
            <a:r>
              <a:rPr sz="1800">
                <a:solidFill>
                  <a:srgbClr val="2C3E50"/>
                </a:solidFill>
                <a:latin typeface="Poppins"/>
              </a:rPr>
              <a:t> — Identify next steps or actions</a:t>
            </a:r>
          </a:p>
          <a:p>
            <a:pPr>
              <a:spcAft>
                <a:spcPts val="1400"/>
              </a:spcAft>
            </a:pPr>
            <a:r>
              <a:rPr sz="1800" b="1">
                <a:solidFill>
                  <a:srgbClr val="21568C"/>
                </a:solidFill>
                <a:latin typeface="Poppins"/>
              </a:rPr>
              <a:t>Moving from numbers to insights requires context, critical thinking, and programmatic knowledge.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Critical thinking checklist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Before drawing conclusions from FASTR outputs, ask:</a:t>
            </a:r>
          </a:p>
          <a:p>
            <a:pPr>
              <a:spcAft>
                <a:spcPts val="800"/>
              </a:spcAft>
            </a:pPr>
            <a:r>
              <a:rPr sz="1800">
                <a:solidFill>
                  <a:srgbClr val="D0CB17"/>
                </a:solidFill>
                <a:latin typeface="Poppins"/>
              </a:rPr>
              <a:t>• </a:t>
            </a:r>
            <a:r>
              <a:rPr sz="1800" b="1">
                <a:solidFill>
                  <a:srgbClr val="21568C"/>
                </a:solidFill>
                <a:latin typeface="Poppins"/>
              </a:rPr>
              <a:t>Data quality or real change?</a:t>
            </a:r>
            <a:r>
              <a:rPr sz="1800">
                <a:solidFill>
                  <a:srgbClr val="2C3E50"/>
                </a:solidFill>
                <a:latin typeface="Poppins"/>
              </a:rPr>
              <a:t> Could this pattern reflect reporting issues rather than service delivery changes?</a:t>
            </a:r>
          </a:p>
          <a:p>
            <a:pPr>
              <a:spcAft>
                <a:spcPts val="800"/>
              </a:spcAft>
            </a:pPr>
            <a:r>
              <a:rPr sz="1800">
                <a:solidFill>
                  <a:srgbClr val="D0CB17"/>
                </a:solidFill>
                <a:latin typeface="Poppins"/>
              </a:rPr>
              <a:t>• </a:t>
            </a:r>
            <a:r>
              <a:rPr sz="1800" b="1">
                <a:solidFill>
                  <a:srgbClr val="21568C"/>
                </a:solidFill>
                <a:latin typeface="Poppins"/>
              </a:rPr>
              <a:t>What external factors apply?</a:t>
            </a:r>
            <a:r>
              <a:rPr sz="1800">
                <a:solidFill>
                  <a:srgbClr val="2C3E50"/>
                </a:solidFill>
                <a:latin typeface="Poppins"/>
              </a:rPr>
              <a:t> Policy changes, seasonal patterns, shocks, or campaigns?</a:t>
            </a:r>
          </a:p>
          <a:p>
            <a:pPr>
              <a:spcAft>
                <a:spcPts val="800"/>
              </a:spcAft>
            </a:pPr>
            <a:r>
              <a:rPr sz="1800">
                <a:solidFill>
                  <a:srgbClr val="D0CB17"/>
                </a:solidFill>
                <a:latin typeface="Poppins"/>
              </a:rPr>
              <a:t>• </a:t>
            </a:r>
            <a:r>
              <a:rPr sz="1800" b="1">
                <a:solidFill>
                  <a:srgbClr val="21568C"/>
                </a:solidFill>
                <a:latin typeface="Poppins"/>
              </a:rPr>
              <a:t>Does it make programmatic sense?</a:t>
            </a:r>
            <a:r>
              <a:rPr sz="1800">
                <a:solidFill>
                  <a:srgbClr val="2C3E50"/>
                </a:solidFill>
                <a:latin typeface="Poppins"/>
              </a:rPr>
              <a:t> Would this pattern be expected given what we know about the health system?</a:t>
            </a:r>
          </a:p>
          <a:p>
            <a:pPr>
              <a:spcAft>
                <a:spcPts val="800"/>
              </a:spcAft>
            </a:pPr>
            <a:r>
              <a:rPr sz="1800">
                <a:solidFill>
                  <a:srgbClr val="D0CB17"/>
                </a:solidFill>
                <a:latin typeface="Poppins"/>
              </a:rPr>
              <a:t>• </a:t>
            </a:r>
            <a:r>
              <a:rPr sz="1800" b="1">
                <a:solidFill>
                  <a:srgbClr val="21568C"/>
                </a:solidFill>
                <a:latin typeface="Poppins"/>
              </a:rPr>
              <a:t>What does disaggregation reveal?</a:t>
            </a:r>
            <a:r>
              <a:rPr sz="1800">
                <a:solidFill>
                  <a:srgbClr val="2C3E50"/>
                </a:solidFill>
                <a:latin typeface="Poppins"/>
              </a:rPr>
              <a:t> National trends can mask important regional variation</a:t>
            </a:r>
          </a:p>
          <a:p>
            <a:pPr>
              <a:spcAft>
                <a:spcPts val="800"/>
              </a:spcAft>
            </a:pPr>
            <a:r>
              <a:rPr sz="1800">
                <a:solidFill>
                  <a:srgbClr val="D0CB17"/>
                </a:solidFill>
                <a:latin typeface="Poppins"/>
              </a:rPr>
              <a:t>• </a:t>
            </a:r>
            <a:r>
              <a:rPr sz="1800" b="1">
                <a:solidFill>
                  <a:srgbClr val="21568C"/>
                </a:solidFill>
                <a:latin typeface="Poppins"/>
              </a:rPr>
              <a:t>What additional information is needed?</a:t>
            </a:r>
            <a:r>
              <a:rPr sz="1800">
                <a:solidFill>
                  <a:srgbClr val="2C3E50"/>
                </a:solidFill>
                <a:latin typeface="Poppins"/>
              </a:rPr>
              <a:t> What context would strengthen or challenge this interpretation?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Common interpretation pitfalls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Aggregation masking</a:t>
            </a:r>
          </a:p>
          <a:p>
            <a:pPr>
              <a:spcAft>
                <a:spcPts val="1400"/>
              </a:spcAft>
            </a:pPr>
            <a:r>
              <a:rPr sz="1800">
                <a:solidFill>
                  <a:srgbClr val="333333"/>
                </a:solidFill>
                <a:latin typeface="Poppins"/>
              </a:rPr>
              <a:t>National averages can hide critical regional variation. Always examine subnational patterns.</a:t>
            </a:r>
          </a:p>
          <a:p>
            <a:pPr>
              <a:spcAft>
                <a:spcPts val="1400"/>
              </a:spcAft>
            </a:pPr>
            <a:r>
              <a:rPr sz="1800" b="1">
                <a:solidFill>
                  <a:srgbClr val="21568C"/>
                </a:solidFill>
                <a:latin typeface="Poppins"/>
              </a:rPr>
              <a:t>Completeness ≠ representativeness</a:t>
            </a:r>
          </a:p>
          <a:p>
            <a:pPr>
              <a:spcAft>
                <a:spcPts val="1400"/>
              </a:spcAft>
            </a:pPr>
            <a:r>
              <a:rPr sz="1800">
                <a:solidFill>
                  <a:srgbClr val="333333"/>
                </a:solidFill>
                <a:latin typeface="Poppins"/>
              </a:rPr>
              <a:t>High reporting completeness doesn't mean data captures all service delivery (private sector, informal care).</a:t>
            </a:r>
          </a:p>
          <a:p>
            <a:pPr>
              <a:spcAft>
                <a:spcPts val="1400"/>
              </a:spcAft>
            </a:pPr>
            <a:r>
              <a:rPr sz="1800" b="1">
                <a:solidFill>
                  <a:srgbClr val="21568C"/>
                </a:solidFill>
                <a:latin typeface="Poppins"/>
              </a:rPr>
              <a:t>Missing context</a:t>
            </a:r>
          </a:p>
          <a:p>
            <a:pPr>
              <a:spcAft>
                <a:spcPts val="1400"/>
              </a:spcAft>
            </a:pPr>
            <a:r>
              <a:rPr sz="1800">
                <a:solidFill>
                  <a:srgbClr val="333333"/>
                </a:solidFill>
                <a:latin typeface="Poppins"/>
              </a:rPr>
              <a:t>Patterns without context are meaningless. Consider seasonality, policy changes, and external shocks.</a:t>
            </a:r>
          </a:p>
          <a:p>
            <a:pPr>
              <a:spcAft>
                <a:spcPts val="1400"/>
              </a:spcAft>
            </a:pPr>
            <a:r>
              <a:rPr sz="1800" b="1">
                <a:solidFill>
                  <a:srgbClr val="21568C"/>
                </a:solidFill>
                <a:latin typeface="Poppins"/>
              </a:rPr>
              <a:t>Over-interpreting noise</a:t>
            </a:r>
          </a:p>
          <a:p>
            <a:pPr>
              <a:spcAft>
                <a:spcPts val="1400"/>
              </a:spcAft>
            </a:pPr>
            <a:r>
              <a:rPr sz="1800">
                <a:solidFill>
                  <a:srgbClr val="333333"/>
                </a:solidFill>
                <a:latin typeface="Poppins"/>
              </a:rPr>
              <a:t>Short-term fluctuations may be normal variation. Focus on sustained trends and significant deviations.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Interpreting FASTR module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assessment</a:t>
            </a:r>
          </a:p>
          <a:p>
            <a:pPr>
              <a:spcAft>
                <a:spcPts val="1400"/>
              </a:spcAft>
            </a:pPr>
            <a:r>
              <a:rPr sz="1800">
                <a:solidFill>
                  <a:srgbClr val="333333"/>
                </a:solidFill>
                <a:latin typeface="Poppins"/>
              </a:rPr>
              <a:t>Low DQA scores may reflect data entry practices rather than service quality. Focus on identifying the specific dimension (completeness, outliers, consistency) driving issues.</a:t>
            </a:r>
          </a:p>
          <a:p>
            <a:pPr>
              <a:spcAft>
                <a:spcPts val="1400"/>
              </a:spcAft>
            </a:pPr>
            <a:r>
              <a:rPr sz="1800" b="1">
                <a:solidFill>
                  <a:srgbClr val="21568C"/>
                </a:solidFill>
                <a:latin typeface="Poppins"/>
              </a:rPr>
              <a:t>Service utilization</a:t>
            </a:r>
          </a:p>
          <a:p>
            <a:pPr>
              <a:spcAft>
                <a:spcPts val="1400"/>
              </a:spcAft>
            </a:pPr>
            <a:r>
              <a:rPr sz="1800">
                <a:solidFill>
                  <a:srgbClr val="333333"/>
                </a:solidFill>
                <a:latin typeface="Poppins"/>
              </a:rPr>
              <a:t>Distinguish seasonal patterns from real disruptions. Year-over-year comparisons help isolate programmatic changes from normal fluctuation.</a:t>
            </a:r>
          </a:p>
          <a:p>
            <a:pPr>
              <a:spcAft>
                <a:spcPts val="1400"/>
              </a:spcAft>
            </a:pPr>
            <a:r>
              <a:rPr sz="1800" b="1">
                <a:solidFill>
                  <a:srgbClr val="21568C"/>
                </a:solidFill>
                <a:latin typeface="Poppins"/>
              </a:rPr>
              <a:t>Coverage estimates</a:t>
            </a:r>
          </a:p>
          <a:p>
            <a:pPr>
              <a:spcAft>
                <a:spcPts val="1400"/>
              </a:spcAft>
            </a:pPr>
            <a:r>
              <a:rPr sz="1800">
                <a:solidFill>
                  <a:srgbClr val="333333"/>
                </a:solidFill>
                <a:latin typeface="Poppins"/>
              </a:rPr>
              <a:t>Coverage &gt;100% signals reconciliation needed between HMIS and survey data. Consider whether the denominator source matches the service delivery context.</a:t>
            </a:r>
          </a:p>
          <a:p>
            <a:pPr>
              <a:spcAft>
                <a:spcPts val="1400"/>
              </a:spcAft>
            </a:pPr>
            <a:r>
              <a:rPr sz="1800" b="1">
                <a:solidFill>
                  <a:srgbClr val="21568C"/>
                </a:solidFill>
                <a:latin typeface="Poppins"/>
              </a:rPr>
              <a:t>Across all modules</a:t>
            </a:r>
          </a:p>
          <a:p>
            <a:pPr>
              <a:spcAft>
                <a:spcPts val="1400"/>
              </a:spcAft>
            </a:pPr>
            <a:r>
              <a:rPr sz="1800">
                <a:solidFill>
                  <a:srgbClr val="333333"/>
                </a:solidFill>
                <a:latin typeface="Poppins"/>
              </a:rPr>
              <a:t>Examine patterns at multiple geographic levels — subnational disaggregation often reveals the true story.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9: Creating a Q4 2025 report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10: Presenting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3, we covered:</a:t>
            </a:r>
          </a:p>
          <a:p>
            <a:pPr>
              <a:spcAft>
                <a:spcPts val="800"/>
              </a:spcAft>
            </a:pPr>
            <a:r>
              <a:rPr sz="1800">
                <a:solidFill>
                  <a:srgbClr val="D0CB17"/>
                </a:solidFill>
                <a:latin typeface="Poppins"/>
              </a:rPr>
              <a:t>• </a:t>
            </a:r>
            <a:r>
              <a:rPr sz="1800">
                <a:solidFill>
                  <a:srgbClr val="2C3E50"/>
                </a:solidFill>
                <a:latin typeface="Poppins"/>
              </a:rPr>
              <a:t>Interpretation of FASTR visualizations</a:t>
            </a:r>
          </a:p>
          <a:p>
            <a:pPr>
              <a:spcAft>
                <a:spcPts val="800"/>
              </a:spcAft>
            </a:pPr>
            <a:r>
              <a:rPr sz="1800">
                <a:solidFill>
                  <a:srgbClr val="D0CB17"/>
                </a:solidFill>
                <a:latin typeface="Poppins"/>
              </a:rPr>
              <a:t>• </a:t>
            </a:r>
            <a:r>
              <a:rPr sz="1800">
                <a:solidFill>
                  <a:srgbClr val="2C3E50"/>
                </a:solidFill>
                <a:latin typeface="Poppins"/>
              </a:rPr>
              <a:t>Creation of the Q4 2025 quarterly report</a:t>
            </a:r>
          </a:p>
          <a:p>
            <a:pPr>
              <a:spcAft>
                <a:spcPts val="800"/>
              </a:spcAft>
            </a:pPr>
            <a:r>
              <a:rPr sz="1800">
                <a:solidFill>
                  <a:srgbClr val="D0CB17"/>
                </a:solidFill>
                <a:latin typeface="Poppins"/>
              </a:rPr>
              <a:t>• </a:t>
            </a:r>
            <a:r>
              <a:rPr sz="1800">
                <a:solidFill>
                  <a:srgbClr val="2C3E50"/>
                </a:solidFill>
                <a:latin typeface="Poppins"/>
              </a:rPr>
              <a:t>Presentation of findings and group feedback</a:t>
            </a:r>
          </a:p>
          <a:p>
            <a:pPr>
              <a:spcAft>
                <a:spcPts val="800"/>
              </a:spcAft>
            </a:pPr>
            <a:r>
              <a:rPr sz="1800">
                <a:solidFill>
                  <a:srgbClr val="D0CB17"/>
                </a:solidFill>
                <a:latin typeface="Poppins"/>
              </a:rPr>
              <a:t>• </a:t>
            </a:r>
            <a:r>
              <a:rPr sz="1800">
                <a:solidFill>
                  <a:srgbClr val="2C3E50"/>
                </a:solidFill>
                <a:latin typeface="Poppins"/>
              </a:rPr>
              <a:t>Action planning for continued platform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design the Health Facility Assessment:</a:t>
            </a:r>
          </a:p>
          <a:p>
            <a:pPr>
              <a:spcAft>
                <a:spcPts val="800"/>
              </a:spcAft>
            </a:pPr>
            <a:r>
              <a:rPr sz="1800">
                <a:solidFill>
                  <a:srgbClr val="D0CB17"/>
                </a:solidFill>
                <a:latin typeface="Poppins"/>
              </a:rPr>
              <a:t>• </a:t>
            </a:r>
            <a:r>
              <a:rPr sz="1800">
                <a:solidFill>
                  <a:srgbClr val="2C3E50"/>
                </a:solidFill>
                <a:latin typeface="Poppins"/>
              </a:rPr>
              <a:t>Overview of the FASTR HFA phone survey</a:t>
            </a:r>
          </a:p>
          <a:p>
            <a:pPr>
              <a:spcAft>
                <a:spcPts val="800"/>
              </a:spcAft>
            </a:pPr>
            <a:r>
              <a:rPr sz="1800">
                <a:solidFill>
                  <a:srgbClr val="D0CB17"/>
                </a:solidFill>
                <a:latin typeface="Poppins"/>
              </a:rPr>
              <a:t>• </a:t>
            </a:r>
            <a:r>
              <a:rPr sz="1800">
                <a:solidFill>
                  <a:srgbClr val="2C3E50"/>
                </a:solidFill>
                <a:latin typeface="Poppins"/>
              </a:rPr>
              <a:t>Review questionnaire structure</a:t>
            </a:r>
          </a:p>
          <a:p>
            <a:pPr>
              <a:spcAft>
                <a:spcPts val="800"/>
              </a:spcAft>
            </a:pPr>
            <a:r>
              <a:rPr sz="1800">
                <a:solidFill>
                  <a:srgbClr val="D0CB17"/>
                </a:solidFill>
                <a:latin typeface="Poppins"/>
              </a:rPr>
              <a:t>• </a:t>
            </a:r>
            <a:r>
              <a:rPr sz="1800">
                <a:solidFill>
                  <a:srgbClr val="2C3E50"/>
                </a:solidFill>
                <a:latin typeface="Poppins"/>
              </a:rPr>
              <a:t>Adapt questionnaire for Zambia context</a:t>
            </a:r>
          </a:p>
          <a:p>
            <a:pPr>
              <a:spcAft>
                <a:spcPts val="800"/>
              </a:spcAft>
            </a:pPr>
            <a:r>
              <a:rPr sz="1800">
                <a:solidFill>
                  <a:srgbClr val="D0CB17"/>
                </a:solidFill>
                <a:latin typeface="Poppins"/>
              </a:rPr>
              <a:t>• </a:t>
            </a:r>
            <a:r>
              <a:rPr sz="1800">
                <a:solidFill>
                  <a:srgbClr val="2C3E50"/>
                </a:solidFill>
                <a:latin typeface="Poppins"/>
              </a:rPr>
              <a:t>Plan HFA priorities and data use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12: Overview of FASTR HFA phone survey</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