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Rapid-cycle approaches using routine health management information system (HMIS) data can be used to:</a:t>
            </a:r>
          </a:p>
          <a:p>
            <a:pPr>
              <a:spcAft>
                <a:spcPts val="800"/>
              </a:spcAft>
            </a:pPr>
            <a:r>
              <a:rPr sz="1800">
                <a:solidFill>
                  <a:srgbClr val="D0CB17"/>
                </a:solidFill>
                <a:latin typeface="Calibri"/>
              </a:rPr>
              <a:t>• </a:t>
            </a:r>
            <a:r>
              <a:rPr sz="1800" b="1">
                <a:solidFill>
                  <a:srgbClr val="21568C"/>
                </a:solidFill>
                <a:latin typeface="Calibri"/>
              </a:rPr>
              <a:t>Evaluate the quality of HMIS data</a:t>
            </a:r>
            <a:r>
              <a:rPr sz="1800">
                <a:solidFill>
                  <a:srgbClr val="2C3E50"/>
                </a:solidFill>
                <a:latin typeface="Calibri"/>
              </a:rPr>
              <a:t> both at the national and sub-national levels to help address gaps in quality and completeness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the utilization of critical health services, enabling a rapid response to challenges and the opportunity to gain insights on the progress of reforms</a:t>
            </a:r>
          </a:p>
          <a:p>
            <a:pPr>
              <a:spcAft>
                <a:spcPts val="800"/>
              </a:spcAft>
            </a:pPr>
            <a:r>
              <a:rPr sz="1800">
                <a:solidFill>
                  <a:srgbClr val="D0CB17"/>
                </a:solidFill>
                <a:latin typeface="Calibri"/>
              </a:rPr>
              <a:t>• </a:t>
            </a:r>
            <a:r>
              <a:rPr sz="1800" b="1">
                <a:solidFill>
                  <a:srgbClr val="21568C"/>
                </a:solidFill>
                <a:latin typeface="Calibri"/>
              </a:rPr>
              <a:t>Compare service coverage trends</a:t>
            </a:r>
            <a:r>
              <a:rPr sz="1800">
                <a:solidFill>
                  <a:srgbClr val="2C3E50"/>
                </a:solidFill>
                <a:latin typeface="Calibri"/>
              </a:rPr>
              <a:t> with country targets, facilitating the continuous monitoring of RMNCAH-N progress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does it work?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Through collaboration with Ministries of Health, the GFF assists countries in developing and reviewing regular analyses of HMIS data, focusing on specific priority health service indicators linked to national health care reforms, as well as GFF and World Bank investments.</a:t>
            </a:r>
          </a:p>
        </p:txBody>
      </p:sp>
      <p:pic>
        <p:nvPicPr>
          <p:cNvPr id="5" name="Picture 4" descr="Steps to implement RMNCAH-N service chart.png"/>
          <p:cNvPicPr>
            <a:picLocks noChangeAspect="1"/>
          </p:cNvPicPr>
          <p:nvPr/>
        </p:nvPicPr>
        <p:blipFill>
          <a:blip r:embed="rId2"/>
          <a:stretch>
            <a:fillRect/>
          </a:stretch>
        </p:blipFill>
        <p:spPr>
          <a:xfrm>
            <a:off x="6400800" y="1280160"/>
            <a:ext cx="5303520" cy="60173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468983"/>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546898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Coverage (district)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Admin3.png"/>
          <p:cNvPicPr>
            <a:picLocks noChangeAspect="1"/>
          </p:cNvPicPr>
          <p:nvPr/>
        </p:nvPicPr>
        <p:blipFill>
          <a:blip r:embed="rId2"/>
          <a:stretch>
            <a:fillRect/>
          </a:stretch>
        </p:blipFill>
        <p:spPr>
          <a:xfrm>
            <a:off x="1523847" y="1371600"/>
            <a:ext cx="9144000" cy="6470469"/>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