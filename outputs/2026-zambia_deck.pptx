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Arial"/>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Arial"/>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600" b="0" i="0">
                <a:solidFill>
                  <a:srgbClr val="2C3E50"/>
                </a:solidFill>
                <a:latin typeface="Arial"/>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Agenda</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1247120" cy="4096512"/>
        </p:xfrm>
        <a:graphic>
          <a:graphicData uri="http://schemas.openxmlformats.org/drawingml/2006/table">
            <a:tbl>
              <a:tblPr firstRow="1" bandRow="1">
                <a:tableStyleId>{5C22544A-7EE6-4342-B048-85BDC9FD1C3A}</a:tableStyleId>
              </a:tblPr>
              <a:tblGrid>
                <a:gridCol w="1828800"/>
                <a:gridCol w="7315200"/>
                <a:gridCol w="2103120"/>
              </a:tblGrid>
              <a:tr h="256032">
                <a:tc>
                  <a:txBody>
                    <a:bodyPr wrap="square"/>
                    <a:lstStyle/>
                    <a:p>
                      <a:pPr>
                        <a:defRPr sz="1200" b="1">
                          <a:solidFill>
                            <a:srgbClr val="21568C"/>
                          </a:solidFill>
                          <a:latin typeface="Arial"/>
                        </a:defRPr>
                      </a:pPr>
                      <a:r>
                        <a:t>Time</a:t>
                      </a:r>
                    </a:p>
                  </a:txBody>
                  <a:tcPr>
                    <a:solidFill>
                      <a:srgbClr val="CAE6E9"/>
                    </a:solidFill>
                  </a:tcPr>
                </a:tc>
                <a:tc>
                  <a:txBody>
                    <a:bodyPr wrap="square"/>
                    <a:lstStyle/>
                    <a:p>
                      <a:pPr>
                        <a:defRPr sz="1200" b="1">
                          <a:solidFill>
                            <a:srgbClr val="21568C"/>
                          </a:solidFill>
                          <a:latin typeface="Arial"/>
                        </a:defRPr>
                      </a:pPr>
                      <a:r>
                        <a:t>Agenda</a:t>
                      </a:r>
                    </a:p>
                  </a:txBody>
                  <a:tcPr>
                    <a:solidFill>
                      <a:srgbClr val="CAE6E9"/>
                    </a:solidFill>
                  </a:tcPr>
                </a:tc>
                <a:tc>
                  <a:txBody>
                    <a:bodyPr wrap="square"/>
                    <a:lstStyle/>
                    <a:p>
                      <a:pPr>
                        <a:defRPr sz="1200" b="1">
                          <a:solidFill>
                            <a:srgbClr val="21568C"/>
                          </a:solidFill>
                          <a:latin typeface="Arial"/>
                        </a:defRPr>
                      </a:pPr>
                      <a:r>
                        <a:t>Facilitator/Presenter</a:t>
                      </a:r>
                    </a:p>
                  </a:txBody>
                  <a:tcPr>
                    <a:solidFill>
                      <a:srgbClr val="CAE6E9"/>
                    </a:solidFill>
                  </a:tcPr>
                </a:tc>
              </a:tr>
              <a:tr h="256032">
                <a:tc>
                  <a:txBody>
                    <a:bodyPr wrap="square"/>
                    <a:lstStyle/>
                    <a:p>
                      <a:r>
                        <a:rPr sz="1200" b="1">
                          <a:solidFill>
                            <a:srgbClr val="2C3E50"/>
                          </a:solidFill>
                          <a:latin typeface="Arial"/>
                        </a:rPr>
                        <a:t>Opening Session</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08:30-09:00</a:t>
                      </a:r>
                    </a:p>
                  </a:txBody>
                  <a:tcPr/>
                </a:tc>
                <a:tc>
                  <a:txBody>
                    <a:bodyPr wrap="square"/>
                    <a:lstStyle/>
                    <a:p>
                      <a:r>
                        <a:rPr sz="1200">
                          <a:solidFill>
                            <a:srgbClr val="2C3E50"/>
                          </a:solidFill>
                          <a:latin typeface="Arial"/>
                        </a:rPr>
                        <a:t>Participant registration</a:t>
                      </a:r>
                    </a:p>
                  </a:txBody>
                  <a:tcPr/>
                </a:tc>
                <a:tc>
                  <a:txBody>
                    <a:bodyPr wrap="square"/>
                    <a:lstStyle/>
                    <a:p>
                      <a:r>
                        <a:rPr sz="1200">
                          <a:solidFill>
                            <a:srgbClr val="2C3E50"/>
                          </a:solidFill>
                          <a:latin typeface="Arial"/>
                        </a:rPr>
                        <a:t>MoH team</a:t>
                      </a:r>
                    </a:p>
                  </a:txBody>
                  <a:tcPr/>
                </a:tc>
              </a:tr>
              <a:tr h="256032">
                <a:tc>
                  <a:txBody>
                    <a:bodyPr wrap="square"/>
                    <a:lstStyle/>
                    <a:p>
                      <a:r>
                        <a:rPr sz="1200">
                          <a:solidFill>
                            <a:srgbClr val="2C3E50"/>
                          </a:solidFill>
                          <a:latin typeface="Arial"/>
                        </a:rPr>
                        <a:t>09:00-09:10</a:t>
                      </a:r>
                    </a:p>
                  </a:txBody>
                  <a:tcPr/>
                </a:tc>
                <a:tc>
                  <a:txBody>
                    <a:bodyPr wrap="square"/>
                    <a:lstStyle/>
                    <a:p>
                      <a:r>
                        <a:rPr sz="1200">
                          <a:solidFill>
                            <a:srgbClr val="2C3E50"/>
                          </a:solidFill>
                          <a:latin typeface="Arial"/>
                        </a:rPr>
                        <a:t>Welcome and opening remarks</a:t>
                      </a:r>
                    </a:p>
                  </a:txBody>
                  <a:tcPr/>
                </a:tc>
                <a:tc>
                  <a:txBody>
                    <a:bodyPr wrap="square"/>
                    <a:lstStyle/>
                    <a:p>
                      <a:r>
                        <a:rPr sz="1200">
                          <a:solidFill>
                            <a:srgbClr val="2C3E50"/>
                          </a:solidFill>
                          <a:latin typeface="Arial"/>
                        </a:rPr>
                        <a:t>MoH team</a:t>
                      </a:r>
                    </a:p>
                  </a:txBody>
                  <a:tcPr/>
                </a:tc>
              </a:tr>
              <a:tr h="256032">
                <a:tc>
                  <a:txBody>
                    <a:bodyPr wrap="square"/>
                    <a:lstStyle/>
                    <a:p>
                      <a:r>
                        <a:rPr sz="1200">
                          <a:solidFill>
                            <a:srgbClr val="2C3E50"/>
                          </a:solidFill>
                          <a:latin typeface="Arial"/>
                        </a:rPr>
                        <a:t>09:10-09:20</a:t>
                      </a:r>
                    </a:p>
                  </a:txBody>
                  <a:tcPr/>
                </a:tc>
                <a:tc>
                  <a:txBody>
                    <a:bodyPr wrap="square"/>
                    <a:lstStyle/>
                    <a:p>
                      <a:r>
                        <a:rPr sz="1200">
                          <a:solidFill>
                            <a:srgbClr val="2C3E50"/>
                          </a:solidFill>
                          <a:latin typeface="Arial"/>
                        </a:rPr>
                        <a:t>Icebreakers/Introductions</a:t>
                      </a:r>
                    </a:p>
                  </a:txBody>
                  <a:tcPr/>
                </a:tc>
                <a:tc>
                  <a:txBody>
                    <a:bodyPr wrap="square"/>
                    <a:lstStyle/>
                    <a:p>
                      <a:r>
                        <a:rPr sz="1200">
                          <a:solidFill>
                            <a:srgbClr val="2C3E50"/>
                          </a:solidFill>
                          <a:latin typeface="Arial"/>
                        </a:rPr>
                        <a:t>MoH team</a:t>
                      </a:r>
                    </a:p>
                  </a:txBody>
                  <a:tcPr/>
                </a:tc>
              </a:tr>
              <a:tr h="256032">
                <a:tc>
                  <a:txBody>
                    <a:bodyPr wrap="square"/>
                    <a:lstStyle/>
                    <a:p>
                      <a:r>
                        <a:rPr sz="1200">
                          <a:solidFill>
                            <a:srgbClr val="2C3E50"/>
                          </a:solidFill>
                          <a:latin typeface="Arial"/>
                        </a:rPr>
                        <a:t>09:20-09:35</a:t>
                      </a:r>
                    </a:p>
                  </a:txBody>
                  <a:tcPr/>
                </a:tc>
                <a:tc>
                  <a:txBody>
                    <a:bodyPr wrap="square"/>
                    <a:lstStyle/>
                    <a:p>
                      <a:r>
                        <a:rPr sz="1200">
                          <a:solidFill>
                            <a:srgbClr val="2C3E50"/>
                          </a:solidFill>
                          <a:latin typeface="Arial"/>
                        </a:rPr>
                        <a:t>Overview of agenda, workshop objectives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 Overview of the FASTR approach</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09:35-10:30</a:t>
                      </a:r>
                    </a:p>
                  </a:txBody>
                  <a:tcPr/>
                </a:tc>
                <a:tc>
                  <a:txBody>
                    <a:bodyPr wrap="square"/>
                    <a:lstStyle/>
                    <a:p>
                      <a:r>
                        <a:rPr sz="1200">
                          <a:solidFill>
                            <a:srgbClr val="2C3E50"/>
                          </a:solidFill>
                          <a:latin typeface="Arial"/>
                        </a:rPr>
                        <a:t>Overview: FASTR Approaches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2: HMIS data extraction</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10:30-11:30</a:t>
                      </a:r>
                    </a:p>
                  </a:txBody>
                  <a:tcPr/>
                </a:tc>
                <a:tc>
                  <a:txBody>
                    <a:bodyPr wrap="square"/>
                    <a:lstStyle/>
                    <a:p>
                      <a:r>
                        <a:rPr sz="1200">
                          <a:solidFill>
                            <a:srgbClr val="2C3E50"/>
                          </a:solidFill>
                          <a:latin typeface="Arial"/>
                        </a:rPr>
                        <a:t>Data extraction: Rationale and methods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3: Introduction to the FASTR analytics platform</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11:30-12:30</a:t>
                      </a:r>
                    </a:p>
                  </a:txBody>
                  <a:tcPr/>
                </a:tc>
                <a:tc>
                  <a:txBody>
                    <a:bodyPr wrap="square"/>
                    <a:lstStyle/>
                    <a:p>
                      <a:r>
                        <a:rPr sz="1200">
                          <a:solidFill>
                            <a:srgbClr val="2C3E50"/>
                          </a:solidFill>
                          <a:latin typeface="Arial"/>
                        </a:rPr>
                        <a:t>Introduction to the FASTR analytics platform</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12:30-14:00</a:t>
                      </a:r>
                    </a:p>
                  </a:txBody>
                  <a:tcPr/>
                </a:tc>
                <a:tc>
                  <a:txBody>
                    <a:bodyPr wrap="square"/>
                    <a:lstStyle/>
                    <a:p>
                      <a:r>
                        <a:rPr sz="1200" i="1">
                          <a:solidFill>
                            <a:srgbClr val="2C3E50"/>
                          </a:solidFill>
                          <a:latin typeface="Arial"/>
                        </a:rPr>
                        <a:t>Lunch Break</a:t>
                      </a:r>
                    </a:p>
                  </a:txBody>
                  <a:tcPr/>
                </a:tc>
                <a:tc>
                  <a:txBody>
                    <a:bodyPr wrap="square"/>
                    <a:lstStyle/>
                    <a:p/>
                  </a:txBody>
                  <a:tcPr/>
                </a:tc>
              </a:tr>
              <a:tr h="256032">
                <a:tc>
                  <a:txBody>
                    <a:bodyPr wrap="square"/>
                    <a:lstStyle/>
                    <a:p>
                      <a:r>
                        <a:rPr sz="1200">
                          <a:solidFill>
                            <a:srgbClr val="2C3E50"/>
                          </a:solidFill>
                          <a:latin typeface="Arial"/>
                        </a:rPr>
                        <a:t>14:00-14:30</a:t>
                      </a:r>
                    </a:p>
                  </a:txBody>
                  <a:tcPr/>
                </a:tc>
                <a:tc>
                  <a:txBody>
                    <a:bodyPr wrap="square"/>
                    <a:lstStyle/>
                    <a:p>
                      <a:r>
                        <a:rPr sz="1200">
                          <a:solidFill>
                            <a:srgbClr val="2C3E50"/>
                          </a:solidFill>
                          <a:latin typeface="Arial"/>
                        </a:rPr>
                        <a:t>Getting participants into the platform</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4: Configuring the FASTR analytics platform</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14:30-16:30</a:t>
                      </a:r>
                    </a:p>
                  </a:txBody>
                  <a:tcPr/>
                </a:tc>
                <a:tc>
                  <a:txBody>
                    <a:bodyPr wrap="square"/>
                    <a:lstStyle/>
                    <a:p>
                      <a:r>
                        <a:rPr sz="1200">
                          <a:solidFill>
                            <a:srgbClr val="2C3E50"/>
                          </a:solidFill>
                          <a:latin typeface="Arial"/>
                        </a:rPr>
                        <a:t>Configuring the analysis platform</a:t>
                      </a:r>
                    </a:p>
                  </a:txBody>
                  <a:tcPr/>
                </a:tc>
                <a:tc>
                  <a:txBody>
                    <a:bodyPr wrap="square"/>
                    <a:lstStyle/>
                    <a:p>
                      <a:r>
                        <a:rPr sz="1200">
                          <a:solidFill>
                            <a:srgbClr val="2C3E50"/>
                          </a:solidFill>
                          <a:latin typeface="Arial"/>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Agenda</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1247120" cy="2816352"/>
        </p:xfrm>
        <a:graphic>
          <a:graphicData uri="http://schemas.openxmlformats.org/drawingml/2006/table">
            <a:tbl>
              <a:tblPr firstRow="1" bandRow="1">
                <a:tableStyleId>{5C22544A-7EE6-4342-B048-85BDC9FD1C3A}</a:tableStyleId>
              </a:tblPr>
              <a:tblGrid>
                <a:gridCol w="1828800"/>
                <a:gridCol w="7315200"/>
                <a:gridCol w="2103120"/>
              </a:tblGrid>
              <a:tr h="256032">
                <a:tc>
                  <a:txBody>
                    <a:bodyPr wrap="square"/>
                    <a:lstStyle/>
                    <a:p>
                      <a:pPr>
                        <a:defRPr sz="1200" b="1">
                          <a:solidFill>
                            <a:srgbClr val="21568C"/>
                          </a:solidFill>
                          <a:latin typeface="Arial"/>
                        </a:defRPr>
                      </a:pPr>
                      <a:r>
                        <a:t>Time</a:t>
                      </a:r>
                    </a:p>
                  </a:txBody>
                  <a:tcPr>
                    <a:solidFill>
                      <a:srgbClr val="CAE6E9"/>
                    </a:solidFill>
                  </a:tcPr>
                </a:tc>
                <a:tc>
                  <a:txBody>
                    <a:bodyPr wrap="square"/>
                    <a:lstStyle/>
                    <a:p>
                      <a:pPr>
                        <a:defRPr sz="1200" b="1">
                          <a:solidFill>
                            <a:srgbClr val="21568C"/>
                          </a:solidFill>
                          <a:latin typeface="Arial"/>
                        </a:defRPr>
                      </a:pPr>
                      <a:r>
                        <a:t>Agenda</a:t>
                      </a:r>
                    </a:p>
                  </a:txBody>
                  <a:tcPr>
                    <a:solidFill>
                      <a:srgbClr val="CAE6E9"/>
                    </a:solidFill>
                  </a:tcPr>
                </a:tc>
                <a:tc>
                  <a:txBody>
                    <a:bodyPr wrap="square"/>
                    <a:lstStyle/>
                    <a:p>
                      <a:pPr>
                        <a:defRPr sz="1200" b="1">
                          <a:solidFill>
                            <a:srgbClr val="21568C"/>
                          </a:solidFill>
                          <a:latin typeface="Arial"/>
                        </a:defRPr>
                      </a:pPr>
                      <a:r>
                        <a:t>Facilitator/Presenter</a:t>
                      </a:r>
                    </a:p>
                  </a:txBody>
                  <a:tcPr>
                    <a:solidFill>
                      <a:srgbClr val="CAE6E9"/>
                    </a:solidFill>
                  </a:tcPr>
                </a:tc>
              </a:tr>
              <a:tr h="256032">
                <a:tc>
                  <a:txBody>
                    <a:bodyPr wrap="square"/>
                    <a:lstStyle/>
                    <a:p>
                      <a:r>
                        <a:rPr sz="1200">
                          <a:solidFill>
                            <a:srgbClr val="2C3E50"/>
                          </a:solidFill>
                          <a:latin typeface="Arial"/>
                        </a:rPr>
                        <a:t>09:00-09:15</a:t>
                      </a:r>
                    </a:p>
                  </a:txBody>
                  <a:tcPr/>
                </a:tc>
                <a:tc>
                  <a:txBody>
                    <a:bodyPr wrap="square"/>
                    <a:lstStyle/>
                    <a:p>
                      <a:r>
                        <a:rPr sz="1200">
                          <a:solidFill>
                            <a:srgbClr val="2C3E50"/>
                          </a:solidFill>
                          <a:latin typeface="Arial"/>
                        </a:rPr>
                        <a:t>Overview of Day 2 agenda</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5: Overview of FASTR methods and analytical outputs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09:15-10:15</a:t>
                      </a:r>
                    </a:p>
                  </a:txBody>
                  <a:tcPr/>
                </a:tc>
                <a:tc>
                  <a:txBody>
                    <a:bodyPr wrap="square"/>
                    <a:lstStyle/>
                    <a:p>
                      <a:r>
                        <a:rPr sz="1200">
                          <a:solidFill>
                            <a:srgbClr val="2C3E50"/>
                          </a:solidFill>
                          <a:latin typeface="Arial"/>
                        </a:rPr>
                        <a:t>Data quality, service utilization, coverage</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6: Creating a project</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10:15-11:15</a:t>
                      </a:r>
                    </a:p>
                  </a:txBody>
                  <a:tcPr/>
                </a:tc>
                <a:tc>
                  <a:txBody>
                    <a:bodyPr wrap="square"/>
                    <a:lstStyle/>
                    <a:p>
                      <a:r>
                        <a:rPr sz="1200">
                          <a:solidFill>
                            <a:srgbClr val="2C3E50"/>
                          </a:solidFill>
                          <a:latin typeface="Arial"/>
                        </a:rPr>
                        <a:t>Project creation and settings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7: Creating visualizations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11:15-12:30</a:t>
                      </a:r>
                    </a:p>
                  </a:txBody>
                  <a:tcPr/>
                </a:tc>
                <a:tc>
                  <a:txBody>
                    <a:bodyPr wrap="square"/>
                    <a:lstStyle/>
                    <a:p>
                      <a:r>
                        <a:rPr sz="1200">
                          <a:solidFill>
                            <a:srgbClr val="2C3E50"/>
                          </a:solidFill>
                          <a:latin typeface="Arial"/>
                        </a:rPr>
                        <a:t>Creating and editing visualizations</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12:30-14:00</a:t>
                      </a:r>
                    </a:p>
                  </a:txBody>
                  <a:tcPr/>
                </a:tc>
                <a:tc>
                  <a:txBody>
                    <a:bodyPr wrap="square"/>
                    <a:lstStyle/>
                    <a:p>
                      <a:r>
                        <a:rPr sz="1200" i="1">
                          <a:solidFill>
                            <a:srgbClr val="2C3E50"/>
                          </a:solidFill>
                          <a:latin typeface="Arial"/>
                        </a:rPr>
                        <a:t>Lunch Break</a:t>
                      </a:r>
                    </a:p>
                  </a:txBody>
                  <a:tcPr/>
                </a:tc>
                <a:tc>
                  <a:txBody>
                    <a:bodyPr wrap="square"/>
                    <a:lstStyle/>
                    <a:p/>
                  </a:txBody>
                  <a:tcPr/>
                </a:tc>
              </a:tr>
              <a:tr h="256032">
                <a:tc>
                  <a:txBody>
                    <a:bodyPr wrap="square"/>
                    <a:lstStyle/>
                    <a:p>
                      <a:r>
                        <a:rPr sz="1200" b="1">
                          <a:solidFill>
                            <a:srgbClr val="2C3E50"/>
                          </a:solidFill>
                          <a:latin typeface="Arial"/>
                        </a:rPr>
                        <a:t>Session 8: Creating reports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14:30-16:30</a:t>
                      </a:r>
                    </a:p>
                  </a:txBody>
                  <a:tcPr/>
                </a:tc>
                <a:tc>
                  <a:txBody>
                    <a:bodyPr wrap="square"/>
                    <a:lstStyle/>
                    <a:p>
                      <a:r>
                        <a:rPr sz="1200">
                          <a:solidFill>
                            <a:srgbClr val="2C3E50"/>
                          </a:solidFill>
                          <a:latin typeface="Arial"/>
                        </a:rPr>
                        <a:t>Practice creating and editing reports</a:t>
                      </a:r>
                    </a:p>
                  </a:txBody>
                  <a:tcPr/>
                </a:tc>
                <a:tc>
                  <a:txBody>
                    <a:bodyPr wrap="square"/>
                    <a:lstStyle/>
                    <a:p>
                      <a:r>
                        <a:rPr sz="1200">
                          <a:solidFill>
                            <a:srgbClr val="2C3E50"/>
                          </a:solidFill>
                          <a:latin typeface="Arial"/>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Agenda</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1247120" cy="2816352"/>
        </p:xfrm>
        <a:graphic>
          <a:graphicData uri="http://schemas.openxmlformats.org/drawingml/2006/table">
            <a:tbl>
              <a:tblPr firstRow="1" bandRow="1">
                <a:tableStyleId>{5C22544A-7EE6-4342-B048-85BDC9FD1C3A}</a:tableStyleId>
              </a:tblPr>
              <a:tblGrid>
                <a:gridCol w="1828800"/>
                <a:gridCol w="7315200"/>
                <a:gridCol w="2103120"/>
              </a:tblGrid>
              <a:tr h="256032">
                <a:tc>
                  <a:txBody>
                    <a:bodyPr wrap="square"/>
                    <a:lstStyle/>
                    <a:p>
                      <a:pPr>
                        <a:defRPr sz="1200" b="1">
                          <a:solidFill>
                            <a:srgbClr val="21568C"/>
                          </a:solidFill>
                          <a:latin typeface="Arial"/>
                        </a:defRPr>
                      </a:pPr>
                      <a:r>
                        <a:t>Time</a:t>
                      </a:r>
                    </a:p>
                  </a:txBody>
                  <a:tcPr>
                    <a:solidFill>
                      <a:srgbClr val="CAE6E9"/>
                    </a:solidFill>
                  </a:tcPr>
                </a:tc>
                <a:tc>
                  <a:txBody>
                    <a:bodyPr wrap="square"/>
                    <a:lstStyle/>
                    <a:p>
                      <a:pPr>
                        <a:defRPr sz="1200" b="1">
                          <a:solidFill>
                            <a:srgbClr val="21568C"/>
                          </a:solidFill>
                          <a:latin typeface="Arial"/>
                        </a:defRPr>
                      </a:pPr>
                      <a:r>
                        <a:t>Agenda</a:t>
                      </a:r>
                    </a:p>
                  </a:txBody>
                  <a:tcPr>
                    <a:solidFill>
                      <a:srgbClr val="CAE6E9"/>
                    </a:solidFill>
                  </a:tcPr>
                </a:tc>
                <a:tc>
                  <a:txBody>
                    <a:bodyPr wrap="square"/>
                    <a:lstStyle/>
                    <a:p>
                      <a:pPr>
                        <a:defRPr sz="1200" b="1">
                          <a:solidFill>
                            <a:srgbClr val="21568C"/>
                          </a:solidFill>
                          <a:latin typeface="Arial"/>
                        </a:defRPr>
                      </a:pPr>
                      <a:r>
                        <a:t>Facilitator/Presenter</a:t>
                      </a:r>
                    </a:p>
                  </a:txBody>
                  <a:tcPr>
                    <a:solidFill>
                      <a:srgbClr val="CAE6E9"/>
                    </a:solidFill>
                  </a:tcPr>
                </a:tc>
              </a:tr>
              <a:tr h="256032">
                <a:tc>
                  <a:txBody>
                    <a:bodyPr wrap="square"/>
                    <a:lstStyle/>
                    <a:p>
                      <a:r>
                        <a:rPr sz="1200">
                          <a:solidFill>
                            <a:srgbClr val="2C3E50"/>
                          </a:solidFill>
                          <a:latin typeface="Arial"/>
                        </a:rPr>
                        <a:t>09:00-09:15</a:t>
                      </a:r>
                    </a:p>
                  </a:txBody>
                  <a:tcPr/>
                </a:tc>
                <a:tc>
                  <a:txBody>
                    <a:bodyPr wrap="square"/>
                    <a:lstStyle/>
                    <a:p>
                      <a:r>
                        <a:rPr sz="1200">
                          <a:solidFill>
                            <a:srgbClr val="2C3E50"/>
                          </a:solidFill>
                          <a:latin typeface="Arial"/>
                        </a:rPr>
                        <a:t>Overview of Day 3 agenda</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8: Interpretation of visualizations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09:15-10:15</a:t>
                      </a:r>
                    </a:p>
                  </a:txBody>
                  <a:tcPr/>
                </a:tc>
                <a:tc>
                  <a:txBody>
                    <a:bodyPr wrap="square"/>
                    <a:lstStyle/>
                    <a:p>
                      <a:r>
                        <a:rPr sz="1200">
                          <a:solidFill>
                            <a:srgbClr val="2C3E50"/>
                          </a:solidFill>
                          <a:latin typeface="Arial"/>
                        </a:rPr>
                        <a:t>Approaches to support interpretation</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9: Creating a Q4 2025 report</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10:15-12:30</a:t>
                      </a:r>
                    </a:p>
                  </a:txBody>
                  <a:tcPr/>
                </a:tc>
                <a:tc>
                  <a:txBody>
                    <a:bodyPr wrap="square"/>
                    <a:lstStyle/>
                    <a:p>
                      <a:r>
                        <a:rPr sz="1200">
                          <a:solidFill>
                            <a:srgbClr val="2C3E50"/>
                          </a:solidFill>
                          <a:latin typeface="Arial"/>
                        </a:rPr>
                        <a:t>Creating short and long reports with country context</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12:30-14:00</a:t>
                      </a:r>
                    </a:p>
                  </a:txBody>
                  <a:tcPr/>
                </a:tc>
                <a:tc>
                  <a:txBody>
                    <a:bodyPr wrap="square"/>
                    <a:lstStyle/>
                    <a:p>
                      <a:r>
                        <a:rPr sz="1200" i="1">
                          <a:solidFill>
                            <a:srgbClr val="2C3E50"/>
                          </a:solidFill>
                          <a:latin typeface="Arial"/>
                        </a:rPr>
                        <a:t>Lunch Break</a:t>
                      </a:r>
                    </a:p>
                  </a:txBody>
                  <a:tcPr/>
                </a:tc>
                <a:tc>
                  <a:txBody>
                    <a:bodyPr wrap="square"/>
                    <a:lstStyle/>
                    <a:p/>
                  </a:txBody>
                  <a:tcPr/>
                </a:tc>
              </a:tr>
              <a:tr h="256032">
                <a:tc>
                  <a:txBody>
                    <a:bodyPr wrap="square"/>
                    <a:lstStyle/>
                    <a:p>
                      <a:r>
                        <a:rPr sz="1200" b="1">
                          <a:solidFill>
                            <a:srgbClr val="2C3E50"/>
                          </a:solidFill>
                          <a:latin typeface="Arial"/>
                        </a:rPr>
                        <a:t>Session 9 (cont'd): Creating a Q4 2025 report</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14:00-15:00</a:t>
                      </a:r>
                    </a:p>
                  </a:txBody>
                  <a:tcPr/>
                </a:tc>
                <a:tc>
                  <a:txBody>
                    <a:bodyPr wrap="square"/>
                    <a:lstStyle/>
                    <a:p>
                      <a:r>
                        <a:rPr sz="1200">
                          <a:solidFill>
                            <a:srgbClr val="2C3E50"/>
                          </a:solidFill>
                          <a:latin typeface="Arial"/>
                        </a:rPr>
                        <a:t>Continue report creation with country context</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10: Presenting reports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14:30-15:30</a:t>
                      </a:r>
                    </a:p>
                  </a:txBody>
                  <a:tcPr/>
                </a:tc>
                <a:tc>
                  <a:txBody>
                    <a:bodyPr wrap="square"/>
                    <a:lstStyle/>
                    <a:p>
                      <a:r>
                        <a:rPr sz="1200">
                          <a:solidFill>
                            <a:srgbClr val="2C3E50"/>
                          </a:solidFill>
                          <a:latin typeface="Arial"/>
                        </a:rPr>
                        <a:t>Present reports, group feedback</a:t>
                      </a:r>
                    </a:p>
                  </a:txBody>
                  <a:tcPr/>
                </a:tc>
                <a:tc>
                  <a:txBody>
                    <a:bodyPr wrap="square"/>
                    <a:lstStyle/>
                    <a:p>
                      <a:r>
                        <a:rPr sz="1200">
                          <a:solidFill>
                            <a:srgbClr val="2C3E50"/>
                          </a:solidFill>
                          <a:latin typeface="Arial"/>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Agenda</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1247120" cy="3840480"/>
        </p:xfrm>
        <a:graphic>
          <a:graphicData uri="http://schemas.openxmlformats.org/drawingml/2006/table">
            <a:tbl>
              <a:tblPr firstRow="1" bandRow="1">
                <a:tableStyleId>{5C22544A-7EE6-4342-B048-85BDC9FD1C3A}</a:tableStyleId>
              </a:tblPr>
              <a:tblGrid>
                <a:gridCol w="1828800"/>
                <a:gridCol w="7315200"/>
                <a:gridCol w="2103120"/>
              </a:tblGrid>
              <a:tr h="256032">
                <a:tc>
                  <a:txBody>
                    <a:bodyPr wrap="square"/>
                    <a:lstStyle/>
                    <a:p>
                      <a:pPr>
                        <a:defRPr sz="1200" b="1">
                          <a:solidFill>
                            <a:srgbClr val="21568C"/>
                          </a:solidFill>
                          <a:latin typeface="Arial"/>
                        </a:defRPr>
                      </a:pPr>
                      <a:r>
                        <a:t>Time</a:t>
                      </a:r>
                    </a:p>
                  </a:txBody>
                  <a:tcPr>
                    <a:solidFill>
                      <a:srgbClr val="CAE6E9"/>
                    </a:solidFill>
                  </a:tcPr>
                </a:tc>
                <a:tc>
                  <a:txBody>
                    <a:bodyPr wrap="square"/>
                    <a:lstStyle/>
                    <a:p>
                      <a:pPr>
                        <a:defRPr sz="1200" b="1">
                          <a:solidFill>
                            <a:srgbClr val="21568C"/>
                          </a:solidFill>
                          <a:latin typeface="Arial"/>
                        </a:defRPr>
                      </a:pPr>
                      <a:r>
                        <a:t>Agenda</a:t>
                      </a:r>
                    </a:p>
                  </a:txBody>
                  <a:tcPr>
                    <a:solidFill>
                      <a:srgbClr val="CAE6E9"/>
                    </a:solidFill>
                  </a:tcPr>
                </a:tc>
                <a:tc>
                  <a:txBody>
                    <a:bodyPr wrap="square"/>
                    <a:lstStyle/>
                    <a:p>
                      <a:pPr>
                        <a:defRPr sz="1200" b="1">
                          <a:solidFill>
                            <a:srgbClr val="21568C"/>
                          </a:solidFill>
                          <a:latin typeface="Arial"/>
                        </a:defRPr>
                      </a:pPr>
                      <a:r>
                        <a:t>Facilitator/Presenter</a:t>
                      </a:r>
                    </a:p>
                  </a:txBody>
                  <a:tcPr>
                    <a:solidFill>
                      <a:srgbClr val="CAE6E9"/>
                    </a:solidFill>
                  </a:tcPr>
                </a:tc>
              </a:tr>
              <a:tr h="256032">
                <a:tc>
                  <a:txBody>
                    <a:bodyPr wrap="square"/>
                    <a:lstStyle/>
                    <a:p>
                      <a:r>
                        <a:rPr sz="1200">
                          <a:solidFill>
                            <a:srgbClr val="2C3E50"/>
                          </a:solidFill>
                          <a:latin typeface="Arial"/>
                        </a:rPr>
                        <a:t>09:00-09:15</a:t>
                      </a:r>
                    </a:p>
                  </a:txBody>
                  <a:tcPr/>
                </a:tc>
                <a:tc>
                  <a:txBody>
                    <a:bodyPr wrap="square"/>
                    <a:lstStyle/>
                    <a:p>
                      <a:r>
                        <a:rPr sz="1200">
                          <a:solidFill>
                            <a:srgbClr val="2C3E50"/>
                          </a:solidFill>
                          <a:latin typeface="Arial"/>
                        </a:rPr>
                        <a:t>Overview of Day 4 agenda</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12: Overview of FASTR HFA phone survey</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09:15-10:15</a:t>
                      </a:r>
                    </a:p>
                  </a:txBody>
                  <a:tcPr/>
                </a:tc>
                <a:tc>
                  <a:txBody>
                    <a:bodyPr wrap="square"/>
                    <a:lstStyle/>
                    <a:p>
                      <a:r>
                        <a:rPr sz="1200">
                          <a:solidFill>
                            <a:srgbClr val="2C3E50"/>
                          </a:solidFill>
                          <a:latin typeface="Arial"/>
                        </a:rPr>
                        <a:t>HFA overview and questionnaire adaptation guidelines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13: Questionnaire adaptation to the Zambian context</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10:15-12:30</a:t>
                      </a:r>
                    </a:p>
                  </a:txBody>
                  <a:tcPr/>
                </a:tc>
                <a:tc>
                  <a:txBody>
                    <a:bodyPr wrap="square"/>
                    <a:lstStyle/>
                    <a:p>
                      <a:r>
                        <a:rPr sz="1200">
                          <a:solidFill>
                            <a:srgbClr val="2C3E50"/>
                          </a:solidFill>
                          <a:latin typeface="Arial"/>
                        </a:rPr>
                        <a:t>Review questionnaire + hands-on adaptation</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12:30-14:00</a:t>
                      </a:r>
                    </a:p>
                  </a:txBody>
                  <a:tcPr/>
                </a:tc>
                <a:tc>
                  <a:txBody>
                    <a:bodyPr wrap="square"/>
                    <a:lstStyle/>
                    <a:p>
                      <a:r>
                        <a:rPr sz="1200" i="1">
                          <a:solidFill>
                            <a:srgbClr val="2C3E50"/>
                          </a:solidFill>
                          <a:latin typeface="Arial"/>
                        </a:rPr>
                        <a:t>Lunch Break</a:t>
                      </a:r>
                    </a:p>
                  </a:txBody>
                  <a:tcPr/>
                </a:tc>
                <a:tc>
                  <a:txBody>
                    <a:bodyPr wrap="square"/>
                    <a:lstStyle/>
                    <a:p/>
                  </a:txBody>
                  <a:tcPr/>
                </a:tc>
              </a:tr>
              <a:tr h="256032">
                <a:tc>
                  <a:txBody>
                    <a:bodyPr wrap="square"/>
                    <a:lstStyle/>
                    <a:p>
                      <a:r>
                        <a:rPr sz="1200" b="1">
                          <a:solidFill>
                            <a:srgbClr val="2C3E50"/>
                          </a:solidFill>
                          <a:latin typeface="Arial"/>
                        </a:rPr>
                        <a:t>Session 14: Questionnaire adaptation (cont'd)</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14:00-15:00</a:t>
                      </a:r>
                    </a:p>
                  </a:txBody>
                  <a:tcPr/>
                </a:tc>
                <a:tc>
                  <a:txBody>
                    <a:bodyPr wrap="square"/>
                    <a:lstStyle/>
                    <a:p>
                      <a:r>
                        <a:rPr sz="1200">
                          <a:solidFill>
                            <a:srgbClr val="2C3E50"/>
                          </a:solidFill>
                          <a:latin typeface="Arial"/>
                        </a:rPr>
                        <a:t>Continue questionnaire adaptation (in groups)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15: Discussion: HFA adapted questionnaire</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14:30-15:30</a:t>
                      </a:r>
                    </a:p>
                  </a:txBody>
                  <a:tcPr/>
                </a:tc>
                <a:tc>
                  <a:txBody>
                    <a:bodyPr wrap="square"/>
                    <a:lstStyle/>
                    <a:p>
                      <a:r>
                        <a:rPr sz="1200">
                          <a:solidFill>
                            <a:srgbClr val="2C3E50"/>
                          </a:solidFill>
                          <a:latin typeface="Arial"/>
                        </a:rPr>
                        <a:t>Discuss adapted questionnaire in plenary</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16: Discussion: HFA priorities and data use</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15:30-16:30</a:t>
                      </a:r>
                    </a:p>
                  </a:txBody>
                  <a:tcPr/>
                </a:tc>
                <a:tc>
                  <a:txBody>
                    <a:bodyPr wrap="square"/>
                    <a:lstStyle/>
                    <a:p>
                      <a:r>
                        <a:rPr sz="1200">
                          <a:solidFill>
                            <a:srgbClr val="2C3E50"/>
                          </a:solidFill>
                          <a:latin typeface="Arial"/>
                        </a:rPr>
                        <a:t>HFA priorities and data use case in Zambia</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17: Action planning and wrap-up</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16:30-17:00</a:t>
                      </a:r>
                    </a:p>
                  </a:txBody>
                  <a:tcPr/>
                </a:tc>
                <a:tc>
                  <a:txBody>
                    <a:bodyPr wrap="square"/>
                    <a:lstStyle/>
                    <a:p>
                      <a:r>
                        <a:rPr sz="1200">
                          <a:solidFill>
                            <a:srgbClr val="2C3E50"/>
                          </a:solidFill>
                          <a:latin typeface="Arial"/>
                        </a:rPr>
                        <a:t>Key messages and wrap-up</a:t>
                      </a:r>
                    </a:p>
                  </a:txBody>
                  <a:tcPr/>
                </a:tc>
                <a:tc>
                  <a:txBody>
                    <a:bodyPr wrap="square"/>
                    <a:lstStyle/>
                    <a:p>
                      <a:r>
                        <a:rPr sz="1200">
                          <a:solidFill>
                            <a:srgbClr val="2C3E50"/>
                          </a:solidFill>
                          <a:latin typeface="Arial"/>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Workshop Objectives</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400"/>
              </a:spcAft>
            </a:pPr>
            <a:r>
              <a:rPr sz="1600">
                <a:solidFill>
                  <a:srgbClr val="2C3E50"/>
                </a:solidFill>
                <a:latin typeface="Arial"/>
              </a:rPr>
              <a:t>• Prepare MoH for participation in the multi-country workshop</a:t>
            </a:r>
          </a:p>
          <a:p>
            <a:pPr>
              <a:spcAft>
                <a:spcPts val="400"/>
              </a:spcAft>
            </a:pPr>
            <a:r>
              <a:rPr sz="1600">
                <a:solidFill>
                  <a:srgbClr val="2C3E50"/>
                </a:solidFill>
                <a:latin typeface="Arial"/>
              </a:rPr>
              <a:t>• Strengthen capacity for disruption analysis and data extraction</a:t>
            </a:r>
          </a:p>
          <a:p>
            <a:pPr>
              <a:spcAft>
                <a:spcPts val="400"/>
              </a:spcAft>
            </a:pPr>
            <a:r>
              <a:rPr sz="1600">
                <a:solidFill>
                  <a:srgbClr val="2C3E50"/>
                </a:solidFill>
                <a:latin typeface="Arial"/>
              </a:rPr>
              <a:t>• Configure the FASTR analytics platform for Zambia</a:t>
            </a:r>
          </a:p>
          <a:p>
            <a:pPr>
              <a:spcAft>
                <a:spcPts val="400"/>
              </a:spcAft>
            </a:pPr>
            <a:r>
              <a:rPr sz="1600">
                <a:solidFill>
                  <a:srgbClr val="2C3E50"/>
                </a:solidFill>
                <a:latin typeface="Arial"/>
              </a:rPr>
              <a:t>• Produce the first quarterly report</a:t>
            </a:r>
          </a:p>
          <a:p>
            <a:pPr>
              <a:spcAft>
                <a:spcPts val="400"/>
              </a:spcAft>
            </a:pPr>
            <a:r>
              <a:rPr sz="1600">
                <a:solidFill>
                  <a:srgbClr val="2C3E50"/>
                </a:solidFill>
                <a:latin typeface="Arial"/>
              </a:rPr>
              <a:t>• Adapt the phone survey questionnaire to the Zambian context</a:t>
            </a:r>
          </a:p>
          <a:p>
            <a:pPr>
              <a:spcAft>
                <a:spcPts val="400"/>
              </a:spcAft>
            </a:pPr>
            <a:r>
              <a:rPr sz="1600">
                <a:solidFill>
                  <a:srgbClr val="2C3E50"/>
                </a:solidFill>
                <a:latin typeface="Arial"/>
              </a:rPr>
              <a:t>• 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Scope of Work</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600"/>
              </a:spcAft>
              <a:defRPr sz="2200" b="1" i="0">
                <a:solidFill>
                  <a:srgbClr val="7A1F6E"/>
                </a:solidFill>
                <a:latin typeface="Arial"/>
              </a:defRPr>
            </a:pPr>
            <a:r>
              <a:t>Disruption Analysis Activities</a:t>
            </a:r>
          </a:p>
          <a:p>
            <a:pPr>
              <a:spcAft>
                <a:spcPts val="400"/>
              </a:spcAft>
            </a:pPr>
            <a:r>
              <a:rPr sz="1600">
                <a:solidFill>
                  <a:srgbClr val="2C3E50"/>
                </a:solidFill>
                <a:latin typeface="Arial"/>
              </a:rPr>
              <a:t>• Data extraction and configuration of analytics platform</a:t>
            </a:r>
          </a:p>
          <a:p>
            <a:pPr>
              <a:spcAft>
                <a:spcPts val="400"/>
              </a:spcAft>
            </a:pPr>
            <a:r>
              <a:rPr sz="1600">
                <a:solidFill>
                  <a:srgbClr val="2C3E50"/>
                </a:solidFill>
                <a:latin typeface="Arial"/>
              </a:rPr>
              <a:t>• Produce first quarterly report</a:t>
            </a:r>
          </a:p>
          <a:p>
            <a:pPr>
              <a:spcAft>
                <a:spcPts val="400"/>
              </a:spcAft>
            </a:pPr>
            <a:r>
              <a:rPr sz="1600">
                <a:solidFill>
                  <a:srgbClr val="2C3E50"/>
                </a:solidFill>
                <a:latin typeface="Arial"/>
              </a:rPr>
              <a:t>• Review results and contextualize findings (with relevant program teams)</a:t>
            </a:r>
          </a:p>
          <a:p>
            <a:pPr>
              <a:spcAft>
                <a:spcPts val="600"/>
              </a:spcAft>
              <a:defRPr sz="2200" b="1" i="0">
                <a:solidFill>
                  <a:srgbClr val="7A1F6E"/>
                </a:solidFill>
                <a:latin typeface="Arial"/>
              </a:defRPr>
            </a:pPr>
            <a:r>
              <a:t>Phone Survey Activities</a:t>
            </a:r>
          </a:p>
          <a:p>
            <a:pPr>
              <a:spcAft>
                <a:spcPts val="400"/>
              </a:spcAft>
            </a:pPr>
            <a:r>
              <a:rPr sz="1600">
                <a:solidFill>
                  <a:srgbClr val="2C3E50"/>
                </a:solidFill>
                <a:latin typeface="Arial"/>
              </a:rPr>
              <a:t>• Adaptation of questionnaire (with program input)</a:t>
            </a:r>
          </a:p>
          <a:p>
            <a:pPr>
              <a:spcAft>
                <a:spcPts val="600"/>
              </a:spcAft>
              <a:defRPr sz="2200" b="1" i="0">
                <a:solidFill>
                  <a:srgbClr val="7A1F6E"/>
                </a:solidFill>
                <a:latin typeface="Arial"/>
              </a:defRPr>
            </a:pPr>
            <a:r>
              <a:t>Capacity Building</a:t>
            </a:r>
          </a:p>
          <a:p>
            <a:pPr>
              <a:spcAft>
                <a:spcPts val="400"/>
              </a:spcAft>
            </a:pPr>
            <a:r>
              <a:rPr sz="1600">
                <a:solidFill>
                  <a:srgbClr val="2C3E50"/>
                </a:solidFill>
                <a:latin typeface="Arial"/>
              </a:rPr>
              <a:t>• Training on data downloader for all with DHIS2 access</a:t>
            </a:r>
          </a:p>
          <a:p>
            <a:pPr>
              <a:spcAft>
                <a:spcPts val="400"/>
              </a:spcAft>
            </a:pPr>
            <a:r>
              <a:rPr sz="1600">
                <a:solidFill>
                  <a:srgbClr val="2C3E50"/>
                </a:solidFill>
                <a:latin typeface="Arial"/>
              </a:rPr>
              <a:t>• 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Expected Outputs</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400"/>
              </a:spcAft>
            </a:pPr>
            <a:r>
              <a:rPr sz="1600">
                <a:solidFill>
                  <a:srgbClr val="2C3E50"/>
                </a:solidFill>
                <a:latin typeface="Arial"/>
              </a:rPr>
              <a:t>• Adapted phone survey questionnaire</a:t>
            </a:r>
          </a:p>
          <a:p>
            <a:pPr>
              <a:spcAft>
                <a:spcPts val="400"/>
              </a:spcAft>
            </a:pPr>
            <a:r>
              <a:rPr sz="1600">
                <a:solidFill>
                  <a:srgbClr val="2C3E50"/>
                </a:solidFill>
                <a:latin typeface="Arial"/>
              </a:rPr>
              <a:t>• First quarterly report draft</a:t>
            </a:r>
          </a:p>
          <a:p>
            <a:pPr>
              <a:spcAft>
                <a:spcPts val="400"/>
              </a:spcAft>
            </a:pPr>
            <a:r>
              <a:rPr sz="1600">
                <a:solidFill>
                  <a:srgbClr val="2C3E50"/>
                </a:solidFill>
                <a:latin typeface="Arial"/>
              </a:rPr>
              <a:t>• Trained MoH team on data downloader tools</a:t>
            </a:r>
          </a:p>
          <a:p>
            <a:pPr>
              <a:spcAft>
                <a:spcPts val="400"/>
              </a:spcAft>
            </a:pPr>
            <a:r>
              <a:rPr sz="1600">
                <a:solidFill>
                  <a:srgbClr val="2C3E50"/>
                </a:solidFill>
                <a:latin typeface="Arial"/>
              </a:rPr>
              <a:t>• 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Introduction to FASTR</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303520" cy="5029200"/>
          </a:xfrm>
          <a:prstGeom prst="rect">
            <a:avLst/>
          </a:prstGeom>
          <a:noFill/>
        </p:spPr>
        <p:txBody>
          <a:bodyPr wrap="square">
            <a:spAutoFit/>
          </a:bodyPr>
          <a:lstStyle/>
          <a:p>
            <a:pPr>
              <a:spcAft>
                <a:spcPts val="1000"/>
              </a:spcAft>
            </a:pPr>
            <a:r>
              <a:rPr sz="1600">
                <a:solidFill>
                  <a:srgbClr val="333333"/>
                </a:solidFill>
                <a:latin typeface="Arial"/>
              </a:rPr>
              <a:t>The Global Financing Facility (GFF) supports country-led efforts to strengthen the use of timely data for decision-making, with the goal of improving primary healthcare (PHC) performance and RMNCAH-N outcomes.</a:t>
            </a:r>
          </a:p>
          <a:p>
            <a:pPr>
              <a:spcAft>
                <a:spcPts val="1000"/>
              </a:spcAft>
            </a:pPr>
            <a:r>
              <a:rPr sz="1600" b="1">
                <a:solidFill>
                  <a:srgbClr val="333333"/>
                </a:solidFill>
                <a:latin typeface="Arial"/>
              </a:rPr>
              <a:t>Frequent Assessments and Health System Tools for Resilience (FASTR)</a:t>
            </a:r>
            <a:r>
              <a:rPr sz="1600">
                <a:solidFill>
                  <a:srgbClr val="333333"/>
                </a:solidFill>
                <a:latin typeface="Arial"/>
              </a:rPr>
              <a:t> is the GFF's rapid-cycle analytics framework for monitoring health system performance using high-frequency data.</a:t>
            </a:r>
          </a:p>
          <a:p>
            <a:pPr>
              <a:spcAft>
                <a:spcPts val="1000"/>
              </a:spcAft>
            </a:pPr>
            <a:r>
              <a:rPr sz="1600">
                <a:solidFill>
                  <a:srgbClr val="333333"/>
                </a:solidFill>
                <a:latin typeface="Arial"/>
              </a:rPr>
              <a:t>FASTR brings together four complementary technical approaches:</a:t>
            </a:r>
          </a:p>
          <a:p>
            <a:pPr>
              <a:spcAft>
                <a:spcPts val="400"/>
              </a:spcAft>
            </a:pPr>
            <a:r>
              <a:rPr sz="1600">
                <a:solidFill>
                  <a:srgbClr val="2C3E50"/>
                </a:solidFill>
                <a:latin typeface="Arial"/>
              </a:rPr>
              <a:t>• Routine HMIS data analysis</a:t>
            </a:r>
          </a:p>
          <a:p>
            <a:pPr>
              <a:spcAft>
                <a:spcPts val="400"/>
              </a:spcAft>
            </a:pPr>
            <a:r>
              <a:rPr sz="1600">
                <a:solidFill>
                  <a:srgbClr val="2C3E50"/>
                </a:solidFill>
                <a:latin typeface="Arial"/>
              </a:rPr>
              <a:t>• Health facility phone surveys</a:t>
            </a:r>
          </a:p>
          <a:p>
            <a:pPr>
              <a:spcAft>
                <a:spcPts val="400"/>
              </a:spcAft>
            </a:pPr>
            <a:r>
              <a:rPr sz="1600">
                <a:solidFill>
                  <a:srgbClr val="2C3E50"/>
                </a:solidFill>
                <a:latin typeface="Arial"/>
              </a:rPr>
              <a:t>• High-frequency household phone surveys</a:t>
            </a:r>
          </a:p>
          <a:p>
            <a:pPr>
              <a:spcAft>
                <a:spcPts val="400"/>
              </a:spcAft>
            </a:pPr>
            <a:r>
              <a:rPr sz="1600">
                <a:solidFill>
                  <a:srgbClr val="2C3E50"/>
                </a:solidFill>
                <a:latin typeface="Arial"/>
              </a:rPr>
              <a:t>• 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RMNCAH-N service use monitoring</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Rapid-cycle approaches using routine health management information system (HMIS) data can be used to:</a:t>
            </a:r>
          </a:p>
          <a:p>
            <a:pPr>
              <a:spcAft>
                <a:spcPts val="400"/>
              </a:spcAft>
            </a:pPr>
            <a:r>
              <a:rPr sz="1600">
                <a:solidFill>
                  <a:srgbClr val="2C3E50"/>
                </a:solidFill>
                <a:latin typeface="Arial"/>
              </a:rPr>
              <a:t>• </a:t>
            </a:r>
            <a:r>
              <a:rPr sz="1600" b="1">
                <a:solidFill>
                  <a:srgbClr val="2C3E50"/>
                </a:solidFill>
                <a:latin typeface="Arial"/>
              </a:rPr>
              <a:t>Evaluate the quality of HMIS data</a:t>
            </a:r>
            <a:r>
              <a:rPr sz="1600">
                <a:solidFill>
                  <a:srgbClr val="2C3E50"/>
                </a:solidFill>
                <a:latin typeface="Arial"/>
              </a:rPr>
              <a:t> both at the national and sub-national levels to help address gaps in quality and completeness</a:t>
            </a:r>
          </a:p>
          <a:p>
            <a:pPr>
              <a:spcAft>
                <a:spcPts val="400"/>
              </a:spcAft>
            </a:pPr>
            <a:r>
              <a:rPr sz="1600">
                <a:solidFill>
                  <a:srgbClr val="2C3E50"/>
                </a:solidFill>
                <a:latin typeface="Arial"/>
              </a:rPr>
              <a:t>• </a:t>
            </a:r>
            <a:r>
              <a:rPr sz="1600" b="1">
                <a:solidFill>
                  <a:srgbClr val="2C3E50"/>
                </a:solidFill>
                <a:latin typeface="Arial"/>
              </a:rPr>
              <a:t>Measure monthly changes</a:t>
            </a:r>
            <a:r>
              <a:rPr sz="1600">
                <a:solidFill>
                  <a:srgbClr val="2C3E50"/>
                </a:solidFill>
                <a:latin typeface="Arial"/>
              </a:rPr>
              <a:t> in the utilization of critical health services, enabling a rapid response to challenges and the opportunity to gain insights on the progress of reforms</a:t>
            </a:r>
          </a:p>
          <a:p>
            <a:pPr>
              <a:spcAft>
                <a:spcPts val="400"/>
              </a:spcAft>
            </a:pPr>
            <a:r>
              <a:rPr sz="1600">
                <a:solidFill>
                  <a:srgbClr val="2C3E50"/>
                </a:solidFill>
                <a:latin typeface="Arial"/>
              </a:rPr>
              <a:t>• </a:t>
            </a:r>
            <a:r>
              <a:rPr sz="1600" b="1">
                <a:solidFill>
                  <a:srgbClr val="2C3E50"/>
                </a:solidFill>
                <a:latin typeface="Arial"/>
              </a:rPr>
              <a:t>Compare service coverage trends</a:t>
            </a:r>
            <a:r>
              <a:rPr sz="1600">
                <a:solidFill>
                  <a:srgbClr val="2C3E50"/>
                </a:solidFill>
                <a:latin typeface="Arial"/>
              </a:rPr>
              <a:t> with country targets, facilitating the continuous monitoring of RMNCAH-N progress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How does it work?</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303520" cy="5029200"/>
          </a:xfrm>
          <a:prstGeom prst="rect">
            <a:avLst/>
          </a:prstGeom>
          <a:noFill/>
        </p:spPr>
        <p:txBody>
          <a:bodyPr wrap="square">
            <a:spAutoFit/>
          </a:bodyPr>
          <a:lstStyle/>
          <a:p>
            <a:pPr>
              <a:spcAft>
                <a:spcPts val="1000"/>
              </a:spcAft>
            </a:pPr>
            <a:r>
              <a:rPr sz="1600">
                <a:solidFill>
                  <a:srgbClr val="333333"/>
                </a:solidFill>
                <a:latin typeface="Arial"/>
              </a:rPr>
              <a:t>Through collaboration with Ministries of Health, the GFF assists countries in developing and reviewing regular analyses of HMIS data, focusing on specific priority health service indicators linked to national health care reforms, as well as GFF and World Bank investments.</a:t>
            </a:r>
          </a:p>
        </p:txBody>
      </p:sp>
      <p:pic>
        <p:nvPicPr>
          <p:cNvPr id="5" name="Picture 4" descr="Steps to implement RMNCAH-N service chart.png"/>
          <p:cNvPicPr>
            <a:picLocks noChangeAspect="1"/>
          </p:cNvPicPr>
          <p:nvPr/>
        </p:nvPicPr>
        <p:blipFill>
          <a:blip r:embed="rId2"/>
          <a:stretch>
            <a:fillRect/>
          </a:stretch>
        </p:blipFill>
        <p:spPr>
          <a:xfrm>
            <a:off x="6400800" y="1280160"/>
            <a:ext cx="5303520" cy="601730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Why rapid-cycle analytics?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303520" cy="5029200"/>
          </a:xfrm>
          <a:prstGeom prst="rect">
            <a:avLst/>
          </a:prstGeom>
          <a:noFill/>
        </p:spPr>
        <p:txBody>
          <a:bodyPr wrap="square">
            <a:spAutoFit/>
          </a:bodyPr>
          <a:lstStyle/>
          <a:p>
            <a:pPr>
              <a:spcAft>
                <a:spcPts val="1000"/>
              </a:spcAft>
            </a:pPr>
            <a:r>
              <a:rPr sz="1600">
                <a:solidFill>
                  <a:srgbClr val="333333"/>
                </a:solidFill>
                <a:latin typeface="Arial"/>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000"/>
              </a:spcAft>
            </a:pPr>
            <a:r>
              <a:rPr sz="1600">
                <a:solidFill>
                  <a:srgbClr val="333333"/>
                </a:solidFill>
                <a:latin typeface="Arial"/>
              </a:rPr>
              <a:t>FASTR's rapid-cycle analytics address this gap by providing:</a:t>
            </a:r>
          </a:p>
          <a:p>
            <a:pPr>
              <a:spcAft>
                <a:spcPts val="400"/>
              </a:spcAft>
            </a:pPr>
            <a:r>
              <a:rPr sz="1600">
                <a:solidFill>
                  <a:srgbClr val="2C3E50"/>
                </a:solidFill>
                <a:latin typeface="Arial"/>
              </a:rPr>
              <a:t>• Timely insights aligned with country decision cycles</a:t>
            </a:r>
          </a:p>
          <a:p>
            <a:pPr>
              <a:spcAft>
                <a:spcPts val="400"/>
              </a:spcAft>
            </a:pPr>
            <a:r>
              <a:rPr sz="1600">
                <a:solidFill>
                  <a:srgbClr val="2C3E50"/>
                </a:solidFill>
                <a:latin typeface="Arial"/>
              </a:rPr>
              <a:t>• Continuous learning rather than one-off assessments</a:t>
            </a:r>
          </a:p>
          <a:p>
            <a:pPr>
              <a:spcAft>
                <a:spcPts val="400"/>
              </a:spcAft>
            </a:pPr>
            <a:r>
              <a:rPr sz="1600">
                <a:solidFill>
                  <a:srgbClr val="2C3E50"/>
                </a:solidFill>
                <a:latin typeface="Arial"/>
              </a:rPr>
              <a:t>• Direct feedback loops between data, analysis, and action</a:t>
            </a:r>
          </a:p>
          <a:p>
            <a:pPr>
              <a:spcAft>
                <a:spcPts val="1000"/>
              </a:spcAft>
            </a:pPr>
            <a:r>
              <a:rPr sz="1600">
                <a:solidFill>
                  <a:srgbClr val="333333"/>
                </a:solidFill>
                <a:latin typeface="Arial"/>
              </a:rPr>
              <a:t>During the COVID-19 pandemic, this approach was applied in over 20 countries to monitor disruptions to essential RMNCAH-N services and inform response and recovery planning.</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Focus of the analysis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600"/>
              </a:spcAft>
              <a:defRPr sz="2200" b="1" i="0">
                <a:solidFill>
                  <a:srgbClr val="7A1F6E"/>
                </a:solidFill>
                <a:latin typeface="Arial"/>
              </a:defRPr>
            </a:pPr>
            <a:r>
              <a:t>Core indicators</a:t>
            </a:r>
          </a:p>
          <a:p>
            <a:pPr>
              <a:spcAft>
                <a:spcPts val="1000"/>
              </a:spcAft>
            </a:pPr>
            <a:r>
              <a:rPr sz="1600">
                <a:solidFill>
                  <a:srgbClr val="333333"/>
                </a:solidFill>
                <a:latin typeface="Arial"/>
              </a:rPr>
              <a:t>FASTR prioritizes a core set of RMNCAH-N indicators that:</a:t>
            </a:r>
          </a:p>
          <a:p>
            <a:pPr>
              <a:spcAft>
                <a:spcPts val="400"/>
              </a:spcAft>
            </a:pPr>
            <a:r>
              <a:rPr sz="1600">
                <a:solidFill>
                  <a:srgbClr val="2C3E50"/>
                </a:solidFill>
                <a:latin typeface="Arial"/>
              </a:rPr>
              <a:t>• Represent key service delivery contacts across the continuum of care</a:t>
            </a:r>
          </a:p>
          <a:p>
            <a:pPr>
              <a:spcAft>
                <a:spcPts val="400"/>
              </a:spcAft>
            </a:pPr>
            <a:r>
              <a:rPr sz="1600">
                <a:solidFill>
                  <a:srgbClr val="2C3E50"/>
                </a:solidFill>
                <a:latin typeface="Arial"/>
              </a:rPr>
              <a:t>• Have relatively high reporting completeness and volumes</a:t>
            </a:r>
          </a:p>
          <a:p>
            <a:pPr>
              <a:spcAft>
                <a:spcPts val="400"/>
              </a:spcAft>
            </a:pPr>
            <a:r>
              <a:rPr sz="1600">
                <a:solidFill>
                  <a:srgbClr val="2C3E50"/>
                </a:solidFill>
                <a:latin typeface="Arial"/>
              </a:rPr>
              <a:t>• Serve as proxies for broader service delivery performance</a:t>
            </a:r>
          </a:p>
          <a:p>
            <a:pPr>
              <a:spcAft>
                <a:spcPts val="1000"/>
              </a:spcAft>
            </a:pPr>
            <a:r>
              <a:rPr sz="1600" b="1">
                <a:solidFill>
                  <a:srgbClr val="333333"/>
                </a:solidFill>
                <a:latin typeface="Arial"/>
              </a:rPr>
              <a:t>Outpatient consultations are included as a proxy for overall health service use. The indicator set can be expanded to reflect country-specific priorities.</a:t>
            </a:r>
          </a:p>
          <a:p>
            <a:pPr>
              <a:spcAft>
                <a:spcPts val="600"/>
              </a:spcAft>
              <a:defRPr sz="2200" b="1" i="0">
                <a:solidFill>
                  <a:srgbClr val="7A1F6E"/>
                </a:solidFill>
                <a:latin typeface="Arial"/>
              </a:defRPr>
            </a:pPr>
            <a:r>
              <a:t>Core data quality metrics</a:t>
            </a:r>
          </a:p>
          <a:p>
            <a:pPr>
              <a:spcAft>
                <a:spcPts val="1000"/>
              </a:spcAft>
            </a:pPr>
            <a:r>
              <a:rPr sz="1600">
                <a:solidFill>
                  <a:srgbClr val="333333"/>
                </a:solidFill>
                <a:latin typeface="Arial"/>
              </a:rPr>
              <a:t>Analysis is anchored in a standardized set of data quality metrics, including:</a:t>
            </a:r>
          </a:p>
          <a:p>
            <a:pPr>
              <a:spcAft>
                <a:spcPts val="400"/>
              </a:spcAft>
            </a:pPr>
            <a:r>
              <a:rPr sz="1600">
                <a:solidFill>
                  <a:srgbClr val="2C3E50"/>
                </a:solidFill>
                <a:latin typeface="Arial"/>
              </a:rPr>
              <a:t>• Reporting completeness</a:t>
            </a:r>
          </a:p>
          <a:p>
            <a:pPr>
              <a:spcAft>
                <a:spcPts val="400"/>
              </a:spcAft>
            </a:pPr>
            <a:r>
              <a:rPr sz="1600">
                <a:solidFill>
                  <a:srgbClr val="2C3E50"/>
                </a:solidFill>
                <a:latin typeface="Arial"/>
              </a:rPr>
              <a:t>• Extreme value (outlier) detection</a:t>
            </a:r>
          </a:p>
          <a:p>
            <a:pPr>
              <a:spcAft>
                <a:spcPts val="400"/>
              </a:spcAft>
            </a:pPr>
            <a:r>
              <a:rPr sz="1600">
                <a:solidFill>
                  <a:srgbClr val="2C3E50"/>
                </a:solidFill>
                <a:latin typeface="Arial"/>
              </a:rPr>
              <a:t>• Consistency across related indicators</a:t>
            </a:r>
          </a:p>
          <a:p>
            <a:pPr>
              <a:spcAft>
                <a:spcPts val="1000"/>
              </a:spcAft>
            </a:pPr>
            <a:r>
              <a:rPr sz="1600" b="1">
                <a:solidFill>
                  <a:srgbClr val="333333"/>
                </a:solidFill>
                <a:latin typeface="Arial"/>
              </a:rPr>
              <a:t>These metrics are summarized into an overall data quality score to support interpretation and comparison across areas.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Why extract data from DHIS2?</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600"/>
              </a:spcAft>
              <a:defRPr sz="2200" b="1" i="0">
                <a:solidFill>
                  <a:srgbClr val="7A1F6E"/>
                </a:solidFill>
                <a:latin typeface="Arial"/>
              </a:defRPr>
            </a:pPr>
            <a:r>
              <a:t>Data quality adjustment</a:t>
            </a:r>
          </a:p>
          <a:p>
            <a:pPr>
              <a:spcAft>
                <a:spcPts val="1000"/>
              </a:spcAft>
            </a:pPr>
            <a:r>
              <a:rPr sz="1600">
                <a:solidFill>
                  <a:srgbClr val="333333"/>
                </a:solidFill>
                <a:latin typeface="Arial"/>
              </a:rPr>
              <a:t>The FASTR approach focuses on data quality adjustments to expand the analyses countries can do with DHIS2 data and to generate more robust estimates.</a:t>
            </a:r>
          </a:p>
          <a:p>
            <a:pPr>
              <a:spcAft>
                <a:spcPts val="1000"/>
              </a:spcAft>
            </a:pPr>
            <a:r>
              <a:rPr sz="1600">
                <a:solidFill>
                  <a:srgbClr val="333333"/>
                </a:solidFill>
                <a:latin typeface="Arial"/>
              </a:rPr>
              <a:t>The FASTR methodology includes specific approaches to:</a:t>
            </a:r>
          </a:p>
          <a:p>
            <a:pPr>
              <a:spcAft>
                <a:spcPts val="400"/>
              </a:spcAft>
            </a:pPr>
            <a:r>
              <a:rPr sz="1600">
                <a:solidFill>
                  <a:srgbClr val="2C3E50"/>
                </a:solidFill>
                <a:latin typeface="Arial"/>
              </a:rPr>
              <a:t>• Identify and adjust for outliers</a:t>
            </a:r>
          </a:p>
          <a:p>
            <a:pPr>
              <a:spcAft>
                <a:spcPts val="400"/>
              </a:spcAft>
            </a:pPr>
            <a:r>
              <a:rPr sz="1600">
                <a:solidFill>
                  <a:srgbClr val="2C3E50"/>
                </a:solidFill>
                <a:latin typeface="Arial"/>
              </a:rPr>
              <a:t>• Adjust for incomplete reporting</a:t>
            </a:r>
          </a:p>
          <a:p>
            <a:pPr>
              <a:spcAft>
                <a:spcPts val="400"/>
              </a:spcAft>
            </a:pPr>
            <a:r>
              <a:rPr sz="1600">
                <a:solidFill>
                  <a:srgbClr val="2C3E50"/>
                </a:solidFill>
                <a:latin typeface="Arial"/>
              </a:rPr>
              <a:t>• Apply consistent data quality metrics</a:t>
            </a:r>
          </a:p>
          <a:p>
            <a:pPr>
              <a:spcAft>
                <a:spcPts val="1000"/>
              </a:spcAft>
            </a:pPr>
            <a:r>
              <a:rPr sz="1600">
                <a:solidFill>
                  <a:srgbClr val="333333"/>
                </a:solidFill>
                <a:latin typeface="Arial"/>
              </a:rPr>
              <a:t>These adjustments require processing that cannot be done within DHIS2's native analytics.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Why extract data from DHIS2?</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600"/>
              </a:spcAft>
              <a:defRPr sz="2200" b="1" i="0">
                <a:solidFill>
                  <a:srgbClr val="7A1F6E"/>
                </a:solidFill>
                <a:latin typeface="Arial"/>
              </a:defRPr>
            </a:pPr>
            <a:r>
              <a:t>Analysis complexity</a:t>
            </a:r>
          </a:p>
          <a:p>
            <a:pPr>
              <a:spcAft>
                <a:spcPts val="1000"/>
              </a:spcAft>
            </a:pPr>
            <a:r>
              <a:rPr sz="1600">
                <a:solidFill>
                  <a:srgbClr val="333333"/>
                </a:solidFill>
                <a:latin typeface="Arial"/>
              </a:rPr>
              <a:t>The FASTR approach uses more advanced statistical methods, such as regression analysis, which are not available in DHIS2. While DHIS2 can plot trends over time using raw data, FASTR can go further by:</a:t>
            </a:r>
          </a:p>
          <a:p>
            <a:pPr>
              <a:spcAft>
                <a:spcPts val="400"/>
              </a:spcAft>
            </a:pPr>
            <a:r>
              <a:rPr sz="1600">
                <a:solidFill>
                  <a:srgbClr val="2C3E50"/>
                </a:solidFill>
                <a:latin typeface="Arial"/>
              </a:rPr>
              <a:t>• Identifying significant increases or decreases in service volume</a:t>
            </a:r>
          </a:p>
          <a:p>
            <a:pPr>
              <a:spcAft>
                <a:spcPts val="400"/>
              </a:spcAft>
            </a:pPr>
            <a:r>
              <a:rPr sz="1600">
                <a:solidFill>
                  <a:srgbClr val="2C3E50"/>
                </a:solidFill>
                <a:latin typeface="Arial"/>
              </a:rPr>
              <a:t>• Adjusting for data quality issues</a:t>
            </a:r>
          </a:p>
          <a:p>
            <a:pPr>
              <a:spcAft>
                <a:spcPts val="400"/>
              </a:spcAft>
            </a:pPr>
            <a:r>
              <a:rPr sz="1600">
                <a:solidFill>
                  <a:srgbClr val="2C3E50"/>
                </a:solidFill>
                <a:latin typeface="Arial"/>
              </a:rPr>
              <a:t>• Accounting for expected seasonal variations</a:t>
            </a:r>
          </a:p>
          <a:p>
            <a:pPr>
              <a:spcAft>
                <a:spcPts val="400"/>
              </a:spcAft>
            </a:pPr>
            <a:r>
              <a:rPr sz="1600">
                <a:solidFill>
                  <a:srgbClr val="2C3E50"/>
                </a:solidFill>
                <a:latin typeface="Arial"/>
              </a:rPr>
              <a:t>• Comparing key periods, such as before and after a reform</a:t>
            </a:r>
          </a:p>
          <a:p>
            <a:pPr>
              <a:spcAft>
                <a:spcPts val="1000"/>
              </a:spcAft>
            </a:pPr>
            <a:r>
              <a:rPr sz="1600">
                <a:solidFill>
                  <a:srgbClr val="333333"/>
                </a:solidFill>
                <a:latin typeface="Arial"/>
              </a:rPr>
              <a:t>The choice between DHIS2 and the FASTR approach should be guided by the specific purpose of your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Data format and granularity</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Data should be downloaded for each </a:t>
            </a:r>
            <a:r>
              <a:rPr sz="1600" b="1">
                <a:solidFill>
                  <a:srgbClr val="333333"/>
                </a:solidFill>
                <a:latin typeface="Arial"/>
              </a:rPr>
              <a:t>indicator of interest</a:t>
            </a:r>
            <a:r>
              <a:rPr sz="1600">
                <a:solidFill>
                  <a:srgbClr val="333333"/>
                </a:solidFill>
                <a:latin typeface="Arial"/>
              </a:rPr>
              <a:t>, at </a:t>
            </a:r>
            <a:r>
              <a:rPr sz="1600" b="1">
                <a:solidFill>
                  <a:srgbClr val="333333"/>
                </a:solidFill>
                <a:latin typeface="Arial"/>
              </a:rPr>
              <a:t>facility level</a:t>
            </a:r>
            <a:r>
              <a:rPr sz="1600">
                <a:solidFill>
                  <a:srgbClr val="333333"/>
                </a:solidFill>
                <a:latin typeface="Arial"/>
              </a:rPr>
              <a:t>, and </a:t>
            </a:r>
            <a:r>
              <a:rPr sz="1600" b="1">
                <a:solidFill>
                  <a:srgbClr val="333333"/>
                </a:solidFill>
                <a:latin typeface="Arial"/>
              </a:rPr>
              <a:t>monthly</a:t>
            </a:r>
            <a:r>
              <a:rPr sz="1600">
                <a:solidFill>
                  <a:srgbClr val="333333"/>
                </a:solidFill>
                <a:latin typeface="Arial"/>
              </a:rPr>
              <a:t> for the </a:t>
            </a:r>
            <a:r>
              <a:rPr sz="1600" b="1">
                <a:solidFill>
                  <a:srgbClr val="333333"/>
                </a:solidFill>
                <a:latin typeface="Arial"/>
              </a:rPr>
              <a:t>period of interest</a:t>
            </a:r>
            <a:r>
              <a:rPr sz="1600">
                <a:solidFill>
                  <a:srgbClr val="333333"/>
                </a:solidFill>
                <a:latin typeface="Arial"/>
              </a:rPr>
              <a:t>.</a:t>
            </a:r>
          </a:p>
          <a:p>
            <a:pPr>
              <a:spcAft>
                <a:spcPts val="400"/>
              </a:spcAft>
            </a:pPr>
            <a:r>
              <a:rPr sz="1600">
                <a:solidFill>
                  <a:srgbClr val="2C3E50"/>
                </a:solidFill>
                <a:latin typeface="Arial"/>
              </a:rPr>
              <a:t>• Data should be saved in </a:t>
            </a:r>
            <a:r>
              <a:rPr sz="1600" b="1">
                <a:solidFill>
                  <a:srgbClr val="2C3E50"/>
                </a:solidFill>
                <a:latin typeface="Arial"/>
              </a:rPr>
              <a:t>long format</a:t>
            </a:r>
            <a:r>
              <a:rPr sz="1600">
                <a:solidFill>
                  <a:srgbClr val="2C3E50"/>
                </a:solidFill>
                <a:latin typeface="Arial"/>
              </a:rPr>
              <a:t> meaning each row represents a single observation or measurement</a:t>
            </a:r>
          </a:p>
          <a:p>
            <a:pPr>
              <a:spcAft>
                <a:spcPts val="400"/>
              </a:spcAft>
            </a:pPr>
            <a:r>
              <a:rPr sz="1600">
                <a:solidFill>
                  <a:srgbClr val="2C3E50"/>
                </a:solidFill>
                <a:latin typeface="Arial"/>
              </a:rPr>
              <a:t>• Data should be saved in </a:t>
            </a:r>
            <a:r>
              <a:rPr sz="1600" b="1">
                <a:solidFill>
                  <a:srgbClr val="2C3E50"/>
                </a:solidFill>
                <a:latin typeface="Arial"/>
              </a:rPr>
              <a:t>.csv format</a:t>
            </a:r>
            <a:r>
              <a:rPr sz="1600">
                <a:solidFill>
                  <a:srgbClr val="2C3E50"/>
                </a:solidFill>
                <a:latin typeface="Arial"/>
              </a:rPr>
              <a:t> and can be saved in either a single .csv file or multiple .csv files</a:t>
            </a:r>
          </a:p>
          <a:p>
            <a:pPr>
              <a:spcAft>
                <a:spcPts val="600"/>
              </a:spcAft>
              <a:defRPr sz="2200" b="1" i="0">
                <a:solidFill>
                  <a:srgbClr val="7A1F6E"/>
                </a:solidFill>
                <a:latin typeface="Arial"/>
              </a:defRPr>
            </a:pPr>
            <a:r>
              <a:t>Why monthly facility level data?</a:t>
            </a:r>
          </a:p>
          <a:p>
            <a:pPr>
              <a:spcAft>
                <a:spcPts val="1000"/>
              </a:spcAft>
            </a:pPr>
            <a:r>
              <a:rPr sz="1600">
                <a:solidFill>
                  <a:srgbClr val="333333"/>
                </a:solidFill>
                <a:latin typeface="Arial"/>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Key variables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The data extracted should include the following required elements:</a:t>
            </a:r>
          </a:p>
        </p:txBody>
      </p:sp>
      <p:graphicFrame>
        <p:nvGraphicFramePr>
          <p:cNvPr id="5" name="Table 4"/>
          <p:cNvGraphicFramePr>
            <a:graphicFrameLocks noGrp="1"/>
          </p:cNvGraphicFramePr>
          <p:nvPr/>
        </p:nvGraphicFramePr>
        <p:xfrm>
          <a:off x="4572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Arial"/>
                        </a:defRPr>
                      </a:pPr>
                      <a:r>
                        <a:t>Element</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a:solidFill>
                            <a:srgbClr val="2C3E50"/>
                          </a:solidFill>
                          <a:latin typeface="Arial"/>
                        </a:rPr>
                        <a:t>Org units</a:t>
                      </a:r>
                    </a:p>
                  </a:txBody>
                  <a:tcPr/>
                </a:tc>
                <a:tc>
                  <a:txBody>
                    <a:bodyPr wrap="square"/>
                    <a:lstStyle/>
                    <a:p>
                      <a:r>
                        <a:rPr sz="1400">
                          <a:solidFill>
                            <a:srgbClr val="2C3E50"/>
                          </a:solidFill>
                          <a:latin typeface="Arial"/>
                        </a:rPr>
                        <a:t>Organizational unit identifier</a:t>
                      </a:r>
                    </a:p>
                  </a:txBody>
                  <a:tcPr/>
                </a:tc>
              </a:tr>
              <a:tr h="320040">
                <a:tc>
                  <a:txBody>
                    <a:bodyPr wrap="square"/>
                    <a:lstStyle/>
                    <a:p>
                      <a:r>
                        <a:rPr sz="1400">
                          <a:solidFill>
                            <a:srgbClr val="2C3E50"/>
                          </a:solidFill>
                          <a:latin typeface="Arial"/>
                        </a:rPr>
                        <a:t>Period</a:t>
                      </a:r>
                    </a:p>
                  </a:txBody>
                  <a:tcPr/>
                </a:tc>
                <a:tc>
                  <a:txBody>
                    <a:bodyPr wrap="square"/>
                    <a:lstStyle/>
                    <a:p>
                      <a:r>
                        <a:rPr sz="1400">
                          <a:solidFill>
                            <a:srgbClr val="2C3E50"/>
                          </a:solidFill>
                          <a:latin typeface="Arial"/>
                        </a:rPr>
                        <a:t>Time period of the data</a:t>
                      </a:r>
                    </a:p>
                  </a:txBody>
                  <a:tcPr/>
                </a:tc>
              </a:tr>
              <a:tr h="320040">
                <a:tc>
                  <a:txBody>
                    <a:bodyPr wrap="square"/>
                    <a:lstStyle/>
                    <a:p>
                      <a:r>
                        <a:rPr sz="1400">
                          <a:solidFill>
                            <a:srgbClr val="2C3E50"/>
                          </a:solidFill>
                          <a:latin typeface="Arial"/>
                        </a:rPr>
                        <a:t>Indicator name</a:t>
                      </a:r>
                    </a:p>
                  </a:txBody>
                  <a:tcPr/>
                </a:tc>
                <a:tc>
                  <a:txBody>
                    <a:bodyPr wrap="square"/>
                    <a:lstStyle/>
                    <a:p>
                      <a:r>
                        <a:rPr sz="1400">
                          <a:solidFill>
                            <a:srgbClr val="2C3E50"/>
                          </a:solidFill>
                          <a:latin typeface="Arial"/>
                        </a:rPr>
                        <a:t>Name of the indicator</a:t>
                      </a:r>
                    </a:p>
                  </a:txBody>
                  <a:tcPr/>
                </a:tc>
              </a:tr>
              <a:tr h="320040">
                <a:tc>
                  <a:txBody>
                    <a:bodyPr wrap="square"/>
                    <a:lstStyle/>
                    <a:p>
                      <a:r>
                        <a:rPr sz="1400">
                          <a:solidFill>
                            <a:srgbClr val="2C3E50"/>
                          </a:solidFill>
                          <a:latin typeface="Arial"/>
                        </a:rPr>
                        <a:t>Total/count</a:t>
                      </a:r>
                    </a:p>
                  </a:txBody>
                  <a:tcPr/>
                </a:tc>
                <a:tc>
                  <a:txBody>
                    <a:bodyPr wrap="square"/>
                    <a:lstStyle/>
                    <a:p>
                      <a:r>
                        <a:rPr sz="1400">
                          <a:solidFill>
                            <a:srgbClr val="2C3E50"/>
                          </a:solidFill>
                          <a:latin typeface="Arial"/>
                        </a:rPr>
                        <a:t>The aggregated value</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How much data?</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600"/>
              </a:spcAft>
              <a:defRPr sz="2200" b="1" i="0">
                <a:solidFill>
                  <a:srgbClr val="7A1F6E"/>
                </a:solidFill>
                <a:latin typeface="Arial"/>
              </a:defRPr>
            </a:pPr>
            <a:r>
              <a:t>Initial FASTR analysis</a:t>
            </a:r>
          </a:p>
          <a:p>
            <a:pPr>
              <a:spcAft>
                <a:spcPts val="400"/>
              </a:spcAft>
            </a:pPr>
            <a:r>
              <a:rPr sz="1600">
                <a:solidFill>
                  <a:srgbClr val="2C3E50"/>
                </a:solidFill>
                <a:latin typeface="Arial"/>
              </a:rPr>
              <a:t>• Download approximately </a:t>
            </a:r>
            <a:r>
              <a:rPr sz="1600" b="1">
                <a:solidFill>
                  <a:srgbClr val="2C3E50"/>
                </a:solidFill>
                <a:latin typeface="Arial"/>
              </a:rPr>
              <a:t>five years</a:t>
            </a:r>
            <a:r>
              <a:rPr sz="1600">
                <a:solidFill>
                  <a:srgbClr val="2C3E50"/>
                </a:solidFill>
                <a:latin typeface="Arial"/>
              </a:rPr>
              <a:t> of historical data</a:t>
            </a:r>
          </a:p>
          <a:p>
            <a:pPr>
              <a:spcAft>
                <a:spcPts val="400"/>
              </a:spcAft>
            </a:pPr>
            <a:r>
              <a:rPr sz="1600">
                <a:solidFill>
                  <a:srgbClr val="2C3E50"/>
                </a:solidFill>
                <a:latin typeface="Arial"/>
              </a:rPr>
              <a:t>• Exact period depends on data availability and consistency in indicator definitions</a:t>
            </a:r>
          </a:p>
          <a:p>
            <a:pPr>
              <a:spcAft>
                <a:spcPts val="600"/>
              </a:spcAft>
              <a:defRPr sz="2200" b="1" i="0">
                <a:solidFill>
                  <a:srgbClr val="7A1F6E"/>
                </a:solidFill>
                <a:latin typeface="Arial"/>
              </a:defRPr>
            </a:pPr>
            <a:r>
              <a:t>Routine update to FASTR analysis</a:t>
            </a:r>
          </a:p>
          <a:p>
            <a:pPr>
              <a:spcAft>
                <a:spcPts val="400"/>
              </a:spcAft>
            </a:pPr>
            <a:r>
              <a:rPr sz="1600">
                <a:solidFill>
                  <a:srgbClr val="2C3E50"/>
                </a:solidFill>
                <a:latin typeface="Arial"/>
              </a:rPr>
              <a:t>• Download new data covering the most recent months not previously included (usually </a:t>
            </a:r>
            <a:r>
              <a:rPr sz="1600" b="1">
                <a:solidFill>
                  <a:srgbClr val="2C3E50"/>
                </a:solidFill>
                <a:latin typeface="Arial"/>
              </a:rPr>
              <a:t>three months</a:t>
            </a:r>
            <a:r>
              <a:rPr sz="1600">
                <a:solidFill>
                  <a:srgbClr val="2C3E50"/>
                </a:solidFill>
                <a:latin typeface="Arial"/>
              </a:rPr>
              <a:t> for quarterly implementation)</a:t>
            </a:r>
          </a:p>
          <a:p>
            <a:pPr>
              <a:spcAft>
                <a:spcPts val="400"/>
              </a:spcAft>
            </a:pPr>
            <a:r>
              <a:rPr sz="1600">
                <a:solidFill>
                  <a:srgbClr val="2C3E50"/>
                </a:solidFill>
                <a:latin typeface="Arial"/>
              </a:rPr>
              <a:t>• Include the </a:t>
            </a:r>
            <a:r>
              <a:rPr sz="1600" b="1">
                <a:solidFill>
                  <a:srgbClr val="2C3E50"/>
                </a:solidFill>
                <a:latin typeface="Arial"/>
              </a:rPr>
              <a:t>three preceding months</a:t>
            </a:r>
            <a:r>
              <a:rPr sz="1600">
                <a:solidFill>
                  <a:srgbClr val="2C3E50"/>
                </a:solidFill>
                <a:latin typeface="Arial"/>
              </a:rPr>
              <a:t> as recent data is often subject to changes due to late reporting or data quality adjustments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Data extraction tools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We offer two tools for bulk DHIS2 data extraction:</a:t>
            </a:r>
          </a:p>
          <a:p>
            <a:pPr>
              <a:spcAft>
                <a:spcPts val="1000"/>
              </a:spcAft>
            </a:pPr>
            <a:r>
              <a:rPr sz="1600" b="1">
                <a:solidFill>
                  <a:srgbClr val="333333"/>
                </a:solidFill>
                <a:latin typeface="Arial"/>
              </a:rPr>
              <a:t>API Script</a:t>
            </a:r>
            <a:r>
              <a:rPr sz="1600">
                <a:solidFill>
                  <a:srgbClr val="333333"/>
                </a:solidFill>
                <a:latin typeface="Arial"/>
              </a:rPr>
              <a:t> (Google Colab)</a:t>
            </a:r>
          </a:p>
          <a:p>
            <a:pPr>
              <a:spcAft>
                <a:spcPts val="400"/>
              </a:spcAft>
            </a:pPr>
            <a:r>
              <a:rPr sz="1600">
                <a:solidFill>
                  <a:srgbClr val="2C3E50"/>
                </a:solidFill>
                <a:latin typeface="Arial"/>
              </a:rPr>
              <a:t>• Input login credentials, specify timeframes, indicators, and administrative levels</a:t>
            </a:r>
          </a:p>
          <a:p>
            <a:pPr>
              <a:spcAft>
                <a:spcPts val="400"/>
              </a:spcAft>
            </a:pPr>
            <a:r>
              <a:rPr sz="1600">
                <a:solidFill>
                  <a:srgbClr val="2C3E50"/>
                </a:solidFill>
                <a:latin typeface="Arial"/>
              </a:rPr>
              <a:t>• Download data as a .csv file</a:t>
            </a:r>
          </a:p>
          <a:p>
            <a:pPr>
              <a:spcAft>
                <a:spcPts val="1000"/>
              </a:spcAft>
            </a:pPr>
            <a:r>
              <a:rPr sz="1600" b="1">
                <a:solidFill>
                  <a:srgbClr val="333333"/>
                </a:solidFill>
                <a:latin typeface="Arial"/>
              </a:rPr>
              <a:t>Data Downloader</a:t>
            </a:r>
          </a:p>
          <a:p>
            <a:pPr>
              <a:spcAft>
                <a:spcPts val="400"/>
              </a:spcAft>
            </a:pPr>
            <a:r>
              <a:rPr sz="1600">
                <a:solidFill>
                  <a:srgbClr val="2C3E50"/>
                </a:solidFill>
                <a:latin typeface="Arial"/>
              </a:rPr>
              <a:t>• More intuitive, streamlined interface</a:t>
            </a:r>
          </a:p>
          <a:p>
            <a:pPr>
              <a:spcAft>
                <a:spcPts val="400"/>
              </a:spcAft>
            </a:pPr>
            <a:r>
              <a:rPr sz="1600">
                <a:solidFill>
                  <a:srgbClr val="2C3E50"/>
                </a:solidFill>
                <a:latin typeface="Arial"/>
              </a:rPr>
              <a:t>• Recommended for most users</a:t>
            </a:r>
          </a:p>
          <a:p>
            <a:pPr>
              <a:spcAft>
                <a:spcPts val="1000"/>
              </a:spcAft>
            </a:pPr>
            <a:r>
              <a:rPr sz="1600">
                <a:solidFill>
                  <a:srgbClr val="333333"/>
                </a:solidFill>
                <a:latin typeface="Arial"/>
              </a:rPr>
              <a:t>Both tools enable efficient data extraction, and we provide training resources to support their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DHIS2 Data Downloader</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The Data Downloader is a desktop application for extracting data from DHIS2.</a:t>
            </a:r>
          </a:p>
          <a:p>
            <a:pPr>
              <a:spcAft>
                <a:spcPts val="1000"/>
              </a:spcAft>
            </a:pPr>
            <a:r>
              <a:rPr sz="1600" b="1">
                <a:solidFill>
                  <a:srgbClr val="333333"/>
                </a:solidFill>
                <a:latin typeface="Arial"/>
              </a:rPr>
              <a:t>Key features:</a:t>
            </a:r>
          </a:p>
          <a:p>
            <a:pPr>
              <a:spcAft>
                <a:spcPts val="400"/>
              </a:spcAft>
            </a:pPr>
            <a:r>
              <a:rPr sz="1600">
                <a:solidFill>
                  <a:srgbClr val="2C3E50"/>
                </a:solidFill>
                <a:latin typeface="Arial"/>
              </a:rPr>
              <a:t>• Connect to any DHIS2 instance</a:t>
            </a:r>
          </a:p>
          <a:p>
            <a:pPr>
              <a:spcAft>
                <a:spcPts val="400"/>
              </a:spcAft>
            </a:pPr>
            <a:r>
              <a:rPr sz="1600">
                <a:solidFill>
                  <a:srgbClr val="2C3E50"/>
                </a:solidFill>
                <a:latin typeface="Arial"/>
              </a:rPr>
              <a:t>• Browse and select data elements and indicators</a:t>
            </a:r>
          </a:p>
          <a:p>
            <a:pPr>
              <a:spcAft>
                <a:spcPts val="400"/>
              </a:spcAft>
            </a:pPr>
            <a:r>
              <a:rPr sz="1600">
                <a:solidFill>
                  <a:srgbClr val="2C3E50"/>
                </a:solidFill>
                <a:latin typeface="Arial"/>
              </a:rPr>
              <a:t>• Download facility-level data in CSV format</a:t>
            </a:r>
          </a:p>
          <a:p>
            <a:pPr>
              <a:spcAft>
                <a:spcPts val="400"/>
              </a:spcAft>
            </a:pPr>
            <a:r>
              <a:rPr sz="1600">
                <a:solidFill>
                  <a:srgbClr val="2C3E50"/>
                </a:solidFill>
                <a:latin typeface="Arial"/>
              </a:rPr>
              <a:t>• Maintain download history</a:t>
            </a:r>
          </a:p>
          <a:p>
            <a:pPr>
              <a:spcAft>
                <a:spcPts val="1000"/>
              </a:spcAft>
            </a:pPr>
            <a:r>
              <a:rPr sz="1600" b="1">
                <a:solidFill>
                  <a:srgbClr val="333333"/>
                </a:solidFill>
                <a:latin typeface="Arial"/>
              </a:rPr>
              <a:t>Download from GitHub:</a:t>
            </a:r>
          </a:p>
          <a:p>
            <a:pPr>
              <a:spcAft>
                <a:spcPts val="1000"/>
              </a:spcAft>
            </a:pPr>
            <a:r>
              <a:rPr sz="1600">
                <a:solidFill>
                  <a:srgbClr val="333333"/>
                </a:solidFill>
                <a:latin typeface="Arial"/>
              </a:rPr>
              <a:t>https://github.com/worldbank/DHIS2-Downloader/releases/</a:t>
            </a:r>
          </a:p>
          <a:p>
            <a:pPr>
              <a:spcAft>
                <a:spcPts val="1000"/>
              </a:spcAft>
            </a:pPr>
            <a:r>
              <a:rPr sz="1600" i="1">
                <a:solidFill>
                  <a:srgbClr val="333333"/>
                </a:solidFill>
                <a:latin typeface="Arial"/>
              </a:rPr>
              <a:t>Facilitator will demonstrate the Data Downloader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Introduction to the FASTR Analytics Platform</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The FASTR analytics platform is a web-based tool for data quality assessment, adjustment, and analysis of routine health data.</a:t>
            </a:r>
          </a:p>
          <a:p>
            <a:pPr>
              <a:spcAft>
                <a:spcPts val="1000"/>
              </a:spcAft>
            </a:pPr>
            <a:r>
              <a:rPr sz="1600" b="1">
                <a:solidFill>
                  <a:srgbClr val="333333"/>
                </a:solidFill>
                <a:latin typeface="Arial"/>
              </a:rPr>
              <a:t>Key features:</a:t>
            </a:r>
          </a:p>
          <a:p>
            <a:pPr>
              <a:spcAft>
                <a:spcPts val="400"/>
              </a:spcAft>
            </a:pPr>
            <a:r>
              <a:rPr sz="1600">
                <a:solidFill>
                  <a:srgbClr val="2C3E50"/>
                </a:solidFill>
                <a:latin typeface="Arial"/>
              </a:rPr>
              <a:t>• Upload and analyze data from DHIS2 and other sources</a:t>
            </a:r>
          </a:p>
          <a:p>
            <a:pPr>
              <a:spcAft>
                <a:spcPts val="400"/>
              </a:spcAft>
            </a:pPr>
            <a:r>
              <a:rPr sz="1600">
                <a:solidFill>
                  <a:srgbClr val="2C3E50"/>
                </a:solidFill>
                <a:latin typeface="Arial"/>
              </a:rPr>
              <a:t>• Built-in statistical methods for data quality adjustment</a:t>
            </a:r>
          </a:p>
          <a:p>
            <a:pPr>
              <a:spcAft>
                <a:spcPts val="400"/>
              </a:spcAft>
            </a:pPr>
            <a:r>
              <a:rPr sz="1600">
                <a:solidFill>
                  <a:srgbClr val="2C3E50"/>
                </a:solidFill>
                <a:latin typeface="Arial"/>
              </a:rPr>
              <a:t>• User-friendly interface for running analyses</a:t>
            </a:r>
          </a:p>
          <a:p>
            <a:pPr>
              <a:spcAft>
                <a:spcPts val="400"/>
              </a:spcAft>
            </a:pPr>
            <a:r>
              <a:rPr sz="1600">
                <a:solidFill>
                  <a:srgbClr val="2C3E50"/>
                </a:solidFill>
                <a:latin typeface="Arial"/>
              </a:rPr>
              <a:t>• Flexible visualization and export options</a:t>
            </a:r>
          </a:p>
          <a:p>
            <a:pPr>
              <a:spcAft>
                <a:spcPts val="1000"/>
              </a:spcAft>
            </a:pPr>
            <a:r>
              <a:rPr sz="1600" b="1">
                <a:solidFill>
                  <a:srgbClr val="333333"/>
                </a:solidFill>
                <a:latin typeface="Arial"/>
              </a:rPr>
              <a:t>In this session, we will provide a conceptual walkthrough of the platform and its capabilities.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Live Demo: Platform Access &amp; Roles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In this demo, we will:</a:t>
            </a:r>
          </a:p>
          <a:p>
            <a:pPr>
              <a:spcAft>
                <a:spcPts val="400"/>
              </a:spcAft>
            </a:pPr>
            <a:r>
              <a:rPr sz="1600">
                <a:solidFill>
                  <a:srgbClr val="2C3E50"/>
                </a:solidFill>
                <a:latin typeface="Arial"/>
              </a:rPr>
              <a:t>• Navigate to the FASTR platform</a:t>
            </a:r>
          </a:p>
          <a:p>
            <a:pPr>
              <a:spcAft>
                <a:spcPts val="400"/>
              </a:spcAft>
            </a:pPr>
            <a:r>
              <a:rPr sz="1600">
                <a:solidFill>
                  <a:srgbClr val="2C3E50"/>
                </a:solidFill>
                <a:latin typeface="Arial"/>
              </a:rPr>
              <a:t>• Explore user roles: Administrator, Editor, Viewer</a:t>
            </a:r>
          </a:p>
          <a:p>
            <a:pPr>
              <a:spcAft>
                <a:spcPts val="400"/>
              </a:spcAft>
            </a:pPr>
            <a:r>
              <a:rPr sz="1600">
                <a:solidFill>
                  <a:srgbClr val="2C3E50"/>
                </a:solidFill>
                <a:latin typeface="Arial"/>
              </a:rPr>
              <a:t>• Review user management and permissions</a:t>
            </a:r>
          </a:p>
          <a:p>
            <a:pPr>
              <a:spcAft>
                <a:spcPts val="400"/>
              </a:spcAft>
            </a:pPr>
            <a:r>
              <a:rPr sz="1600">
                <a:solidFill>
                  <a:srgbClr val="2C3E50"/>
                </a:solidFill>
                <a:latin typeface="Arial"/>
              </a:rPr>
              <a:t>• Understand the workflow for uploading data and making analytical decisions</a:t>
            </a:r>
          </a:p>
          <a:p>
            <a:pPr>
              <a:spcAft>
                <a:spcPts val="1000"/>
              </a:spcAft>
            </a:pPr>
            <a:r>
              <a:rPr sz="1600" i="1">
                <a:solidFill>
                  <a:srgbClr val="333333"/>
                </a:solidFill>
                <a:latin typeface="Arial"/>
              </a:rPr>
              <a:t>Facilitator will demonstrate in the live platform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Arial"/>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Arial"/>
              </a:defRPr>
            </a:pPr>
            <a:r>
              <a:t>90 minutes • Back at 14:00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Activity: Setting Up Admin Areas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In this hands-on session, we will configure:</a:t>
            </a:r>
          </a:p>
          <a:p>
            <a:pPr>
              <a:spcAft>
                <a:spcPts val="400"/>
              </a:spcAft>
            </a:pPr>
            <a:r>
              <a:rPr sz="1600">
                <a:solidFill>
                  <a:srgbClr val="2C3E50"/>
                </a:solidFill>
                <a:latin typeface="Arial"/>
              </a:rPr>
              <a:t>• Admin areas (regions, districts)</a:t>
            </a:r>
          </a:p>
          <a:p>
            <a:pPr>
              <a:spcAft>
                <a:spcPts val="400"/>
              </a:spcAft>
            </a:pPr>
            <a:r>
              <a:rPr sz="1600">
                <a:solidFill>
                  <a:srgbClr val="2C3E50"/>
                </a:solidFill>
                <a:latin typeface="Arial"/>
              </a:rPr>
              <a:t>• Facility structure</a:t>
            </a:r>
          </a:p>
          <a:p>
            <a:pPr>
              <a:spcAft>
                <a:spcPts val="400"/>
              </a:spcAft>
            </a:pPr>
            <a:r>
              <a:rPr sz="1600">
                <a:solidFill>
                  <a:srgbClr val="2C3E50"/>
                </a:solidFill>
                <a:latin typeface="Arial"/>
              </a:rPr>
              <a:t>• Indicator definitions</a:t>
            </a:r>
          </a:p>
          <a:p>
            <a:pPr>
              <a:spcAft>
                <a:spcPts val="1000"/>
              </a:spcAft>
            </a:pPr>
            <a:r>
              <a:rPr sz="1600" i="1">
                <a:solidFill>
                  <a:srgbClr val="333333"/>
                </a:solidFill>
                <a:latin typeface="Arial"/>
              </a:rPr>
              <a:t>Participants will work directly in the platform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Activity: Importing Data</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In this hands-on session, we will:</a:t>
            </a:r>
          </a:p>
          <a:p>
            <a:pPr>
              <a:spcAft>
                <a:spcPts val="400"/>
              </a:spcAft>
            </a:pPr>
            <a:r>
              <a:rPr sz="1600">
                <a:solidFill>
                  <a:srgbClr val="2C3E50"/>
                </a:solidFill>
                <a:latin typeface="Arial"/>
              </a:rPr>
              <a:t>• Review data format requirements</a:t>
            </a:r>
          </a:p>
          <a:p>
            <a:pPr>
              <a:spcAft>
                <a:spcPts val="400"/>
              </a:spcAft>
            </a:pPr>
            <a:r>
              <a:rPr sz="1600">
                <a:solidFill>
                  <a:srgbClr val="2C3E50"/>
                </a:solidFill>
                <a:latin typeface="Arial"/>
              </a:rPr>
              <a:t>• Walk through the import process</a:t>
            </a:r>
          </a:p>
          <a:p>
            <a:pPr>
              <a:spcAft>
                <a:spcPts val="400"/>
              </a:spcAft>
            </a:pPr>
            <a:r>
              <a:rPr sz="1600">
                <a:solidFill>
                  <a:srgbClr val="2C3E50"/>
                </a:solidFill>
                <a:latin typeface="Arial"/>
              </a:rPr>
              <a:t>• Handle validation and error checking</a:t>
            </a:r>
          </a:p>
          <a:p>
            <a:pPr>
              <a:spcAft>
                <a:spcPts val="1000"/>
              </a:spcAft>
            </a:pPr>
            <a:r>
              <a:rPr sz="1600" i="1">
                <a:solidFill>
                  <a:srgbClr val="333333"/>
                </a:solidFill>
                <a:latin typeface="Arial"/>
              </a:rPr>
              <a:t>Participants will import their country's data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Activity: Installing and Running Modules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In this hands-on session, we will:</a:t>
            </a:r>
          </a:p>
          <a:p>
            <a:pPr>
              <a:spcAft>
                <a:spcPts val="400"/>
              </a:spcAft>
            </a:pPr>
            <a:r>
              <a:rPr sz="1600">
                <a:solidFill>
                  <a:srgbClr val="2C3E50"/>
                </a:solidFill>
                <a:latin typeface="Arial"/>
              </a:rPr>
              <a:t>• Review available analysis modules</a:t>
            </a:r>
          </a:p>
          <a:p>
            <a:pPr>
              <a:spcAft>
                <a:spcPts val="400"/>
              </a:spcAft>
            </a:pPr>
            <a:r>
              <a:rPr sz="1600">
                <a:solidFill>
                  <a:srgbClr val="2C3E50"/>
                </a:solidFill>
                <a:latin typeface="Arial"/>
              </a:rPr>
              <a:t>• Install required modules</a:t>
            </a:r>
          </a:p>
          <a:p>
            <a:pPr>
              <a:spcAft>
                <a:spcPts val="400"/>
              </a:spcAft>
            </a:pPr>
            <a:r>
              <a:rPr sz="1600">
                <a:solidFill>
                  <a:srgbClr val="2C3E50"/>
                </a:solidFill>
                <a:latin typeface="Arial"/>
              </a:rPr>
              <a:t>• Run initial analyses</a:t>
            </a:r>
          </a:p>
          <a:p>
            <a:pPr>
              <a:spcAft>
                <a:spcPts val="1000"/>
              </a:spcAft>
            </a:pPr>
            <a:r>
              <a:rPr sz="1600" i="1">
                <a:solidFill>
                  <a:srgbClr val="333333"/>
                </a:solidFill>
                <a:latin typeface="Arial"/>
              </a:rPr>
              <a:t>Participants will configure and run modules on their data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Day 2</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Recap</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On Day 1, we covered:</a:t>
            </a:r>
          </a:p>
          <a:p>
            <a:pPr>
              <a:spcAft>
                <a:spcPts val="400"/>
              </a:spcAft>
            </a:pPr>
            <a:r>
              <a:rPr sz="1600">
                <a:solidFill>
                  <a:srgbClr val="2C3E50"/>
                </a:solidFill>
                <a:latin typeface="Arial"/>
              </a:rPr>
              <a:t>• The FASTR approach and rapid-cycle analytics methodology</a:t>
            </a:r>
          </a:p>
          <a:p>
            <a:pPr>
              <a:spcAft>
                <a:spcPts val="400"/>
              </a:spcAft>
            </a:pPr>
            <a:r>
              <a:rPr sz="1600">
                <a:solidFill>
                  <a:srgbClr val="2C3E50"/>
                </a:solidFill>
                <a:latin typeface="Arial"/>
              </a:rPr>
              <a:t>• Data extraction from DHIS2 using the Data Downloader</a:t>
            </a:r>
          </a:p>
          <a:p>
            <a:pPr>
              <a:spcAft>
                <a:spcPts val="400"/>
              </a:spcAft>
            </a:pPr>
            <a:r>
              <a:rPr sz="1600">
                <a:solidFill>
                  <a:srgbClr val="2C3E50"/>
                </a:solidFill>
                <a:latin typeface="Arial"/>
              </a:rPr>
              <a:t>• Introduction to the FASTR Analytics Platform</a:t>
            </a:r>
          </a:p>
          <a:p>
            <a:pPr>
              <a:spcAft>
                <a:spcPts val="400"/>
              </a:spcAft>
            </a:pPr>
            <a:r>
              <a:rPr sz="1600">
                <a:solidFill>
                  <a:srgbClr val="2C3E50"/>
                </a:solidFill>
                <a:latin typeface="Arial"/>
              </a:rPr>
              <a:t>• Platform configuration: admin areas, data import, modules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Day 2 Focus</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Today we will:</a:t>
            </a:r>
          </a:p>
          <a:p>
            <a:pPr>
              <a:spcAft>
                <a:spcPts val="400"/>
              </a:spcAft>
            </a:pPr>
            <a:r>
              <a:rPr sz="1600">
                <a:solidFill>
                  <a:srgbClr val="2C3E50"/>
                </a:solidFill>
                <a:latin typeface="Arial"/>
              </a:rPr>
              <a:t>• Explore FASTR methods for data quality and analysis</a:t>
            </a:r>
          </a:p>
          <a:p>
            <a:pPr>
              <a:spcAft>
                <a:spcPts val="400"/>
              </a:spcAft>
            </a:pPr>
            <a:r>
              <a:rPr sz="1600">
                <a:solidFill>
                  <a:srgbClr val="2C3E50"/>
                </a:solidFill>
                <a:latin typeface="Arial"/>
              </a:rPr>
              <a:t>• Create and configure projects</a:t>
            </a:r>
          </a:p>
          <a:p>
            <a:pPr>
              <a:spcAft>
                <a:spcPts val="400"/>
              </a:spcAft>
            </a:pPr>
            <a:r>
              <a:rPr sz="1600">
                <a:solidFill>
                  <a:srgbClr val="2C3E50"/>
                </a:solidFill>
                <a:latin typeface="Arial"/>
              </a:rPr>
              <a:t>• Build visualizations</a:t>
            </a:r>
          </a:p>
          <a:p>
            <a:pPr>
              <a:spcAft>
                <a:spcPts val="400"/>
              </a:spcAft>
            </a:pPr>
            <a:r>
              <a:rPr sz="1600">
                <a:solidFill>
                  <a:srgbClr val="2C3E50"/>
                </a:solidFill>
                <a:latin typeface="Arial"/>
              </a:rPr>
              <a:t>• Generate reports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FASTR analytical pipeline</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303520" cy="5029200"/>
          </a:xfrm>
          <a:prstGeom prst="rect">
            <a:avLst/>
          </a:prstGeom>
          <a:noFill/>
        </p:spPr>
        <p:txBody>
          <a:bodyPr wrap="square">
            <a:spAutoFit/>
          </a:bodyPr>
          <a:lstStyle/>
          <a:p>
            <a:pPr>
              <a:spcAft>
                <a:spcPts val="1000"/>
              </a:spcAft>
            </a:pPr>
            <a:r>
              <a:rPr sz="1600">
                <a:solidFill>
                  <a:srgbClr val="333333"/>
                </a:solidFill>
                <a:latin typeface="Arial"/>
              </a:rPr>
              <a:t>The FASTR analysis follows a sequential workflow where each step builds on the previous:</a:t>
            </a:r>
          </a:p>
          <a:p>
            <a:pPr>
              <a:spcAft>
                <a:spcPts val="400"/>
              </a:spcAft>
            </a:pPr>
            <a:r>
              <a:rPr sz="1600">
                <a:solidFill>
                  <a:srgbClr val="2C3E50"/>
                </a:solidFill>
                <a:latin typeface="Arial"/>
              </a:rPr>
              <a:t>• </a:t>
            </a:r>
            <a:r>
              <a:rPr sz="1600" b="1">
                <a:solidFill>
                  <a:srgbClr val="2C3E50"/>
                </a:solidFill>
                <a:latin typeface="Arial"/>
              </a:rPr>
              <a:t>Assess data quality</a:t>
            </a:r>
            <a:r>
              <a:rPr sz="1600">
                <a:solidFill>
                  <a:srgbClr val="2C3E50"/>
                </a:solidFill>
                <a:latin typeface="Arial"/>
              </a:rPr>
              <a:t> - Identify issues with completeness, outliers, and consistency</a:t>
            </a:r>
          </a:p>
          <a:p>
            <a:pPr>
              <a:spcAft>
                <a:spcPts val="400"/>
              </a:spcAft>
            </a:pPr>
            <a:r>
              <a:rPr sz="1600">
                <a:solidFill>
                  <a:srgbClr val="2C3E50"/>
                </a:solidFill>
                <a:latin typeface="Arial"/>
              </a:rPr>
              <a:t>• </a:t>
            </a:r>
            <a:r>
              <a:rPr sz="1600" b="1">
                <a:solidFill>
                  <a:srgbClr val="2C3E50"/>
                </a:solidFill>
                <a:latin typeface="Arial"/>
              </a:rPr>
              <a:t>Adjust for quality issues</a:t>
            </a:r>
            <a:r>
              <a:rPr sz="1600">
                <a:solidFill>
                  <a:srgbClr val="2C3E50"/>
                </a:solidFill>
                <a:latin typeface="Arial"/>
              </a:rPr>
              <a:t> - Apply corrections to improve data reliability</a:t>
            </a:r>
          </a:p>
          <a:p>
            <a:pPr>
              <a:spcAft>
                <a:spcPts val="400"/>
              </a:spcAft>
            </a:pPr>
            <a:r>
              <a:rPr sz="1600">
                <a:solidFill>
                  <a:srgbClr val="2C3E50"/>
                </a:solidFill>
                <a:latin typeface="Arial"/>
              </a:rPr>
              <a:t>• </a:t>
            </a:r>
            <a:r>
              <a:rPr sz="1600" b="1">
                <a:solidFill>
                  <a:srgbClr val="2C3E50"/>
                </a:solidFill>
                <a:latin typeface="Arial"/>
              </a:rPr>
              <a:t>Analyze adjusted data</a:t>
            </a:r>
            <a:r>
              <a:rPr sz="1600">
                <a:solidFill>
                  <a:srgbClr val="2C3E50"/>
                </a:solidFill>
                <a:latin typeface="Arial"/>
              </a:rPr>
              <a:t> - Generate service utilization and coverage estimates</a:t>
            </a:r>
          </a:p>
          <a:p>
            <a:pPr>
              <a:spcAft>
                <a:spcPts val="1000"/>
              </a:spcAft>
            </a:pPr>
            <a:r>
              <a:rPr sz="1600">
                <a:solidFill>
                  <a:srgbClr val="333333"/>
                </a:solidFill>
                <a:latin typeface="Arial"/>
              </a:rPr>
              <a:t>Each step must be completed before moving to the next.</a:t>
            </a:r>
          </a:p>
        </p:txBody>
      </p:sp>
      <p:pic>
        <p:nvPicPr>
          <p:cNvPr id="5" name="Picture 4" descr="analytical_pipeline.png"/>
          <p:cNvPicPr>
            <a:picLocks noChangeAspect="1"/>
          </p:cNvPicPr>
          <p:nvPr/>
        </p:nvPicPr>
        <p:blipFill>
          <a:blip r:embed="rId2"/>
          <a:stretch>
            <a:fillRect/>
          </a:stretch>
        </p:blipFill>
        <p:spPr>
          <a:xfrm>
            <a:off x="6400800" y="1280160"/>
            <a:ext cx="5303520" cy="212140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Data quality assessment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Evaluating the reliability of routine health information system 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Rationale for data quality assessment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Challenge:</a:t>
            </a:r>
            <a:r>
              <a:rPr sz="1600">
                <a:solidFill>
                  <a:srgbClr val="333333"/>
                </a:solidFill>
                <a:latin typeface="Arial"/>
              </a:rPr>
              <a:t> Routine health facility data may contain quality limitations:</a:t>
            </a:r>
          </a:p>
          <a:p>
            <a:pPr>
              <a:spcAft>
                <a:spcPts val="400"/>
              </a:spcAft>
            </a:pPr>
            <a:r>
              <a:rPr sz="1600">
                <a:solidFill>
                  <a:srgbClr val="2C3E50"/>
                </a:solidFill>
                <a:latin typeface="Arial"/>
              </a:rPr>
              <a:t>• Reported values may fall outside plausible ranges</a:t>
            </a:r>
          </a:p>
          <a:p>
            <a:pPr>
              <a:spcAft>
                <a:spcPts val="400"/>
              </a:spcAft>
            </a:pPr>
            <a:r>
              <a:rPr sz="1600">
                <a:solidFill>
                  <a:srgbClr val="2C3E50"/>
                </a:solidFill>
                <a:latin typeface="Arial"/>
              </a:rPr>
              <a:t>• Reporting gaps affect data completeness</a:t>
            </a:r>
          </a:p>
          <a:p>
            <a:pPr>
              <a:spcAft>
                <a:spcPts val="400"/>
              </a:spcAft>
            </a:pPr>
            <a:r>
              <a:rPr sz="1600">
                <a:solidFill>
                  <a:srgbClr val="2C3E50"/>
                </a:solidFill>
                <a:latin typeface="Arial"/>
              </a:rPr>
              <a:t>• Inconsistencies exist between related indicators</a:t>
            </a:r>
          </a:p>
          <a:p>
            <a:pPr>
              <a:spcAft>
                <a:spcPts val="1000"/>
              </a:spcAft>
            </a:pPr>
            <a:r>
              <a:rPr sz="1600" b="1">
                <a:solidFill>
                  <a:srgbClr val="333333"/>
                </a:solidFill>
                <a:latin typeface="Arial"/>
              </a:rPr>
              <a:t>Implications:</a:t>
            </a:r>
            <a:r>
              <a:rPr sz="1600">
                <a:solidFill>
                  <a:srgbClr val="333333"/>
                </a:solidFill>
                <a:latin typeface="Arial"/>
              </a:rPr>
              <a:t> Data quality limitations affect decision-making</a:t>
            </a:r>
          </a:p>
          <a:p>
            <a:pPr>
              <a:spcAft>
                <a:spcPts val="400"/>
              </a:spcAft>
            </a:pPr>
            <a:r>
              <a:rPr sz="1600">
                <a:solidFill>
                  <a:srgbClr val="2C3E50"/>
                </a:solidFill>
                <a:latin typeface="Arial"/>
              </a:rPr>
              <a:t>• Inaccurate assessments of service delivery trends</a:t>
            </a:r>
          </a:p>
          <a:p>
            <a:pPr>
              <a:spcAft>
                <a:spcPts val="400"/>
              </a:spcAft>
            </a:pPr>
            <a:r>
              <a:rPr sz="1600">
                <a:solidFill>
                  <a:srgbClr val="2C3E50"/>
                </a:solidFill>
                <a:latin typeface="Arial"/>
              </a:rPr>
              <a:t>• Misidentification of areas requiring intervention</a:t>
            </a:r>
          </a:p>
          <a:p>
            <a:pPr>
              <a:spcAft>
                <a:spcPts val="400"/>
              </a:spcAft>
            </a:pPr>
            <a:r>
              <a:rPr sz="1600">
                <a:solidFill>
                  <a:srgbClr val="2C3E50"/>
                </a:solidFill>
                <a:latin typeface="Arial"/>
              </a:rPr>
              <a:t>• Suboptimal resource allocation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Objectives of data quality assessment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Objective 1: Enable analytical adjustment</a:t>
            </a:r>
          </a:p>
          <a:p>
            <a:pPr>
              <a:spcAft>
                <a:spcPts val="1000"/>
              </a:spcAft>
            </a:pPr>
            <a:r>
              <a:rPr sz="1600">
                <a:solidFill>
                  <a:srgbClr val="333333"/>
                </a:solidFill>
                <a:latin typeface="Arial"/>
              </a:rPr>
              <a:t>Systematic data quality assessment supports the application of targeted adjustments, enhancing the utility of HMIS data for evidence-based decision-making.</a:t>
            </a:r>
          </a:p>
          <a:p>
            <a:pPr>
              <a:spcAft>
                <a:spcPts val="1000"/>
              </a:spcAft>
            </a:pPr>
            <a:r>
              <a:rPr sz="1600" b="1">
                <a:solidFill>
                  <a:srgbClr val="333333"/>
                </a:solidFill>
                <a:latin typeface="Arial"/>
              </a:rPr>
              <a:t>Objective 2: Monitor data quality trends</a:t>
            </a:r>
          </a:p>
          <a:p>
            <a:pPr>
              <a:spcAft>
                <a:spcPts val="1000"/>
              </a:spcAft>
            </a:pPr>
            <a:r>
              <a:rPr sz="1600">
                <a:solidFill>
                  <a:srgbClr val="333333"/>
                </a:solidFill>
                <a:latin typeface="Arial"/>
              </a:rPr>
              <a:t>Data quality assessment enables ongoing monitoring to:</a:t>
            </a:r>
          </a:p>
          <a:p>
            <a:pPr>
              <a:spcAft>
                <a:spcPts val="400"/>
              </a:spcAft>
            </a:pPr>
            <a:r>
              <a:rPr sz="1600">
                <a:solidFill>
                  <a:srgbClr val="2C3E50"/>
                </a:solidFill>
                <a:latin typeface="Arial"/>
              </a:rPr>
              <a:t>• Inform indicator selection based on quality profiles across the HMIS</a:t>
            </a:r>
          </a:p>
          <a:p>
            <a:pPr>
              <a:spcAft>
                <a:spcPts val="400"/>
              </a:spcAft>
            </a:pPr>
            <a:r>
              <a:rPr sz="1600">
                <a:solidFill>
                  <a:srgbClr val="2C3E50"/>
                </a:solidFill>
                <a:latin typeface="Arial"/>
              </a:rPr>
              <a:t>• Guide targeted data quality interventions and supportive supervision in areas with weaker data quality</a:t>
            </a:r>
          </a:p>
          <a:p>
            <a:pPr>
              <a:spcAft>
                <a:spcPts val="400"/>
              </a:spcAft>
            </a:pPr>
            <a:r>
              <a:rPr sz="1600">
                <a:solidFill>
                  <a:srgbClr val="2C3E50"/>
                </a:solidFill>
                <a:latin typeface="Arial"/>
              </a:rPr>
              <a:t>• Evaluate the effectiveness of data quality improvement initiatives over time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Core dimensions of data quality</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1. Completeness</a:t>
            </a:r>
          </a:p>
          <a:p>
            <a:pPr>
              <a:spcAft>
                <a:spcPts val="1000"/>
              </a:spcAft>
            </a:pPr>
            <a:r>
              <a:rPr sz="1600">
                <a:solidFill>
                  <a:srgbClr val="333333"/>
                </a:solidFill>
                <a:latin typeface="Arial"/>
              </a:rPr>
              <a:t>Are health facilities submitting reports consistently?</a:t>
            </a:r>
          </a:p>
          <a:p>
            <a:pPr>
              <a:spcAft>
                <a:spcPts val="1000"/>
              </a:spcAft>
            </a:pPr>
            <a:r>
              <a:rPr sz="1600" b="1">
                <a:solidFill>
                  <a:srgbClr val="333333"/>
                </a:solidFill>
                <a:latin typeface="Arial"/>
              </a:rPr>
              <a:t>2. Outlier prevalence</a:t>
            </a:r>
          </a:p>
          <a:p>
            <a:pPr>
              <a:spcAft>
                <a:spcPts val="1000"/>
              </a:spcAft>
            </a:pPr>
            <a:r>
              <a:rPr sz="1600">
                <a:solidFill>
                  <a:srgbClr val="333333"/>
                </a:solidFill>
                <a:latin typeface="Arial"/>
              </a:rPr>
              <a:t>Are reported values within plausible ranges?</a:t>
            </a:r>
          </a:p>
          <a:p>
            <a:pPr>
              <a:spcAft>
                <a:spcPts val="1000"/>
              </a:spcAft>
            </a:pPr>
            <a:r>
              <a:rPr sz="1600" b="1">
                <a:solidFill>
                  <a:srgbClr val="333333"/>
                </a:solidFill>
                <a:latin typeface="Arial"/>
              </a:rPr>
              <a:t>3. Internal consistency</a:t>
            </a:r>
          </a:p>
          <a:p>
            <a:pPr>
              <a:spcAft>
                <a:spcPts val="1000"/>
              </a:spcAft>
            </a:pPr>
            <a:r>
              <a:rPr sz="1600">
                <a:solidFill>
                  <a:srgbClr val="333333"/>
                </a:solidFill>
                <a:latin typeface="Arial"/>
              </a:rPr>
              <a:t>Do related indicators demonstrate expected relationships?</a:t>
            </a:r>
          </a:p>
          <a:p>
            <a:pPr>
              <a:spcAft>
                <a:spcPts val="1000"/>
              </a:spcAft>
            </a:pPr>
            <a:r>
              <a:rPr sz="1600">
                <a:solidFill>
                  <a:srgbClr val="333333"/>
                </a:solidFill>
                <a:latin typeface="Arial"/>
              </a:rPr>
              <a:t>These three dimensions provide a comprehensive assessment of data reliability for analytical purposes.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Assessing reporting completeness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Definition:</a:t>
            </a:r>
          </a:p>
          <a:p>
            <a:pPr>
              <a:spcAft>
                <a:spcPts val="1000"/>
              </a:spcAft>
            </a:pPr>
            <a:r>
              <a:rPr sz="1600">
                <a:solidFill>
                  <a:srgbClr val="333333"/>
                </a:solidFill>
                <a:latin typeface="Arial"/>
              </a:rPr>
              <a:t>The proportion of expected facility reports that were submitted within a given period.</a:t>
            </a:r>
          </a:p>
          <a:p>
            <a:pPr>
              <a:spcAft>
                <a:spcPts val="1000"/>
              </a:spcAft>
            </a:pPr>
            <a:r>
              <a:rPr sz="1600" b="1">
                <a:solidFill>
                  <a:srgbClr val="333333"/>
                </a:solidFill>
                <a:latin typeface="Arial"/>
              </a:rPr>
              <a:t>Significance:</a:t>
            </a:r>
          </a:p>
          <a:p>
            <a:pPr>
              <a:spcAft>
                <a:spcPts val="400"/>
              </a:spcAft>
            </a:pPr>
            <a:r>
              <a:rPr sz="1600">
                <a:solidFill>
                  <a:srgbClr val="2C3E50"/>
                </a:solidFill>
                <a:latin typeface="Arial"/>
              </a:rPr>
              <a:t>• Incomplete reporting limits the representativeness of aggregate data</a:t>
            </a:r>
          </a:p>
          <a:p>
            <a:pPr>
              <a:spcAft>
                <a:spcPts val="400"/>
              </a:spcAft>
            </a:pPr>
            <a:r>
              <a:rPr sz="1600">
                <a:solidFill>
                  <a:srgbClr val="2C3E50"/>
                </a:solidFill>
                <a:latin typeface="Arial"/>
              </a:rPr>
              <a:t>• Apparent declines in service volumes may reflect reporting gaps rather than actual reductions</a:t>
            </a:r>
          </a:p>
        </p:txBody>
      </p:sp>
      <p:pic>
        <p:nvPicPr>
          <p:cNvPr id="5" name="Picture 4" descr="completeness_illustration.png"/>
          <p:cNvPicPr>
            <a:picLocks noChangeAspect="1"/>
          </p:cNvPicPr>
          <p:nvPr/>
        </p:nvPicPr>
        <p:blipFill>
          <a:blip r:embed="rId2"/>
          <a:stretch>
            <a:fillRect/>
          </a:stretch>
        </p:blipFill>
        <p:spPr>
          <a:xfrm>
            <a:off x="7315200" y="1371600"/>
            <a:ext cx="4114800" cy="1694329"/>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Interpreting completeness rates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Reference benchmarks:</a:t>
            </a:r>
          </a:p>
          <a:p>
            <a:pPr>
              <a:spcAft>
                <a:spcPts val="400"/>
              </a:spcAft>
            </a:pPr>
            <a:r>
              <a:rPr sz="1600">
                <a:solidFill>
                  <a:srgbClr val="2C3E50"/>
                </a:solidFill>
                <a:latin typeface="Arial"/>
              </a:rPr>
              <a:t>• 90% and above: High completeness</a:t>
            </a:r>
          </a:p>
          <a:p>
            <a:pPr>
              <a:spcAft>
                <a:spcPts val="400"/>
              </a:spcAft>
            </a:pPr>
            <a:r>
              <a:rPr sz="1600">
                <a:solidFill>
                  <a:srgbClr val="2C3E50"/>
                </a:solidFill>
                <a:latin typeface="Arial"/>
              </a:rPr>
              <a:t>• 80-89%: Moderate completeness</a:t>
            </a:r>
          </a:p>
          <a:p>
            <a:pPr>
              <a:spcAft>
                <a:spcPts val="400"/>
              </a:spcAft>
            </a:pPr>
            <a:r>
              <a:rPr sz="1600">
                <a:solidFill>
                  <a:srgbClr val="2C3E50"/>
                </a:solidFill>
                <a:latin typeface="Arial"/>
              </a:rPr>
              <a:t>• Below 80%: Substantial reporting gaps</a:t>
            </a:r>
          </a:p>
          <a:p>
            <a:pPr>
              <a:spcAft>
                <a:spcPts val="1000"/>
              </a:spcAft>
            </a:pPr>
            <a:r>
              <a:rPr sz="1600" b="1">
                <a:solidFill>
                  <a:srgbClr val="333333"/>
                </a:solidFill>
                <a:latin typeface="Arial"/>
              </a:rPr>
              <a:t>Considerations:</a:t>
            </a:r>
            <a:r>
              <a:rPr sz="1600">
                <a:solidFill>
                  <a:srgbClr val="333333"/>
                </a:solidFill>
                <a:latin typeface="Arial"/>
              </a:rPr>
              <a:t> Complete reporting does not capture services delivered outside the formal health system or by facilities not included in the HMIS.</a:t>
            </a:r>
          </a:p>
          <a:p>
            <a:pPr>
              <a:spcAft>
                <a:spcPts val="1000"/>
              </a:spcAft>
            </a:pPr>
            <a:r>
              <a:rPr sz="1600" b="1">
                <a:solidFill>
                  <a:srgbClr val="333333"/>
                </a:solidFill>
                <a:latin typeface="Arial"/>
              </a:rPr>
              <a:t>Key analytical questions:</a:t>
            </a:r>
            <a:r>
              <a:rPr sz="1600">
                <a:solidFill>
                  <a:srgbClr val="333333"/>
                </a:solidFill>
                <a:latin typeface="Arial"/>
              </a:rPr>
              <a:t> Are completeness rates improving over time? Which geographic areas or facility types demonstrate lower completeness?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Completeness: FASTR output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Identifying implausible values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457200" y="5303520"/>
            <a:ext cx="11277295" cy="1371600"/>
          </a:xfrm>
          <a:prstGeom prst="rect">
            <a:avLst/>
          </a:prstGeom>
          <a:noFill/>
        </p:spPr>
        <p:txBody>
          <a:bodyPr wrap="square">
            <a:spAutoFit/>
          </a:bodyPr>
          <a:lstStyle/>
          <a:p>
            <a:pPr>
              <a:spcAft>
                <a:spcPts val="600"/>
              </a:spcAft>
            </a:pPr>
            <a:r>
              <a:rPr sz="1600" b="1">
                <a:solidFill>
                  <a:srgbClr val="333333"/>
                </a:solidFill>
                <a:latin typeface="Arial"/>
              </a:rPr>
              <a:t>Illustration:</a:t>
            </a:r>
          </a:p>
          <a:p>
            <a:pPr>
              <a:spcAft>
                <a:spcPts val="600"/>
              </a:spcAft>
            </a:pPr>
            <a:r>
              <a:rPr sz="1600">
                <a:solidFill>
                  <a:srgbClr val="333333"/>
                </a:solidFill>
                <a:latin typeface="Arial"/>
              </a:rPr>
              <a:t>Region A displays an anomalous increase in February that substantially exceeds values reported by other regions.</a:t>
            </a:r>
          </a:p>
          <a:p>
            <a:pPr>
              <a:spcAft>
                <a:spcPts val="600"/>
              </a:spcAft>
            </a:pPr>
            <a:r>
              <a:rPr sz="1600">
                <a:solidFill>
                  <a:srgbClr val="333333"/>
                </a:solidFill>
                <a:latin typeface="Arial"/>
              </a:rPr>
              <a:t>This pattern is indicative of a data entry error. Following adjustment, all regions demonstrate consistent gradual trends.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Outlier detection methodology</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Outliers are identified through analysis of within-facility variation in monthly reporting for each indicator.</a:t>
            </a:r>
          </a:p>
          <a:p>
            <a:pPr>
              <a:spcAft>
                <a:spcPts val="1000"/>
              </a:spcAft>
            </a:pPr>
            <a:r>
              <a:rPr sz="1600">
                <a:solidFill>
                  <a:srgbClr val="333333"/>
                </a:solidFill>
                <a:latin typeface="Arial"/>
              </a:rPr>
              <a:t>A value is classified as an outlier if it meets EITHER criterion:</a:t>
            </a:r>
          </a:p>
          <a:p>
            <a:pPr>
              <a:spcAft>
                <a:spcPts val="400"/>
              </a:spcAft>
            </a:pPr>
            <a:r>
              <a:rPr sz="1600">
                <a:solidFill>
                  <a:srgbClr val="2C3E50"/>
                </a:solidFill>
                <a:latin typeface="Arial"/>
              </a:rPr>
              <a:t>• The value exceeds 10 times the Median Absolute Deviation (MAD) from the facility's monthly median for that indicator, OR</a:t>
            </a:r>
          </a:p>
          <a:p>
            <a:pPr>
              <a:spcAft>
                <a:spcPts val="400"/>
              </a:spcAft>
            </a:pPr>
            <a:r>
              <a:rPr sz="1600">
                <a:solidFill>
                  <a:srgbClr val="2C3E50"/>
                </a:solidFill>
                <a:latin typeface="Arial"/>
              </a:rPr>
              <a:t>• The value represents more than 80% of the total volume for a given facility, indicator, and time period</a:t>
            </a:r>
          </a:p>
          <a:p>
            <a:pPr>
              <a:spcAft>
                <a:spcPts val="1000"/>
              </a:spcAft>
            </a:pPr>
            <a:r>
              <a:rPr sz="1600">
                <a:solidFill>
                  <a:srgbClr val="333333"/>
                </a:solidFill>
                <a:latin typeface="Arial"/>
              </a:rPr>
              <a:t>AND the reported count exceeds 100.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Outlier illustration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b="1">
                <a:solidFill>
                  <a:srgbClr val="2C3E50"/>
                </a:solidFill>
                <a:latin typeface="Arial"/>
              </a:rPr>
              <a:t>Health Centre B - Malaria diagnostic tests:</a:t>
            </a:r>
          </a:p>
        </p:txBody>
      </p:sp>
      <p:graphicFrame>
        <p:nvGraphicFramePr>
          <p:cNvPr id="5" name="Table 4"/>
          <p:cNvGraphicFramePr>
            <a:graphicFrameLocks noGrp="1"/>
          </p:cNvGraphicFramePr>
          <p:nvPr/>
        </p:nvGraphicFramePr>
        <p:xfrm>
          <a:off x="457200" y="1828800"/>
          <a:ext cx="11247118" cy="1600200"/>
        </p:xfrm>
        <a:graphic>
          <a:graphicData uri="http://schemas.openxmlformats.org/drawingml/2006/table">
            <a:tbl>
              <a:tblPr firstRow="1" bandRow="1">
                <a:tableStyleId>{5C22544A-7EE6-4342-B048-85BDC9FD1C3A}</a:tableStyleId>
              </a:tblPr>
              <a:tblGrid>
                <a:gridCol w="3238033"/>
                <a:gridCol w="3443652"/>
                <a:gridCol w="4565433"/>
              </a:tblGrid>
              <a:tr h="320040">
                <a:tc>
                  <a:txBody>
                    <a:bodyPr wrap="square"/>
                    <a:lstStyle/>
                    <a:p>
                      <a:pPr>
                        <a:defRPr sz="1400" b="1">
                          <a:solidFill>
                            <a:srgbClr val="21568C"/>
                          </a:solidFill>
                          <a:latin typeface="Arial"/>
                        </a:defRPr>
                      </a:pPr>
                      <a:r>
                        <a:t>Month</a:t>
                      </a:r>
                    </a:p>
                  </a:txBody>
                  <a:tcPr>
                    <a:solidFill>
                      <a:srgbClr val="CAE6E9"/>
                    </a:solidFill>
                  </a:tcPr>
                </a:tc>
                <a:tc>
                  <a:txBody>
                    <a:bodyPr wrap="square"/>
                    <a:lstStyle/>
                    <a:p>
                      <a:pPr>
                        <a:defRPr sz="1400" b="1">
                          <a:solidFill>
                            <a:srgbClr val="21568C"/>
                          </a:solidFill>
                          <a:latin typeface="Arial"/>
                        </a:defRPr>
                      </a:pPr>
                      <a:r>
                        <a:t>Tests reported</a:t>
                      </a:r>
                    </a:p>
                  </a:txBody>
                  <a:tcPr>
                    <a:solidFill>
                      <a:srgbClr val="CAE6E9"/>
                    </a:solidFill>
                  </a:tcPr>
                </a:tc>
                <a:tc>
                  <a:txBody>
                    <a:bodyPr wrap="square"/>
                    <a:lstStyle/>
                    <a:p>
                      <a:pPr>
                        <a:defRPr sz="1400" b="1">
                          <a:solidFill>
                            <a:srgbClr val="21568C"/>
                          </a:solidFill>
                          <a:latin typeface="Arial"/>
                        </a:defRPr>
                      </a:pPr>
                      <a:r>
                        <a:t>Classification</a:t>
                      </a:r>
                    </a:p>
                  </a:txBody>
                  <a:tcPr>
                    <a:solidFill>
                      <a:srgbClr val="CAE6E9"/>
                    </a:solidFill>
                  </a:tcPr>
                </a:tc>
              </a:tr>
              <a:tr h="320040">
                <a:tc>
                  <a:txBody>
                    <a:bodyPr wrap="square"/>
                    <a:lstStyle/>
                    <a:p>
                      <a:r>
                        <a:rPr sz="1400">
                          <a:solidFill>
                            <a:srgbClr val="2C3E50"/>
                          </a:solidFill>
                          <a:latin typeface="Arial"/>
                        </a:rPr>
                        <a:t>January</a:t>
                      </a:r>
                    </a:p>
                  </a:txBody>
                  <a:tcPr/>
                </a:tc>
                <a:tc>
                  <a:txBody>
                    <a:bodyPr wrap="square"/>
                    <a:lstStyle/>
                    <a:p>
                      <a:r>
                        <a:rPr sz="1400">
                          <a:solidFill>
                            <a:srgbClr val="2C3E50"/>
                          </a:solidFill>
                          <a:latin typeface="Arial"/>
                        </a:rPr>
                        <a:t>245</a:t>
                      </a:r>
                    </a:p>
                  </a:txBody>
                  <a:tcPr/>
                </a:tc>
                <a:tc>
                  <a:txBody>
                    <a:bodyPr wrap="square"/>
                    <a:lstStyle/>
                    <a:p>
                      <a:r>
                        <a:rPr sz="1400">
                          <a:solidFill>
                            <a:srgbClr val="2C3E50"/>
                          </a:solidFill>
                          <a:latin typeface="Arial"/>
                        </a:rPr>
                        <a:t>Within expected range</a:t>
                      </a:r>
                    </a:p>
                  </a:txBody>
                  <a:tcPr/>
                </a:tc>
              </a:tr>
              <a:tr h="320040">
                <a:tc>
                  <a:txBody>
                    <a:bodyPr wrap="square"/>
                    <a:lstStyle/>
                    <a:p>
                      <a:r>
                        <a:rPr sz="1400">
                          <a:solidFill>
                            <a:srgbClr val="2C3E50"/>
                          </a:solidFill>
                          <a:latin typeface="Arial"/>
                        </a:rPr>
                        <a:t>February</a:t>
                      </a:r>
                    </a:p>
                  </a:txBody>
                  <a:tcPr/>
                </a:tc>
                <a:tc>
                  <a:txBody>
                    <a:bodyPr wrap="square"/>
                    <a:lstStyle/>
                    <a:p>
                      <a:r>
                        <a:rPr sz="1400">
                          <a:solidFill>
                            <a:srgbClr val="2C3E50"/>
                          </a:solidFill>
                          <a:latin typeface="Arial"/>
                        </a:rPr>
                        <a:t>267</a:t>
                      </a:r>
                    </a:p>
                  </a:txBody>
                  <a:tcPr/>
                </a:tc>
                <a:tc>
                  <a:txBody>
                    <a:bodyPr wrap="square"/>
                    <a:lstStyle/>
                    <a:p>
                      <a:r>
                        <a:rPr sz="1400">
                          <a:solidFill>
                            <a:srgbClr val="2C3E50"/>
                          </a:solidFill>
                          <a:latin typeface="Arial"/>
                        </a:rPr>
                        <a:t>Within expected range</a:t>
                      </a:r>
                    </a:p>
                  </a:txBody>
                  <a:tcPr/>
                </a:tc>
              </a:tr>
              <a:tr h="320040">
                <a:tc>
                  <a:txBody>
                    <a:bodyPr wrap="square"/>
                    <a:lstStyle/>
                    <a:p>
                      <a:r>
                        <a:rPr sz="1400" b="1">
                          <a:solidFill>
                            <a:srgbClr val="2C3E50"/>
                          </a:solidFill>
                          <a:latin typeface="Arial"/>
                        </a:rPr>
                        <a:t>March</a:t>
                      </a:r>
                    </a:p>
                  </a:txBody>
                  <a:tcPr/>
                </a:tc>
                <a:tc>
                  <a:txBody>
                    <a:bodyPr wrap="square"/>
                    <a:lstStyle/>
                    <a:p>
                      <a:r>
                        <a:rPr sz="1400" b="1">
                          <a:solidFill>
                            <a:srgbClr val="2C3E50"/>
                          </a:solidFill>
                          <a:latin typeface="Arial"/>
                        </a:rPr>
                        <a:t>2,890</a:t>
                      </a:r>
                    </a:p>
                  </a:txBody>
                  <a:tcPr/>
                </a:tc>
                <a:tc>
                  <a:txBody>
                    <a:bodyPr wrap="square"/>
                    <a:lstStyle/>
                    <a:p>
                      <a:r>
                        <a:rPr sz="1400" b="1">
                          <a:solidFill>
                            <a:srgbClr val="2C3E50"/>
                          </a:solidFill>
                          <a:latin typeface="Arial"/>
                        </a:rPr>
                        <a:t>Outlier</a:t>
                      </a:r>
                    </a:p>
                  </a:txBody>
                  <a:tcPr/>
                </a:tc>
              </a:tr>
              <a:tr h="320040">
                <a:tc>
                  <a:txBody>
                    <a:bodyPr wrap="square"/>
                    <a:lstStyle/>
                    <a:p>
                      <a:r>
                        <a:rPr sz="1400">
                          <a:solidFill>
                            <a:srgbClr val="2C3E50"/>
                          </a:solidFill>
                          <a:latin typeface="Arial"/>
                        </a:rPr>
                        <a:t>April</a:t>
                      </a:r>
                    </a:p>
                  </a:txBody>
                  <a:tcPr/>
                </a:tc>
                <a:tc>
                  <a:txBody>
                    <a:bodyPr wrap="square"/>
                    <a:lstStyle/>
                    <a:p>
                      <a:r>
                        <a:rPr sz="1400">
                          <a:solidFill>
                            <a:srgbClr val="2C3E50"/>
                          </a:solidFill>
                          <a:latin typeface="Arial"/>
                        </a:rPr>
                        <a:t>256</a:t>
                      </a:r>
                    </a:p>
                  </a:txBody>
                  <a:tcPr/>
                </a:tc>
                <a:tc>
                  <a:txBody>
                    <a:bodyPr wrap="square"/>
                    <a:lstStyle/>
                    <a:p>
                      <a:r>
                        <a:rPr sz="1400">
                          <a:solidFill>
                            <a:srgbClr val="2C3E50"/>
                          </a:solidFill>
                          <a:latin typeface="Arial"/>
                        </a:rPr>
                        <a:t>Within expected range</a:t>
                      </a:r>
                    </a:p>
                  </a:txBody>
                  <a:tcPr/>
                </a:tc>
              </a:tr>
            </a:tbl>
          </a:graphicData>
        </a:graphic>
      </p:graphicFrame>
      <p:sp>
        <p:nvSpPr>
          <p:cNvPr id="6" name="TextBox 5"/>
          <p:cNvSpPr txBox="1"/>
          <p:nvPr/>
        </p:nvSpPr>
        <p:spPr>
          <a:xfrm>
            <a:off x="457200" y="3611880"/>
            <a:ext cx="11277295" cy="2286000"/>
          </a:xfrm>
          <a:prstGeom prst="rect">
            <a:avLst/>
          </a:prstGeom>
          <a:noFill/>
        </p:spPr>
        <p:txBody>
          <a:bodyPr wrap="square">
            <a:spAutoFit/>
          </a:bodyPr>
          <a:lstStyle/>
          <a:p>
            <a:pPr>
              <a:spcAft>
                <a:spcPts val="600"/>
              </a:spcAft>
            </a:pPr>
            <a:r>
              <a:rPr sz="1600" b="1">
                <a:solidFill>
                  <a:srgbClr val="2C3E50"/>
                </a:solidFill>
                <a:latin typeface="Arial"/>
              </a:rPr>
              <a:t>Probable cause:</a:t>
            </a:r>
            <a:r>
              <a:rPr sz="1600">
                <a:solidFill>
                  <a:srgbClr val="2C3E50"/>
                </a:solidFill>
                <a:latin typeface="Arial"/>
              </a:rPr>
              <a:t> Data entry error (e.g., "2890" entered instead of "289")</a:t>
            </a:r>
          </a:p>
          <a:p>
            <a:pPr>
              <a:spcAft>
                <a:spcPts val="600"/>
              </a:spcAft>
            </a:pPr>
            <a:r>
              <a:rPr sz="1600" b="1">
                <a:solidFill>
                  <a:srgbClr val="2C3E50"/>
                </a:solidFill>
                <a:latin typeface="Arial"/>
              </a:rPr>
              <a:t>Analytical impact:</a:t>
            </a:r>
            <a:r>
              <a:rPr sz="1600">
                <a:solidFill>
                  <a:srgbClr val="2C3E50"/>
                </a:solidFill>
                <a:latin typeface="Arial"/>
              </a:rPr>
              <a:t> Without adjustment, the data would indicate an erroneous increase in malaria testing during March.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Outlier prevalence: FASTR output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Assessing relationships between indicators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Related health services demonstrate predictable relationships that can be used to assess data quality. FASTR evaluates the following indicator pairs:</a:t>
            </a:r>
          </a:p>
        </p:txBody>
      </p:sp>
      <p:graphicFrame>
        <p:nvGraphicFramePr>
          <p:cNvPr id="5" name="Table 4"/>
          <p:cNvGraphicFramePr>
            <a:graphicFrameLocks noGrp="1"/>
          </p:cNvGraphicFramePr>
          <p:nvPr/>
        </p:nvGraphicFramePr>
        <p:xfrm>
          <a:off x="457200" y="1828800"/>
          <a:ext cx="11247119" cy="1280160"/>
        </p:xfrm>
        <a:graphic>
          <a:graphicData uri="http://schemas.openxmlformats.org/drawingml/2006/table">
            <a:tbl>
              <a:tblPr firstRow="1" bandRow="1">
                <a:tableStyleId>{5C22544A-7EE6-4342-B048-85BDC9FD1C3A}</a:tableStyleId>
              </a:tblPr>
              <a:tblGrid>
                <a:gridCol w="2999232"/>
                <a:gridCol w="3200942"/>
                <a:gridCol w="5046945"/>
              </a:tblGrid>
              <a:tr h="320040">
                <a:tc>
                  <a:txBody>
                    <a:bodyPr wrap="square"/>
                    <a:lstStyle/>
                    <a:p>
                      <a:pPr>
                        <a:defRPr sz="1400" b="1">
                          <a:solidFill>
                            <a:srgbClr val="21568C"/>
                          </a:solidFill>
                          <a:latin typeface="Arial"/>
                        </a:defRPr>
                      </a:pPr>
                      <a:r>
                        <a:t>Indicator pair</a:t>
                      </a:r>
                    </a:p>
                  </a:txBody>
                  <a:tcPr>
                    <a:solidFill>
                      <a:srgbClr val="CAE6E9"/>
                    </a:solidFill>
                  </a:tcPr>
                </a:tc>
                <a:tc>
                  <a:txBody>
                    <a:bodyPr wrap="square"/>
                    <a:lstStyle/>
                    <a:p>
                      <a:pPr>
                        <a:defRPr sz="1400" b="1">
                          <a:solidFill>
                            <a:srgbClr val="21568C"/>
                          </a:solidFill>
                          <a:latin typeface="Arial"/>
                        </a:defRPr>
                      </a:pPr>
                      <a:r>
                        <a:t>Expected relationship</a:t>
                      </a:r>
                    </a:p>
                  </a:txBody>
                  <a:tcPr>
                    <a:solidFill>
                      <a:srgbClr val="CAE6E9"/>
                    </a:solidFill>
                  </a:tcPr>
                </a:tc>
                <a:tc>
                  <a:txBody>
                    <a:bodyPr wrap="square"/>
                    <a:lstStyle/>
                    <a:p>
                      <a:pPr>
                        <a:defRPr sz="1400" b="1">
                          <a:solidFill>
                            <a:srgbClr val="21568C"/>
                          </a:solidFill>
                          <a:latin typeface="Arial"/>
                        </a:defRPr>
                      </a:pPr>
                      <a:r>
                        <a:t>Rationale</a:t>
                      </a:r>
                    </a:p>
                  </a:txBody>
                  <a:tcPr>
                    <a:solidFill>
                      <a:srgbClr val="CAE6E9"/>
                    </a:solidFill>
                  </a:tcPr>
                </a:tc>
              </a:tr>
              <a:tr h="320040">
                <a:tc>
                  <a:txBody>
                    <a:bodyPr wrap="square"/>
                    <a:lstStyle/>
                    <a:p>
                      <a:r>
                        <a:rPr sz="1400">
                          <a:solidFill>
                            <a:srgbClr val="2C3E50"/>
                          </a:solidFill>
                          <a:latin typeface="Arial"/>
                        </a:rPr>
                        <a:t>ANC1 / ANC4</a:t>
                      </a:r>
                    </a:p>
                  </a:txBody>
                  <a:tcPr/>
                </a:tc>
                <a:tc>
                  <a:txBody>
                    <a:bodyPr wrap="square"/>
                    <a:lstStyle/>
                    <a:p>
                      <a:r>
                        <a:rPr sz="1400">
                          <a:solidFill>
                            <a:srgbClr val="2C3E50"/>
                          </a:solidFill>
                          <a:latin typeface="Arial"/>
                        </a:rPr>
                        <a:t>ANC1 ≥ ANC4</a:t>
                      </a:r>
                    </a:p>
                  </a:txBody>
                  <a:tcPr/>
                </a:tc>
                <a:tc>
                  <a:txBody>
                    <a:bodyPr wrap="square"/>
                    <a:lstStyle/>
                    <a:p>
                      <a:r>
                        <a:rPr sz="1400">
                          <a:solidFill>
                            <a:srgbClr val="2C3E50"/>
                          </a:solidFill>
                          <a:latin typeface="Arial"/>
                        </a:rPr>
                        <a:t>More women initiate antenatal care than complete four visits</a:t>
                      </a:r>
                    </a:p>
                  </a:txBody>
                  <a:tcPr/>
                </a:tc>
              </a:tr>
              <a:tr h="320040">
                <a:tc>
                  <a:txBody>
                    <a:bodyPr wrap="square"/>
                    <a:lstStyle/>
                    <a:p>
                      <a:r>
                        <a:rPr sz="1400">
                          <a:solidFill>
                            <a:srgbClr val="2C3E50"/>
                          </a:solidFill>
                          <a:latin typeface="Arial"/>
                        </a:rPr>
                        <a:t>Penta1 / Penta3</a:t>
                      </a:r>
                    </a:p>
                  </a:txBody>
                  <a:tcPr/>
                </a:tc>
                <a:tc>
                  <a:txBody>
                    <a:bodyPr wrap="square"/>
                    <a:lstStyle/>
                    <a:p>
                      <a:r>
                        <a:rPr sz="1400">
                          <a:solidFill>
                            <a:srgbClr val="2C3E50"/>
                          </a:solidFill>
                          <a:latin typeface="Arial"/>
                        </a:rPr>
                        <a:t>Penta1 ≥ Penta3</a:t>
                      </a:r>
                    </a:p>
                  </a:txBody>
                  <a:tcPr/>
                </a:tc>
                <a:tc>
                  <a:txBody>
                    <a:bodyPr wrap="square"/>
                    <a:lstStyle/>
                    <a:p>
                      <a:r>
                        <a:rPr sz="1400">
                          <a:solidFill>
                            <a:srgbClr val="2C3E50"/>
                          </a:solidFill>
                          <a:latin typeface="Arial"/>
                        </a:rPr>
                        <a:t>More children receive the first dose than complete the series</a:t>
                      </a:r>
                    </a:p>
                  </a:txBody>
                  <a:tcPr/>
                </a:tc>
              </a:tr>
              <a:tr h="320040">
                <a:tc>
                  <a:txBody>
                    <a:bodyPr wrap="square"/>
                    <a:lstStyle/>
                    <a:p>
                      <a:r>
                        <a:rPr sz="1400">
                          <a:solidFill>
                            <a:srgbClr val="2C3E50"/>
                          </a:solidFill>
                          <a:latin typeface="Arial"/>
                        </a:rPr>
                        <a:t>BCG / Deliveries</a:t>
                      </a:r>
                    </a:p>
                  </a:txBody>
                  <a:tcPr/>
                </a:tc>
                <a:tc>
                  <a:txBody>
                    <a:bodyPr wrap="square"/>
                    <a:lstStyle/>
                    <a:p>
                      <a:r>
                        <a:rPr sz="1400">
                          <a:solidFill>
                            <a:srgbClr val="2C3E50"/>
                          </a:solidFill>
                          <a:latin typeface="Arial"/>
                        </a:rPr>
                        <a:t>BCG ≈ Deliveries</a:t>
                      </a:r>
                    </a:p>
                  </a:txBody>
                  <a:tcPr/>
                </a:tc>
                <a:tc>
                  <a:txBody>
                    <a:bodyPr wrap="square"/>
                    <a:lstStyle/>
                    <a:p>
                      <a:r>
                        <a:rPr sz="1400">
                          <a:solidFill>
                            <a:srgbClr val="2C3E50"/>
                          </a:solidFill>
                          <a:latin typeface="Arial"/>
                        </a:rPr>
                        <a:t>BCG is administered at birth; counts should be similar</a:t>
                      </a:r>
                    </a:p>
                  </a:txBody>
                  <a:tcPr/>
                </a:tc>
              </a:tr>
            </a:tbl>
          </a:graphicData>
        </a:graphic>
      </p:graphicFrame>
      <p:sp>
        <p:nvSpPr>
          <p:cNvPr id="6" name="TextBox 5"/>
          <p:cNvSpPr txBox="1"/>
          <p:nvPr/>
        </p:nvSpPr>
        <p:spPr>
          <a:xfrm>
            <a:off x="457200" y="3291840"/>
            <a:ext cx="11277295" cy="2286000"/>
          </a:xfrm>
          <a:prstGeom prst="rect">
            <a:avLst/>
          </a:prstGeom>
          <a:noFill/>
        </p:spPr>
        <p:txBody>
          <a:bodyPr wrap="square">
            <a:spAutoFit/>
          </a:bodyPr>
          <a:lstStyle/>
          <a:p>
            <a:pPr>
              <a:spcAft>
                <a:spcPts val="600"/>
              </a:spcAft>
            </a:pPr>
            <a:r>
              <a:rPr sz="1600">
                <a:solidFill>
                  <a:srgbClr val="2C3E50"/>
                </a:solidFill>
                <a:latin typeface="Arial"/>
              </a:rPr>
              <a:t>Violations of these expected relationships indicate potential data quality issues requiring investigation.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Why assess consistency at district level?</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303520" cy="5029200"/>
          </a:xfrm>
          <a:prstGeom prst="rect">
            <a:avLst/>
          </a:prstGeom>
          <a:noFill/>
        </p:spPr>
        <p:txBody>
          <a:bodyPr wrap="square">
            <a:spAutoFit/>
          </a:bodyPr>
          <a:lstStyle/>
          <a:p>
            <a:pPr>
              <a:spcAft>
                <a:spcPts val="1000"/>
              </a:spcAft>
            </a:pPr>
            <a:r>
              <a:rPr sz="1600">
                <a:solidFill>
                  <a:srgbClr val="333333"/>
                </a:solidFill>
                <a:latin typeface="Arial"/>
              </a:rPr>
              <a:t>Patients often access different services at different facilities within a district:</a:t>
            </a:r>
          </a:p>
          <a:p>
            <a:pPr>
              <a:spcAft>
                <a:spcPts val="400"/>
              </a:spcAft>
            </a:pPr>
            <a:r>
              <a:rPr sz="1600">
                <a:solidFill>
                  <a:srgbClr val="2C3E50"/>
                </a:solidFill>
                <a:latin typeface="Arial"/>
              </a:rPr>
              <a:t>• A woman may attend </a:t>
            </a:r>
            <a:r>
              <a:rPr sz="1600" b="1">
                <a:solidFill>
                  <a:srgbClr val="2C3E50"/>
                </a:solidFill>
                <a:latin typeface="Arial"/>
              </a:rPr>
              <a:t>ANC1</a:t>
            </a:r>
            <a:r>
              <a:rPr sz="1600">
                <a:solidFill>
                  <a:srgbClr val="2C3E50"/>
                </a:solidFill>
                <a:latin typeface="Arial"/>
              </a:rPr>
              <a:t> at a nearby health post, but travel to a health centre for </a:t>
            </a:r>
            <a:r>
              <a:rPr sz="1600" b="1">
                <a:solidFill>
                  <a:srgbClr val="2C3E50"/>
                </a:solidFill>
                <a:latin typeface="Arial"/>
              </a:rPr>
              <a:t>ANC4</a:t>
            </a:r>
          </a:p>
          <a:p>
            <a:pPr>
              <a:spcAft>
                <a:spcPts val="400"/>
              </a:spcAft>
            </a:pPr>
            <a:r>
              <a:rPr sz="1600">
                <a:solidFill>
                  <a:srgbClr val="2C3E50"/>
                </a:solidFill>
                <a:latin typeface="Arial"/>
              </a:rPr>
              <a:t>• A child may receive </a:t>
            </a:r>
            <a:r>
              <a:rPr sz="1600" b="1">
                <a:solidFill>
                  <a:srgbClr val="2C3E50"/>
                </a:solidFill>
                <a:latin typeface="Arial"/>
              </a:rPr>
              <a:t>Penta1</a:t>
            </a:r>
            <a:r>
              <a:rPr sz="1600">
                <a:solidFill>
                  <a:srgbClr val="2C3E50"/>
                </a:solidFill>
                <a:latin typeface="Arial"/>
              </a:rPr>
              <a:t> at a local clinic, but complete </a:t>
            </a:r>
            <a:r>
              <a:rPr sz="1600" b="1">
                <a:solidFill>
                  <a:srgbClr val="2C3E50"/>
                </a:solidFill>
                <a:latin typeface="Arial"/>
              </a:rPr>
              <a:t>Penta3</a:t>
            </a:r>
            <a:r>
              <a:rPr sz="1600">
                <a:solidFill>
                  <a:srgbClr val="2C3E50"/>
                </a:solidFill>
                <a:latin typeface="Arial"/>
              </a:rPr>
              <a:t> at a district hospital</a:t>
            </a:r>
          </a:p>
          <a:p>
            <a:pPr>
              <a:spcAft>
                <a:spcPts val="1000"/>
              </a:spcAft>
            </a:pPr>
            <a:r>
              <a:rPr sz="1600">
                <a:solidFill>
                  <a:srgbClr val="333333"/>
                </a:solidFill>
                <a:latin typeface="Arial"/>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400800" y="1280160"/>
            <a:ext cx="5303520" cy="265176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Internal consistency: FASTR output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Calculating the overall quality score</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The composite score integrates all three data quality dimensions:</a:t>
            </a:r>
          </a:p>
          <a:p>
            <a:pPr>
              <a:spcAft>
                <a:spcPts val="400"/>
              </a:spcAft>
            </a:pPr>
            <a:r>
              <a:rPr sz="1600">
                <a:solidFill>
                  <a:srgbClr val="2C3E50"/>
                </a:solidFill>
                <a:latin typeface="Arial"/>
              </a:rPr>
              <a:t>• </a:t>
            </a:r>
            <a:r>
              <a:rPr sz="1600" b="1">
                <a:solidFill>
                  <a:srgbClr val="2C3E50"/>
                </a:solidFill>
                <a:latin typeface="Arial"/>
              </a:rPr>
              <a:t>Completeness:</a:t>
            </a:r>
            <a:r>
              <a:rPr sz="1600">
                <a:solidFill>
                  <a:srgbClr val="2C3E50"/>
                </a:solidFill>
                <a:latin typeface="Arial"/>
              </a:rPr>
              <a:t> Did the facility submit a report?</a:t>
            </a:r>
          </a:p>
          <a:p>
            <a:pPr>
              <a:spcAft>
                <a:spcPts val="400"/>
              </a:spcAft>
            </a:pPr>
            <a:r>
              <a:rPr sz="1600">
                <a:solidFill>
                  <a:srgbClr val="2C3E50"/>
                </a:solidFill>
                <a:latin typeface="Arial"/>
              </a:rPr>
              <a:t>• </a:t>
            </a:r>
            <a:r>
              <a:rPr sz="1600" b="1">
                <a:solidFill>
                  <a:srgbClr val="2C3E50"/>
                </a:solidFill>
                <a:latin typeface="Arial"/>
              </a:rPr>
              <a:t>Outlier status:</a:t>
            </a:r>
            <a:r>
              <a:rPr sz="1600">
                <a:solidFill>
                  <a:srgbClr val="2C3E50"/>
                </a:solidFill>
                <a:latin typeface="Arial"/>
              </a:rPr>
              <a:t> Are reported values within plausible ranges?</a:t>
            </a:r>
          </a:p>
          <a:p>
            <a:pPr>
              <a:spcAft>
                <a:spcPts val="400"/>
              </a:spcAft>
            </a:pPr>
            <a:r>
              <a:rPr sz="1600">
                <a:solidFill>
                  <a:srgbClr val="2C3E50"/>
                </a:solidFill>
                <a:latin typeface="Arial"/>
              </a:rPr>
              <a:t>• </a:t>
            </a:r>
            <a:r>
              <a:rPr sz="1600" b="1">
                <a:solidFill>
                  <a:srgbClr val="2C3E50"/>
                </a:solidFill>
                <a:latin typeface="Arial"/>
              </a:rPr>
              <a:t>Consistency:</a:t>
            </a:r>
            <a:r>
              <a:rPr sz="1600">
                <a:solidFill>
                  <a:srgbClr val="2C3E50"/>
                </a:solidFill>
                <a:latin typeface="Arial"/>
              </a:rPr>
              <a:t> Do related indicators demonstrate expected relationships?</a:t>
            </a:r>
          </a:p>
          <a:p>
            <a:pPr>
              <a:spcAft>
                <a:spcPts val="1000"/>
              </a:spcAft>
            </a:pPr>
            <a:r>
              <a:rPr sz="1600" b="1">
                <a:solidFill>
                  <a:srgbClr val="333333"/>
                </a:solidFill>
                <a:latin typeface="Arial"/>
              </a:rPr>
              <a:t>Binary DQA score:</a:t>
            </a:r>
          </a:p>
          <a:p>
            <a:pPr>
              <a:spcAft>
                <a:spcPts val="400"/>
              </a:spcAft>
            </a:pPr>
            <a:r>
              <a:rPr sz="1600">
                <a:solidFill>
                  <a:srgbClr val="2C3E50"/>
                </a:solidFill>
                <a:latin typeface="Arial"/>
              </a:rPr>
              <a:t>• Score = 1 if all three criteria are satisfied</a:t>
            </a:r>
          </a:p>
          <a:p>
            <a:pPr>
              <a:spcAft>
                <a:spcPts val="400"/>
              </a:spcAft>
            </a:pPr>
            <a:r>
              <a:rPr sz="1600">
                <a:solidFill>
                  <a:srgbClr val="2C3E50"/>
                </a:solidFill>
                <a:latin typeface="Arial"/>
              </a:rPr>
              <a:t>• Score = 0 if any criterion is not met</a:t>
            </a:r>
          </a:p>
          <a:p>
            <a:pPr>
              <a:spcAft>
                <a:spcPts val="1000"/>
              </a:spcAft>
            </a:pPr>
            <a:r>
              <a:rPr sz="1600" b="1">
                <a:solidFill>
                  <a:srgbClr val="333333"/>
                </a:solidFill>
                <a:latin typeface="Arial"/>
              </a:rPr>
              <a:t>Mean DQA score:</a:t>
            </a:r>
            <a:r>
              <a:rPr sz="1600">
                <a:solidFill>
                  <a:srgbClr val="333333"/>
                </a:solidFill>
                <a:latin typeface="Arial"/>
              </a:rPr>
              <a:t> Weighted average of completeness-outlier score and consistency score</a:t>
            </a:r>
          </a:p>
          <a:p>
            <a:pPr>
              <a:spcAft>
                <a:spcPts val="1000"/>
              </a:spcAft>
            </a:pPr>
            <a:r>
              <a:rPr sz="1600" b="1">
                <a:solidFill>
                  <a:srgbClr val="333333"/>
                </a:solidFill>
                <a:latin typeface="Arial"/>
              </a:rPr>
              <a:t>Applications:</a:t>
            </a:r>
          </a:p>
          <a:p>
            <a:pPr>
              <a:spcAft>
                <a:spcPts val="400"/>
              </a:spcAft>
            </a:pPr>
            <a:r>
              <a:rPr sz="1600">
                <a:solidFill>
                  <a:srgbClr val="2C3E50"/>
                </a:solidFill>
                <a:latin typeface="Arial"/>
              </a:rPr>
              <a:t>• Inform decisions regarding data inclusion in analyses</a:t>
            </a:r>
          </a:p>
          <a:p>
            <a:pPr>
              <a:spcAft>
                <a:spcPts val="400"/>
              </a:spcAft>
            </a:pPr>
            <a:r>
              <a:rPr sz="1600">
                <a:solidFill>
                  <a:srgbClr val="2C3E50"/>
                </a:solidFill>
                <a:latin typeface="Arial"/>
              </a:rPr>
              <a:t>• Identify facilities requiring targeted data quality support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Overall DQA score: FASTR output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Mean DQA score: FASTR output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Rationale for data quality adjustment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Routine HMIS data contain two common limitations that can distort analytical results:</a:t>
            </a:r>
          </a:p>
        </p:txBody>
      </p:sp>
      <p:graphicFrame>
        <p:nvGraphicFramePr>
          <p:cNvPr id="5" name="Table 4"/>
          <p:cNvGraphicFramePr>
            <a:graphicFrameLocks noGrp="1"/>
          </p:cNvGraphicFramePr>
          <p:nvPr/>
        </p:nvGraphicFramePr>
        <p:xfrm>
          <a:off x="4572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Arial"/>
                        </a:defRPr>
                      </a:pPr>
                      <a:r>
                        <a:t>Issue</a:t>
                      </a:r>
                    </a:p>
                  </a:txBody>
                  <a:tcPr>
                    <a:solidFill>
                      <a:srgbClr val="CAE6E9"/>
                    </a:solidFill>
                  </a:tcPr>
                </a:tc>
                <a:tc>
                  <a:txBody>
                    <a:bodyPr wrap="square"/>
                    <a:lstStyle/>
                    <a:p>
                      <a:pPr>
                        <a:defRPr sz="1400" b="1">
                          <a:solidFill>
                            <a:srgbClr val="21568C"/>
                          </a:solidFill>
                          <a:latin typeface="Arial"/>
                        </a:defRPr>
                      </a:pPr>
                      <a:r>
                        <a:t>Impact on analysis</a:t>
                      </a:r>
                    </a:p>
                  </a:txBody>
                  <a:tcPr>
                    <a:solidFill>
                      <a:srgbClr val="CAE6E9"/>
                    </a:solidFill>
                  </a:tcPr>
                </a:tc>
              </a:tr>
              <a:tr h="320040">
                <a:tc>
                  <a:txBody>
                    <a:bodyPr wrap="square"/>
                    <a:lstStyle/>
                    <a:p>
                      <a:r>
                        <a:rPr sz="1400" b="1">
                          <a:solidFill>
                            <a:srgbClr val="2C3E50"/>
                          </a:solidFill>
                          <a:latin typeface="Arial"/>
                        </a:rPr>
                        <a:t>Outliers</a:t>
                      </a:r>
                    </a:p>
                  </a:txBody>
                  <a:tcPr/>
                </a:tc>
                <a:tc>
                  <a:txBody>
                    <a:bodyPr wrap="square"/>
                    <a:lstStyle/>
                    <a:p>
                      <a:r>
                        <a:rPr sz="1400">
                          <a:solidFill>
                            <a:srgbClr val="2C3E50"/>
                          </a:solidFill>
                          <a:latin typeface="Arial"/>
                        </a:rPr>
                        <a:t>Extreme values create artificial spikes in service volumes</a:t>
                      </a:r>
                    </a:p>
                  </a:txBody>
                  <a:tcPr/>
                </a:tc>
              </a:tr>
              <a:tr h="320040">
                <a:tc>
                  <a:txBody>
                    <a:bodyPr wrap="square"/>
                    <a:lstStyle/>
                    <a:p>
                      <a:r>
                        <a:rPr sz="1400" b="1">
                          <a:solidFill>
                            <a:srgbClr val="2C3E50"/>
                          </a:solidFill>
                          <a:latin typeface="Arial"/>
                        </a:rPr>
                        <a:t>Incomplete reporting</a:t>
                      </a:r>
                    </a:p>
                  </a:txBody>
                  <a:tcPr/>
                </a:tc>
                <a:tc>
                  <a:txBody>
                    <a:bodyPr wrap="square"/>
                    <a:lstStyle/>
                    <a:p>
                      <a:r>
                        <a:rPr sz="1400">
                          <a:solidFill>
                            <a:srgbClr val="2C3E50"/>
                          </a:solidFill>
                          <a:latin typeface="Arial"/>
                        </a:rPr>
                        <a:t>Missing data creates artificial declines that do not reflect actual service delivery</a:t>
                      </a:r>
                    </a:p>
                  </a:txBody>
                  <a:tcPr/>
                </a:tc>
              </a:tr>
            </a:tbl>
          </a:graphicData>
        </a:graphic>
      </p:graphicFrame>
      <p:sp>
        <p:nvSpPr>
          <p:cNvPr id="6" name="TextBox 5"/>
          <p:cNvSpPr txBox="1"/>
          <p:nvPr/>
        </p:nvSpPr>
        <p:spPr>
          <a:xfrm>
            <a:off x="457200" y="2971800"/>
            <a:ext cx="11277295" cy="2286000"/>
          </a:xfrm>
          <a:prstGeom prst="rect">
            <a:avLst/>
          </a:prstGeom>
          <a:noFill/>
        </p:spPr>
        <p:txBody>
          <a:bodyPr wrap="square">
            <a:spAutoFit/>
          </a:bodyPr>
          <a:lstStyle/>
          <a:p>
            <a:pPr>
              <a:spcAft>
                <a:spcPts val="600"/>
              </a:spcAft>
            </a:pPr>
            <a:r>
              <a:rPr sz="1600">
                <a:solidFill>
                  <a:srgbClr val="2C3E50"/>
                </a:solidFill>
                <a:latin typeface="Arial"/>
              </a:rPr>
              <a:t>FASTR addresses these limitations by replacing problematic values with estimates derived from each facility's historical reporting patterns.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Adjustment scenarios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To support transparency and sensitivity analysis, FASTR produces four parallel datasets:</a:t>
            </a:r>
          </a:p>
        </p:txBody>
      </p:sp>
      <p:graphicFrame>
        <p:nvGraphicFramePr>
          <p:cNvPr id="5" name="Table 4"/>
          <p:cNvGraphicFramePr>
            <a:graphicFrameLocks noGrp="1"/>
          </p:cNvGraphicFramePr>
          <p:nvPr/>
        </p:nvGraphicFramePr>
        <p:xfrm>
          <a:off x="4572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Arial"/>
                        </a:defRPr>
                      </a:pPr>
                      <a:r>
                        <a:t>Scenario</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b="1">
                          <a:solidFill>
                            <a:srgbClr val="2C3E50"/>
                          </a:solidFill>
                          <a:latin typeface="Arial"/>
                        </a:rPr>
                        <a:t>Unadjusted</a:t>
                      </a:r>
                    </a:p>
                  </a:txBody>
                  <a:tcPr/>
                </a:tc>
                <a:tc>
                  <a:txBody>
                    <a:bodyPr wrap="square"/>
                    <a:lstStyle/>
                    <a:p>
                      <a:r>
                        <a:rPr sz="1400">
                          <a:solidFill>
                            <a:srgbClr val="2C3E50"/>
                          </a:solidFill>
                          <a:latin typeface="Arial"/>
                        </a:rPr>
                        <a:t>Original reported values</a:t>
                      </a:r>
                    </a:p>
                  </a:txBody>
                  <a:tcPr/>
                </a:tc>
              </a:tr>
              <a:tr h="320040">
                <a:tc>
                  <a:txBody>
                    <a:bodyPr wrap="square"/>
                    <a:lstStyle/>
                    <a:p>
                      <a:r>
                        <a:rPr sz="1400" b="1">
                          <a:solidFill>
                            <a:srgbClr val="2C3E50"/>
                          </a:solidFill>
                          <a:latin typeface="Arial"/>
                        </a:rPr>
                        <a:t>Outliers adjusted</a:t>
                      </a:r>
                    </a:p>
                  </a:txBody>
                  <a:tcPr/>
                </a:tc>
                <a:tc>
                  <a:txBody>
                    <a:bodyPr wrap="square"/>
                    <a:lstStyle/>
                    <a:p>
                      <a:r>
                        <a:rPr sz="1400">
                          <a:solidFill>
                            <a:srgbClr val="2C3E50"/>
                          </a:solidFill>
                          <a:latin typeface="Arial"/>
                        </a:rPr>
                        <a:t>Extreme values replaced</a:t>
                      </a:r>
                    </a:p>
                  </a:txBody>
                  <a:tcPr/>
                </a:tc>
              </a:tr>
              <a:tr h="320040">
                <a:tc>
                  <a:txBody>
                    <a:bodyPr wrap="square"/>
                    <a:lstStyle/>
                    <a:p>
                      <a:r>
                        <a:rPr sz="1400" b="1">
                          <a:solidFill>
                            <a:srgbClr val="2C3E50"/>
                          </a:solidFill>
                          <a:latin typeface="Arial"/>
                        </a:rPr>
                        <a:t>Completeness adjusted</a:t>
                      </a:r>
                    </a:p>
                  </a:txBody>
                  <a:tcPr/>
                </a:tc>
                <a:tc>
                  <a:txBody>
                    <a:bodyPr wrap="square"/>
                    <a:lstStyle/>
                    <a:p>
                      <a:r>
                        <a:rPr sz="1400">
                          <a:solidFill>
                            <a:srgbClr val="2C3E50"/>
                          </a:solidFill>
                          <a:latin typeface="Arial"/>
                        </a:rPr>
                        <a:t>Missing values imputed</a:t>
                      </a:r>
                    </a:p>
                  </a:txBody>
                  <a:tcPr/>
                </a:tc>
              </a:tr>
              <a:tr h="320040">
                <a:tc>
                  <a:txBody>
                    <a:bodyPr wrap="square"/>
                    <a:lstStyle/>
                    <a:p>
                      <a:r>
                        <a:rPr sz="1400" b="1">
                          <a:solidFill>
                            <a:srgbClr val="2C3E50"/>
                          </a:solidFill>
                          <a:latin typeface="Arial"/>
                        </a:rPr>
                        <a:t>Both adjusted</a:t>
                      </a:r>
                    </a:p>
                  </a:txBody>
                  <a:tcPr/>
                </a:tc>
                <a:tc>
                  <a:txBody>
                    <a:bodyPr wrap="square"/>
                    <a:lstStyle/>
                    <a:p>
                      <a:r>
                        <a:rPr sz="1400">
                          <a:solidFill>
                            <a:srgbClr val="2C3E50"/>
                          </a:solidFill>
                          <a:latin typeface="Arial"/>
                        </a:rPr>
                        <a:t>All corrections applied</a:t>
                      </a:r>
                    </a:p>
                  </a:txBody>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Indicators excluded from adjustment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Certain indicators are excluded from the adjustment process:</a:t>
            </a:r>
          </a:p>
          <a:p>
            <a:pPr>
              <a:spcAft>
                <a:spcPts val="400"/>
              </a:spcAft>
            </a:pPr>
            <a:r>
              <a:rPr sz="1600">
                <a:solidFill>
                  <a:srgbClr val="2C3E50"/>
                </a:solidFill>
                <a:latin typeface="Arial"/>
              </a:rPr>
              <a:t>• </a:t>
            </a:r>
            <a:r>
              <a:rPr sz="1600" b="1">
                <a:solidFill>
                  <a:srgbClr val="2C3E50"/>
                </a:solidFill>
                <a:latin typeface="Arial"/>
              </a:rPr>
              <a:t>Mortality indicators</a:t>
            </a:r>
            <a:r>
              <a:rPr sz="1600">
                <a:solidFill>
                  <a:srgbClr val="2C3E50"/>
                </a:solidFill>
                <a:latin typeface="Arial"/>
              </a:rPr>
              <a:t> (maternal deaths, neonatal deaths, under-5 deaths): These represent discrete events where smoothing or imputation is not appropriate</a:t>
            </a:r>
          </a:p>
          <a:p>
            <a:pPr>
              <a:spcAft>
                <a:spcPts val="400"/>
              </a:spcAft>
            </a:pPr>
            <a:r>
              <a:rPr sz="1600">
                <a:solidFill>
                  <a:srgbClr val="2C3E50"/>
                </a:solidFill>
                <a:latin typeface="Arial"/>
              </a:rPr>
              <a:t>• </a:t>
            </a:r>
            <a:r>
              <a:rPr sz="1600" b="1">
                <a:solidFill>
                  <a:srgbClr val="2C3E50"/>
                </a:solidFill>
                <a:latin typeface="Arial"/>
              </a:rPr>
              <a:t>Low-volume indicators</a:t>
            </a:r>
            <a:r>
              <a:rPr sz="1600">
                <a:solidFill>
                  <a:srgbClr val="2C3E50"/>
                </a:solidFill>
                <a:latin typeface="Arial"/>
              </a:rPr>
              <a:t>: Indicators that never exceed 100 reported events in any month are excluded from outlier adjustment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Service utilization analysis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Analysis of health service delivery patterns to detect and quantify changes in service volumes over 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Objectives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1. Measure changes in service volume</a:t>
            </a:r>
          </a:p>
          <a:p>
            <a:pPr>
              <a:spcAft>
                <a:spcPts val="1000"/>
              </a:spcAft>
            </a:pPr>
            <a:r>
              <a:rPr sz="1600">
                <a:solidFill>
                  <a:srgbClr val="333333"/>
                </a:solidFill>
                <a:latin typeface="Arial"/>
              </a:rPr>
              <a:t>Year-over-year comparison of service volumes identifies increases or decreases across regions and indicators.</a:t>
            </a:r>
          </a:p>
          <a:p>
            <a:pPr>
              <a:spcAft>
                <a:spcPts val="1000"/>
              </a:spcAft>
            </a:pPr>
            <a:r>
              <a:rPr sz="1600" b="1">
                <a:solidFill>
                  <a:srgbClr val="333333"/>
                </a:solidFill>
                <a:latin typeface="Arial"/>
              </a:rPr>
              <a:t>2. Detect and quantify disruptions</a:t>
            </a:r>
          </a:p>
          <a:p>
            <a:pPr>
              <a:spcAft>
                <a:spcPts val="1000"/>
              </a:spcAft>
            </a:pPr>
            <a:r>
              <a:rPr sz="1600">
                <a:solidFill>
                  <a:srgbClr val="333333"/>
                </a:solidFill>
                <a:latin typeface="Arial"/>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Year-over-year change</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Year-over-year percent change</a:t>
            </a:r>
            <a:r>
              <a:rPr sz="1600">
                <a:solidFill>
                  <a:srgbClr val="333333"/>
                </a:solidFill>
                <a:latin typeface="Arial"/>
              </a:rPr>
              <a:t> quantifies shifts in service delivery between consecutive years.</a:t>
            </a:r>
          </a:p>
          <a:p>
            <a:pPr>
              <a:spcAft>
                <a:spcPts val="1000"/>
              </a:spcAft>
            </a:pPr>
            <a:r>
              <a:rPr sz="1600">
                <a:solidFill>
                  <a:srgbClr val="333333"/>
                </a:solidFill>
                <a:latin typeface="Arial"/>
              </a:rPr>
              <a:t>For each indicator and region, total volume in the current year is compared to the previous year:</a:t>
            </a:r>
          </a:p>
          <a:p>
            <a:pPr>
              <a:spcAft>
                <a:spcPts val="1000"/>
              </a:spcAft>
            </a:pPr>
            <a:r>
              <a:rPr sz="1600">
                <a:solidFill>
                  <a:srgbClr val="333333"/>
                </a:solidFill>
                <a:latin typeface="Arial"/>
              </a:rPr>
              <a:t>$$\text{Percent change} = \frac{\text{Current year} - \text{Previous year}}{\text{Previous year}} \times 100$$</a:t>
            </a:r>
          </a:p>
          <a:p>
            <a:pPr>
              <a:spcAft>
                <a:spcPts val="1000"/>
              </a:spcAft>
            </a:pPr>
            <a:r>
              <a:rPr sz="1600">
                <a:solidFill>
                  <a:srgbClr val="333333"/>
                </a:solidFill>
                <a:latin typeface="Arial"/>
              </a:rPr>
              <a:t>Changes exceeding </a:t>
            </a:r>
            <a:r>
              <a:rPr sz="1600" b="1">
                <a:solidFill>
                  <a:srgbClr val="333333"/>
                </a:solidFill>
                <a:latin typeface="Arial"/>
              </a:rPr>
              <a:t>±10%</a:t>
            </a:r>
            <a:r>
              <a:rPr sz="1600">
                <a:solidFill>
                  <a:srgbClr val="333333"/>
                </a:solidFill>
                <a:latin typeface="Arial"/>
              </a:rPr>
              <a:t> are flagged for review.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Output: Change in service volume</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468983"/>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Interpretation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9" cy="960120"/>
        </p:xfrm>
        <a:graphic>
          <a:graphicData uri="http://schemas.openxmlformats.org/drawingml/2006/table">
            <a:tbl>
              <a:tblPr firstRow="1" bandRow="1">
                <a:tableStyleId>{5C22544A-7EE6-4342-B048-85BDC9FD1C3A}</a:tableStyleId>
              </a:tblPr>
              <a:tblGrid>
                <a:gridCol w="4395784"/>
                <a:gridCol w="6851335"/>
              </a:tblGrid>
              <a:tr h="320040">
                <a:tc>
                  <a:txBody>
                    <a:bodyPr wrap="square"/>
                    <a:lstStyle/>
                    <a:p>
                      <a:pPr>
                        <a:defRPr sz="1400" b="1">
                          <a:solidFill>
                            <a:srgbClr val="21568C"/>
                          </a:solidFill>
                          <a:latin typeface="Arial"/>
                        </a:defRPr>
                      </a:pPr>
                      <a:r>
                        <a:t>Element</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b="1">
                          <a:solidFill>
                            <a:srgbClr val="2C3E50"/>
                          </a:solidFill>
                          <a:latin typeface="Arial"/>
                        </a:rPr>
                        <a:t>Bars</a:t>
                      </a:r>
                    </a:p>
                  </a:txBody>
                  <a:tcPr/>
                </a:tc>
                <a:tc>
                  <a:txBody>
                    <a:bodyPr wrap="square"/>
                    <a:lstStyle/>
                    <a:p>
                      <a:r>
                        <a:rPr sz="1400">
                          <a:solidFill>
                            <a:srgbClr val="2C3E50"/>
                          </a:solidFill>
                          <a:latin typeface="Arial"/>
                        </a:rPr>
                        <a:t>Annual service volumes by region</a:t>
                      </a:r>
                    </a:p>
                  </a:txBody>
                  <a:tcPr/>
                </a:tc>
              </a:tr>
              <a:tr h="320040">
                <a:tc>
                  <a:txBody>
                    <a:bodyPr wrap="square"/>
                    <a:lstStyle/>
                    <a:p>
                      <a:r>
                        <a:rPr sz="1400" b="1">
                          <a:solidFill>
                            <a:srgbClr val="2C3E50"/>
                          </a:solidFill>
                          <a:latin typeface="Arial"/>
                        </a:rPr>
                        <a:t>Percentages</a:t>
                      </a:r>
                    </a:p>
                  </a:txBody>
                  <a:tcPr/>
                </a:tc>
                <a:tc>
                  <a:txBody>
                    <a:bodyPr wrap="square"/>
                    <a:lstStyle/>
                    <a:p>
                      <a:r>
                        <a:rPr sz="1400">
                          <a:solidFill>
                            <a:srgbClr val="2C3E50"/>
                          </a:solidFill>
                          <a:latin typeface="Arial"/>
                        </a:rPr>
                        <a:t>Year-over-year change annotations</a:t>
                      </a:r>
                    </a:p>
                  </a:txBody>
                  <a:tcPr/>
                </a:tc>
              </a:tr>
            </a:tbl>
          </a:graphicData>
        </a:graphic>
      </p:graphicFrame>
      <p:sp>
        <p:nvSpPr>
          <p:cNvPr id="5" name="TextBox 4"/>
          <p:cNvSpPr txBox="1"/>
          <p:nvPr/>
        </p:nvSpPr>
        <p:spPr>
          <a:xfrm>
            <a:off x="457200" y="2240280"/>
            <a:ext cx="11277295" cy="2286000"/>
          </a:xfrm>
          <a:prstGeom prst="rect">
            <a:avLst/>
          </a:prstGeom>
          <a:noFill/>
        </p:spPr>
        <p:txBody>
          <a:bodyPr wrap="square">
            <a:spAutoFit/>
          </a:bodyPr>
          <a:lstStyle/>
          <a:p>
            <a:pPr>
              <a:spcAft>
                <a:spcPts val="600"/>
              </a:spcAft>
            </a:pPr>
            <a:r>
              <a:rPr sz="1600" b="1">
                <a:solidFill>
                  <a:srgbClr val="2C3E50"/>
                </a:solidFill>
                <a:latin typeface="Arial"/>
              </a:rPr>
              <a:t>Key considerations:</a:t>
            </a:r>
          </a:p>
          <a:p>
            <a:pPr>
              <a:spcAft>
                <a:spcPts val="600"/>
              </a:spcAft>
            </a:pPr>
            <a:r>
              <a:rPr sz="1600">
                <a:solidFill>
                  <a:srgbClr val="2C3E50"/>
                </a:solidFill>
                <a:latin typeface="Arial"/>
              </a:rPr>
              <a:t>Which regions exhibit the largest changes?</a:t>
            </a:r>
          </a:p>
          <a:p>
            <a:pPr>
              <a:spcAft>
                <a:spcPts val="600"/>
              </a:spcAft>
            </a:pPr>
            <a:r>
              <a:rPr sz="1600">
                <a:solidFill>
                  <a:srgbClr val="2C3E50"/>
                </a:solidFill>
                <a:latin typeface="Arial"/>
              </a:rPr>
              <a:t>Are changes consistent across regions or geographically concentrated?</a:t>
            </a:r>
          </a:p>
          <a:p>
            <a:pPr>
              <a:spcAft>
                <a:spcPts val="600"/>
              </a:spcAft>
            </a:pPr>
            <a:r>
              <a:rPr sz="1600">
                <a:solidFill>
                  <a:srgbClr val="2C3E50"/>
                </a:solidFill>
                <a:latin typeface="Arial"/>
              </a:rPr>
              <a:t>Do patterns vary by indicator?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Disruption detection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The analysis identifies periods where service delivery deviates significantly from expected levels using a two-stage approach:</a:t>
            </a:r>
          </a:p>
        </p:txBody>
      </p:sp>
      <p:graphicFrame>
        <p:nvGraphicFramePr>
          <p:cNvPr id="5" name="Table 4"/>
          <p:cNvGraphicFramePr>
            <a:graphicFrameLocks noGrp="1"/>
          </p:cNvGraphicFramePr>
          <p:nvPr/>
        </p:nvGraphicFramePr>
        <p:xfrm>
          <a:off x="457200" y="1828800"/>
          <a:ext cx="11247119" cy="960120"/>
        </p:xfrm>
        <a:graphic>
          <a:graphicData uri="http://schemas.openxmlformats.org/drawingml/2006/table">
            <a:tbl>
              <a:tblPr firstRow="1" bandRow="1">
                <a:tableStyleId>{5C22544A-7EE6-4342-B048-85BDC9FD1C3A}</a:tableStyleId>
              </a:tblPr>
              <a:tblGrid>
                <a:gridCol w="3589894"/>
                <a:gridCol w="3699937"/>
                <a:gridCol w="3957288"/>
              </a:tblGrid>
              <a:tr h="320040">
                <a:tc>
                  <a:txBody>
                    <a:bodyPr wrap="square"/>
                    <a:lstStyle/>
                    <a:p>
                      <a:pPr>
                        <a:defRPr sz="1400" b="1">
                          <a:solidFill>
                            <a:srgbClr val="21568C"/>
                          </a:solidFill>
                          <a:latin typeface="Arial"/>
                        </a:defRPr>
                      </a:pPr>
                      <a:r>
                        <a:t>Stage</a:t>
                      </a:r>
                    </a:p>
                  </a:txBody>
                  <a:tcPr>
                    <a:solidFill>
                      <a:srgbClr val="CAE6E9"/>
                    </a:solidFill>
                  </a:tcPr>
                </a:tc>
                <a:tc>
                  <a:txBody>
                    <a:bodyPr wrap="square"/>
                    <a:lstStyle/>
                    <a:p>
                      <a:pPr>
                        <a:defRPr sz="1400" b="1">
                          <a:solidFill>
                            <a:srgbClr val="21568C"/>
                          </a:solidFill>
                          <a:latin typeface="Arial"/>
                        </a:defRPr>
                      </a:pPr>
                      <a:r>
                        <a:t>Method</a:t>
                      </a:r>
                    </a:p>
                  </a:txBody>
                  <a:tcPr>
                    <a:solidFill>
                      <a:srgbClr val="CAE6E9"/>
                    </a:solidFill>
                  </a:tcPr>
                </a:tc>
                <a:tc>
                  <a:txBody>
                    <a:bodyPr wrap="square"/>
                    <a:lstStyle/>
                    <a:p>
                      <a:pPr>
                        <a:defRPr sz="1400" b="1">
                          <a:solidFill>
                            <a:srgbClr val="21568C"/>
                          </a:solidFill>
                          <a:latin typeface="Arial"/>
                        </a:defRPr>
                      </a:pPr>
                      <a:r>
                        <a:t>Purpose</a:t>
                      </a:r>
                    </a:p>
                  </a:txBody>
                  <a:tcPr>
                    <a:solidFill>
                      <a:srgbClr val="CAE6E9"/>
                    </a:solidFill>
                  </a:tcPr>
                </a:tc>
              </a:tr>
              <a:tr h="320040">
                <a:tc>
                  <a:txBody>
                    <a:bodyPr wrap="square"/>
                    <a:lstStyle/>
                    <a:p>
                      <a:r>
                        <a:rPr sz="1400" b="1">
                          <a:solidFill>
                            <a:srgbClr val="2C3E50"/>
                          </a:solidFill>
                          <a:latin typeface="Arial"/>
                        </a:rPr>
                        <a:t>1. Control chart analysis</a:t>
                      </a:r>
                    </a:p>
                  </a:txBody>
                  <a:tcPr/>
                </a:tc>
                <a:tc>
                  <a:txBody>
                    <a:bodyPr wrap="square"/>
                    <a:lstStyle/>
                    <a:p>
                      <a:r>
                        <a:rPr sz="1400">
                          <a:solidFill>
                            <a:srgbClr val="2C3E50"/>
                          </a:solidFill>
                          <a:latin typeface="Arial"/>
                        </a:rPr>
                        <a:t>Statistical process control</a:t>
                      </a:r>
                    </a:p>
                  </a:txBody>
                  <a:tcPr/>
                </a:tc>
                <a:tc>
                  <a:txBody>
                    <a:bodyPr wrap="square"/>
                    <a:lstStyle/>
                    <a:p>
                      <a:r>
                        <a:rPr sz="1400">
                          <a:solidFill>
                            <a:srgbClr val="2C3E50"/>
                          </a:solidFill>
                          <a:latin typeface="Arial"/>
                        </a:rPr>
                        <a:t>Identify when disruptions occur</a:t>
                      </a:r>
                    </a:p>
                  </a:txBody>
                  <a:tcPr/>
                </a:tc>
              </a:tr>
              <a:tr h="320040">
                <a:tc>
                  <a:txBody>
                    <a:bodyPr wrap="square"/>
                    <a:lstStyle/>
                    <a:p>
                      <a:r>
                        <a:rPr sz="1400" b="1">
                          <a:solidFill>
                            <a:srgbClr val="2C3E50"/>
                          </a:solidFill>
                          <a:latin typeface="Arial"/>
                        </a:rPr>
                        <a:t>2. Regression analysis</a:t>
                      </a:r>
                    </a:p>
                  </a:txBody>
                  <a:tcPr/>
                </a:tc>
                <a:tc>
                  <a:txBody>
                    <a:bodyPr wrap="square"/>
                    <a:lstStyle/>
                    <a:p>
                      <a:r>
                        <a:rPr sz="1400">
                          <a:solidFill>
                            <a:srgbClr val="2C3E50"/>
                          </a:solidFill>
                          <a:latin typeface="Arial"/>
                        </a:rPr>
                        <a:t>Panel regression models</a:t>
                      </a:r>
                    </a:p>
                  </a:txBody>
                  <a:tcPr/>
                </a:tc>
                <a:tc>
                  <a:txBody>
                    <a:bodyPr wrap="square"/>
                    <a:lstStyle/>
                    <a:p>
                      <a:r>
                        <a:rPr sz="1400">
                          <a:solidFill>
                            <a:srgbClr val="2C3E50"/>
                          </a:solidFill>
                          <a:latin typeface="Arial"/>
                        </a:rPr>
                        <a:t>Quantify disruption magnitude</a:t>
                      </a:r>
                    </a:p>
                  </a:txBody>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Expected service volume</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Expected volume is modeled using two components:</a:t>
            </a:r>
          </a:p>
        </p:txBody>
      </p:sp>
      <p:graphicFrame>
        <p:nvGraphicFramePr>
          <p:cNvPr id="5" name="Table 4"/>
          <p:cNvGraphicFramePr>
            <a:graphicFrameLocks noGrp="1"/>
          </p:cNvGraphicFramePr>
          <p:nvPr/>
        </p:nvGraphicFramePr>
        <p:xfrm>
          <a:off x="457200" y="1828800"/>
          <a:ext cx="11247119" cy="960120"/>
        </p:xfrm>
        <a:graphic>
          <a:graphicData uri="http://schemas.openxmlformats.org/drawingml/2006/table">
            <a:tbl>
              <a:tblPr firstRow="1" bandRow="1">
                <a:tableStyleId>{5C22544A-7EE6-4342-B048-85BDC9FD1C3A}</a:tableStyleId>
              </a:tblPr>
              <a:tblGrid>
                <a:gridCol w="3613640"/>
                <a:gridCol w="7633479"/>
              </a:tblGrid>
              <a:tr h="320040">
                <a:tc>
                  <a:txBody>
                    <a:bodyPr wrap="square"/>
                    <a:lstStyle/>
                    <a:p>
                      <a:pPr>
                        <a:defRPr sz="1400" b="1">
                          <a:solidFill>
                            <a:srgbClr val="21568C"/>
                          </a:solidFill>
                          <a:latin typeface="Arial"/>
                        </a:defRPr>
                      </a:pPr>
                      <a:r>
                        <a:t>Component</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b="1">
                          <a:solidFill>
                            <a:srgbClr val="2C3E50"/>
                          </a:solidFill>
                          <a:latin typeface="Arial"/>
                        </a:rPr>
                        <a:t>Trend</a:t>
                      </a:r>
                    </a:p>
                  </a:txBody>
                  <a:tcPr/>
                </a:tc>
                <a:tc>
                  <a:txBody>
                    <a:bodyPr wrap="square"/>
                    <a:lstStyle/>
                    <a:p>
                      <a:r>
                        <a:rPr sz="1400">
                          <a:solidFill>
                            <a:srgbClr val="2C3E50"/>
                          </a:solidFill>
                          <a:latin typeface="Arial"/>
                        </a:rPr>
                        <a:t>Long-term direction (increasing, decreasing, or stable)</a:t>
                      </a:r>
                    </a:p>
                  </a:txBody>
                  <a:tcPr/>
                </a:tc>
              </a:tr>
              <a:tr h="320040">
                <a:tc>
                  <a:txBody>
                    <a:bodyPr wrap="square"/>
                    <a:lstStyle/>
                    <a:p>
                      <a:r>
                        <a:rPr sz="1400" b="1">
                          <a:solidFill>
                            <a:srgbClr val="2C3E50"/>
                          </a:solidFill>
                          <a:latin typeface="Arial"/>
                        </a:rPr>
                        <a:t>Seasonality</a:t>
                      </a:r>
                    </a:p>
                  </a:txBody>
                  <a:tcPr/>
                </a:tc>
                <a:tc>
                  <a:txBody>
                    <a:bodyPr wrap="square"/>
                    <a:lstStyle/>
                    <a:p>
                      <a:r>
                        <a:rPr sz="1400">
                          <a:solidFill>
                            <a:srgbClr val="2C3E50"/>
                          </a:solidFill>
                          <a:latin typeface="Arial"/>
                        </a:rPr>
                        <a:t>Predictable monthly patterns (e.g., increased malaria cases during rainy season)</a:t>
                      </a:r>
                    </a:p>
                  </a:txBody>
                  <a:tcPr/>
                </a:tc>
              </a:tr>
            </a:tbl>
          </a:graphicData>
        </a:graphic>
      </p:graphicFrame>
      <p:sp>
        <p:nvSpPr>
          <p:cNvPr id="6" name="TextBox 5"/>
          <p:cNvSpPr txBox="1"/>
          <p:nvPr/>
        </p:nvSpPr>
        <p:spPr>
          <a:xfrm>
            <a:off x="457200" y="2971800"/>
            <a:ext cx="11277295" cy="2286000"/>
          </a:xfrm>
          <a:prstGeom prst="rect">
            <a:avLst/>
          </a:prstGeom>
          <a:noFill/>
        </p:spPr>
        <p:txBody>
          <a:bodyPr wrap="square">
            <a:spAutoFit/>
          </a:bodyPr>
          <a:lstStyle/>
          <a:p>
            <a:pPr>
              <a:spcAft>
                <a:spcPts val="600"/>
              </a:spcAft>
            </a:pPr>
            <a:r>
              <a:rPr sz="1600">
                <a:solidFill>
                  <a:srgbClr val="2C3E50"/>
                </a:solidFill>
                <a:latin typeface="Arial"/>
              </a:rPr>
              <a:t>The model estimates expected volume for each month based on historical patterns. Significant deviations from expected values are flagged as potential disruptions.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Shortfalls and surpluses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303520" cy="5029200"/>
          </a:xfrm>
          <a:prstGeom prst="rect">
            <a:avLst/>
          </a:prstGeom>
          <a:noFill/>
        </p:spPr>
        <p:txBody>
          <a:bodyPr wrap="square">
            <a:spAutoFit/>
          </a:bodyPr>
          <a:lstStyle/>
          <a:p>
            <a:pPr>
              <a:spcAft>
                <a:spcPts val="1000"/>
              </a:spcAft>
            </a:pPr>
            <a:r>
              <a:rPr sz="1600">
                <a:solidFill>
                  <a:srgbClr val="333333"/>
                </a:solidFill>
                <a:latin typeface="Arial"/>
              </a:rPr>
              <a:t>| Comparison | Interpretation |</a:t>
            </a:r>
          </a:p>
          <a:p>
            <a:pPr>
              <a:spcAft>
                <a:spcPts val="1000"/>
              </a:spcAft>
            </a:pPr>
            <a:r>
              <a:rPr sz="1600">
                <a:solidFill>
                  <a:srgbClr val="333333"/>
                </a:solidFill>
                <a:latin typeface="Arial"/>
              </a:rPr>
              <a:t>|------------|----------------|</a:t>
            </a:r>
          </a:p>
          <a:p>
            <a:pPr>
              <a:spcAft>
                <a:spcPts val="1000"/>
              </a:spcAft>
            </a:pPr>
            <a:r>
              <a:rPr sz="1600">
                <a:solidFill>
                  <a:srgbClr val="333333"/>
                </a:solidFill>
                <a:latin typeface="Arial"/>
              </a:rPr>
              <a:t>| </a:t>
            </a:r>
            <a:r>
              <a:rPr sz="1600" b="1">
                <a:solidFill>
                  <a:srgbClr val="333333"/>
                </a:solidFill>
                <a:latin typeface="Arial"/>
              </a:rPr>
              <a:t>Actual = Expected</a:t>
            </a:r>
            <a:r>
              <a:rPr sz="1600">
                <a:solidFill>
                  <a:srgbClr val="333333"/>
                </a:solidFill>
                <a:latin typeface="Arial"/>
              </a:rPr>
              <a:t> | Services delivered as anticipated |</a:t>
            </a:r>
          </a:p>
          <a:p>
            <a:pPr>
              <a:spcAft>
                <a:spcPts val="1000"/>
              </a:spcAft>
            </a:pPr>
            <a:r>
              <a:rPr sz="1600">
                <a:solidFill>
                  <a:srgbClr val="333333"/>
                </a:solidFill>
                <a:latin typeface="Arial"/>
              </a:rPr>
              <a:t>| </a:t>
            </a:r>
            <a:r>
              <a:rPr sz="1600" b="1">
                <a:solidFill>
                  <a:srgbClr val="333333"/>
                </a:solidFill>
                <a:latin typeface="Arial"/>
              </a:rPr>
              <a:t>Actual &lt; Expected</a:t>
            </a:r>
            <a:r>
              <a:rPr sz="1600">
                <a:solidFill>
                  <a:srgbClr val="333333"/>
                </a:solidFill>
                <a:latin typeface="Arial"/>
              </a:rPr>
              <a:t> | Shortfall: fewer services than expected |</a:t>
            </a:r>
          </a:p>
          <a:p>
            <a:pPr>
              <a:spcAft>
                <a:spcPts val="1000"/>
              </a:spcAft>
            </a:pPr>
            <a:r>
              <a:rPr sz="1600">
                <a:solidFill>
                  <a:srgbClr val="333333"/>
                </a:solidFill>
                <a:latin typeface="Arial"/>
              </a:rPr>
              <a:t>| </a:t>
            </a:r>
            <a:r>
              <a:rPr sz="1600" b="1">
                <a:solidFill>
                  <a:srgbClr val="333333"/>
                </a:solidFill>
                <a:latin typeface="Arial"/>
              </a:rPr>
              <a:t>Actual &gt; Expected</a:t>
            </a:r>
            <a:r>
              <a:rPr sz="1600">
                <a:solidFill>
                  <a:srgbClr val="333333"/>
                </a:solidFill>
                <a:latin typeface="Arial"/>
              </a:rPr>
              <a:t> | Surplus: more services than expected |</a:t>
            </a:r>
          </a:p>
          <a:p>
            <a:pPr>
              <a:spcAft>
                <a:spcPts val="1000"/>
              </a:spcAft>
            </a:pPr>
            <a:r>
              <a:rPr sz="1600">
                <a:solidFill>
                  <a:srgbClr val="333333"/>
                </a:solidFill>
                <a:latin typeface="Arial"/>
              </a:rPr>
              <a:t>Surpluses may indicate catch-up campaigns, outreach activities, or reporting changes.</a:t>
            </a:r>
          </a:p>
        </p:txBody>
      </p:sp>
      <p:pic>
        <p:nvPicPr>
          <p:cNvPr id="5" name="Picture 4" descr="Module3_2_Actual_vs_expected_national.png"/>
          <p:cNvPicPr>
            <a:picLocks noChangeAspect="1"/>
          </p:cNvPicPr>
          <p:nvPr/>
        </p:nvPicPr>
        <p:blipFill>
          <a:blip r:embed="rId2"/>
          <a:stretch>
            <a:fillRect/>
          </a:stretch>
        </p:blipFill>
        <p:spPr>
          <a:xfrm>
            <a:off x="6400800" y="1280160"/>
            <a:ext cx="5303520" cy="317201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Chart interpretation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9" cy="1280160"/>
        </p:xfrm>
        <a:graphic>
          <a:graphicData uri="http://schemas.openxmlformats.org/drawingml/2006/table">
            <a:tbl>
              <a:tblPr firstRow="1" bandRow="1">
                <a:tableStyleId>{5C22544A-7EE6-4342-B048-85BDC9FD1C3A}</a:tableStyleId>
              </a:tblPr>
              <a:tblGrid>
                <a:gridCol w="4646413"/>
                <a:gridCol w="6600706"/>
              </a:tblGrid>
              <a:tr h="320040">
                <a:tc>
                  <a:txBody>
                    <a:bodyPr wrap="square"/>
                    <a:lstStyle/>
                    <a:p>
                      <a:pPr>
                        <a:defRPr sz="1400" b="1">
                          <a:solidFill>
                            <a:srgbClr val="21568C"/>
                          </a:solidFill>
                          <a:latin typeface="Arial"/>
                        </a:defRPr>
                      </a:pPr>
                      <a:r>
                        <a:t>Element</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b="1">
                          <a:solidFill>
                            <a:srgbClr val="2C3E50"/>
                          </a:solidFill>
                          <a:latin typeface="Arial"/>
                        </a:rPr>
                        <a:t>Black line</a:t>
                      </a:r>
                    </a:p>
                  </a:txBody>
                  <a:tcPr/>
                </a:tc>
                <a:tc>
                  <a:txBody>
                    <a:bodyPr wrap="square"/>
                    <a:lstStyle/>
                    <a:p>
                      <a:r>
                        <a:rPr sz="1400">
                          <a:solidFill>
                            <a:srgbClr val="2C3E50"/>
                          </a:solidFill>
                          <a:latin typeface="Arial"/>
                        </a:rPr>
                        <a:t>Actual (observed) service volumes</a:t>
                      </a:r>
                    </a:p>
                  </a:txBody>
                  <a:tcPr/>
                </a:tc>
              </a:tr>
              <a:tr h="320040">
                <a:tc>
                  <a:txBody>
                    <a:bodyPr wrap="square"/>
                    <a:lstStyle/>
                    <a:p>
                      <a:r>
                        <a:rPr sz="1400" b="1">
                          <a:solidFill>
                            <a:srgbClr val="2C3E50"/>
                          </a:solidFill>
                          <a:latin typeface="Arial"/>
                        </a:rPr>
                        <a:t>Red shaded areas</a:t>
                      </a:r>
                    </a:p>
                  </a:txBody>
                  <a:tcPr/>
                </a:tc>
                <a:tc>
                  <a:txBody>
                    <a:bodyPr wrap="square"/>
                    <a:lstStyle/>
                    <a:p>
                      <a:r>
                        <a:rPr sz="1400">
                          <a:solidFill>
                            <a:srgbClr val="2C3E50"/>
                          </a:solidFill>
                          <a:latin typeface="Arial"/>
                        </a:rPr>
                        <a:t>Shortfall periods (actual below expected)</a:t>
                      </a:r>
                    </a:p>
                  </a:txBody>
                  <a:tcPr/>
                </a:tc>
              </a:tr>
              <a:tr h="320040">
                <a:tc>
                  <a:txBody>
                    <a:bodyPr wrap="square"/>
                    <a:lstStyle/>
                    <a:p>
                      <a:r>
                        <a:rPr sz="1400" b="1">
                          <a:solidFill>
                            <a:srgbClr val="2C3E50"/>
                          </a:solidFill>
                          <a:latin typeface="Arial"/>
                        </a:rPr>
                        <a:t>Green shaded areas</a:t>
                      </a:r>
                    </a:p>
                  </a:txBody>
                  <a:tcPr/>
                </a:tc>
                <a:tc>
                  <a:txBody>
                    <a:bodyPr wrap="square"/>
                    <a:lstStyle/>
                    <a:p>
                      <a:r>
                        <a:rPr sz="1400">
                          <a:solidFill>
                            <a:srgbClr val="2C3E50"/>
                          </a:solidFill>
                          <a:latin typeface="Arial"/>
                        </a:rPr>
                        <a:t>Surplus periods (actual above expected)</a:t>
                      </a:r>
                    </a:p>
                  </a:txBody>
                  <a:tcPr/>
                </a:tc>
              </a:tr>
            </a:tbl>
          </a:graphicData>
        </a:graphic>
      </p:graphicFrame>
      <p:sp>
        <p:nvSpPr>
          <p:cNvPr id="5" name="TextBox 4"/>
          <p:cNvSpPr txBox="1"/>
          <p:nvPr/>
        </p:nvSpPr>
        <p:spPr>
          <a:xfrm>
            <a:off x="457200" y="2560320"/>
            <a:ext cx="11277295" cy="2286000"/>
          </a:xfrm>
          <a:prstGeom prst="rect">
            <a:avLst/>
          </a:prstGeom>
          <a:noFill/>
        </p:spPr>
        <p:txBody>
          <a:bodyPr wrap="square">
            <a:spAutoFit/>
          </a:bodyPr>
          <a:lstStyle/>
          <a:p>
            <a:pPr>
              <a:spcAft>
                <a:spcPts val="600"/>
              </a:spcAft>
            </a:pPr>
            <a:r>
              <a:rPr sz="1600">
                <a:solidFill>
                  <a:srgbClr val="2C3E50"/>
                </a:solidFill>
                <a:latin typeface="Arial"/>
              </a:rPr>
              <a:t>The magnitude of the shaded area corresponds to the scale of the disruption.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Output: Actual vs expected (national)</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457200" y="5303520"/>
            <a:ext cx="11277295" cy="1371600"/>
          </a:xfrm>
          <a:prstGeom prst="rect">
            <a:avLst/>
          </a:prstGeom>
          <a:noFill/>
        </p:spPr>
        <p:txBody>
          <a:bodyPr wrap="square">
            <a:spAutoFit/>
          </a:bodyPr>
          <a:lstStyle/>
          <a:p>
            <a:pPr>
              <a:spcAft>
                <a:spcPts val="600"/>
              </a:spcAft>
            </a:pPr>
            <a:r>
              <a:rPr sz="1600">
                <a:solidFill>
                  <a:srgbClr val="333333"/>
                </a:solidFill>
                <a:latin typeface="Arial"/>
              </a:rPr>
              <a:t>National-level comparison of observed service volumes against expected values derived from historical trends and seasonal patterns.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Output: Actual vs expected (subnational)</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457200" y="5303520"/>
            <a:ext cx="11277295" cy="1371600"/>
          </a:xfrm>
          <a:prstGeom prst="rect">
            <a:avLst/>
          </a:prstGeom>
          <a:noFill/>
        </p:spPr>
        <p:txBody>
          <a:bodyPr wrap="square">
            <a:spAutoFit/>
          </a:bodyPr>
          <a:lstStyle/>
          <a:p>
            <a:pPr>
              <a:spcAft>
                <a:spcPts val="600"/>
              </a:spcAft>
            </a:pPr>
            <a:r>
              <a:rPr sz="1600">
                <a:solidFill>
                  <a:srgbClr val="333333"/>
                </a:solidFill>
                <a:latin typeface="Arial"/>
              </a:rPr>
              <a:t>Subnational disaggregation enables identification of geographic areas where disruptions are concentrated.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Data quality adjustment scenarios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The analysis supports four data versions to assess sensitivity to adjustment assumptions:</a:t>
            </a:r>
          </a:p>
        </p:txBody>
      </p:sp>
      <p:graphicFrame>
        <p:nvGraphicFramePr>
          <p:cNvPr id="5" name="Table 4"/>
          <p:cNvGraphicFramePr>
            <a:graphicFrameLocks noGrp="1"/>
          </p:cNvGraphicFramePr>
          <p:nvPr/>
        </p:nvGraphicFramePr>
        <p:xfrm>
          <a:off x="457200" y="1828800"/>
          <a:ext cx="11247119" cy="1600200"/>
        </p:xfrm>
        <a:graphic>
          <a:graphicData uri="http://schemas.openxmlformats.org/drawingml/2006/table">
            <a:tbl>
              <a:tblPr firstRow="1" bandRow="1">
                <a:tableStyleId>{5C22544A-7EE6-4342-B048-85BDC9FD1C3A}</a:tableStyleId>
              </a:tblPr>
              <a:tblGrid>
                <a:gridCol w="4943668"/>
                <a:gridCol w="6303451"/>
              </a:tblGrid>
              <a:tr h="320040">
                <a:tc>
                  <a:txBody>
                    <a:bodyPr wrap="square"/>
                    <a:lstStyle/>
                    <a:p>
                      <a:pPr>
                        <a:defRPr sz="1400" b="1">
                          <a:solidFill>
                            <a:srgbClr val="21568C"/>
                          </a:solidFill>
                          <a:latin typeface="Arial"/>
                        </a:defRPr>
                      </a:pPr>
                      <a:r>
                        <a:t>Scenario</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b="1">
                          <a:solidFill>
                            <a:srgbClr val="2C3E50"/>
                          </a:solidFill>
                          <a:latin typeface="Arial"/>
                        </a:rPr>
                        <a:t>No adjustment</a:t>
                      </a:r>
                    </a:p>
                  </a:txBody>
                  <a:tcPr/>
                </a:tc>
                <a:tc>
                  <a:txBody>
                    <a:bodyPr wrap="square"/>
                    <a:lstStyle/>
                    <a:p>
                      <a:r>
                        <a:rPr sz="1400">
                          <a:solidFill>
                            <a:srgbClr val="2C3E50"/>
                          </a:solidFill>
                          <a:latin typeface="Arial"/>
                        </a:rPr>
                        <a:t>Raw reported values</a:t>
                      </a:r>
                    </a:p>
                  </a:txBody>
                  <a:tcPr/>
                </a:tc>
              </a:tr>
              <a:tr h="320040">
                <a:tc>
                  <a:txBody>
                    <a:bodyPr wrap="square"/>
                    <a:lstStyle/>
                    <a:p>
                      <a:r>
                        <a:rPr sz="1400" b="1">
                          <a:solidFill>
                            <a:srgbClr val="2C3E50"/>
                          </a:solidFill>
                          <a:latin typeface="Arial"/>
                        </a:rPr>
                        <a:t>Outlier adjustment</a:t>
                      </a:r>
                    </a:p>
                  </a:txBody>
                  <a:tcPr/>
                </a:tc>
                <a:tc>
                  <a:txBody>
                    <a:bodyPr wrap="square"/>
                    <a:lstStyle/>
                    <a:p>
                      <a:r>
                        <a:rPr sz="1400">
                          <a:solidFill>
                            <a:srgbClr val="2C3E50"/>
                          </a:solidFill>
                          <a:latin typeface="Arial"/>
                        </a:rPr>
                        <a:t>Extreme values corrected</a:t>
                      </a:r>
                    </a:p>
                  </a:txBody>
                  <a:tcPr/>
                </a:tc>
              </a:tr>
              <a:tr h="320040">
                <a:tc>
                  <a:txBody>
                    <a:bodyPr wrap="square"/>
                    <a:lstStyle/>
                    <a:p>
                      <a:r>
                        <a:rPr sz="1400" b="1">
                          <a:solidFill>
                            <a:srgbClr val="2C3E50"/>
                          </a:solidFill>
                          <a:latin typeface="Arial"/>
                        </a:rPr>
                        <a:t>Completeness adjustment</a:t>
                      </a:r>
                    </a:p>
                  </a:txBody>
                  <a:tcPr/>
                </a:tc>
                <a:tc>
                  <a:txBody>
                    <a:bodyPr wrap="square"/>
                    <a:lstStyle/>
                    <a:p>
                      <a:r>
                        <a:rPr sz="1400">
                          <a:solidFill>
                            <a:srgbClr val="2C3E50"/>
                          </a:solidFill>
                          <a:latin typeface="Arial"/>
                        </a:rPr>
                        <a:t>Adjusted for missing facility reports</a:t>
                      </a:r>
                    </a:p>
                  </a:txBody>
                  <a:tcPr/>
                </a:tc>
              </a:tr>
              <a:tr h="320040">
                <a:tc>
                  <a:txBody>
                    <a:bodyPr wrap="square"/>
                    <a:lstStyle/>
                    <a:p>
                      <a:r>
                        <a:rPr sz="1400" b="1">
                          <a:solidFill>
                            <a:srgbClr val="2C3E50"/>
                          </a:solidFill>
                          <a:latin typeface="Arial"/>
                        </a:rPr>
                        <a:t>Both adjustments</a:t>
                      </a:r>
                    </a:p>
                  </a:txBody>
                  <a:tcPr/>
                </a:tc>
                <a:tc>
                  <a:txBody>
                    <a:bodyPr wrap="square"/>
                    <a:lstStyle/>
                    <a:p>
                      <a:r>
                        <a:rPr sz="1400">
                          <a:solidFill>
                            <a:srgbClr val="2C3E50"/>
                          </a:solidFill>
                          <a:latin typeface="Arial"/>
                        </a:rPr>
                        <a:t>Outlier and completeness adjustments applied</a:t>
                      </a:r>
                    </a:p>
                  </a:txBody>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Output: Volume by adjustment scenario</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4_Volume_change_adjustments.png"/>
          <p:cNvPicPr>
            <a:picLocks noChangeAspect="1"/>
          </p:cNvPicPr>
          <p:nvPr/>
        </p:nvPicPr>
        <p:blipFill>
          <a:blip r:embed="rId2"/>
          <a:stretch>
            <a:fillRect/>
          </a:stretch>
        </p:blipFill>
        <p:spPr>
          <a:xfrm>
            <a:off x="1523847" y="1371600"/>
            <a:ext cx="9144000" cy="5468983"/>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Rationale for scenario comparison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Comparison across adjustment scenarios addresses three questions:</a:t>
            </a:r>
          </a:p>
        </p:txBody>
      </p:sp>
      <p:graphicFrame>
        <p:nvGraphicFramePr>
          <p:cNvPr id="5" name="Table 4"/>
          <p:cNvGraphicFramePr>
            <a:graphicFrameLocks noGrp="1"/>
          </p:cNvGraphicFramePr>
          <p:nvPr/>
        </p:nvGraphicFramePr>
        <p:xfrm>
          <a:off x="457200" y="1828800"/>
          <a:ext cx="11247119" cy="1280160"/>
        </p:xfrm>
        <a:graphic>
          <a:graphicData uri="http://schemas.openxmlformats.org/drawingml/2006/table">
            <a:tbl>
              <a:tblPr firstRow="1" bandRow="1">
                <a:tableStyleId>{5C22544A-7EE6-4342-B048-85BDC9FD1C3A}</a:tableStyleId>
              </a:tblPr>
              <a:tblGrid>
                <a:gridCol w="5131243"/>
                <a:gridCol w="6115876"/>
              </a:tblGrid>
              <a:tr h="320040">
                <a:tc>
                  <a:txBody>
                    <a:bodyPr wrap="square"/>
                    <a:lstStyle/>
                    <a:p>
                      <a:pPr>
                        <a:defRPr sz="1400" b="1">
                          <a:solidFill>
                            <a:srgbClr val="21568C"/>
                          </a:solidFill>
                          <a:latin typeface="Arial"/>
                        </a:defRPr>
                      </a:pPr>
                      <a:r>
                        <a:t>Question</a:t>
                      </a:r>
                    </a:p>
                  </a:txBody>
                  <a:tcPr>
                    <a:solidFill>
                      <a:srgbClr val="CAE6E9"/>
                    </a:solidFill>
                  </a:tcPr>
                </a:tc>
                <a:tc>
                  <a:txBody>
                    <a:bodyPr wrap="square"/>
                    <a:lstStyle/>
                    <a:p>
                      <a:pPr>
                        <a:defRPr sz="1400" b="1">
                          <a:solidFill>
                            <a:srgbClr val="21568C"/>
                          </a:solidFill>
                          <a:latin typeface="Arial"/>
                        </a:defRPr>
                      </a:pPr>
                      <a:r>
                        <a:t>Implication</a:t>
                      </a:r>
                    </a:p>
                  </a:txBody>
                  <a:tcPr>
                    <a:solidFill>
                      <a:srgbClr val="CAE6E9"/>
                    </a:solidFill>
                  </a:tcPr>
                </a:tc>
              </a:tr>
              <a:tr h="320040">
                <a:tc>
                  <a:txBody>
                    <a:bodyPr wrap="square"/>
                    <a:lstStyle/>
                    <a:p>
                      <a:r>
                        <a:rPr sz="1400">
                          <a:solidFill>
                            <a:srgbClr val="2C3E50"/>
                          </a:solidFill>
                          <a:latin typeface="Arial"/>
                        </a:rPr>
                        <a:t>Do adjustments substantially change results?</a:t>
                      </a:r>
                    </a:p>
                  </a:txBody>
                  <a:tcPr/>
                </a:tc>
                <a:tc>
                  <a:txBody>
                    <a:bodyPr wrap="square"/>
                    <a:lstStyle/>
                    <a:p>
                      <a:r>
                        <a:rPr sz="1400">
                          <a:solidFill>
                            <a:srgbClr val="2C3E50"/>
                          </a:solidFill>
                          <a:latin typeface="Arial"/>
                        </a:rPr>
                        <a:t>If results are similar across scenarios, findings are robust</a:t>
                      </a:r>
                    </a:p>
                  </a:txBody>
                  <a:tcPr/>
                </a:tc>
              </a:tr>
              <a:tr h="320040">
                <a:tc>
                  <a:txBody>
                    <a:bodyPr wrap="square"/>
                    <a:lstStyle/>
                    <a:p>
                      <a:r>
                        <a:rPr sz="1400">
                          <a:solidFill>
                            <a:srgbClr val="2C3E50"/>
                          </a:solidFill>
                          <a:latin typeface="Arial"/>
                        </a:rPr>
                        <a:t>Which adjustment has greater impact?</a:t>
                      </a:r>
                    </a:p>
                  </a:txBody>
                  <a:tcPr/>
                </a:tc>
                <a:tc>
                  <a:txBody>
                    <a:bodyPr wrap="square"/>
                    <a:lstStyle/>
                    <a:p>
                      <a:r>
                        <a:rPr sz="1400">
                          <a:solidFill>
                            <a:srgbClr val="2C3E50"/>
                          </a:solidFill>
                          <a:latin typeface="Arial"/>
                        </a:rPr>
                        <a:t>Identifies whether completeness or outlier correction drives differences</a:t>
                      </a:r>
                    </a:p>
                  </a:txBody>
                  <a:tcPr/>
                </a:tc>
              </a:tr>
              <a:tr h="320040">
                <a:tc>
                  <a:txBody>
                    <a:bodyPr wrap="square"/>
                    <a:lstStyle/>
                    <a:p>
                      <a:r>
                        <a:rPr sz="1400">
                          <a:solidFill>
                            <a:srgbClr val="2C3E50"/>
                          </a:solidFill>
                          <a:latin typeface="Arial"/>
                        </a:rPr>
                        <a:t>Are conclusions sensitive to assumptions?</a:t>
                      </a:r>
                    </a:p>
                  </a:txBody>
                  <a:tcPr/>
                </a:tc>
                <a:tc>
                  <a:txBody>
                    <a:bodyPr wrap="square"/>
                    <a:lstStyle/>
                    <a:p>
                      <a:r>
                        <a:rPr sz="1400">
                          <a:solidFill>
                            <a:srgbClr val="2C3E50"/>
                          </a:solidFill>
                          <a:latin typeface="Arial"/>
                        </a:rPr>
                        <a:t>Informs confidence in interpretation</a:t>
                      </a:r>
                    </a:p>
                  </a:txBody>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Service coverage estimates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The Coverage Estimates module estimates health service coverage: the percentage of the target population that received a given health service.</a:t>
            </a:r>
          </a:p>
          <a:p>
            <a:pPr>
              <a:spcAft>
                <a:spcPts val="400"/>
              </a:spcAft>
            </a:pPr>
            <a:r>
              <a:rPr sz="1600" b="1">
                <a:solidFill>
                  <a:srgbClr val="2C3E50"/>
                </a:solidFill>
                <a:latin typeface="Arial"/>
              </a:rPr>
              <a:t>Data sources:</a:t>
            </a:r>
          </a:p>
        </p:txBody>
      </p:sp>
      <p:graphicFrame>
        <p:nvGraphicFramePr>
          <p:cNvPr id="5" name="Table 4"/>
          <p:cNvGraphicFramePr>
            <a:graphicFrameLocks noGrp="1"/>
          </p:cNvGraphicFramePr>
          <p:nvPr/>
        </p:nvGraphicFramePr>
        <p:xfrm>
          <a:off x="457200" y="1828800"/>
          <a:ext cx="11247119" cy="1280160"/>
        </p:xfrm>
        <a:graphic>
          <a:graphicData uri="http://schemas.openxmlformats.org/drawingml/2006/table">
            <a:tbl>
              <a:tblPr firstRow="1" bandRow="1">
                <a:tableStyleId>{5C22544A-7EE6-4342-B048-85BDC9FD1C3A}</a:tableStyleId>
              </a:tblPr>
              <a:tblGrid>
                <a:gridCol w="4333504"/>
                <a:gridCol w="6913615"/>
              </a:tblGrid>
              <a:tr h="320040">
                <a:tc>
                  <a:txBody>
                    <a:bodyPr wrap="square"/>
                    <a:lstStyle/>
                    <a:p>
                      <a:pPr>
                        <a:defRPr sz="1400" b="1">
                          <a:solidFill>
                            <a:srgbClr val="21568C"/>
                          </a:solidFill>
                          <a:latin typeface="Arial"/>
                        </a:defRPr>
                      </a:pPr>
                      <a:r>
                        <a:t>Source</a:t>
                      </a:r>
                    </a:p>
                  </a:txBody>
                  <a:tcPr>
                    <a:solidFill>
                      <a:srgbClr val="CAE6E9"/>
                    </a:solidFill>
                  </a:tcPr>
                </a:tc>
                <a:tc>
                  <a:txBody>
                    <a:bodyPr wrap="square"/>
                    <a:lstStyle/>
                    <a:p>
                      <a:pPr>
                        <a:defRPr sz="1400" b="1">
                          <a:solidFill>
                            <a:srgbClr val="21568C"/>
                          </a:solidFill>
                          <a:latin typeface="Arial"/>
                        </a:defRPr>
                      </a:pPr>
                      <a:r>
                        <a:t>Purpose</a:t>
                      </a:r>
                    </a:p>
                  </a:txBody>
                  <a:tcPr>
                    <a:solidFill>
                      <a:srgbClr val="CAE6E9"/>
                    </a:solidFill>
                  </a:tcPr>
                </a:tc>
              </a:tr>
              <a:tr h="320040">
                <a:tc>
                  <a:txBody>
                    <a:bodyPr wrap="square"/>
                    <a:lstStyle/>
                    <a:p>
                      <a:r>
                        <a:rPr sz="1400">
                          <a:solidFill>
                            <a:srgbClr val="2C3E50"/>
                          </a:solidFill>
                          <a:latin typeface="Arial"/>
                        </a:rPr>
                        <a:t>HMIS</a:t>
                      </a:r>
                    </a:p>
                  </a:txBody>
                  <a:tcPr/>
                </a:tc>
                <a:tc>
                  <a:txBody>
                    <a:bodyPr wrap="square"/>
                    <a:lstStyle/>
                    <a:p>
                      <a:r>
                        <a:rPr sz="1400">
                          <a:solidFill>
                            <a:srgbClr val="2C3E50"/>
                          </a:solidFill>
                          <a:latin typeface="Arial"/>
                        </a:rPr>
                        <a:t>Adjusted health service volumes</a:t>
                      </a:r>
                    </a:p>
                  </a:txBody>
                  <a:tcPr/>
                </a:tc>
              </a:tr>
              <a:tr h="320040">
                <a:tc>
                  <a:txBody>
                    <a:bodyPr wrap="square"/>
                    <a:lstStyle/>
                    <a:p>
                      <a:r>
                        <a:rPr sz="1400">
                          <a:solidFill>
                            <a:srgbClr val="2C3E50"/>
                          </a:solidFill>
                          <a:latin typeface="Arial"/>
                        </a:rPr>
                        <a:t>UN WPP</a:t>
                      </a:r>
                    </a:p>
                  </a:txBody>
                  <a:tcPr/>
                </a:tc>
                <a:tc>
                  <a:txBody>
                    <a:bodyPr wrap="square"/>
                    <a:lstStyle/>
                    <a:p>
                      <a:r>
                        <a:rPr sz="1400">
                          <a:solidFill>
                            <a:srgbClr val="2C3E50"/>
                          </a:solidFill>
                          <a:latin typeface="Arial"/>
                        </a:rPr>
                        <a:t>Population projections</a:t>
                      </a:r>
                    </a:p>
                  </a:txBody>
                  <a:tcPr/>
                </a:tc>
              </a:tr>
              <a:tr h="320040">
                <a:tc>
                  <a:txBody>
                    <a:bodyPr wrap="square"/>
                    <a:lstStyle/>
                    <a:p>
                      <a:r>
                        <a:rPr sz="1400">
                          <a:solidFill>
                            <a:srgbClr val="2C3E50"/>
                          </a:solidFill>
                          <a:latin typeface="Arial"/>
                        </a:rPr>
                        <a:t>DHS/MICS</a:t>
                      </a:r>
                    </a:p>
                  </a:txBody>
                  <a:tcPr/>
                </a:tc>
                <a:tc>
                  <a:txBody>
                    <a:bodyPr wrap="square"/>
                    <a:lstStyle/>
                    <a:p>
                      <a:r>
                        <a:rPr sz="1400">
                          <a:solidFill>
                            <a:srgbClr val="2C3E50"/>
                          </a:solidFill>
                          <a:latin typeface="Arial"/>
                        </a:rPr>
                        <a:t>Household survey benchmarks</a:t>
                      </a:r>
                    </a:p>
                  </a:txBody>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Two-part analytical process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188720"/>
            <a:ext cx="11277295" cy="5212080"/>
          </a:xfrm>
          <a:prstGeom prst="rect">
            <a:avLst/>
          </a:prstGeom>
          <a:noFill/>
        </p:spPr>
        <p:txBody>
          <a:bodyPr wrap="square">
            <a:spAutoFit/>
          </a:bodyPr>
          <a:lstStyle/>
          <a:p>
            <a:pPr>
              <a:spcAft>
                <a:spcPts val="600"/>
              </a:spcAft>
              <a:defRPr sz="2200" b="1" i="0">
                <a:solidFill>
                  <a:srgbClr val="7A1F6E"/>
                </a:solidFill>
                <a:latin typeface="Arial"/>
              </a:defRPr>
            </a:pPr>
            <a:r>
              <a:t>Two-part analytical process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Definition of service coverage</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457200" y="5303520"/>
            <a:ext cx="11277295" cy="1371600"/>
          </a:xfrm>
          <a:prstGeom prst="rect">
            <a:avLst/>
          </a:prstGeom>
          <a:noFill/>
        </p:spPr>
        <p:txBody>
          <a:bodyPr wrap="square">
            <a:spAutoFit/>
          </a:bodyPr>
          <a:lstStyle/>
          <a:p>
            <a:pPr>
              <a:spcAft>
                <a:spcPts val="600"/>
              </a:spcAft>
            </a:pPr>
            <a:r>
              <a:rPr sz="1600" b="1">
                <a:solidFill>
                  <a:srgbClr val="333333"/>
                </a:solidFill>
                <a:latin typeface="Arial"/>
              </a:rPr>
              <a:t>Service coverage</a:t>
            </a:r>
            <a:r>
              <a:rPr sz="1600">
                <a:solidFill>
                  <a:srgbClr val="333333"/>
                </a:solidFill>
                <a:latin typeface="Arial"/>
              </a:rPr>
              <a:t> represents the proportion of the target population that received a specified health service.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Denominators by service type</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Each health indicator corresponds to a specific target population:</a:t>
            </a:r>
          </a:p>
        </p:txBody>
      </p:sp>
      <p:graphicFrame>
        <p:nvGraphicFramePr>
          <p:cNvPr id="5" name="Table 4"/>
          <p:cNvGraphicFramePr>
            <a:graphicFrameLocks noGrp="1"/>
          </p:cNvGraphicFramePr>
          <p:nvPr/>
        </p:nvGraphicFramePr>
        <p:xfrm>
          <a:off x="4572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Arial"/>
                        </a:defRPr>
                      </a:pPr>
                      <a:r>
                        <a:t>Service</a:t>
                      </a:r>
                    </a:p>
                  </a:txBody>
                  <a:tcPr>
                    <a:solidFill>
                      <a:srgbClr val="CAE6E9"/>
                    </a:solidFill>
                  </a:tcPr>
                </a:tc>
                <a:tc>
                  <a:txBody>
                    <a:bodyPr wrap="square"/>
                    <a:lstStyle/>
                    <a:p>
                      <a:pPr>
                        <a:defRPr sz="1400" b="1">
                          <a:solidFill>
                            <a:srgbClr val="21568C"/>
                          </a:solidFill>
                          <a:latin typeface="Arial"/>
                        </a:defRPr>
                      </a:pPr>
                      <a:r>
                        <a:t>Target population (denominator)</a:t>
                      </a:r>
                    </a:p>
                  </a:txBody>
                  <a:tcPr>
                    <a:solidFill>
                      <a:srgbClr val="CAE6E9"/>
                    </a:solidFill>
                  </a:tcPr>
                </a:tc>
              </a:tr>
              <a:tr h="320040">
                <a:tc>
                  <a:txBody>
                    <a:bodyPr wrap="square"/>
                    <a:lstStyle/>
                    <a:p>
                      <a:r>
                        <a:rPr sz="1400">
                          <a:solidFill>
                            <a:srgbClr val="2C3E50"/>
                          </a:solidFill>
                          <a:latin typeface="Arial"/>
                        </a:rPr>
                        <a:t>ANC1, ANC4</a:t>
                      </a:r>
                    </a:p>
                  </a:txBody>
                  <a:tcPr/>
                </a:tc>
                <a:tc>
                  <a:txBody>
                    <a:bodyPr wrap="square"/>
                    <a:lstStyle/>
                    <a:p>
                      <a:r>
                        <a:rPr sz="1400">
                          <a:solidFill>
                            <a:srgbClr val="2C3E50"/>
                          </a:solidFill>
                          <a:latin typeface="Arial"/>
                        </a:rPr>
                        <a:t>Pregnant women</a:t>
                      </a:r>
                    </a:p>
                  </a:txBody>
                  <a:tcPr/>
                </a:tc>
              </a:tr>
              <a:tr h="320040">
                <a:tc>
                  <a:txBody>
                    <a:bodyPr wrap="square"/>
                    <a:lstStyle/>
                    <a:p>
                      <a:r>
                        <a:rPr sz="1400">
                          <a:solidFill>
                            <a:srgbClr val="2C3E50"/>
                          </a:solidFill>
                          <a:latin typeface="Arial"/>
                        </a:rPr>
                        <a:t>Institutional delivery</a:t>
                      </a:r>
                    </a:p>
                  </a:txBody>
                  <a:tcPr/>
                </a:tc>
                <a:tc>
                  <a:txBody>
                    <a:bodyPr wrap="square"/>
                    <a:lstStyle/>
                    <a:p>
                      <a:r>
                        <a:rPr sz="1400">
                          <a:solidFill>
                            <a:srgbClr val="2C3E50"/>
                          </a:solidFill>
                          <a:latin typeface="Arial"/>
                        </a:rPr>
                        <a:t>Live births</a:t>
                      </a:r>
                    </a:p>
                  </a:txBody>
                  <a:tcPr/>
                </a:tc>
              </a:tr>
              <a:tr h="320040">
                <a:tc>
                  <a:txBody>
                    <a:bodyPr wrap="square"/>
                    <a:lstStyle/>
                    <a:p>
                      <a:r>
                        <a:rPr sz="1400">
                          <a:solidFill>
                            <a:srgbClr val="2C3E50"/>
                          </a:solidFill>
                          <a:latin typeface="Arial"/>
                        </a:rPr>
                        <a:t>BCG</a:t>
                      </a:r>
                    </a:p>
                  </a:txBody>
                  <a:tcPr/>
                </a:tc>
                <a:tc>
                  <a:txBody>
                    <a:bodyPr wrap="square"/>
                    <a:lstStyle/>
                    <a:p>
                      <a:r>
                        <a:rPr sz="1400">
                          <a:solidFill>
                            <a:srgbClr val="2C3E50"/>
                          </a:solidFill>
                          <a:latin typeface="Arial"/>
                        </a:rPr>
                        <a:t>Live births</a:t>
                      </a:r>
                    </a:p>
                  </a:txBody>
                  <a:tcPr/>
                </a:tc>
              </a:tr>
              <a:tr h="320040">
                <a:tc>
                  <a:txBody>
                    <a:bodyPr wrap="square"/>
                    <a:lstStyle/>
                    <a:p>
                      <a:r>
                        <a:rPr sz="1400">
                          <a:solidFill>
                            <a:srgbClr val="2C3E50"/>
                          </a:solidFill>
                          <a:latin typeface="Arial"/>
                        </a:rPr>
                        <a:t>Penta1, Penta3</a:t>
                      </a:r>
                    </a:p>
                  </a:txBody>
                  <a:tcPr/>
                </a:tc>
                <a:tc>
                  <a:txBody>
                    <a:bodyPr wrap="square"/>
                    <a:lstStyle/>
                    <a:p>
                      <a:r>
                        <a:rPr sz="1400">
                          <a:solidFill>
                            <a:srgbClr val="2C3E50"/>
                          </a:solidFill>
                          <a:latin typeface="Arial"/>
                        </a:rPr>
                        <a:t>Infants surviving beyond neonatal period</a:t>
                      </a:r>
                    </a:p>
                  </a:txBody>
                  <a:tcPr/>
                </a:tc>
              </a:tr>
              <a:tr h="320040">
                <a:tc>
                  <a:txBody>
                    <a:bodyPr wrap="square"/>
                    <a:lstStyle/>
                    <a:p>
                      <a:r>
                        <a:rPr sz="1400">
                          <a:solidFill>
                            <a:srgbClr val="2C3E50"/>
                          </a:solidFill>
                          <a:latin typeface="Arial"/>
                        </a:rPr>
                        <a:t>Measles1, Measles2</a:t>
                      </a:r>
                    </a:p>
                  </a:txBody>
                  <a:tcPr/>
                </a:tc>
                <a:tc>
                  <a:txBody>
                    <a:bodyPr wrap="square"/>
                    <a:lstStyle/>
                    <a:p>
                      <a:r>
                        <a:rPr sz="1400">
                          <a:solidFill>
                            <a:srgbClr val="2C3E50"/>
                          </a:solidFill>
                          <a:latin typeface="Arial"/>
                        </a:rPr>
                        <a:t>Infants surviving beyond infancy</a:t>
                      </a:r>
                    </a:p>
                  </a:txBody>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Demographic cascade</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457200" y="5303520"/>
            <a:ext cx="11277295" cy="1371600"/>
          </a:xfrm>
          <a:prstGeom prst="rect">
            <a:avLst/>
          </a:prstGeom>
          <a:noFill/>
        </p:spPr>
        <p:txBody>
          <a:bodyPr wrap="square">
            <a:spAutoFit/>
          </a:bodyPr>
          <a:lstStyle/>
          <a:p>
            <a:pPr>
              <a:spcAft>
                <a:spcPts val="600"/>
              </a:spcAft>
            </a:pPr>
            <a:r>
              <a:rPr sz="1600">
                <a:solidFill>
                  <a:srgbClr val="333333"/>
                </a:solidFill>
                <a:latin typeface="Arial"/>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Denominator cascade: Illustration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457200" y="5303520"/>
            <a:ext cx="11277295" cy="1371600"/>
          </a:xfrm>
          <a:prstGeom prst="rect">
            <a:avLst/>
          </a:prstGeom>
          <a:noFill/>
        </p:spPr>
        <p:txBody>
          <a:bodyPr wrap="square">
            <a:spAutoFit/>
          </a:bodyPr>
          <a:lstStyle/>
          <a:p>
            <a:pPr>
              <a:spcAft>
                <a:spcPts val="600"/>
              </a:spcAft>
            </a:pPr>
            <a:r>
              <a:rPr sz="1600">
                <a:solidFill>
                  <a:srgbClr val="333333"/>
                </a:solidFill>
                <a:latin typeface="Arial"/>
              </a:rPr>
              <a:t>Starting from ANC1 service counts, demographic adjustment factors are applied sequentially to derive denominators for other services: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Forward and backward derivation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From any entry point, the cascade derives denominators in both directions:</a:t>
            </a:r>
          </a:p>
        </p:txBody>
      </p:sp>
      <p:graphicFrame>
        <p:nvGraphicFramePr>
          <p:cNvPr id="5" name="Table 4"/>
          <p:cNvGraphicFramePr>
            <a:graphicFrameLocks noGrp="1"/>
          </p:cNvGraphicFramePr>
          <p:nvPr/>
        </p:nvGraphicFramePr>
        <p:xfrm>
          <a:off x="4572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Arial"/>
                        </a:defRPr>
                      </a:pPr>
                      <a:r>
                        <a:t>Direction</a:t>
                      </a:r>
                    </a:p>
                  </a:txBody>
                  <a:tcPr>
                    <a:solidFill>
                      <a:srgbClr val="CAE6E9"/>
                    </a:solidFill>
                  </a:tcPr>
                </a:tc>
                <a:tc>
                  <a:txBody>
                    <a:bodyPr wrap="square"/>
                    <a:lstStyle/>
                    <a:p>
                      <a:pPr>
                        <a:defRPr sz="1400" b="1">
                          <a:solidFill>
                            <a:srgbClr val="21568C"/>
                          </a:solidFill>
                          <a:latin typeface="Arial"/>
                        </a:defRPr>
                      </a:pPr>
                      <a:r>
                        <a:t>Method</a:t>
                      </a:r>
                    </a:p>
                  </a:txBody>
                  <a:tcPr>
                    <a:solidFill>
                      <a:srgbClr val="CAE6E9"/>
                    </a:solidFill>
                  </a:tcPr>
                </a:tc>
                <a:tc>
                  <a:txBody>
                    <a:bodyPr wrap="square"/>
                    <a:lstStyle/>
                    <a:p>
                      <a:pPr>
                        <a:defRPr sz="1400" b="1">
                          <a:solidFill>
                            <a:srgbClr val="21568C"/>
                          </a:solidFill>
                          <a:latin typeface="Arial"/>
                        </a:defRPr>
                      </a:pPr>
                      <a:r>
                        <a:t>Example from Penta1</a:t>
                      </a:r>
                    </a:p>
                  </a:txBody>
                  <a:tcPr>
                    <a:solidFill>
                      <a:srgbClr val="CAE6E9"/>
                    </a:solidFill>
                  </a:tcPr>
                </a:tc>
              </a:tr>
              <a:tr h="320040">
                <a:tc>
                  <a:txBody>
                    <a:bodyPr wrap="square"/>
                    <a:lstStyle/>
                    <a:p>
                      <a:r>
                        <a:rPr sz="1400" b="1">
                          <a:solidFill>
                            <a:srgbClr val="2C3E50"/>
                          </a:solidFill>
                          <a:latin typeface="Arial"/>
                        </a:rPr>
                        <a:t>Forward</a:t>
                      </a:r>
                    </a:p>
                  </a:txBody>
                  <a:tcPr/>
                </a:tc>
                <a:tc>
                  <a:txBody>
                    <a:bodyPr wrap="square"/>
                    <a:lstStyle/>
                    <a:p>
                      <a:r>
                        <a:rPr sz="1400">
                          <a:solidFill>
                            <a:srgbClr val="2C3E50"/>
                          </a:solidFill>
                          <a:latin typeface="Arial"/>
                        </a:rPr>
                        <a:t>Apply mortality/attrition rates</a:t>
                      </a:r>
                    </a:p>
                  </a:txBody>
                  <a:tcPr/>
                </a:tc>
                <a:tc>
                  <a:txBody>
                    <a:bodyPr wrap="square"/>
                    <a:lstStyle/>
                    <a:p>
                      <a:r>
                        <a:rPr sz="1400">
                          <a:solidFill>
                            <a:srgbClr val="2C3E50"/>
                          </a:solidFill>
                          <a:latin typeface="Arial"/>
                        </a:rPr>
                        <a:t>DPT-eligible → Measles1-eligible → Measles2-eligible</a:t>
                      </a:r>
                    </a:p>
                  </a:txBody>
                  <a:tcPr/>
                </a:tc>
              </a:tr>
              <a:tr h="320040">
                <a:tc>
                  <a:txBody>
                    <a:bodyPr wrap="square"/>
                    <a:lstStyle/>
                    <a:p>
                      <a:r>
                        <a:rPr sz="1400" b="1">
                          <a:solidFill>
                            <a:srgbClr val="2C3E50"/>
                          </a:solidFill>
                          <a:latin typeface="Arial"/>
                        </a:rPr>
                        <a:t>Backward</a:t>
                      </a:r>
                    </a:p>
                  </a:txBody>
                  <a:tcPr/>
                </a:tc>
                <a:tc>
                  <a:txBody>
                    <a:bodyPr wrap="square"/>
                    <a:lstStyle/>
                    <a:p>
                      <a:r>
                        <a:rPr sz="1400">
                          <a:solidFill>
                            <a:srgbClr val="2C3E50"/>
                          </a:solidFill>
                          <a:latin typeface="Arial"/>
                        </a:rPr>
                        <a:t>Reverse mortality rates (add deaths back)</a:t>
                      </a:r>
                    </a:p>
                  </a:txBody>
                  <a:tcPr/>
                </a:tc>
                <a:tc>
                  <a:txBody>
                    <a:bodyPr wrap="square"/>
                    <a:lstStyle/>
                    <a:p>
                      <a:r>
                        <a:rPr sz="1400">
                          <a:solidFill>
                            <a:srgbClr val="2C3E50"/>
                          </a:solidFill>
                          <a:latin typeface="Arial"/>
                        </a:rPr>
                        <a:t>DPT-eligible → Live births → Births → Deliveries → Pregnancies</a:t>
                      </a:r>
                    </a:p>
                  </a:txBody>
                  <a:tcPr/>
                </a:tc>
              </a:tr>
            </a:tbl>
          </a:graphicData>
        </a:graphic>
      </p:graphicFrame>
      <p:sp>
        <p:nvSpPr>
          <p:cNvPr id="6" name="TextBox 5"/>
          <p:cNvSpPr txBox="1"/>
          <p:nvPr/>
        </p:nvSpPr>
        <p:spPr>
          <a:xfrm>
            <a:off x="457200" y="2971800"/>
            <a:ext cx="11277295" cy="2286000"/>
          </a:xfrm>
          <a:prstGeom prst="rect">
            <a:avLst/>
          </a:prstGeom>
          <a:noFill/>
        </p:spPr>
        <p:txBody>
          <a:bodyPr wrap="square">
            <a:spAutoFit/>
          </a:bodyPr>
          <a:lstStyle/>
          <a:p>
            <a:pPr>
              <a:spcAft>
                <a:spcPts val="600"/>
              </a:spcAft>
            </a:pPr>
            <a:r>
              <a:rPr sz="1600">
                <a:solidFill>
                  <a:srgbClr val="2C3E50"/>
                </a:solidFill>
                <a:latin typeface="Arial"/>
              </a:rPr>
              <a:t>Backward derivation enables estimation of upstream populations from downstream service counts.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Denominators by entry point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11277295" cy="731520"/>
          </a:xfrm>
          <a:prstGeom prst="rect">
            <a:avLst/>
          </a:prstGeom>
          <a:noFill/>
        </p:spPr>
        <p:txBody>
          <a:bodyPr wrap="square">
            <a:spAutoFit/>
          </a:bodyPr>
          <a:lstStyle/>
          <a:p>
            <a:pPr>
              <a:spcAft>
                <a:spcPts val="400"/>
              </a:spcAft>
            </a:pPr>
            <a:r>
              <a:rPr sz="1600">
                <a:solidFill>
                  <a:srgbClr val="2C3E50"/>
                </a:solidFill>
                <a:latin typeface="Arial"/>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457200" y="1828800"/>
          <a:ext cx="11247118" cy="1920240"/>
        </p:xfrm>
        <a:graphic>
          <a:graphicData uri="http://schemas.openxmlformats.org/drawingml/2006/table">
            <a:tbl>
              <a:tblPr firstRow="1" bandRow="1">
                <a:tableStyleId>{5C22544A-7EE6-4342-B048-85BDC9FD1C3A}</a:tableStyleId>
              </a:tblPr>
              <a:tblGrid>
                <a:gridCol w="1850075"/>
                <a:gridCol w="2995078"/>
                <a:gridCol w="3535995"/>
                <a:gridCol w="2865970"/>
              </a:tblGrid>
              <a:tr h="320040">
                <a:tc>
                  <a:txBody>
                    <a:bodyPr wrap="square"/>
                    <a:lstStyle/>
                    <a:p>
                      <a:pPr>
                        <a:defRPr sz="1400" b="1">
                          <a:solidFill>
                            <a:srgbClr val="21568C"/>
                          </a:solidFill>
                          <a:latin typeface="Arial"/>
                        </a:defRPr>
                      </a:pPr>
                      <a:r>
                        <a:t>Entry point</a:t>
                      </a:r>
                    </a:p>
                  </a:txBody>
                  <a:tcPr>
                    <a:solidFill>
                      <a:srgbClr val="CAE6E9"/>
                    </a:solidFill>
                  </a:tcPr>
                </a:tc>
                <a:tc>
                  <a:txBody>
                    <a:bodyPr wrap="square"/>
                    <a:lstStyle/>
                    <a:p>
                      <a:pPr>
                        <a:defRPr sz="1400" b="1">
                          <a:solidFill>
                            <a:srgbClr val="21568C"/>
                          </a:solidFill>
                          <a:latin typeface="Arial"/>
                        </a:defRPr>
                      </a:pPr>
                      <a:r>
                        <a:t>Base calculation</a:t>
                      </a:r>
                    </a:p>
                  </a:txBody>
                  <a:tcPr>
                    <a:solidFill>
                      <a:srgbClr val="CAE6E9"/>
                    </a:solidFill>
                  </a:tcPr>
                </a:tc>
                <a:tc>
                  <a:txBody>
                    <a:bodyPr wrap="square"/>
                    <a:lstStyle/>
                    <a:p>
                      <a:pPr>
                        <a:defRPr sz="1400" b="1">
                          <a:solidFill>
                            <a:srgbClr val="21568C"/>
                          </a:solidFill>
                          <a:latin typeface="Arial"/>
                        </a:defRPr>
                      </a:pPr>
                      <a:r>
                        <a:t>Forward derivation</a:t>
                      </a:r>
                    </a:p>
                  </a:txBody>
                  <a:tcPr>
                    <a:solidFill>
                      <a:srgbClr val="CAE6E9"/>
                    </a:solidFill>
                  </a:tcPr>
                </a:tc>
                <a:tc>
                  <a:txBody>
                    <a:bodyPr wrap="square"/>
                    <a:lstStyle/>
                    <a:p>
                      <a:pPr>
                        <a:defRPr sz="1400" b="1">
                          <a:solidFill>
                            <a:srgbClr val="21568C"/>
                          </a:solidFill>
                          <a:latin typeface="Arial"/>
                        </a:defRPr>
                      </a:pPr>
                      <a:r>
                        <a:t>Backward derivation</a:t>
                      </a:r>
                    </a:p>
                  </a:txBody>
                  <a:tcPr>
                    <a:solidFill>
                      <a:srgbClr val="CAE6E9"/>
                    </a:solidFill>
                  </a:tcPr>
                </a:tc>
              </a:tr>
              <a:tr h="320040">
                <a:tc>
                  <a:txBody>
                    <a:bodyPr wrap="square"/>
                    <a:lstStyle/>
                    <a:p>
                      <a:r>
                        <a:rPr sz="1400" b="1">
                          <a:solidFill>
                            <a:srgbClr val="2C3E50"/>
                          </a:solidFill>
                          <a:latin typeface="Arial"/>
                        </a:rPr>
                        <a:t>ANC1</a:t>
                      </a:r>
                    </a:p>
                  </a:txBody>
                  <a:tcPr/>
                </a:tc>
                <a:tc>
                  <a:txBody>
                    <a:bodyPr wrap="square"/>
                    <a:lstStyle/>
                    <a:p>
                      <a:r>
                        <a:rPr sz="1400">
                          <a:solidFill>
                            <a:srgbClr val="2C3E50"/>
                          </a:solidFill>
                          <a:latin typeface="Arial"/>
                        </a:rPr>
                        <a:t>ANC1 ÷ coverage → Pregnancies</a:t>
                      </a:r>
                    </a:p>
                  </a:txBody>
                  <a:tcPr/>
                </a:tc>
                <a:tc>
                  <a:txBody>
                    <a:bodyPr wrap="square"/>
                    <a:lstStyle/>
                    <a:p>
                      <a:r>
                        <a:rPr sz="1400">
                          <a:solidFill>
                            <a:srgbClr val="2C3E50"/>
                          </a:solidFill>
                          <a:latin typeface="Arial"/>
                        </a:rPr>
                        <a:t>Deliveries → Live births → DPT-eligible → Measles-eligible</a:t>
                      </a:r>
                    </a:p>
                  </a:txBody>
                  <a:tcPr/>
                </a:tc>
                <a:tc>
                  <a:txBody>
                    <a:bodyPr wrap="square"/>
                    <a:lstStyle/>
                    <a:p>
                      <a:r>
                        <a:rPr sz="1400">
                          <a:solidFill>
                            <a:srgbClr val="2C3E50"/>
                          </a:solidFill>
                          <a:latin typeface="Arial"/>
                        </a:rPr>
                        <a:t>—</a:t>
                      </a:r>
                    </a:p>
                  </a:txBody>
                  <a:tcPr/>
                </a:tc>
              </a:tr>
              <a:tr h="320040">
                <a:tc>
                  <a:txBody>
                    <a:bodyPr wrap="square"/>
                    <a:lstStyle/>
                    <a:p>
                      <a:r>
                        <a:rPr sz="1400" b="1">
                          <a:solidFill>
                            <a:srgbClr val="2C3E50"/>
                          </a:solidFill>
                          <a:latin typeface="Arial"/>
                        </a:rPr>
                        <a:t>Deliveries</a:t>
                      </a:r>
                    </a:p>
                  </a:txBody>
                  <a:tcPr/>
                </a:tc>
                <a:tc>
                  <a:txBody>
                    <a:bodyPr wrap="square"/>
                    <a:lstStyle/>
                    <a:p>
                      <a:r>
                        <a:rPr sz="1400">
                          <a:solidFill>
                            <a:srgbClr val="2C3E50"/>
                          </a:solidFill>
                          <a:latin typeface="Arial"/>
                        </a:rPr>
                        <a:t>Deliveries ÷ coverage → Deliveries</a:t>
                      </a:r>
                    </a:p>
                  </a:txBody>
                  <a:tcPr/>
                </a:tc>
                <a:tc>
                  <a:txBody>
                    <a:bodyPr wrap="square"/>
                    <a:lstStyle/>
                    <a:p>
                      <a:r>
                        <a:rPr sz="1400">
                          <a:solidFill>
                            <a:srgbClr val="2C3E50"/>
                          </a:solidFill>
                          <a:latin typeface="Arial"/>
                        </a:rPr>
                        <a:t>Live births → DPT-eligible → Measles-eligible</a:t>
                      </a:r>
                    </a:p>
                  </a:txBody>
                  <a:tcPr/>
                </a:tc>
                <a:tc>
                  <a:txBody>
                    <a:bodyPr wrap="square"/>
                    <a:lstStyle/>
                    <a:p>
                      <a:r>
                        <a:rPr sz="1400">
                          <a:solidFill>
                            <a:srgbClr val="2C3E50"/>
                          </a:solidFill>
                          <a:latin typeface="Arial"/>
                        </a:rPr>
                        <a:t>Pregnancies</a:t>
                      </a:r>
                    </a:p>
                  </a:txBody>
                  <a:tcPr/>
                </a:tc>
              </a:tr>
              <a:tr h="320040">
                <a:tc>
                  <a:txBody>
                    <a:bodyPr wrap="square"/>
                    <a:lstStyle/>
                    <a:p>
                      <a:r>
                        <a:rPr sz="1400" b="1">
                          <a:solidFill>
                            <a:srgbClr val="2C3E50"/>
                          </a:solidFill>
                          <a:latin typeface="Arial"/>
                        </a:rPr>
                        <a:t>BCG</a:t>
                      </a:r>
                    </a:p>
                  </a:txBody>
                  <a:tcPr/>
                </a:tc>
                <a:tc>
                  <a:txBody>
                    <a:bodyPr wrap="square"/>
                    <a:lstStyle/>
                    <a:p>
                      <a:r>
                        <a:rPr sz="1400">
                          <a:solidFill>
                            <a:srgbClr val="2C3E50"/>
                          </a:solidFill>
                          <a:latin typeface="Arial"/>
                        </a:rPr>
                        <a:t>BCG ÷ coverage → Live births</a:t>
                      </a:r>
                    </a:p>
                  </a:txBody>
                  <a:tcPr/>
                </a:tc>
                <a:tc>
                  <a:txBody>
                    <a:bodyPr wrap="square"/>
                    <a:lstStyle/>
                    <a:p>
                      <a:r>
                        <a:rPr sz="1400">
                          <a:solidFill>
                            <a:srgbClr val="2C3E50"/>
                          </a:solidFill>
                          <a:latin typeface="Arial"/>
                        </a:rPr>
                        <a:t>DPT-eligible → Measles-eligible</a:t>
                      </a:r>
                    </a:p>
                  </a:txBody>
                  <a:tcPr/>
                </a:tc>
                <a:tc>
                  <a:txBody>
                    <a:bodyPr wrap="square"/>
                    <a:lstStyle/>
                    <a:p>
                      <a:r>
                        <a:rPr sz="1400">
                          <a:solidFill>
                            <a:srgbClr val="2C3E50"/>
                          </a:solidFill>
                          <a:latin typeface="Arial"/>
                        </a:rPr>
                        <a:t>Deliveries → Pregnancies</a:t>
                      </a:r>
                    </a:p>
                  </a:txBody>
                  <a:tcPr/>
                </a:tc>
              </a:tr>
              <a:tr h="320040">
                <a:tc>
                  <a:txBody>
                    <a:bodyPr wrap="square"/>
                    <a:lstStyle/>
                    <a:p>
                      <a:r>
                        <a:rPr sz="1400" b="1">
                          <a:solidFill>
                            <a:srgbClr val="2C3E50"/>
                          </a:solidFill>
                          <a:latin typeface="Arial"/>
                        </a:rPr>
                        <a:t>Penta1</a:t>
                      </a:r>
                    </a:p>
                  </a:txBody>
                  <a:tcPr/>
                </a:tc>
                <a:tc>
                  <a:txBody>
                    <a:bodyPr wrap="square"/>
                    <a:lstStyle/>
                    <a:p>
                      <a:r>
                        <a:rPr sz="1400">
                          <a:solidFill>
                            <a:srgbClr val="2C3E50"/>
                          </a:solidFill>
                          <a:latin typeface="Arial"/>
                        </a:rPr>
                        <a:t>Penta1 ÷ coverage → DPT-eligible</a:t>
                      </a:r>
                    </a:p>
                  </a:txBody>
                  <a:tcPr/>
                </a:tc>
                <a:tc>
                  <a:txBody>
                    <a:bodyPr wrap="square"/>
                    <a:lstStyle/>
                    <a:p>
                      <a:r>
                        <a:rPr sz="1400">
                          <a:solidFill>
                            <a:srgbClr val="2C3E50"/>
                          </a:solidFill>
                          <a:latin typeface="Arial"/>
                        </a:rPr>
                        <a:t>Measles1-eligible → Measles2-eligible</a:t>
                      </a:r>
                    </a:p>
                  </a:txBody>
                  <a:tcPr/>
                </a:tc>
                <a:tc>
                  <a:txBody>
                    <a:bodyPr wrap="square"/>
                    <a:lstStyle/>
                    <a:p>
                      <a:r>
                        <a:rPr sz="1400">
                          <a:solidFill>
                            <a:srgbClr val="2C3E50"/>
                          </a:solidFill>
                          <a:latin typeface="Arial"/>
                        </a:rPr>
                        <a:t>Live births → Births → Deliveries → Pregnancies</a:t>
                      </a:r>
                    </a:p>
                  </a:txBody>
                  <a:tcPr/>
                </a:tc>
              </a:tr>
              <a:tr h="320040">
                <a:tc>
                  <a:txBody>
                    <a:bodyPr wrap="square"/>
                    <a:lstStyle/>
                    <a:p>
                      <a:r>
                        <a:rPr sz="1400" b="1">
                          <a:solidFill>
                            <a:srgbClr val="2C3E50"/>
                          </a:solidFill>
                          <a:latin typeface="Arial"/>
                        </a:rPr>
                        <a:t>UN WPP</a:t>
                      </a:r>
                    </a:p>
                  </a:txBody>
                  <a:tcPr/>
                </a:tc>
                <a:tc>
                  <a:txBody>
                    <a:bodyPr wrap="square"/>
                    <a:lstStyle/>
                    <a:p>
                      <a:r>
                        <a:rPr sz="1400">
                          <a:solidFill>
                            <a:srgbClr val="2C3E50"/>
                          </a:solidFill>
                          <a:latin typeface="Arial"/>
                        </a:rPr>
                        <a:t>Population projections</a:t>
                      </a:r>
                    </a:p>
                  </a:txBody>
                  <a:tcPr/>
                </a:tc>
                <a:tc>
                  <a:txBody>
                    <a:bodyPr wrap="square"/>
                    <a:lstStyle/>
                    <a:p>
                      <a:r>
                        <a:rPr sz="1400">
                          <a:solidFill>
                            <a:srgbClr val="2C3E50"/>
                          </a:solidFill>
                          <a:latin typeface="Arial"/>
                        </a:rPr>
                        <a:t>All denominators directly</a:t>
                      </a:r>
                    </a:p>
                  </a:txBody>
                  <a:tcPr/>
                </a:tc>
                <a:tc>
                  <a:txBody>
                    <a:bodyPr wrap="square"/>
                    <a:lstStyle/>
                    <a:p>
                      <a:r>
                        <a:rPr sz="1400">
                          <a:solidFill>
                            <a:srgbClr val="2C3E50"/>
                          </a:solidFill>
                          <a:latin typeface="Arial"/>
                        </a:rPr>
                        <a:t>—</a:t>
                      </a:r>
                    </a:p>
                  </a:txBody>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Automatic denominator selection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For each indicator, the module selects the denominator that produces coverage closest to the survey benchmark.</a:t>
            </a:r>
          </a:p>
          <a:p>
            <a:pPr>
              <a:spcAft>
                <a:spcPts val="1000"/>
              </a:spcAft>
            </a:pPr>
            <a:r>
              <a:rPr sz="1600" b="1">
                <a:solidFill>
                  <a:srgbClr val="333333"/>
                </a:solidFill>
                <a:latin typeface="Arial"/>
              </a:rPr>
              <a:t>Selection algorithm:</a:t>
            </a:r>
          </a:p>
          <a:p>
            <a:pPr>
              <a:spcAft>
                <a:spcPts val="400"/>
              </a:spcAft>
            </a:pPr>
            <a:r>
              <a:rPr sz="1600">
                <a:solidFill>
                  <a:srgbClr val="2C3E50"/>
                </a:solidFill>
                <a:latin typeface="Arial"/>
              </a:rPr>
              <a:t>• Calculate coverage using each denominator option</a:t>
            </a:r>
          </a:p>
          <a:p>
            <a:pPr>
              <a:spcAft>
                <a:spcPts val="400"/>
              </a:spcAft>
            </a:pPr>
            <a:r>
              <a:rPr sz="1600">
                <a:solidFill>
                  <a:srgbClr val="2C3E50"/>
                </a:solidFill>
                <a:latin typeface="Arial"/>
              </a:rPr>
              <a:t>• Calculate squared error against survey: $(coverage - survey)^2$</a:t>
            </a:r>
          </a:p>
          <a:p>
            <a:pPr>
              <a:spcAft>
                <a:spcPts val="400"/>
              </a:spcAft>
            </a:pPr>
            <a:r>
              <a:rPr sz="1600">
                <a:solidFill>
                  <a:srgbClr val="2C3E50"/>
                </a:solidFill>
                <a:latin typeface="Arial"/>
              </a:rPr>
              <a:t>• Apply selection hierarchy (HMIS-based denominators prioritized over UN WPP)</a:t>
            </a:r>
          </a:p>
          <a:p>
            <a:pPr>
              <a:spcAft>
                <a:spcPts val="400"/>
              </a:spcAft>
            </a:pPr>
            <a:r>
              <a:rPr sz="1600">
                <a:solidFill>
                  <a:srgbClr val="2C3E50"/>
                </a:solidFill>
                <a:latin typeface="Arial"/>
              </a:rPr>
              <a:t>• Select the HMIS-based denominator with minimum error</a:t>
            </a:r>
          </a:p>
          <a:p>
            <a:pPr>
              <a:spcAft>
                <a:spcPts val="1000"/>
              </a:spcAft>
            </a:pPr>
            <a:r>
              <a:rPr sz="1600">
                <a:solidFill>
                  <a:srgbClr val="333333"/>
                </a:solidFill>
                <a:latin typeface="Arial"/>
              </a:rPr>
              <a:t>Selection is made per indicator and geographic area. Users may override automatic selections in Part 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Coverage projection methodology</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457200" y="5303520"/>
            <a:ext cx="11277295" cy="1371600"/>
          </a:xfrm>
          <a:prstGeom prst="rect">
            <a:avLst/>
          </a:prstGeom>
          <a:noFill/>
        </p:spPr>
        <p:txBody>
          <a:bodyPr wrap="square">
            <a:spAutoFit/>
          </a:bodyPr>
          <a:lstStyle/>
          <a:p>
            <a:pPr>
              <a:spcAft>
                <a:spcPts val="600"/>
              </a:spcAft>
            </a:pPr>
            <a:r>
              <a:rPr sz="1600">
                <a:solidFill>
                  <a:srgbClr val="333333"/>
                </a:solidFill>
                <a:latin typeface="Arial"/>
              </a:rPr>
              <a:t>The module projects the most recent survey value forward using trends observed in HMIS-derived coverage:</a:t>
            </a:r>
          </a:p>
          <a:p>
            <a:pPr>
              <a:spcAft>
                <a:spcPts val="600"/>
              </a:spcAft>
            </a:pPr>
            <a:r>
              <a:rPr sz="1600">
                <a:solidFill>
                  <a:srgbClr val="333333"/>
                </a:solidFill>
                <a:latin typeface="Arial"/>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Interpretation of coverage outputs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9" cy="1280160"/>
        </p:xfrm>
        <a:graphic>
          <a:graphicData uri="http://schemas.openxmlformats.org/drawingml/2006/table">
            <a:tbl>
              <a:tblPr firstRow="1" bandRow="1">
                <a:tableStyleId>{5C22544A-7EE6-4342-B048-85BDC9FD1C3A}</a:tableStyleId>
              </a:tblPr>
              <a:tblGrid>
                <a:gridCol w="4264079"/>
                <a:gridCol w="6983040"/>
              </a:tblGrid>
              <a:tr h="320040">
                <a:tc>
                  <a:txBody>
                    <a:bodyPr wrap="square"/>
                    <a:lstStyle/>
                    <a:p>
                      <a:pPr>
                        <a:defRPr sz="1400" b="1">
                          <a:solidFill>
                            <a:srgbClr val="21568C"/>
                          </a:solidFill>
                          <a:latin typeface="Arial"/>
                        </a:defRPr>
                      </a:pPr>
                      <a:r>
                        <a:t>Element</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b="1">
                          <a:solidFill>
                            <a:srgbClr val="2C3E50"/>
                          </a:solidFill>
                          <a:latin typeface="Arial"/>
                        </a:rPr>
                        <a:t>Black line/points</a:t>
                      </a:r>
                    </a:p>
                  </a:txBody>
                  <a:tcPr/>
                </a:tc>
                <a:tc>
                  <a:txBody>
                    <a:bodyPr wrap="square"/>
                    <a:lstStyle/>
                    <a:p>
                      <a:r>
                        <a:rPr sz="1400">
                          <a:solidFill>
                            <a:srgbClr val="2C3E50"/>
                          </a:solidFill>
                          <a:latin typeface="Arial"/>
                        </a:rPr>
                        <a:t>Survey data (DHS/MICS) — household survey reference</a:t>
                      </a:r>
                    </a:p>
                  </a:txBody>
                  <a:tcPr/>
                </a:tc>
              </a:tr>
              <a:tr h="320040">
                <a:tc>
                  <a:txBody>
                    <a:bodyPr wrap="square"/>
                    <a:lstStyle/>
                    <a:p>
                      <a:r>
                        <a:rPr sz="1400" b="1">
                          <a:solidFill>
                            <a:srgbClr val="2C3E50"/>
                          </a:solidFill>
                          <a:latin typeface="Arial"/>
                        </a:rPr>
                        <a:t>Grey line/points</a:t>
                      </a:r>
                    </a:p>
                  </a:txBody>
                  <a:tcPr/>
                </a:tc>
                <a:tc>
                  <a:txBody>
                    <a:bodyPr wrap="square"/>
                    <a:lstStyle/>
                    <a:p>
                      <a:r>
                        <a:rPr sz="1400">
                          <a:solidFill>
                            <a:srgbClr val="2C3E50"/>
                          </a:solidFill>
                          <a:latin typeface="Arial"/>
                        </a:rPr>
                        <a:t>HMIS-based coverage from facility data</a:t>
                      </a:r>
                    </a:p>
                  </a:txBody>
                  <a:tcPr/>
                </a:tc>
              </a:tr>
              <a:tr h="320040">
                <a:tc>
                  <a:txBody>
                    <a:bodyPr wrap="square"/>
                    <a:lstStyle/>
                    <a:p>
                      <a:r>
                        <a:rPr sz="1400" b="1">
                          <a:solidFill>
                            <a:srgbClr val="2C3E50"/>
                          </a:solidFill>
                          <a:latin typeface="Arial"/>
                        </a:rPr>
                        <a:t>Red line/points</a:t>
                      </a:r>
                    </a:p>
                  </a:txBody>
                  <a:tcPr/>
                </a:tc>
                <a:tc>
                  <a:txBody>
                    <a:bodyPr wrap="square"/>
                    <a:lstStyle/>
                    <a:p>
                      <a:r>
                        <a:rPr sz="1400">
                          <a:solidFill>
                            <a:srgbClr val="2C3E50"/>
                          </a:solidFill>
                          <a:latin typeface="Arial"/>
                        </a:rPr>
                        <a:t>Projected coverage — survey estimates extended using HMIS trends</a:t>
                      </a:r>
                    </a:p>
                  </a:txBody>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Output: Coverage (national)</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Output: Coverage (subnational)</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Output: Coverage (district)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Admin3.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Activity: Creating a Project</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In this hands-on session, we will:</a:t>
            </a:r>
          </a:p>
          <a:p>
            <a:pPr>
              <a:spcAft>
                <a:spcPts val="400"/>
              </a:spcAft>
            </a:pPr>
            <a:r>
              <a:rPr sz="1600">
                <a:solidFill>
                  <a:srgbClr val="2C3E50"/>
                </a:solidFill>
                <a:latin typeface="Arial"/>
              </a:rPr>
              <a:t>• Set up a new project</a:t>
            </a:r>
          </a:p>
          <a:p>
            <a:pPr>
              <a:spcAft>
                <a:spcPts val="400"/>
              </a:spcAft>
            </a:pPr>
            <a:r>
              <a:rPr sz="1600">
                <a:solidFill>
                  <a:srgbClr val="2C3E50"/>
                </a:solidFill>
                <a:latin typeface="Arial"/>
              </a:rPr>
              <a:t>• Configure project settings</a:t>
            </a:r>
          </a:p>
          <a:p>
            <a:pPr>
              <a:spcAft>
                <a:spcPts val="400"/>
              </a:spcAft>
            </a:pPr>
            <a:r>
              <a:rPr sz="1600">
                <a:solidFill>
                  <a:srgbClr val="2C3E50"/>
                </a:solidFill>
                <a:latin typeface="Arial"/>
              </a:rPr>
              <a:t>• Select indicators and time periods</a:t>
            </a:r>
          </a:p>
          <a:p>
            <a:pPr>
              <a:spcAft>
                <a:spcPts val="400"/>
              </a:spcAft>
            </a:pPr>
            <a:r>
              <a:rPr sz="1600">
                <a:solidFill>
                  <a:srgbClr val="2C3E50"/>
                </a:solidFill>
                <a:latin typeface="Arial"/>
              </a:rPr>
              <a:t>• Apply best practices for project organization</a:t>
            </a:r>
          </a:p>
          <a:p>
            <a:pPr>
              <a:spcAft>
                <a:spcPts val="1000"/>
              </a:spcAft>
            </a:pPr>
            <a:r>
              <a:rPr sz="1600" i="1">
                <a:solidFill>
                  <a:srgbClr val="333333"/>
                </a:solidFill>
                <a:latin typeface="Arial"/>
              </a:rPr>
              <a:t>Participants will create their first project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Activity: Creating Visualizations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In this hands-on session, we will:</a:t>
            </a:r>
          </a:p>
          <a:p>
            <a:pPr>
              <a:spcAft>
                <a:spcPts val="400"/>
              </a:spcAft>
            </a:pPr>
            <a:r>
              <a:rPr sz="1600">
                <a:solidFill>
                  <a:srgbClr val="2C3E50"/>
                </a:solidFill>
                <a:latin typeface="Arial"/>
              </a:rPr>
              <a:t>• Explore available chart types</a:t>
            </a:r>
          </a:p>
          <a:p>
            <a:pPr>
              <a:spcAft>
                <a:spcPts val="400"/>
              </a:spcAft>
            </a:pPr>
            <a:r>
              <a:rPr sz="1600">
                <a:solidFill>
                  <a:srgbClr val="2C3E50"/>
                </a:solidFill>
                <a:latin typeface="Arial"/>
              </a:rPr>
              <a:t>• Create and customize visualizations</a:t>
            </a:r>
          </a:p>
          <a:p>
            <a:pPr>
              <a:spcAft>
                <a:spcPts val="400"/>
              </a:spcAft>
            </a:pPr>
            <a:r>
              <a:rPr sz="1600">
                <a:solidFill>
                  <a:srgbClr val="2C3E50"/>
                </a:solidFill>
                <a:latin typeface="Arial"/>
              </a:rPr>
              <a:t>• Export charts for use in reports</a:t>
            </a:r>
          </a:p>
          <a:p>
            <a:pPr>
              <a:spcAft>
                <a:spcPts val="1000"/>
              </a:spcAft>
            </a:pPr>
            <a:r>
              <a:rPr sz="1600" i="1">
                <a:solidFill>
                  <a:srgbClr val="333333"/>
                </a:solidFill>
                <a:latin typeface="Arial"/>
              </a:rPr>
              <a:t>Participants will build visualizations from their analysis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Arial"/>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Arial"/>
              </a:defRPr>
            </a:pPr>
            <a:r>
              <a:t>90 minutes • Back at 14:00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Activity: Creating Reports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b="1">
                <a:solidFill>
                  <a:srgbClr val="333333"/>
                </a:solidFill>
                <a:latin typeface="Arial"/>
              </a:rPr>
              <a:t>In this hands-on session, we will:</a:t>
            </a:r>
          </a:p>
          <a:p>
            <a:pPr>
              <a:spcAft>
                <a:spcPts val="400"/>
              </a:spcAft>
            </a:pPr>
            <a:r>
              <a:rPr sz="1600">
                <a:solidFill>
                  <a:srgbClr val="2C3E50"/>
                </a:solidFill>
                <a:latin typeface="Arial"/>
              </a:rPr>
              <a:t>• Use report templates</a:t>
            </a:r>
          </a:p>
          <a:p>
            <a:pPr>
              <a:spcAft>
                <a:spcPts val="400"/>
              </a:spcAft>
            </a:pPr>
            <a:r>
              <a:rPr sz="1600">
                <a:solidFill>
                  <a:srgbClr val="2C3E50"/>
                </a:solidFill>
                <a:latin typeface="Arial"/>
              </a:rPr>
              <a:t>• Generate automated reports</a:t>
            </a:r>
          </a:p>
          <a:p>
            <a:pPr>
              <a:spcAft>
                <a:spcPts val="400"/>
              </a:spcAft>
            </a:pPr>
            <a:r>
              <a:rPr sz="1600">
                <a:solidFill>
                  <a:srgbClr val="2C3E50"/>
                </a:solidFill>
                <a:latin typeface="Arial"/>
              </a:rPr>
              <a:t>• Customize report content and layout</a:t>
            </a:r>
          </a:p>
          <a:p>
            <a:pPr>
              <a:spcAft>
                <a:spcPts val="1000"/>
              </a:spcAft>
            </a:pPr>
            <a:r>
              <a:rPr sz="1600" i="1">
                <a:solidFill>
                  <a:srgbClr val="333333"/>
                </a:solidFill>
                <a:latin typeface="Arial"/>
              </a:rPr>
              <a:t>Participants will create their first quarterly report draft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Day 3</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Recap</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On Day 2, we covered:</a:t>
            </a:r>
          </a:p>
          <a:p>
            <a:pPr>
              <a:spcAft>
                <a:spcPts val="400"/>
              </a:spcAft>
            </a:pPr>
            <a:r>
              <a:rPr sz="1600">
                <a:solidFill>
                  <a:srgbClr val="2C3E50"/>
                </a:solidFill>
                <a:latin typeface="Arial"/>
              </a:rPr>
              <a:t>• FASTR methods for data quality assessment and adjustment</a:t>
            </a:r>
          </a:p>
          <a:p>
            <a:pPr>
              <a:spcAft>
                <a:spcPts val="400"/>
              </a:spcAft>
            </a:pPr>
            <a:r>
              <a:rPr sz="1600">
                <a:solidFill>
                  <a:srgbClr val="2C3E50"/>
                </a:solidFill>
                <a:latin typeface="Arial"/>
              </a:rPr>
              <a:t>• Creating and configuring projects in the platform</a:t>
            </a:r>
          </a:p>
          <a:p>
            <a:pPr>
              <a:spcAft>
                <a:spcPts val="400"/>
              </a:spcAft>
            </a:pPr>
            <a:r>
              <a:rPr sz="1600">
                <a:solidFill>
                  <a:srgbClr val="2C3E50"/>
                </a:solidFill>
                <a:latin typeface="Arial"/>
              </a:rPr>
              <a:t>• Building visualizations from Zambia data</a:t>
            </a:r>
          </a:p>
          <a:p>
            <a:pPr>
              <a:spcAft>
                <a:spcPts val="400"/>
              </a:spcAft>
            </a:pPr>
            <a:r>
              <a:rPr sz="1600">
                <a:solidFill>
                  <a:srgbClr val="2C3E50"/>
                </a:solidFill>
                <a:latin typeface="Arial"/>
              </a:rPr>
              <a:t>• Generating reports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Day 3 Focus</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Today we move from analysis to action:</a:t>
            </a:r>
          </a:p>
          <a:p>
            <a:pPr>
              <a:spcAft>
                <a:spcPts val="400"/>
              </a:spcAft>
            </a:pPr>
            <a:r>
              <a:rPr sz="1600">
                <a:solidFill>
                  <a:srgbClr val="2C3E50"/>
                </a:solidFill>
                <a:latin typeface="Arial"/>
              </a:rPr>
              <a:t>• Deep dive into interpretation of results</a:t>
            </a:r>
          </a:p>
          <a:p>
            <a:pPr>
              <a:spcAft>
                <a:spcPts val="400"/>
              </a:spcAft>
            </a:pPr>
            <a:r>
              <a:rPr sz="1600">
                <a:solidFill>
                  <a:srgbClr val="2C3E50"/>
                </a:solidFill>
                <a:latin typeface="Arial"/>
              </a:rPr>
              <a:t>• Create the Q4 2025 quarterly report</a:t>
            </a:r>
          </a:p>
          <a:p>
            <a:pPr>
              <a:spcAft>
                <a:spcPts val="400"/>
              </a:spcAft>
            </a:pPr>
            <a:r>
              <a:rPr sz="1600">
                <a:solidFill>
                  <a:srgbClr val="2C3E50"/>
                </a:solidFill>
                <a:latin typeface="Arial"/>
              </a:rPr>
              <a:t>• Present findings to the group</a:t>
            </a:r>
          </a:p>
          <a:p>
            <a:pPr>
              <a:spcAft>
                <a:spcPts val="400"/>
              </a:spcAft>
            </a:pPr>
            <a:r>
              <a:rPr sz="1600">
                <a:solidFill>
                  <a:srgbClr val="2C3E50"/>
                </a:solidFill>
                <a:latin typeface="Arial"/>
              </a:rPr>
              <a:t>• Develop action plans for continued work</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Analytical thinking &amp; interpretation</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i="1">
                <a:solidFill>
                  <a:srgbClr val="333333"/>
                </a:solidFill>
                <a:latin typeface="Arial"/>
              </a:rPr>
              <a:t>Content to be developed</a:t>
            </a:r>
          </a:p>
          <a:p>
            <a:pPr>
              <a:spcAft>
                <a:spcPts val="1000"/>
              </a:spcAft>
            </a:pPr>
            <a:r>
              <a:rPr sz="1600">
                <a:solidFill>
                  <a:srgbClr val="333333"/>
                </a:solidFill>
                <a:latin typeface="Arial"/>
              </a:rPr>
              <a:t>This section will cover:</a:t>
            </a:r>
          </a:p>
          <a:p>
            <a:pPr>
              <a:spcAft>
                <a:spcPts val="400"/>
              </a:spcAft>
            </a:pPr>
            <a:r>
              <a:rPr sz="1600">
                <a:solidFill>
                  <a:srgbClr val="2C3E50"/>
                </a:solidFill>
                <a:latin typeface="Arial"/>
              </a:rPr>
              <a:t>• Frameworks for interpreting FASTR outputs</a:t>
            </a:r>
          </a:p>
          <a:p>
            <a:pPr>
              <a:spcAft>
                <a:spcPts val="400"/>
              </a:spcAft>
            </a:pPr>
            <a:r>
              <a:rPr sz="1600">
                <a:solidFill>
                  <a:srgbClr val="2C3E50"/>
                </a:solidFill>
                <a:latin typeface="Arial"/>
              </a:rPr>
              <a:t>• Connecting data patterns to programmatic meaning</a:t>
            </a:r>
          </a:p>
          <a:p>
            <a:pPr>
              <a:spcAft>
                <a:spcPts val="400"/>
              </a:spcAft>
            </a:pPr>
            <a:r>
              <a:rPr sz="1600">
                <a:solidFill>
                  <a:srgbClr val="2C3E50"/>
                </a:solidFill>
                <a:latin typeface="Arial"/>
              </a:rPr>
              <a:t>• Common interpretation pitfalls to avoid</a:t>
            </a:r>
          </a:p>
          <a:p>
            <a:pPr>
              <a:spcAft>
                <a:spcPts val="400"/>
              </a:spcAft>
            </a:pPr>
            <a:r>
              <a:rPr sz="1600">
                <a:solidFill>
                  <a:srgbClr val="2C3E50"/>
                </a:solidFill>
                <a:latin typeface="Arial"/>
              </a:rPr>
              <a:t>• Building analytical thinking skills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Generating quarterly reporting products</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i="1">
                <a:solidFill>
                  <a:srgbClr val="333333"/>
                </a:solidFill>
                <a:latin typeface="Arial"/>
              </a:rPr>
              <a:t>Content to be developed</a:t>
            </a:r>
          </a:p>
          <a:p>
            <a:pPr>
              <a:spcAft>
                <a:spcPts val="1000"/>
              </a:spcAft>
            </a:pPr>
            <a:r>
              <a:rPr sz="1600">
                <a:solidFill>
                  <a:srgbClr val="333333"/>
                </a:solidFill>
                <a:latin typeface="Arial"/>
              </a:rPr>
              <a:t>This section will cover:</a:t>
            </a:r>
          </a:p>
          <a:p>
            <a:pPr>
              <a:spcAft>
                <a:spcPts val="400"/>
              </a:spcAft>
            </a:pPr>
            <a:r>
              <a:rPr sz="1600">
                <a:solidFill>
                  <a:srgbClr val="2C3E50"/>
                </a:solidFill>
                <a:latin typeface="Arial"/>
              </a:rPr>
              <a:t>• Quarterly reporting workflow</a:t>
            </a:r>
          </a:p>
          <a:p>
            <a:pPr>
              <a:spcAft>
                <a:spcPts val="400"/>
              </a:spcAft>
            </a:pPr>
            <a:r>
              <a:rPr sz="1600">
                <a:solidFill>
                  <a:srgbClr val="2C3E50"/>
                </a:solidFill>
                <a:latin typeface="Arial"/>
              </a:rPr>
              <a:t>• Using the FASTR platform for automated reports</a:t>
            </a:r>
          </a:p>
          <a:p>
            <a:pPr>
              <a:spcAft>
                <a:spcPts val="400"/>
              </a:spcAft>
            </a:pPr>
            <a:r>
              <a:rPr sz="1600">
                <a:solidFill>
                  <a:srgbClr val="2C3E50"/>
                </a:solidFill>
                <a:latin typeface="Arial"/>
              </a:rPr>
              <a:t>• Quality assurance for reports</a:t>
            </a:r>
          </a:p>
          <a:p>
            <a:pPr>
              <a:spcAft>
                <a:spcPts val="400"/>
              </a:spcAft>
            </a:pPr>
            <a:r>
              <a:rPr sz="1600">
                <a:solidFill>
                  <a:srgbClr val="2C3E50"/>
                </a:solidFill>
                <a:latin typeface="Arial"/>
              </a:rPr>
              <a:t>• Distribution and feedback mechanisms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Arial"/>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Arial"/>
              </a:defRPr>
            </a:pPr>
            <a:r>
              <a:t>90 minutes • Back at 14:00</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End user mapping</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End user mapping helps ensure that our outputs will meet the real needs of our end users.</a:t>
            </a:r>
          </a:p>
          <a:p>
            <a:pPr>
              <a:spcAft>
                <a:spcPts val="600"/>
              </a:spcAft>
              <a:defRPr sz="2200" b="1" i="0">
                <a:solidFill>
                  <a:srgbClr val="7A1F6E"/>
                </a:solidFill>
                <a:latin typeface="Arial"/>
              </a:defRPr>
            </a:pPr>
            <a:r>
              <a:t>Key questions</a:t>
            </a:r>
          </a:p>
          <a:p>
            <a:pPr>
              <a:spcAft>
                <a:spcPts val="400"/>
              </a:spcAft>
            </a:pPr>
            <a:r>
              <a:rPr sz="1600">
                <a:solidFill>
                  <a:srgbClr val="2C3E50"/>
                </a:solidFill>
                <a:latin typeface="Arial"/>
              </a:rPr>
              <a:t>• </a:t>
            </a:r>
            <a:r>
              <a:rPr sz="1600" b="1">
                <a:solidFill>
                  <a:srgbClr val="2C3E50"/>
                </a:solidFill>
                <a:latin typeface="Arial"/>
              </a:rPr>
              <a:t>Who is my end user?</a:t>
            </a:r>
          </a:p>
          <a:p>
            <a:pPr>
              <a:spcAft>
                <a:spcPts val="400"/>
              </a:spcAft>
            </a:pPr>
            <a:r>
              <a:rPr sz="1600">
                <a:solidFill>
                  <a:srgbClr val="2C3E50"/>
                </a:solidFill>
                <a:latin typeface="Arial"/>
              </a:rPr>
              <a:t>• </a:t>
            </a:r>
            <a:r>
              <a:rPr sz="1600" b="1">
                <a:solidFill>
                  <a:srgbClr val="2C3E50"/>
                </a:solidFill>
                <a:latin typeface="Arial"/>
              </a:rPr>
              <a:t>What does this end user need to accomplish with the report?</a:t>
            </a:r>
          </a:p>
          <a:p>
            <a:pPr>
              <a:spcAft>
                <a:spcPts val="400"/>
              </a:spcAft>
            </a:pPr>
            <a:r>
              <a:rPr sz="1600">
                <a:solidFill>
                  <a:srgbClr val="2C3E50"/>
                </a:solidFill>
                <a:latin typeface="Arial"/>
              </a:rPr>
              <a:t>• </a:t>
            </a:r>
            <a:r>
              <a:rPr sz="1600" b="1">
                <a:solidFill>
                  <a:srgbClr val="2C3E50"/>
                </a:solidFill>
                <a:latin typeface="Arial"/>
              </a:rPr>
              <a:t>What information are they most interested in?</a:t>
            </a:r>
          </a:p>
          <a:p>
            <a:pPr>
              <a:spcAft>
                <a:spcPts val="400"/>
              </a:spcAft>
            </a:pPr>
            <a:r>
              <a:rPr sz="1600">
                <a:solidFill>
                  <a:srgbClr val="2C3E50"/>
                </a:solidFill>
                <a:latin typeface="Arial"/>
              </a:rPr>
              <a:t>• </a:t>
            </a:r>
            <a:r>
              <a:rPr sz="1600" b="1">
                <a:solidFill>
                  <a:srgbClr val="2C3E50"/>
                </a:solidFill>
                <a:latin typeface="Arial"/>
              </a:rPr>
              <a:t>What do they like/not like about current reports?</a:t>
            </a:r>
          </a:p>
          <a:p>
            <a:pPr>
              <a:spcAft>
                <a:spcPts val="400"/>
              </a:spcAft>
            </a:pPr>
            <a:r>
              <a:rPr sz="1600">
                <a:solidFill>
                  <a:srgbClr val="2C3E50"/>
                </a:solidFill>
                <a:latin typeface="Arial"/>
              </a:rPr>
              <a:t>• </a:t>
            </a:r>
            <a:r>
              <a:rPr sz="1600" b="1">
                <a:solidFill>
                  <a:srgbClr val="2C3E50"/>
                </a:solidFill>
                <a:latin typeface="Arial"/>
              </a:rPr>
              <a:t>How do they like to receive their information?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Day 4</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Recap</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On Day 3, we covered:</a:t>
            </a:r>
          </a:p>
          <a:p>
            <a:pPr>
              <a:spcAft>
                <a:spcPts val="400"/>
              </a:spcAft>
            </a:pPr>
            <a:r>
              <a:rPr sz="1600">
                <a:solidFill>
                  <a:srgbClr val="2C3E50"/>
                </a:solidFill>
                <a:latin typeface="Arial"/>
              </a:rPr>
              <a:t>• Interpretation of FASTR visualizations</a:t>
            </a:r>
          </a:p>
          <a:p>
            <a:pPr>
              <a:spcAft>
                <a:spcPts val="400"/>
              </a:spcAft>
            </a:pPr>
            <a:r>
              <a:rPr sz="1600">
                <a:solidFill>
                  <a:srgbClr val="2C3E50"/>
                </a:solidFill>
                <a:latin typeface="Arial"/>
              </a:rPr>
              <a:t>• Creation of the Q4 2025 quarterly report</a:t>
            </a:r>
          </a:p>
          <a:p>
            <a:pPr>
              <a:spcAft>
                <a:spcPts val="400"/>
              </a:spcAft>
            </a:pPr>
            <a:r>
              <a:rPr sz="1600">
                <a:solidFill>
                  <a:srgbClr val="2C3E50"/>
                </a:solidFill>
                <a:latin typeface="Arial"/>
              </a:rPr>
              <a:t>• Presentation of findings and group feedback</a:t>
            </a:r>
          </a:p>
          <a:p>
            <a:pPr>
              <a:spcAft>
                <a:spcPts val="400"/>
              </a:spcAft>
            </a:pPr>
            <a:r>
              <a:rPr sz="1600">
                <a:solidFill>
                  <a:srgbClr val="2C3E50"/>
                </a:solidFill>
                <a:latin typeface="Arial"/>
              </a:rPr>
              <a:t>• Action planning for continued platform use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Day 4 Focus</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Today we design the Health Facility Assessment:</a:t>
            </a:r>
          </a:p>
          <a:p>
            <a:pPr>
              <a:spcAft>
                <a:spcPts val="400"/>
              </a:spcAft>
            </a:pPr>
            <a:r>
              <a:rPr sz="1600">
                <a:solidFill>
                  <a:srgbClr val="2C3E50"/>
                </a:solidFill>
                <a:latin typeface="Arial"/>
              </a:rPr>
              <a:t>• Overview of the FASTR HFA phone survey</a:t>
            </a:r>
          </a:p>
          <a:p>
            <a:pPr>
              <a:spcAft>
                <a:spcPts val="400"/>
              </a:spcAft>
            </a:pPr>
            <a:r>
              <a:rPr sz="1600">
                <a:solidFill>
                  <a:srgbClr val="2C3E50"/>
                </a:solidFill>
                <a:latin typeface="Arial"/>
              </a:rPr>
              <a:t>• Review questionnaire structure</a:t>
            </a:r>
          </a:p>
          <a:p>
            <a:pPr>
              <a:spcAft>
                <a:spcPts val="400"/>
              </a:spcAft>
            </a:pPr>
            <a:r>
              <a:rPr sz="1600">
                <a:solidFill>
                  <a:srgbClr val="2C3E50"/>
                </a:solidFill>
                <a:latin typeface="Arial"/>
              </a:rPr>
              <a:t>• Adapt questionnaire for Zambia context</a:t>
            </a:r>
          </a:p>
          <a:p>
            <a:pPr>
              <a:spcAft>
                <a:spcPts val="400"/>
              </a:spcAft>
            </a:pPr>
            <a:r>
              <a:rPr sz="1600">
                <a:solidFill>
                  <a:srgbClr val="2C3E50"/>
                </a:solidFill>
                <a:latin typeface="Arial"/>
              </a:rPr>
              <a:t>• Plan HFA priorities and data use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Arial"/>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57200"/>
          </a:xfrm>
          <a:prstGeom prst="rect">
            <a:avLst/>
          </a:prstGeom>
          <a:noFill/>
        </p:spPr>
        <p:txBody>
          <a:bodyPr wrap="square"/>
          <a:lstStyle/>
          <a:p>
            <a:pPr algn="l">
              <a:defRPr sz="2600" b="1" i="0">
                <a:solidFill>
                  <a:srgbClr val="21568C"/>
                </a:solidFill>
                <a:latin typeface="Arial"/>
              </a:defRPr>
            </a:pPr>
            <a:r>
              <a:t>Health Facility Assessment Phone Survey</a:t>
            </a:r>
          </a:p>
        </p:txBody>
      </p:sp>
      <p:sp>
        <p:nvSpPr>
          <p:cNvPr id="3" name="Rectangle 2"/>
          <p:cNvSpPr/>
          <p:nvPr/>
        </p:nvSpPr>
        <p:spPr>
          <a:xfrm>
            <a:off x="457200" y="960120"/>
            <a:ext cx="2743200" cy="18288"/>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i="1">
                <a:solidFill>
                  <a:srgbClr val="333333"/>
                </a:solidFill>
                <a:latin typeface="Arial"/>
              </a:rPr>
              <a:t>Placeholder: Content to be developed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Arial"/>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Arial"/>
              </a:defRPr>
            </a:pPr>
            <a:r>
              <a:t>90 minutes • Back at 14:00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Next Steps &amp; Action Planning</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Key actions to take after this working session:</a:t>
            </a:r>
          </a:p>
          <a:p>
            <a:pPr>
              <a:spcAft>
                <a:spcPts val="400"/>
              </a:spcAft>
            </a:pPr>
            <a:r>
              <a:rPr sz="1600">
                <a:solidFill>
                  <a:srgbClr val="2C3E50"/>
                </a:solidFill>
                <a:latin typeface="Arial"/>
              </a:rPr>
              <a:t>• Finalize adapted phone survey questionnaire</a:t>
            </a:r>
          </a:p>
          <a:p>
            <a:pPr>
              <a:spcAft>
                <a:spcPts val="400"/>
              </a:spcAft>
            </a:pPr>
            <a:r>
              <a:rPr sz="1600">
                <a:solidFill>
                  <a:srgbClr val="2C3E50"/>
                </a:solidFill>
                <a:latin typeface="Arial"/>
              </a:rPr>
              <a:t>• Complete first quarterly report draft</a:t>
            </a:r>
          </a:p>
          <a:p>
            <a:pPr>
              <a:spcAft>
                <a:spcPts val="400"/>
              </a:spcAft>
            </a:pPr>
            <a:r>
              <a:rPr sz="1600">
                <a:solidFill>
                  <a:srgbClr val="2C3E50"/>
                </a:solidFill>
                <a:latin typeface="Arial"/>
              </a:rPr>
              <a:t>• Train remaining MoH team on data downloader tools</a:t>
            </a:r>
          </a:p>
          <a:p>
            <a:pPr>
              <a:spcAft>
                <a:spcPts val="400"/>
              </a:spcAft>
            </a:pPr>
            <a:r>
              <a:rPr sz="1600">
                <a:solidFill>
                  <a:srgbClr val="2C3E50"/>
                </a:solidFill>
                <a:latin typeface="Arial"/>
              </a:rPr>
              <a:t>• Prepare roadmap for participation in Abuja workshop</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Quarterly Reporting Cycle</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Establish a sustainable reporting rhythm:</a:t>
            </a:r>
          </a:p>
          <a:p>
            <a:pPr>
              <a:spcAft>
                <a:spcPts val="400"/>
              </a:spcAft>
            </a:pPr>
            <a:r>
              <a:rPr sz="1600">
                <a:solidFill>
                  <a:srgbClr val="2C3E50"/>
                </a:solidFill>
                <a:latin typeface="Arial"/>
              </a:rPr>
              <a:t>• Define quarterly report timeline and responsibilities</a:t>
            </a:r>
          </a:p>
          <a:p>
            <a:pPr>
              <a:spcAft>
                <a:spcPts val="400"/>
              </a:spcAft>
            </a:pPr>
            <a:r>
              <a:rPr sz="1600">
                <a:solidFill>
                  <a:srgbClr val="2C3E50"/>
                </a:solidFill>
                <a:latin typeface="Arial"/>
              </a:rPr>
              <a:t>• Set up data extraction schedule</a:t>
            </a:r>
          </a:p>
          <a:p>
            <a:pPr>
              <a:spcAft>
                <a:spcPts val="400"/>
              </a:spcAft>
            </a:pPr>
            <a:r>
              <a:rPr sz="1600">
                <a:solidFill>
                  <a:srgbClr val="2C3E50"/>
                </a:solidFill>
                <a:latin typeface="Arial"/>
              </a:rPr>
              <a:t>• Establish review and approval process</a:t>
            </a:r>
          </a:p>
          <a:p>
            <a:pPr>
              <a:spcAft>
                <a:spcPts val="400"/>
              </a:spcAft>
            </a:pPr>
            <a:r>
              <a:rPr sz="1600">
                <a:solidFill>
                  <a:srgbClr val="2C3E50"/>
                </a:solidFill>
                <a:latin typeface="Arial"/>
              </a:rPr>
              <a:t>• Plan dissemination to stakeholders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Continued Platform Usage</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Maintain momentum with the FASTR platform:</a:t>
            </a:r>
          </a:p>
          <a:p>
            <a:pPr>
              <a:spcAft>
                <a:spcPts val="400"/>
              </a:spcAft>
            </a:pPr>
            <a:r>
              <a:rPr sz="1600">
                <a:solidFill>
                  <a:srgbClr val="2C3E50"/>
                </a:solidFill>
                <a:latin typeface="Arial"/>
              </a:rPr>
              <a:t>• Regular data updates and quality checks</a:t>
            </a:r>
          </a:p>
          <a:p>
            <a:pPr>
              <a:spcAft>
                <a:spcPts val="400"/>
              </a:spcAft>
            </a:pPr>
            <a:r>
              <a:rPr sz="1600">
                <a:solidFill>
                  <a:srgbClr val="2C3E50"/>
                </a:solidFill>
                <a:latin typeface="Arial"/>
              </a:rPr>
              <a:t>• Expanding analysis to additional indicators</a:t>
            </a:r>
          </a:p>
          <a:p>
            <a:pPr>
              <a:spcAft>
                <a:spcPts val="400"/>
              </a:spcAft>
            </a:pPr>
            <a:r>
              <a:rPr sz="1600">
                <a:solidFill>
                  <a:srgbClr val="2C3E50"/>
                </a:solidFill>
                <a:latin typeface="Arial"/>
              </a:rPr>
              <a:t>• Building capacity across MoH teams</a:t>
            </a:r>
          </a:p>
          <a:p>
            <a:pPr>
              <a:spcAft>
                <a:spcPts val="400"/>
              </a:spcAft>
            </a:pPr>
            <a:r>
              <a:rPr sz="1600">
                <a:solidFill>
                  <a:srgbClr val="2C3E50"/>
                </a:solidFill>
                <a:latin typeface="Arial"/>
              </a:rPr>
              <a:t>• Documentation of lessons learned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Workshop Closing</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Thank you for your participation!</a:t>
            </a:r>
          </a:p>
          <a:p>
            <a:pPr>
              <a:spcAft>
                <a:spcPts val="1000"/>
              </a:spcAft>
            </a:pPr>
            <a:r>
              <a:rPr sz="1600">
                <a:solidFill>
                  <a:srgbClr val="333333"/>
                </a:solidFill>
                <a:latin typeface="Arial"/>
              </a:rPr>
              <a:t>Over the past four days, we have:</a:t>
            </a:r>
          </a:p>
          <a:p>
            <a:pPr>
              <a:spcAft>
                <a:spcPts val="400"/>
              </a:spcAft>
            </a:pPr>
            <a:r>
              <a:rPr sz="1600">
                <a:solidFill>
                  <a:srgbClr val="2C3E50"/>
                </a:solidFill>
                <a:latin typeface="Arial"/>
              </a:rPr>
              <a:t>• Configured the FASTR platform for Zambia</a:t>
            </a:r>
          </a:p>
          <a:p>
            <a:pPr>
              <a:spcAft>
                <a:spcPts val="400"/>
              </a:spcAft>
            </a:pPr>
            <a:r>
              <a:rPr sz="1600">
                <a:solidFill>
                  <a:srgbClr val="2C3E50"/>
                </a:solidFill>
                <a:latin typeface="Arial"/>
              </a:rPr>
              <a:t>• Created the first quarterly RMNCAH-N report</a:t>
            </a:r>
          </a:p>
          <a:p>
            <a:pPr>
              <a:spcAft>
                <a:spcPts val="400"/>
              </a:spcAft>
            </a:pPr>
            <a:r>
              <a:rPr sz="1600">
                <a:solidFill>
                  <a:srgbClr val="2C3E50"/>
                </a:solidFill>
                <a:latin typeface="Arial"/>
              </a:rPr>
              <a:t>• Adapted the HFA questionnaire for local context</a:t>
            </a:r>
          </a:p>
          <a:p>
            <a:pPr>
              <a:spcAft>
                <a:spcPts val="400"/>
              </a:spcAft>
            </a:pPr>
            <a:r>
              <a:rPr sz="1600">
                <a:solidFill>
                  <a:srgbClr val="2C3E50"/>
                </a:solidFill>
                <a:latin typeface="Arial"/>
              </a:rPr>
              <a:t>• Built capacity for ongoing analysis and reporting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Stay Connected</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Continue the journey:</a:t>
            </a:r>
          </a:p>
          <a:p>
            <a:pPr>
              <a:spcAft>
                <a:spcPts val="400"/>
              </a:spcAft>
            </a:pPr>
            <a:r>
              <a:rPr sz="1600">
                <a:solidFill>
                  <a:srgbClr val="2C3E50"/>
                </a:solidFill>
                <a:latin typeface="Arial"/>
              </a:rPr>
              <a:t>• Platform access and support</a:t>
            </a:r>
          </a:p>
          <a:p>
            <a:pPr>
              <a:spcAft>
                <a:spcPts val="400"/>
              </a:spcAft>
            </a:pPr>
            <a:r>
              <a:rPr sz="1600">
                <a:solidFill>
                  <a:srgbClr val="2C3E50"/>
                </a:solidFill>
                <a:latin typeface="Arial"/>
              </a:rPr>
              <a:t>• Quarterly report submissions</a:t>
            </a:r>
          </a:p>
          <a:p>
            <a:pPr>
              <a:spcAft>
                <a:spcPts val="400"/>
              </a:spcAft>
            </a:pPr>
            <a:r>
              <a:rPr sz="1600">
                <a:solidFill>
                  <a:srgbClr val="2C3E50"/>
                </a:solidFill>
                <a:latin typeface="Arial"/>
              </a:rPr>
              <a:t>• Multi-country workshop in Abuja</a:t>
            </a:r>
          </a:p>
          <a:p>
            <a:pPr>
              <a:spcAft>
                <a:spcPts val="400"/>
              </a:spcAft>
            </a:pPr>
            <a:r>
              <a:rPr sz="1600">
                <a:solidFill>
                  <a:srgbClr val="2C3E50"/>
                </a:solidFill>
                <a:latin typeface="Arial"/>
              </a:rPr>
              <a:t>• Ongoing technical assistance from GFF team</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Thank You</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5212080"/>
          </a:xfrm>
          <a:prstGeom prst="rect">
            <a:avLst/>
          </a:prstGeom>
          <a:noFill/>
        </p:spPr>
        <p:txBody>
          <a:bodyPr wrap="square">
            <a:spAutoFit/>
          </a:bodyPr>
          <a:lstStyle/>
          <a:p>
            <a:pPr>
              <a:spcAft>
                <a:spcPts val="1000"/>
              </a:spcAft>
            </a:pPr>
            <a:r>
              <a:rPr sz="1600">
                <a:solidFill>
                  <a:srgbClr val="333333"/>
                </a:solidFill>
                <a:latin typeface="Arial"/>
              </a:rPr>
              <a:t>FASTR Working Session - Zambia</a:t>
            </a:r>
          </a:p>
          <a:p>
            <a:pPr>
              <a:spcAft>
                <a:spcPts val="1000"/>
              </a:spcAft>
            </a:pPr>
            <a:r>
              <a:rPr sz="1600">
                <a:solidFill>
                  <a:srgbClr val="333333"/>
                </a:solidFill>
                <a:latin typeface="Arial"/>
              </a:rPr>
              <a:t>January 27-30, 2026</a:t>
            </a:r>
          </a:p>
          <a:p>
            <a:pPr>
              <a:spcAft>
                <a:spcPts val="1000"/>
              </a:spcAft>
            </a:pPr>
            <a:r>
              <a:rPr sz="1600">
                <a:solidFill>
                  <a:srgbClr val="333333"/>
                </a:solidFill>
                <a:latin typeface="Arial"/>
              </a:rPr>
              <a:t>Lusaka</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48640"/>
          </a:xfrm>
          <a:prstGeom prst="rect">
            <a:avLst/>
          </a:prstGeom>
          <a:noFill/>
        </p:spPr>
        <p:txBody>
          <a:bodyPr wrap="square"/>
          <a:lstStyle/>
          <a:p>
            <a:pPr algn="l">
              <a:defRPr sz="3200" b="1" i="0">
                <a:solidFill>
                  <a:srgbClr val="09544F"/>
                </a:solidFill>
                <a:latin typeface="Arial"/>
              </a:defRPr>
            </a:pPr>
            <a:r>
              <a:t>Contact Information</a:t>
            </a:r>
          </a:p>
        </p:txBody>
      </p:sp>
      <p:sp>
        <p:nvSpPr>
          <p:cNvPr id="3" name="Rectangle 2"/>
          <p:cNvSpPr/>
          <p:nvPr/>
        </p:nvSpPr>
        <p:spPr>
          <a:xfrm>
            <a:off x="457200" y="1051560"/>
            <a:ext cx="3657600" cy="2286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mail.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457200" y="5303520"/>
            <a:ext cx="11277295" cy="1371600"/>
          </a:xfrm>
          <a:prstGeom prst="rect">
            <a:avLst/>
          </a:prstGeom>
          <a:noFill/>
        </p:spPr>
        <p:txBody>
          <a:bodyPr wrap="square">
            <a:spAutoFit/>
          </a:bodyPr>
          <a:lstStyle/>
          <a:p>
            <a:pPr>
              <a:spcAft>
                <a:spcPts val="600"/>
              </a:spcAft>
            </a:pPr>
            <a:r>
              <a:rPr sz="1600" b="1">
                <a:solidFill>
                  <a:srgbClr val="333333"/>
                </a:solidFill>
                <a:latin typeface="Arial"/>
              </a:rPr>
              <a:t>FASTR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