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2895" cy="1097280"/>
          </a:xfrm>
          <a:prstGeom prst="rect">
            <a:avLst/>
          </a:prstGeom>
          <a:noFill/>
        </p:spPr>
        <p:txBody>
          <a:bodyPr wrap="square"/>
          <a:lstStyle/>
          <a:p>
            <a:pPr algn="ctr">
              <a:defRPr sz="3200" b="1" i="0">
                <a:solidFill>
                  <a:srgbClr val="09544F"/>
                </a:solidFill>
                <a:latin typeface="Arial"/>
              </a:defRPr>
            </a:pPr>
            <a:r>
              <a:t>In-Country Working Session: FASTR Implementation &amp; RMNCAH-N Service Monitoring Analysis</a:t>
            </a:r>
          </a:p>
        </p:txBody>
      </p:sp>
      <p:sp>
        <p:nvSpPr>
          <p:cNvPr id="3" name="Rectangle 2"/>
          <p:cNvSpPr/>
          <p:nvPr/>
        </p:nvSpPr>
        <p:spPr>
          <a:xfrm>
            <a:off x="2743200" y="2926080"/>
            <a:ext cx="6705295" cy="54864"/>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00400"/>
            <a:ext cx="10362895" cy="457200"/>
          </a:xfrm>
          <a:prstGeom prst="rect">
            <a:avLst/>
          </a:prstGeom>
          <a:noFill/>
        </p:spPr>
        <p:txBody>
          <a:bodyPr wrap="square"/>
          <a:lstStyle/>
          <a:p>
            <a:pPr algn="ctr">
              <a:defRPr sz="2600" b="0" i="0">
                <a:solidFill>
                  <a:srgbClr val="21568C"/>
                </a:solidFill>
                <a:latin typeface="Arial"/>
              </a:defRPr>
            </a:pPr>
            <a:r>
              <a:t>January 27-30, 2026 | Lusaka</a:t>
            </a:r>
          </a:p>
        </p:txBody>
      </p:sp>
      <p:sp>
        <p:nvSpPr>
          <p:cNvPr id="5" name="TextBox 4"/>
          <p:cNvSpPr txBox="1"/>
          <p:nvPr/>
        </p:nvSpPr>
        <p:spPr>
          <a:xfrm>
            <a:off x="914400" y="3840480"/>
            <a:ext cx="10362895" cy="365760"/>
          </a:xfrm>
          <a:prstGeom prst="rect">
            <a:avLst/>
          </a:prstGeom>
          <a:noFill/>
        </p:spPr>
        <p:txBody>
          <a:bodyPr wrap="square"/>
          <a:lstStyle/>
          <a:p>
            <a:pPr algn="ctr">
              <a:defRPr sz="1600" b="0" i="0">
                <a:solidFill>
                  <a:srgbClr val="2C3E50"/>
                </a:solidFill>
                <a:latin typeface="Arial"/>
              </a:defRPr>
            </a:pPr>
            <a:br/>
            <a:br/>
          </a:p>
        </p:txBody>
      </p:sp>
      <p:pic>
        <p:nvPicPr>
          <p:cNvPr id="6" name="Picture 5" descr="FASTR_Primary_01_FullName.png"/>
          <p:cNvPicPr>
            <a:picLocks noChangeAspect="1"/>
          </p:cNvPicPr>
          <p:nvPr/>
        </p:nvPicPr>
        <p:blipFill>
          <a:blip r:embed="rId2"/>
          <a:stretch>
            <a:fillRect/>
          </a:stretch>
        </p:blipFill>
        <p:spPr>
          <a:xfrm>
            <a:off x="9601200" y="5669280"/>
            <a:ext cx="2103120" cy="89203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Agenda</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914400"/>
          <a:ext cx="11247120" cy="4096512"/>
        </p:xfrm>
        <a:graphic>
          <a:graphicData uri="http://schemas.openxmlformats.org/drawingml/2006/table">
            <a:tbl>
              <a:tblPr firstRow="1" bandRow="1">
                <a:tableStyleId>{5C22544A-7EE6-4342-B048-85BDC9FD1C3A}</a:tableStyleId>
              </a:tblPr>
              <a:tblGrid>
                <a:gridCol w="1828800"/>
                <a:gridCol w="7315200"/>
                <a:gridCol w="2103120"/>
              </a:tblGrid>
              <a:tr h="256032">
                <a:tc>
                  <a:txBody>
                    <a:bodyPr wrap="square"/>
                    <a:lstStyle/>
                    <a:p>
                      <a:pPr>
                        <a:defRPr sz="1200" b="1">
                          <a:solidFill>
                            <a:srgbClr val="21568C"/>
                          </a:solidFill>
                          <a:latin typeface="Arial"/>
                        </a:defRPr>
                      </a:pPr>
                      <a:r>
                        <a:t>Time</a:t>
                      </a:r>
                    </a:p>
                  </a:txBody>
                  <a:tcPr>
                    <a:solidFill>
                      <a:srgbClr val="CAE6E9"/>
                    </a:solidFill>
                  </a:tcPr>
                </a:tc>
                <a:tc>
                  <a:txBody>
                    <a:bodyPr wrap="square"/>
                    <a:lstStyle/>
                    <a:p>
                      <a:pPr>
                        <a:defRPr sz="1200" b="1">
                          <a:solidFill>
                            <a:srgbClr val="21568C"/>
                          </a:solidFill>
                          <a:latin typeface="Arial"/>
                        </a:defRPr>
                      </a:pPr>
                      <a:r>
                        <a:t>Agenda</a:t>
                      </a:r>
                    </a:p>
                  </a:txBody>
                  <a:tcPr>
                    <a:solidFill>
                      <a:srgbClr val="CAE6E9"/>
                    </a:solidFill>
                  </a:tcPr>
                </a:tc>
                <a:tc>
                  <a:txBody>
                    <a:bodyPr wrap="square"/>
                    <a:lstStyle/>
                    <a:p>
                      <a:pPr>
                        <a:defRPr sz="1200" b="1">
                          <a:solidFill>
                            <a:srgbClr val="21568C"/>
                          </a:solidFill>
                          <a:latin typeface="Arial"/>
                        </a:defRPr>
                      </a:pPr>
                      <a:r>
                        <a:t>Facilitator/Presenter</a:t>
                      </a:r>
                    </a:p>
                  </a:txBody>
                  <a:tcPr>
                    <a:solidFill>
                      <a:srgbClr val="CAE6E9"/>
                    </a:solidFill>
                  </a:tcPr>
                </a:tc>
              </a:tr>
              <a:tr h="256032">
                <a:tc>
                  <a:txBody>
                    <a:bodyPr wrap="square"/>
                    <a:lstStyle/>
                    <a:p>
                      <a:r>
                        <a:rPr sz="1200" b="1">
                          <a:solidFill>
                            <a:srgbClr val="2C3E50"/>
                          </a:solidFill>
                          <a:latin typeface="Arial"/>
                        </a:rPr>
                        <a:t>Opening Session</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08:30-09:00</a:t>
                      </a:r>
                    </a:p>
                  </a:txBody>
                  <a:tcPr/>
                </a:tc>
                <a:tc>
                  <a:txBody>
                    <a:bodyPr wrap="square"/>
                    <a:lstStyle/>
                    <a:p>
                      <a:r>
                        <a:rPr sz="1200">
                          <a:solidFill>
                            <a:srgbClr val="2C3E50"/>
                          </a:solidFill>
                          <a:latin typeface="Arial"/>
                        </a:rPr>
                        <a:t>Participant registration</a:t>
                      </a:r>
                    </a:p>
                  </a:txBody>
                  <a:tcPr/>
                </a:tc>
                <a:tc>
                  <a:txBody>
                    <a:bodyPr wrap="square"/>
                    <a:lstStyle/>
                    <a:p>
                      <a:r>
                        <a:rPr sz="1200">
                          <a:solidFill>
                            <a:srgbClr val="2C3E50"/>
                          </a:solidFill>
                          <a:latin typeface="Arial"/>
                        </a:rPr>
                        <a:t>MoH team</a:t>
                      </a:r>
                    </a:p>
                  </a:txBody>
                  <a:tcPr/>
                </a:tc>
              </a:tr>
              <a:tr h="256032">
                <a:tc>
                  <a:txBody>
                    <a:bodyPr wrap="square"/>
                    <a:lstStyle/>
                    <a:p>
                      <a:r>
                        <a:rPr sz="1200">
                          <a:solidFill>
                            <a:srgbClr val="2C3E50"/>
                          </a:solidFill>
                          <a:latin typeface="Arial"/>
                        </a:rPr>
                        <a:t>09:00-09:10</a:t>
                      </a:r>
                    </a:p>
                  </a:txBody>
                  <a:tcPr/>
                </a:tc>
                <a:tc>
                  <a:txBody>
                    <a:bodyPr wrap="square"/>
                    <a:lstStyle/>
                    <a:p>
                      <a:r>
                        <a:rPr sz="1200">
                          <a:solidFill>
                            <a:srgbClr val="2C3E50"/>
                          </a:solidFill>
                          <a:latin typeface="Arial"/>
                        </a:rPr>
                        <a:t>Welcome and opening remarks</a:t>
                      </a:r>
                    </a:p>
                  </a:txBody>
                  <a:tcPr/>
                </a:tc>
                <a:tc>
                  <a:txBody>
                    <a:bodyPr wrap="square"/>
                    <a:lstStyle/>
                    <a:p>
                      <a:r>
                        <a:rPr sz="1200">
                          <a:solidFill>
                            <a:srgbClr val="2C3E50"/>
                          </a:solidFill>
                          <a:latin typeface="Arial"/>
                        </a:rPr>
                        <a:t>MoH team</a:t>
                      </a:r>
                    </a:p>
                  </a:txBody>
                  <a:tcPr/>
                </a:tc>
              </a:tr>
              <a:tr h="256032">
                <a:tc>
                  <a:txBody>
                    <a:bodyPr wrap="square"/>
                    <a:lstStyle/>
                    <a:p>
                      <a:r>
                        <a:rPr sz="1200">
                          <a:solidFill>
                            <a:srgbClr val="2C3E50"/>
                          </a:solidFill>
                          <a:latin typeface="Arial"/>
                        </a:rPr>
                        <a:t>09:10-09:20</a:t>
                      </a:r>
                    </a:p>
                  </a:txBody>
                  <a:tcPr/>
                </a:tc>
                <a:tc>
                  <a:txBody>
                    <a:bodyPr wrap="square"/>
                    <a:lstStyle/>
                    <a:p>
                      <a:r>
                        <a:rPr sz="1200">
                          <a:solidFill>
                            <a:srgbClr val="2C3E50"/>
                          </a:solidFill>
                          <a:latin typeface="Arial"/>
                        </a:rPr>
                        <a:t>Icebreakers/Introductions</a:t>
                      </a:r>
                    </a:p>
                  </a:txBody>
                  <a:tcPr/>
                </a:tc>
                <a:tc>
                  <a:txBody>
                    <a:bodyPr wrap="square"/>
                    <a:lstStyle/>
                    <a:p>
                      <a:r>
                        <a:rPr sz="1200">
                          <a:solidFill>
                            <a:srgbClr val="2C3E50"/>
                          </a:solidFill>
                          <a:latin typeface="Arial"/>
                        </a:rPr>
                        <a:t>MoH team</a:t>
                      </a:r>
                    </a:p>
                  </a:txBody>
                  <a:tcPr/>
                </a:tc>
              </a:tr>
              <a:tr h="256032">
                <a:tc>
                  <a:txBody>
                    <a:bodyPr wrap="square"/>
                    <a:lstStyle/>
                    <a:p>
                      <a:r>
                        <a:rPr sz="1200">
                          <a:solidFill>
                            <a:srgbClr val="2C3E50"/>
                          </a:solidFill>
                          <a:latin typeface="Arial"/>
                        </a:rPr>
                        <a:t>09:20-09:35</a:t>
                      </a:r>
                    </a:p>
                  </a:txBody>
                  <a:tcPr/>
                </a:tc>
                <a:tc>
                  <a:txBody>
                    <a:bodyPr wrap="square"/>
                    <a:lstStyle/>
                    <a:p>
                      <a:r>
                        <a:rPr sz="1200">
                          <a:solidFill>
                            <a:srgbClr val="2C3E50"/>
                          </a:solidFill>
                          <a:latin typeface="Arial"/>
                        </a:rPr>
                        <a:t>Overview of agenda, workshop objectives</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1: Overview of the FASTR approach</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09:35-10:30</a:t>
                      </a:r>
                    </a:p>
                  </a:txBody>
                  <a:tcPr/>
                </a:tc>
                <a:tc>
                  <a:txBody>
                    <a:bodyPr wrap="square"/>
                    <a:lstStyle/>
                    <a:p>
                      <a:r>
                        <a:rPr sz="1200">
                          <a:solidFill>
                            <a:srgbClr val="2C3E50"/>
                          </a:solidFill>
                          <a:latin typeface="Arial"/>
                        </a:rPr>
                        <a:t>Overview: FASTR Approaches</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2: HMIS data extraction</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10:30-11:30</a:t>
                      </a:r>
                    </a:p>
                  </a:txBody>
                  <a:tcPr/>
                </a:tc>
                <a:tc>
                  <a:txBody>
                    <a:bodyPr wrap="square"/>
                    <a:lstStyle/>
                    <a:p>
                      <a:r>
                        <a:rPr sz="1200">
                          <a:solidFill>
                            <a:srgbClr val="2C3E50"/>
                          </a:solidFill>
                          <a:latin typeface="Arial"/>
                        </a:rPr>
                        <a:t>Data extraction: Rationale and methods</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3: Introduction to the FASTR analytics platform</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11:30-12:30</a:t>
                      </a:r>
                    </a:p>
                  </a:txBody>
                  <a:tcPr/>
                </a:tc>
                <a:tc>
                  <a:txBody>
                    <a:bodyPr wrap="square"/>
                    <a:lstStyle/>
                    <a:p>
                      <a:r>
                        <a:rPr sz="1200">
                          <a:solidFill>
                            <a:srgbClr val="2C3E50"/>
                          </a:solidFill>
                          <a:latin typeface="Arial"/>
                        </a:rPr>
                        <a:t>Introduction to the FASTR analytics platform</a:t>
                      </a:r>
                    </a:p>
                  </a:txBody>
                  <a:tcPr/>
                </a:tc>
                <a:tc>
                  <a:txBody>
                    <a:bodyPr wrap="square"/>
                    <a:lstStyle/>
                    <a:p>
                      <a:r>
                        <a:rPr sz="1200">
                          <a:solidFill>
                            <a:srgbClr val="2C3E50"/>
                          </a:solidFill>
                          <a:latin typeface="Arial"/>
                        </a:rPr>
                        <a:t>GFF FASTR team</a:t>
                      </a:r>
                    </a:p>
                  </a:txBody>
                  <a:tcPr/>
                </a:tc>
              </a:tr>
              <a:tr h="256032">
                <a:tc>
                  <a:txBody>
                    <a:bodyPr wrap="square"/>
                    <a:lstStyle/>
                    <a:p>
                      <a:r>
                        <a:rPr sz="1200">
                          <a:solidFill>
                            <a:srgbClr val="2C3E50"/>
                          </a:solidFill>
                          <a:latin typeface="Arial"/>
                        </a:rPr>
                        <a:t>12:30-14:00</a:t>
                      </a:r>
                    </a:p>
                  </a:txBody>
                  <a:tcPr/>
                </a:tc>
                <a:tc>
                  <a:txBody>
                    <a:bodyPr wrap="square"/>
                    <a:lstStyle/>
                    <a:p>
                      <a:r>
                        <a:rPr sz="1200" i="1">
                          <a:solidFill>
                            <a:srgbClr val="2C3E50"/>
                          </a:solidFill>
                          <a:latin typeface="Arial"/>
                        </a:rPr>
                        <a:t>Lunch Break</a:t>
                      </a:r>
                    </a:p>
                  </a:txBody>
                  <a:tcPr/>
                </a:tc>
                <a:tc>
                  <a:txBody>
                    <a:bodyPr wrap="square"/>
                    <a:lstStyle/>
                    <a:p/>
                  </a:txBody>
                  <a:tcPr/>
                </a:tc>
              </a:tr>
              <a:tr h="256032">
                <a:tc>
                  <a:txBody>
                    <a:bodyPr wrap="square"/>
                    <a:lstStyle/>
                    <a:p>
                      <a:r>
                        <a:rPr sz="1200">
                          <a:solidFill>
                            <a:srgbClr val="2C3E50"/>
                          </a:solidFill>
                          <a:latin typeface="Arial"/>
                        </a:rPr>
                        <a:t>14:00-14:30</a:t>
                      </a:r>
                    </a:p>
                  </a:txBody>
                  <a:tcPr/>
                </a:tc>
                <a:tc>
                  <a:txBody>
                    <a:bodyPr wrap="square"/>
                    <a:lstStyle/>
                    <a:p>
                      <a:r>
                        <a:rPr sz="1200">
                          <a:solidFill>
                            <a:srgbClr val="2C3E50"/>
                          </a:solidFill>
                          <a:latin typeface="Arial"/>
                        </a:rPr>
                        <a:t>Getting participants into the platform</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4: Configuring the FASTR analytics platform</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14:30-16:30</a:t>
                      </a:r>
                    </a:p>
                  </a:txBody>
                  <a:tcPr/>
                </a:tc>
                <a:tc>
                  <a:txBody>
                    <a:bodyPr wrap="square"/>
                    <a:lstStyle/>
                    <a:p>
                      <a:r>
                        <a:rPr sz="1200">
                          <a:solidFill>
                            <a:srgbClr val="2C3E50"/>
                          </a:solidFill>
                          <a:latin typeface="Arial"/>
                        </a:rPr>
                        <a:t>Configuring the analysis platform</a:t>
                      </a:r>
                    </a:p>
                  </a:txBody>
                  <a:tcPr/>
                </a:tc>
                <a:tc>
                  <a:txBody>
                    <a:bodyPr wrap="square"/>
                    <a:lstStyle/>
                    <a:p>
                      <a:r>
                        <a:rPr sz="1200">
                          <a:solidFill>
                            <a:srgbClr val="2C3E50"/>
                          </a:solidFill>
                          <a:latin typeface="Arial"/>
                        </a:rPr>
                        <a:t>GFF FASTR team</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Agenda</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914400"/>
          <a:ext cx="11247120" cy="2816352"/>
        </p:xfrm>
        <a:graphic>
          <a:graphicData uri="http://schemas.openxmlformats.org/drawingml/2006/table">
            <a:tbl>
              <a:tblPr firstRow="1" bandRow="1">
                <a:tableStyleId>{5C22544A-7EE6-4342-B048-85BDC9FD1C3A}</a:tableStyleId>
              </a:tblPr>
              <a:tblGrid>
                <a:gridCol w="1828800"/>
                <a:gridCol w="7315200"/>
                <a:gridCol w="2103120"/>
              </a:tblGrid>
              <a:tr h="256032">
                <a:tc>
                  <a:txBody>
                    <a:bodyPr wrap="square"/>
                    <a:lstStyle/>
                    <a:p>
                      <a:pPr>
                        <a:defRPr sz="1200" b="1">
                          <a:solidFill>
                            <a:srgbClr val="21568C"/>
                          </a:solidFill>
                          <a:latin typeface="Arial"/>
                        </a:defRPr>
                      </a:pPr>
                      <a:r>
                        <a:t>Time</a:t>
                      </a:r>
                    </a:p>
                  </a:txBody>
                  <a:tcPr>
                    <a:solidFill>
                      <a:srgbClr val="CAE6E9"/>
                    </a:solidFill>
                  </a:tcPr>
                </a:tc>
                <a:tc>
                  <a:txBody>
                    <a:bodyPr wrap="square"/>
                    <a:lstStyle/>
                    <a:p>
                      <a:pPr>
                        <a:defRPr sz="1200" b="1">
                          <a:solidFill>
                            <a:srgbClr val="21568C"/>
                          </a:solidFill>
                          <a:latin typeface="Arial"/>
                        </a:defRPr>
                      </a:pPr>
                      <a:r>
                        <a:t>Agenda</a:t>
                      </a:r>
                    </a:p>
                  </a:txBody>
                  <a:tcPr>
                    <a:solidFill>
                      <a:srgbClr val="CAE6E9"/>
                    </a:solidFill>
                  </a:tcPr>
                </a:tc>
                <a:tc>
                  <a:txBody>
                    <a:bodyPr wrap="square"/>
                    <a:lstStyle/>
                    <a:p>
                      <a:pPr>
                        <a:defRPr sz="1200" b="1">
                          <a:solidFill>
                            <a:srgbClr val="21568C"/>
                          </a:solidFill>
                          <a:latin typeface="Arial"/>
                        </a:defRPr>
                      </a:pPr>
                      <a:r>
                        <a:t>Facilitator/Presenter</a:t>
                      </a:r>
                    </a:p>
                  </a:txBody>
                  <a:tcPr>
                    <a:solidFill>
                      <a:srgbClr val="CAE6E9"/>
                    </a:solidFill>
                  </a:tcPr>
                </a:tc>
              </a:tr>
              <a:tr h="256032">
                <a:tc>
                  <a:txBody>
                    <a:bodyPr wrap="square"/>
                    <a:lstStyle/>
                    <a:p>
                      <a:r>
                        <a:rPr sz="1200">
                          <a:solidFill>
                            <a:srgbClr val="2C3E50"/>
                          </a:solidFill>
                          <a:latin typeface="Arial"/>
                        </a:rPr>
                        <a:t>09:00-09:15</a:t>
                      </a:r>
                    </a:p>
                  </a:txBody>
                  <a:tcPr/>
                </a:tc>
                <a:tc>
                  <a:txBody>
                    <a:bodyPr wrap="square"/>
                    <a:lstStyle/>
                    <a:p>
                      <a:r>
                        <a:rPr sz="1200">
                          <a:solidFill>
                            <a:srgbClr val="2C3E50"/>
                          </a:solidFill>
                          <a:latin typeface="Arial"/>
                        </a:rPr>
                        <a:t>Overview of Day 2 agenda</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5: Overview of FASTR methods and analytical outputs</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09:15-10:15</a:t>
                      </a:r>
                    </a:p>
                  </a:txBody>
                  <a:tcPr/>
                </a:tc>
                <a:tc>
                  <a:txBody>
                    <a:bodyPr wrap="square"/>
                    <a:lstStyle/>
                    <a:p>
                      <a:r>
                        <a:rPr sz="1200">
                          <a:solidFill>
                            <a:srgbClr val="2C3E50"/>
                          </a:solidFill>
                          <a:latin typeface="Arial"/>
                        </a:rPr>
                        <a:t>Data quality, service utilization, coverage</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6: Creating a project</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10:15-11:15</a:t>
                      </a:r>
                    </a:p>
                  </a:txBody>
                  <a:tcPr/>
                </a:tc>
                <a:tc>
                  <a:txBody>
                    <a:bodyPr wrap="square"/>
                    <a:lstStyle/>
                    <a:p>
                      <a:r>
                        <a:rPr sz="1200">
                          <a:solidFill>
                            <a:srgbClr val="2C3E50"/>
                          </a:solidFill>
                          <a:latin typeface="Arial"/>
                        </a:rPr>
                        <a:t>Project creation and settings</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7: Creating visualizations</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11:15-12:30</a:t>
                      </a:r>
                    </a:p>
                  </a:txBody>
                  <a:tcPr/>
                </a:tc>
                <a:tc>
                  <a:txBody>
                    <a:bodyPr wrap="square"/>
                    <a:lstStyle/>
                    <a:p>
                      <a:r>
                        <a:rPr sz="1200">
                          <a:solidFill>
                            <a:srgbClr val="2C3E50"/>
                          </a:solidFill>
                          <a:latin typeface="Arial"/>
                        </a:rPr>
                        <a:t>Creating and editing visualizations</a:t>
                      </a:r>
                    </a:p>
                  </a:txBody>
                  <a:tcPr/>
                </a:tc>
                <a:tc>
                  <a:txBody>
                    <a:bodyPr wrap="square"/>
                    <a:lstStyle/>
                    <a:p>
                      <a:r>
                        <a:rPr sz="1200">
                          <a:solidFill>
                            <a:srgbClr val="2C3E50"/>
                          </a:solidFill>
                          <a:latin typeface="Arial"/>
                        </a:rPr>
                        <a:t>GFF FASTR team</a:t>
                      </a:r>
                    </a:p>
                  </a:txBody>
                  <a:tcPr/>
                </a:tc>
              </a:tr>
              <a:tr h="256032">
                <a:tc>
                  <a:txBody>
                    <a:bodyPr wrap="square"/>
                    <a:lstStyle/>
                    <a:p>
                      <a:r>
                        <a:rPr sz="1200">
                          <a:solidFill>
                            <a:srgbClr val="2C3E50"/>
                          </a:solidFill>
                          <a:latin typeface="Arial"/>
                        </a:rPr>
                        <a:t>12:30-14:00</a:t>
                      </a:r>
                    </a:p>
                  </a:txBody>
                  <a:tcPr/>
                </a:tc>
                <a:tc>
                  <a:txBody>
                    <a:bodyPr wrap="square"/>
                    <a:lstStyle/>
                    <a:p>
                      <a:r>
                        <a:rPr sz="1200" i="1">
                          <a:solidFill>
                            <a:srgbClr val="2C3E50"/>
                          </a:solidFill>
                          <a:latin typeface="Arial"/>
                        </a:rPr>
                        <a:t>Lunch Break</a:t>
                      </a:r>
                    </a:p>
                  </a:txBody>
                  <a:tcPr/>
                </a:tc>
                <a:tc>
                  <a:txBody>
                    <a:bodyPr wrap="square"/>
                    <a:lstStyle/>
                    <a:p/>
                  </a:txBody>
                  <a:tcPr/>
                </a:tc>
              </a:tr>
              <a:tr h="256032">
                <a:tc>
                  <a:txBody>
                    <a:bodyPr wrap="square"/>
                    <a:lstStyle/>
                    <a:p>
                      <a:r>
                        <a:rPr sz="1200" b="1">
                          <a:solidFill>
                            <a:srgbClr val="2C3E50"/>
                          </a:solidFill>
                          <a:latin typeface="Arial"/>
                        </a:rPr>
                        <a:t>Session 8: Creating reports</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14:30-16:30</a:t>
                      </a:r>
                    </a:p>
                  </a:txBody>
                  <a:tcPr/>
                </a:tc>
                <a:tc>
                  <a:txBody>
                    <a:bodyPr wrap="square"/>
                    <a:lstStyle/>
                    <a:p>
                      <a:r>
                        <a:rPr sz="1200">
                          <a:solidFill>
                            <a:srgbClr val="2C3E50"/>
                          </a:solidFill>
                          <a:latin typeface="Arial"/>
                        </a:rPr>
                        <a:t>Practice creating and editing reports</a:t>
                      </a:r>
                    </a:p>
                  </a:txBody>
                  <a:tcPr/>
                </a:tc>
                <a:tc>
                  <a:txBody>
                    <a:bodyPr wrap="square"/>
                    <a:lstStyle/>
                    <a:p>
                      <a:r>
                        <a:rPr sz="1200">
                          <a:solidFill>
                            <a:srgbClr val="2C3E50"/>
                          </a:solidFill>
                          <a:latin typeface="Arial"/>
                        </a:rPr>
                        <a:t>GFF FASTR team</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Agenda</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914400"/>
          <a:ext cx="11247120" cy="2816352"/>
        </p:xfrm>
        <a:graphic>
          <a:graphicData uri="http://schemas.openxmlformats.org/drawingml/2006/table">
            <a:tbl>
              <a:tblPr firstRow="1" bandRow="1">
                <a:tableStyleId>{5C22544A-7EE6-4342-B048-85BDC9FD1C3A}</a:tableStyleId>
              </a:tblPr>
              <a:tblGrid>
                <a:gridCol w="1828800"/>
                <a:gridCol w="7315200"/>
                <a:gridCol w="2103120"/>
              </a:tblGrid>
              <a:tr h="256032">
                <a:tc>
                  <a:txBody>
                    <a:bodyPr wrap="square"/>
                    <a:lstStyle/>
                    <a:p>
                      <a:pPr>
                        <a:defRPr sz="1200" b="1">
                          <a:solidFill>
                            <a:srgbClr val="21568C"/>
                          </a:solidFill>
                          <a:latin typeface="Arial"/>
                        </a:defRPr>
                      </a:pPr>
                      <a:r>
                        <a:t>Time</a:t>
                      </a:r>
                    </a:p>
                  </a:txBody>
                  <a:tcPr>
                    <a:solidFill>
                      <a:srgbClr val="CAE6E9"/>
                    </a:solidFill>
                  </a:tcPr>
                </a:tc>
                <a:tc>
                  <a:txBody>
                    <a:bodyPr wrap="square"/>
                    <a:lstStyle/>
                    <a:p>
                      <a:pPr>
                        <a:defRPr sz="1200" b="1">
                          <a:solidFill>
                            <a:srgbClr val="21568C"/>
                          </a:solidFill>
                          <a:latin typeface="Arial"/>
                        </a:defRPr>
                      </a:pPr>
                      <a:r>
                        <a:t>Agenda</a:t>
                      </a:r>
                    </a:p>
                  </a:txBody>
                  <a:tcPr>
                    <a:solidFill>
                      <a:srgbClr val="CAE6E9"/>
                    </a:solidFill>
                  </a:tcPr>
                </a:tc>
                <a:tc>
                  <a:txBody>
                    <a:bodyPr wrap="square"/>
                    <a:lstStyle/>
                    <a:p>
                      <a:pPr>
                        <a:defRPr sz="1200" b="1">
                          <a:solidFill>
                            <a:srgbClr val="21568C"/>
                          </a:solidFill>
                          <a:latin typeface="Arial"/>
                        </a:defRPr>
                      </a:pPr>
                      <a:r>
                        <a:t>Facilitator/Presenter</a:t>
                      </a:r>
                    </a:p>
                  </a:txBody>
                  <a:tcPr>
                    <a:solidFill>
                      <a:srgbClr val="CAE6E9"/>
                    </a:solidFill>
                  </a:tcPr>
                </a:tc>
              </a:tr>
              <a:tr h="256032">
                <a:tc>
                  <a:txBody>
                    <a:bodyPr wrap="square"/>
                    <a:lstStyle/>
                    <a:p>
                      <a:r>
                        <a:rPr sz="1200">
                          <a:solidFill>
                            <a:srgbClr val="2C3E50"/>
                          </a:solidFill>
                          <a:latin typeface="Arial"/>
                        </a:rPr>
                        <a:t>09:00-09:15</a:t>
                      </a:r>
                    </a:p>
                  </a:txBody>
                  <a:tcPr/>
                </a:tc>
                <a:tc>
                  <a:txBody>
                    <a:bodyPr wrap="square"/>
                    <a:lstStyle/>
                    <a:p>
                      <a:r>
                        <a:rPr sz="1200">
                          <a:solidFill>
                            <a:srgbClr val="2C3E50"/>
                          </a:solidFill>
                          <a:latin typeface="Arial"/>
                        </a:rPr>
                        <a:t>Overview of Day 3 agenda</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8: Interpretation of visualizations</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09:15-10:15</a:t>
                      </a:r>
                    </a:p>
                  </a:txBody>
                  <a:tcPr/>
                </a:tc>
                <a:tc>
                  <a:txBody>
                    <a:bodyPr wrap="square"/>
                    <a:lstStyle/>
                    <a:p>
                      <a:r>
                        <a:rPr sz="1200">
                          <a:solidFill>
                            <a:srgbClr val="2C3E50"/>
                          </a:solidFill>
                          <a:latin typeface="Arial"/>
                        </a:rPr>
                        <a:t>Approaches to support interpretation</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9: Creating a Q4 2025 report</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10:15-12:30</a:t>
                      </a:r>
                    </a:p>
                  </a:txBody>
                  <a:tcPr/>
                </a:tc>
                <a:tc>
                  <a:txBody>
                    <a:bodyPr wrap="square"/>
                    <a:lstStyle/>
                    <a:p>
                      <a:r>
                        <a:rPr sz="1200">
                          <a:solidFill>
                            <a:srgbClr val="2C3E50"/>
                          </a:solidFill>
                          <a:latin typeface="Arial"/>
                        </a:rPr>
                        <a:t>Creating short and long reports with country context</a:t>
                      </a:r>
                    </a:p>
                  </a:txBody>
                  <a:tcPr/>
                </a:tc>
                <a:tc>
                  <a:txBody>
                    <a:bodyPr wrap="square"/>
                    <a:lstStyle/>
                    <a:p>
                      <a:r>
                        <a:rPr sz="1200">
                          <a:solidFill>
                            <a:srgbClr val="2C3E50"/>
                          </a:solidFill>
                          <a:latin typeface="Arial"/>
                        </a:rPr>
                        <a:t>GFF FASTR team</a:t>
                      </a:r>
                    </a:p>
                  </a:txBody>
                  <a:tcPr/>
                </a:tc>
              </a:tr>
              <a:tr h="256032">
                <a:tc>
                  <a:txBody>
                    <a:bodyPr wrap="square"/>
                    <a:lstStyle/>
                    <a:p>
                      <a:r>
                        <a:rPr sz="1200">
                          <a:solidFill>
                            <a:srgbClr val="2C3E50"/>
                          </a:solidFill>
                          <a:latin typeface="Arial"/>
                        </a:rPr>
                        <a:t>12:30-14:00</a:t>
                      </a:r>
                    </a:p>
                  </a:txBody>
                  <a:tcPr/>
                </a:tc>
                <a:tc>
                  <a:txBody>
                    <a:bodyPr wrap="square"/>
                    <a:lstStyle/>
                    <a:p>
                      <a:r>
                        <a:rPr sz="1200" i="1">
                          <a:solidFill>
                            <a:srgbClr val="2C3E50"/>
                          </a:solidFill>
                          <a:latin typeface="Arial"/>
                        </a:rPr>
                        <a:t>Lunch Break</a:t>
                      </a:r>
                    </a:p>
                  </a:txBody>
                  <a:tcPr/>
                </a:tc>
                <a:tc>
                  <a:txBody>
                    <a:bodyPr wrap="square"/>
                    <a:lstStyle/>
                    <a:p/>
                  </a:txBody>
                  <a:tcPr/>
                </a:tc>
              </a:tr>
              <a:tr h="256032">
                <a:tc>
                  <a:txBody>
                    <a:bodyPr wrap="square"/>
                    <a:lstStyle/>
                    <a:p>
                      <a:r>
                        <a:rPr sz="1200" b="1">
                          <a:solidFill>
                            <a:srgbClr val="2C3E50"/>
                          </a:solidFill>
                          <a:latin typeface="Arial"/>
                        </a:rPr>
                        <a:t>Session 9 (cont'd): Creating a Q4 2025 report</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14:00-15:00</a:t>
                      </a:r>
                    </a:p>
                  </a:txBody>
                  <a:tcPr/>
                </a:tc>
                <a:tc>
                  <a:txBody>
                    <a:bodyPr wrap="square"/>
                    <a:lstStyle/>
                    <a:p>
                      <a:r>
                        <a:rPr sz="1200">
                          <a:solidFill>
                            <a:srgbClr val="2C3E50"/>
                          </a:solidFill>
                          <a:latin typeface="Arial"/>
                        </a:rPr>
                        <a:t>Continue report creation with country context</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10: Presenting reports</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14:30-15:30</a:t>
                      </a:r>
                    </a:p>
                  </a:txBody>
                  <a:tcPr/>
                </a:tc>
                <a:tc>
                  <a:txBody>
                    <a:bodyPr wrap="square"/>
                    <a:lstStyle/>
                    <a:p>
                      <a:r>
                        <a:rPr sz="1200">
                          <a:solidFill>
                            <a:srgbClr val="2C3E50"/>
                          </a:solidFill>
                          <a:latin typeface="Arial"/>
                        </a:rPr>
                        <a:t>Present reports, group feedback</a:t>
                      </a:r>
                    </a:p>
                  </a:txBody>
                  <a:tcPr/>
                </a:tc>
                <a:tc>
                  <a:txBody>
                    <a:bodyPr wrap="square"/>
                    <a:lstStyle/>
                    <a:p>
                      <a:r>
                        <a:rPr sz="1200">
                          <a:solidFill>
                            <a:srgbClr val="2C3E50"/>
                          </a:solidFill>
                          <a:latin typeface="Arial"/>
                        </a:rPr>
                        <a:t>GFF FASTR team</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Agenda</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914400"/>
          <a:ext cx="11247120" cy="3840480"/>
        </p:xfrm>
        <a:graphic>
          <a:graphicData uri="http://schemas.openxmlformats.org/drawingml/2006/table">
            <a:tbl>
              <a:tblPr firstRow="1" bandRow="1">
                <a:tableStyleId>{5C22544A-7EE6-4342-B048-85BDC9FD1C3A}</a:tableStyleId>
              </a:tblPr>
              <a:tblGrid>
                <a:gridCol w="1828800"/>
                <a:gridCol w="7315200"/>
                <a:gridCol w="2103120"/>
              </a:tblGrid>
              <a:tr h="256032">
                <a:tc>
                  <a:txBody>
                    <a:bodyPr wrap="square"/>
                    <a:lstStyle/>
                    <a:p>
                      <a:pPr>
                        <a:defRPr sz="1200" b="1">
                          <a:solidFill>
                            <a:srgbClr val="21568C"/>
                          </a:solidFill>
                          <a:latin typeface="Arial"/>
                        </a:defRPr>
                      </a:pPr>
                      <a:r>
                        <a:t>Time</a:t>
                      </a:r>
                    </a:p>
                  </a:txBody>
                  <a:tcPr>
                    <a:solidFill>
                      <a:srgbClr val="CAE6E9"/>
                    </a:solidFill>
                  </a:tcPr>
                </a:tc>
                <a:tc>
                  <a:txBody>
                    <a:bodyPr wrap="square"/>
                    <a:lstStyle/>
                    <a:p>
                      <a:pPr>
                        <a:defRPr sz="1200" b="1">
                          <a:solidFill>
                            <a:srgbClr val="21568C"/>
                          </a:solidFill>
                          <a:latin typeface="Arial"/>
                        </a:defRPr>
                      </a:pPr>
                      <a:r>
                        <a:t>Agenda</a:t>
                      </a:r>
                    </a:p>
                  </a:txBody>
                  <a:tcPr>
                    <a:solidFill>
                      <a:srgbClr val="CAE6E9"/>
                    </a:solidFill>
                  </a:tcPr>
                </a:tc>
                <a:tc>
                  <a:txBody>
                    <a:bodyPr wrap="square"/>
                    <a:lstStyle/>
                    <a:p>
                      <a:pPr>
                        <a:defRPr sz="1200" b="1">
                          <a:solidFill>
                            <a:srgbClr val="21568C"/>
                          </a:solidFill>
                          <a:latin typeface="Arial"/>
                        </a:defRPr>
                      </a:pPr>
                      <a:r>
                        <a:t>Facilitator/Presenter</a:t>
                      </a:r>
                    </a:p>
                  </a:txBody>
                  <a:tcPr>
                    <a:solidFill>
                      <a:srgbClr val="CAE6E9"/>
                    </a:solidFill>
                  </a:tcPr>
                </a:tc>
              </a:tr>
              <a:tr h="256032">
                <a:tc>
                  <a:txBody>
                    <a:bodyPr wrap="square"/>
                    <a:lstStyle/>
                    <a:p>
                      <a:r>
                        <a:rPr sz="1200">
                          <a:solidFill>
                            <a:srgbClr val="2C3E50"/>
                          </a:solidFill>
                          <a:latin typeface="Arial"/>
                        </a:rPr>
                        <a:t>09:00-09:15</a:t>
                      </a:r>
                    </a:p>
                  </a:txBody>
                  <a:tcPr/>
                </a:tc>
                <a:tc>
                  <a:txBody>
                    <a:bodyPr wrap="square"/>
                    <a:lstStyle/>
                    <a:p>
                      <a:r>
                        <a:rPr sz="1200">
                          <a:solidFill>
                            <a:srgbClr val="2C3E50"/>
                          </a:solidFill>
                          <a:latin typeface="Arial"/>
                        </a:rPr>
                        <a:t>Overview of Day 4 agenda</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12: Overview of FASTR HFA phone survey</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09:15-10:15</a:t>
                      </a:r>
                    </a:p>
                  </a:txBody>
                  <a:tcPr/>
                </a:tc>
                <a:tc>
                  <a:txBody>
                    <a:bodyPr wrap="square"/>
                    <a:lstStyle/>
                    <a:p>
                      <a:r>
                        <a:rPr sz="1200">
                          <a:solidFill>
                            <a:srgbClr val="2C3E50"/>
                          </a:solidFill>
                          <a:latin typeface="Arial"/>
                        </a:rPr>
                        <a:t>HFA overview and questionnaire adaptation guidelines</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13: Questionnaire adaptation to the Zambian context</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10:15-12:30</a:t>
                      </a:r>
                    </a:p>
                  </a:txBody>
                  <a:tcPr/>
                </a:tc>
                <a:tc>
                  <a:txBody>
                    <a:bodyPr wrap="square"/>
                    <a:lstStyle/>
                    <a:p>
                      <a:r>
                        <a:rPr sz="1200">
                          <a:solidFill>
                            <a:srgbClr val="2C3E50"/>
                          </a:solidFill>
                          <a:latin typeface="Arial"/>
                        </a:rPr>
                        <a:t>Review questionnaire + hands-on adaptation</a:t>
                      </a:r>
                    </a:p>
                  </a:txBody>
                  <a:tcPr/>
                </a:tc>
                <a:tc>
                  <a:txBody>
                    <a:bodyPr wrap="square"/>
                    <a:lstStyle/>
                    <a:p>
                      <a:r>
                        <a:rPr sz="1200">
                          <a:solidFill>
                            <a:srgbClr val="2C3E50"/>
                          </a:solidFill>
                          <a:latin typeface="Arial"/>
                        </a:rPr>
                        <a:t>GFF FASTR team</a:t>
                      </a:r>
                    </a:p>
                  </a:txBody>
                  <a:tcPr/>
                </a:tc>
              </a:tr>
              <a:tr h="256032">
                <a:tc>
                  <a:txBody>
                    <a:bodyPr wrap="square"/>
                    <a:lstStyle/>
                    <a:p>
                      <a:r>
                        <a:rPr sz="1200">
                          <a:solidFill>
                            <a:srgbClr val="2C3E50"/>
                          </a:solidFill>
                          <a:latin typeface="Arial"/>
                        </a:rPr>
                        <a:t>12:30-14:00</a:t>
                      </a:r>
                    </a:p>
                  </a:txBody>
                  <a:tcPr/>
                </a:tc>
                <a:tc>
                  <a:txBody>
                    <a:bodyPr wrap="square"/>
                    <a:lstStyle/>
                    <a:p>
                      <a:r>
                        <a:rPr sz="1200" i="1">
                          <a:solidFill>
                            <a:srgbClr val="2C3E50"/>
                          </a:solidFill>
                          <a:latin typeface="Arial"/>
                        </a:rPr>
                        <a:t>Lunch Break</a:t>
                      </a:r>
                    </a:p>
                  </a:txBody>
                  <a:tcPr/>
                </a:tc>
                <a:tc>
                  <a:txBody>
                    <a:bodyPr wrap="square"/>
                    <a:lstStyle/>
                    <a:p/>
                  </a:txBody>
                  <a:tcPr/>
                </a:tc>
              </a:tr>
              <a:tr h="256032">
                <a:tc>
                  <a:txBody>
                    <a:bodyPr wrap="square"/>
                    <a:lstStyle/>
                    <a:p>
                      <a:r>
                        <a:rPr sz="1200" b="1">
                          <a:solidFill>
                            <a:srgbClr val="2C3E50"/>
                          </a:solidFill>
                          <a:latin typeface="Arial"/>
                        </a:rPr>
                        <a:t>Session 14: Questionnaire adaptation (cont'd)</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14:00-15:00</a:t>
                      </a:r>
                    </a:p>
                  </a:txBody>
                  <a:tcPr/>
                </a:tc>
                <a:tc>
                  <a:txBody>
                    <a:bodyPr wrap="square"/>
                    <a:lstStyle/>
                    <a:p>
                      <a:r>
                        <a:rPr sz="1200">
                          <a:solidFill>
                            <a:srgbClr val="2C3E50"/>
                          </a:solidFill>
                          <a:latin typeface="Arial"/>
                        </a:rPr>
                        <a:t>Continue questionnaire adaptation (in groups)</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15: Discussion: HFA adapted questionnaire</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14:30-15:30</a:t>
                      </a:r>
                    </a:p>
                  </a:txBody>
                  <a:tcPr/>
                </a:tc>
                <a:tc>
                  <a:txBody>
                    <a:bodyPr wrap="square"/>
                    <a:lstStyle/>
                    <a:p>
                      <a:r>
                        <a:rPr sz="1200">
                          <a:solidFill>
                            <a:srgbClr val="2C3E50"/>
                          </a:solidFill>
                          <a:latin typeface="Arial"/>
                        </a:rPr>
                        <a:t>Discuss adapted questionnaire in plenary</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16: Discussion: HFA priorities and data use</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15:30-16:30</a:t>
                      </a:r>
                    </a:p>
                  </a:txBody>
                  <a:tcPr/>
                </a:tc>
                <a:tc>
                  <a:txBody>
                    <a:bodyPr wrap="square"/>
                    <a:lstStyle/>
                    <a:p>
                      <a:r>
                        <a:rPr sz="1200">
                          <a:solidFill>
                            <a:srgbClr val="2C3E50"/>
                          </a:solidFill>
                          <a:latin typeface="Arial"/>
                        </a:rPr>
                        <a:t>HFA priorities and data use case in Zambia</a:t>
                      </a:r>
                    </a:p>
                  </a:txBody>
                  <a:tcPr/>
                </a:tc>
                <a:tc>
                  <a:txBody>
                    <a:bodyPr wrap="square"/>
                    <a:lstStyle/>
                    <a:p>
                      <a:r>
                        <a:rPr sz="1200">
                          <a:solidFill>
                            <a:srgbClr val="2C3E50"/>
                          </a:solidFill>
                          <a:latin typeface="Arial"/>
                        </a:rPr>
                        <a:t>GFF FASTR team</a:t>
                      </a:r>
                    </a:p>
                  </a:txBody>
                  <a:tcPr/>
                </a:tc>
              </a:tr>
              <a:tr h="256032">
                <a:tc>
                  <a:txBody>
                    <a:bodyPr wrap="square"/>
                    <a:lstStyle/>
                    <a:p>
                      <a:r>
                        <a:rPr sz="1200" b="1">
                          <a:solidFill>
                            <a:srgbClr val="2C3E50"/>
                          </a:solidFill>
                          <a:latin typeface="Arial"/>
                        </a:rPr>
                        <a:t>Session 17: Action planning and wrap-up</a:t>
                      </a:r>
                    </a:p>
                  </a:txBody>
                  <a:tcPr/>
                </a:tc>
                <a:tc>
                  <a:txBody>
                    <a:bodyPr wrap="square"/>
                    <a:lstStyle/>
                    <a:p/>
                  </a:txBody>
                  <a:tcPr/>
                </a:tc>
                <a:tc>
                  <a:txBody>
                    <a:bodyPr wrap="square"/>
                    <a:lstStyle/>
                    <a:p/>
                  </a:txBody>
                  <a:tcPr/>
                </a:tc>
              </a:tr>
              <a:tr h="256032">
                <a:tc>
                  <a:txBody>
                    <a:bodyPr wrap="square"/>
                    <a:lstStyle/>
                    <a:p>
                      <a:r>
                        <a:rPr sz="1200">
                          <a:solidFill>
                            <a:srgbClr val="2C3E50"/>
                          </a:solidFill>
                          <a:latin typeface="Arial"/>
                        </a:rPr>
                        <a:t>16:30-17:00</a:t>
                      </a:r>
                    </a:p>
                  </a:txBody>
                  <a:tcPr/>
                </a:tc>
                <a:tc>
                  <a:txBody>
                    <a:bodyPr wrap="square"/>
                    <a:lstStyle/>
                    <a:p>
                      <a:r>
                        <a:rPr sz="1200">
                          <a:solidFill>
                            <a:srgbClr val="2C3E50"/>
                          </a:solidFill>
                          <a:latin typeface="Arial"/>
                        </a:rPr>
                        <a:t>Key messages and wrap-up</a:t>
                      </a:r>
                    </a:p>
                  </a:txBody>
                  <a:tcPr/>
                </a:tc>
                <a:tc>
                  <a:txBody>
                    <a:bodyPr wrap="square"/>
                    <a:lstStyle/>
                    <a:p>
                      <a:r>
                        <a:rPr sz="1200">
                          <a:solidFill>
                            <a:srgbClr val="2C3E50"/>
                          </a:solidFill>
                          <a:latin typeface="Arial"/>
                        </a:rPr>
                        <a:t>GFF FASTR team</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Workshop Objectives</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400"/>
              </a:spcAft>
            </a:pPr>
            <a:r>
              <a:rPr sz="1600">
                <a:solidFill>
                  <a:srgbClr val="2C3E50"/>
                </a:solidFill>
                <a:latin typeface="Arial"/>
              </a:rPr>
              <a:t>• Prepare MoH for participation in the multi-country workshop</a:t>
            </a:r>
          </a:p>
          <a:p>
            <a:pPr>
              <a:spcAft>
                <a:spcPts val="400"/>
              </a:spcAft>
            </a:pPr>
            <a:r>
              <a:rPr sz="1600">
                <a:solidFill>
                  <a:srgbClr val="2C3E50"/>
                </a:solidFill>
                <a:latin typeface="Arial"/>
              </a:rPr>
              <a:t>• Strengthen capacity for disruption analysis and data extraction</a:t>
            </a:r>
          </a:p>
          <a:p>
            <a:pPr>
              <a:spcAft>
                <a:spcPts val="400"/>
              </a:spcAft>
            </a:pPr>
            <a:r>
              <a:rPr sz="1600">
                <a:solidFill>
                  <a:srgbClr val="2C3E50"/>
                </a:solidFill>
                <a:latin typeface="Arial"/>
              </a:rPr>
              <a:t>• Configure the FASTR analytics platform for Zambia</a:t>
            </a:r>
          </a:p>
          <a:p>
            <a:pPr>
              <a:spcAft>
                <a:spcPts val="400"/>
              </a:spcAft>
            </a:pPr>
            <a:r>
              <a:rPr sz="1600">
                <a:solidFill>
                  <a:srgbClr val="2C3E50"/>
                </a:solidFill>
                <a:latin typeface="Arial"/>
              </a:rPr>
              <a:t>• Produce the first quarterly report</a:t>
            </a:r>
          </a:p>
          <a:p>
            <a:pPr>
              <a:spcAft>
                <a:spcPts val="400"/>
              </a:spcAft>
            </a:pPr>
            <a:r>
              <a:rPr sz="1600">
                <a:solidFill>
                  <a:srgbClr val="2C3E50"/>
                </a:solidFill>
                <a:latin typeface="Arial"/>
              </a:rPr>
              <a:t>• Adapt the phone survey questionnaire to the Zambian context</a:t>
            </a:r>
          </a:p>
          <a:p>
            <a:pPr>
              <a:spcAft>
                <a:spcPts val="400"/>
              </a:spcAft>
            </a:pPr>
            <a:r>
              <a:rPr sz="1600">
                <a:solidFill>
                  <a:srgbClr val="2C3E50"/>
                </a:solidFill>
                <a:latin typeface="Arial"/>
              </a:rPr>
              <a:t>• Use data downloader tools for DHIS2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Scope of Work</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600"/>
              </a:spcAft>
              <a:defRPr sz="2200" b="1" i="0">
                <a:solidFill>
                  <a:srgbClr val="7A1F6E"/>
                </a:solidFill>
                <a:latin typeface="Arial"/>
              </a:defRPr>
            </a:pPr>
            <a:r>
              <a:t>Disruption Analysis Activities</a:t>
            </a:r>
          </a:p>
          <a:p>
            <a:pPr>
              <a:spcAft>
                <a:spcPts val="400"/>
              </a:spcAft>
            </a:pPr>
            <a:r>
              <a:rPr sz="1600">
                <a:solidFill>
                  <a:srgbClr val="2C3E50"/>
                </a:solidFill>
                <a:latin typeface="Arial"/>
              </a:rPr>
              <a:t>• Data extraction and configuration of analytics platform</a:t>
            </a:r>
          </a:p>
          <a:p>
            <a:pPr>
              <a:spcAft>
                <a:spcPts val="400"/>
              </a:spcAft>
            </a:pPr>
            <a:r>
              <a:rPr sz="1600">
                <a:solidFill>
                  <a:srgbClr val="2C3E50"/>
                </a:solidFill>
                <a:latin typeface="Arial"/>
              </a:rPr>
              <a:t>• Produce first quarterly report</a:t>
            </a:r>
          </a:p>
          <a:p>
            <a:pPr>
              <a:spcAft>
                <a:spcPts val="400"/>
              </a:spcAft>
            </a:pPr>
            <a:r>
              <a:rPr sz="1600">
                <a:solidFill>
                  <a:srgbClr val="2C3E50"/>
                </a:solidFill>
                <a:latin typeface="Arial"/>
              </a:rPr>
              <a:t>• Review results and contextualize findings (with relevant program teams)</a:t>
            </a:r>
          </a:p>
          <a:p>
            <a:pPr>
              <a:spcAft>
                <a:spcPts val="600"/>
              </a:spcAft>
              <a:defRPr sz="2200" b="1" i="0">
                <a:solidFill>
                  <a:srgbClr val="7A1F6E"/>
                </a:solidFill>
                <a:latin typeface="Arial"/>
              </a:defRPr>
            </a:pPr>
            <a:r>
              <a:t>Phone Survey Activities</a:t>
            </a:r>
          </a:p>
          <a:p>
            <a:pPr>
              <a:spcAft>
                <a:spcPts val="400"/>
              </a:spcAft>
            </a:pPr>
            <a:r>
              <a:rPr sz="1600">
                <a:solidFill>
                  <a:srgbClr val="2C3E50"/>
                </a:solidFill>
                <a:latin typeface="Arial"/>
              </a:rPr>
              <a:t>• Adaptation of questionnaire (with program input)</a:t>
            </a:r>
          </a:p>
          <a:p>
            <a:pPr>
              <a:spcAft>
                <a:spcPts val="600"/>
              </a:spcAft>
              <a:defRPr sz="2200" b="1" i="0">
                <a:solidFill>
                  <a:srgbClr val="7A1F6E"/>
                </a:solidFill>
                <a:latin typeface="Arial"/>
              </a:defRPr>
            </a:pPr>
            <a:r>
              <a:t>Capacity Building</a:t>
            </a:r>
          </a:p>
          <a:p>
            <a:pPr>
              <a:spcAft>
                <a:spcPts val="400"/>
              </a:spcAft>
            </a:pPr>
            <a:r>
              <a:rPr sz="1600">
                <a:solidFill>
                  <a:srgbClr val="2C3E50"/>
                </a:solidFill>
                <a:latin typeface="Arial"/>
              </a:rPr>
              <a:t>• Training on data downloader for all with DHIS2 access</a:t>
            </a:r>
          </a:p>
          <a:p>
            <a:pPr>
              <a:spcAft>
                <a:spcPts val="400"/>
              </a:spcAft>
            </a:pPr>
            <a:r>
              <a:rPr sz="1600">
                <a:solidFill>
                  <a:srgbClr val="2C3E50"/>
                </a:solidFill>
                <a:latin typeface="Arial"/>
              </a:rPr>
              <a:t>• Hybrid format: face-to-face and online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Expected Outputs</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400"/>
              </a:spcAft>
            </a:pPr>
            <a:r>
              <a:rPr sz="1600">
                <a:solidFill>
                  <a:srgbClr val="2C3E50"/>
                </a:solidFill>
                <a:latin typeface="Arial"/>
              </a:rPr>
              <a:t>• Adapted phone survey questionnaire</a:t>
            </a:r>
          </a:p>
          <a:p>
            <a:pPr>
              <a:spcAft>
                <a:spcPts val="400"/>
              </a:spcAft>
            </a:pPr>
            <a:r>
              <a:rPr sz="1600">
                <a:solidFill>
                  <a:srgbClr val="2C3E50"/>
                </a:solidFill>
                <a:latin typeface="Arial"/>
              </a:rPr>
              <a:t>• First quarterly report draft</a:t>
            </a:r>
          </a:p>
          <a:p>
            <a:pPr>
              <a:spcAft>
                <a:spcPts val="400"/>
              </a:spcAft>
            </a:pPr>
            <a:r>
              <a:rPr sz="1600">
                <a:solidFill>
                  <a:srgbClr val="2C3E50"/>
                </a:solidFill>
                <a:latin typeface="Arial"/>
              </a:rPr>
              <a:t>• Trained MoH team on data downloader tools</a:t>
            </a:r>
          </a:p>
          <a:p>
            <a:pPr>
              <a:spcAft>
                <a:spcPts val="400"/>
              </a:spcAft>
            </a:pPr>
            <a:r>
              <a:rPr sz="1600">
                <a:solidFill>
                  <a:srgbClr val="2C3E50"/>
                </a:solidFill>
                <a:latin typeface="Arial"/>
              </a:rPr>
              <a:t>• Roadmap for participation in Abuja workshop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1: Overview of the FASTR approach</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Introduction to FASTR</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5303520" cy="5029200"/>
          </a:xfrm>
          <a:prstGeom prst="rect">
            <a:avLst/>
          </a:prstGeom>
          <a:noFill/>
        </p:spPr>
        <p:txBody>
          <a:bodyPr wrap="square">
            <a:spAutoFit/>
          </a:bodyPr>
          <a:lstStyle/>
          <a:p>
            <a:pPr>
              <a:spcAft>
                <a:spcPts val="1000"/>
              </a:spcAft>
            </a:pPr>
            <a:r>
              <a:rPr sz="1600">
                <a:solidFill>
                  <a:srgbClr val="333333"/>
                </a:solidFill>
                <a:latin typeface="Arial"/>
              </a:rPr>
              <a:t>The Global Financing Facility (GFF) supports country-led efforts to strengthen the use of timely data for decision-making, with the goal of improving primary healthcare (PHC) performance and RMNCAH-N outcomes.</a:t>
            </a:r>
          </a:p>
          <a:p>
            <a:pPr>
              <a:spcAft>
                <a:spcPts val="1000"/>
              </a:spcAft>
            </a:pPr>
            <a:r>
              <a:rPr sz="1600" b="1">
                <a:solidFill>
                  <a:srgbClr val="333333"/>
                </a:solidFill>
                <a:latin typeface="Arial"/>
              </a:rPr>
              <a:t>Frequent Assessments and Health System Tools for Resilience (FASTR)</a:t>
            </a:r>
            <a:r>
              <a:rPr sz="1600">
                <a:solidFill>
                  <a:srgbClr val="333333"/>
                </a:solidFill>
                <a:latin typeface="Arial"/>
              </a:rPr>
              <a:t> is the GFF's rapid-cycle analytics framework for monitoring health system performance using high-frequency data.</a:t>
            </a:r>
          </a:p>
          <a:p>
            <a:pPr>
              <a:spcAft>
                <a:spcPts val="1000"/>
              </a:spcAft>
            </a:pPr>
            <a:r>
              <a:rPr sz="1600">
                <a:solidFill>
                  <a:srgbClr val="333333"/>
                </a:solidFill>
                <a:latin typeface="Arial"/>
              </a:rPr>
              <a:t>FASTR brings together four complementary technical approaches:</a:t>
            </a:r>
          </a:p>
          <a:p>
            <a:pPr>
              <a:spcAft>
                <a:spcPts val="400"/>
              </a:spcAft>
            </a:pPr>
            <a:r>
              <a:rPr sz="1600">
                <a:solidFill>
                  <a:srgbClr val="2C3E50"/>
                </a:solidFill>
                <a:latin typeface="Arial"/>
              </a:rPr>
              <a:t>• Routine HMIS data analysis</a:t>
            </a:r>
          </a:p>
          <a:p>
            <a:pPr>
              <a:spcAft>
                <a:spcPts val="400"/>
              </a:spcAft>
            </a:pPr>
            <a:r>
              <a:rPr sz="1600">
                <a:solidFill>
                  <a:srgbClr val="2C3E50"/>
                </a:solidFill>
                <a:latin typeface="Arial"/>
              </a:rPr>
              <a:t>• Health facility phone surveys</a:t>
            </a:r>
          </a:p>
          <a:p>
            <a:pPr>
              <a:spcAft>
                <a:spcPts val="400"/>
              </a:spcAft>
            </a:pPr>
            <a:r>
              <a:rPr sz="1600">
                <a:solidFill>
                  <a:srgbClr val="2C3E50"/>
                </a:solidFill>
                <a:latin typeface="Arial"/>
              </a:rPr>
              <a:t>• High-frequency household phone surveys</a:t>
            </a:r>
          </a:p>
          <a:p>
            <a:pPr>
              <a:spcAft>
                <a:spcPts val="400"/>
              </a:spcAft>
            </a:pPr>
            <a:r>
              <a:rPr sz="1600">
                <a:solidFill>
                  <a:srgbClr val="2C3E50"/>
                </a:solidFill>
                <a:latin typeface="Arial"/>
              </a:rPr>
              <a:t>• Follow-on, problem-driven analyses</a:t>
            </a:r>
          </a:p>
        </p:txBody>
      </p:sp>
      <p:pic>
        <p:nvPicPr>
          <p:cNvPr id="5" name="Picture 4" descr="Technical-Rapid-cycle-analytics--V3.png"/>
          <p:cNvPicPr>
            <a:picLocks noChangeAspect="1"/>
          </p:cNvPicPr>
          <p:nvPr/>
        </p:nvPicPr>
        <p:blipFill>
          <a:blip r:embed="rId2"/>
          <a:stretch>
            <a:fillRect/>
          </a:stretch>
        </p:blipFill>
        <p:spPr>
          <a:xfrm>
            <a:off x="6400800" y="1280160"/>
            <a:ext cx="5303520" cy="274870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What FASTR does with routine HMIS data</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5303520" cy="5029200"/>
          </a:xfrm>
          <a:prstGeom prst="rect">
            <a:avLst/>
          </a:prstGeom>
          <a:noFill/>
        </p:spPr>
        <p:txBody>
          <a:bodyPr wrap="square">
            <a:spAutoFit/>
          </a:bodyPr>
          <a:lstStyle/>
          <a:p>
            <a:pPr>
              <a:spcAft>
                <a:spcPts val="1000"/>
              </a:spcAft>
            </a:pPr>
            <a:r>
              <a:rPr sz="1600">
                <a:solidFill>
                  <a:srgbClr val="333333"/>
                </a:solidFill>
                <a:latin typeface="Arial"/>
              </a:rPr>
              <a:t>FASTR works directly with Ministries of Health to transform routine HMIS data into actionable evidence for policy and program management.</a:t>
            </a:r>
          </a:p>
          <a:p>
            <a:pPr>
              <a:spcAft>
                <a:spcPts val="1000"/>
              </a:spcAft>
            </a:pPr>
            <a:r>
              <a:rPr sz="1600">
                <a:solidFill>
                  <a:srgbClr val="333333"/>
                </a:solidFill>
                <a:latin typeface="Arial"/>
              </a:rPr>
              <a:t>Using facility-level data, the approach focuses on three core analytic functions:</a:t>
            </a:r>
          </a:p>
          <a:p>
            <a:pPr>
              <a:spcAft>
                <a:spcPts val="1000"/>
              </a:spcAft>
            </a:pPr>
            <a:r>
              <a:rPr sz="1600" b="1">
                <a:solidFill>
                  <a:srgbClr val="333333"/>
                </a:solidFill>
                <a:latin typeface="Arial"/>
              </a:rPr>
              <a:t>Assess data quality</a:t>
            </a:r>
          </a:p>
          <a:p>
            <a:pPr>
              <a:spcAft>
                <a:spcPts val="1000"/>
              </a:spcAft>
            </a:pPr>
            <a:r>
              <a:rPr sz="1600">
                <a:solidFill>
                  <a:srgbClr val="333333"/>
                </a:solidFill>
                <a:latin typeface="Arial"/>
              </a:rPr>
              <a:t>Identify key issues related to completeness, outliers, and internal consistency.</a:t>
            </a:r>
          </a:p>
          <a:p>
            <a:pPr>
              <a:spcAft>
                <a:spcPts val="1000"/>
              </a:spcAft>
            </a:pPr>
            <a:r>
              <a:rPr sz="1600" b="1">
                <a:solidFill>
                  <a:srgbClr val="333333"/>
                </a:solidFill>
                <a:latin typeface="Arial"/>
              </a:rPr>
              <a:t>Adjust for data quality limitations</a:t>
            </a:r>
          </a:p>
          <a:p>
            <a:pPr>
              <a:spcAft>
                <a:spcPts val="1000"/>
              </a:spcAft>
            </a:pPr>
            <a:r>
              <a:rPr sz="1600">
                <a:solidFill>
                  <a:srgbClr val="333333"/>
                </a:solidFill>
                <a:latin typeface="Arial"/>
              </a:rPr>
              <a:t>Apply transparent, indicator-specific methods to improve the reliability of trend analysis.</a:t>
            </a:r>
          </a:p>
          <a:p>
            <a:pPr>
              <a:spcAft>
                <a:spcPts val="1000"/>
              </a:spcAft>
            </a:pPr>
            <a:r>
              <a:rPr sz="1600" b="1">
                <a:solidFill>
                  <a:srgbClr val="333333"/>
                </a:solidFill>
                <a:latin typeface="Arial"/>
              </a:rPr>
              <a:t>Analyze service use and coverage trends</a:t>
            </a:r>
          </a:p>
          <a:p>
            <a:pPr>
              <a:spcAft>
                <a:spcPts val="1000"/>
              </a:spcAft>
            </a:pPr>
            <a:r>
              <a:rPr sz="1600">
                <a:solidFill>
                  <a:srgbClr val="333333"/>
                </a:solidFill>
                <a:latin typeface="Arial"/>
              </a:rPr>
              <a:t>Track changes in priority RMNCAH-N services and compare progress against country priorities and benchmarks.</a:t>
            </a:r>
          </a:p>
        </p:txBody>
      </p:sp>
      <p:pic>
        <p:nvPicPr>
          <p:cNvPr id="5" name="Picture 4" descr="Steps to implement RMNCAH-N service chart.png"/>
          <p:cNvPicPr>
            <a:picLocks noChangeAspect="1"/>
          </p:cNvPicPr>
          <p:nvPr/>
        </p:nvPicPr>
        <p:blipFill>
          <a:blip r:embed="rId2"/>
          <a:stretch>
            <a:fillRect/>
          </a:stretch>
        </p:blipFill>
        <p:spPr>
          <a:xfrm>
            <a:off x="6400800" y="1280160"/>
            <a:ext cx="5303520" cy="601730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rapid-cycle analytics?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5303520" cy="5029200"/>
          </a:xfrm>
          <a:prstGeom prst="rect">
            <a:avLst/>
          </a:prstGeom>
          <a:noFill/>
        </p:spPr>
        <p:txBody>
          <a:bodyPr wrap="square">
            <a:spAutoFit/>
          </a:bodyPr>
          <a:lstStyle/>
          <a:p>
            <a:pPr>
              <a:spcAft>
                <a:spcPts val="1000"/>
              </a:spcAft>
            </a:pPr>
            <a:r>
              <a:rPr sz="1600">
                <a:solidFill>
                  <a:srgbClr val="333333"/>
                </a:solidFill>
                <a:latin typeface="Arial"/>
              </a:rPr>
              <a:t>Routine health information systems are a critical source of data, but they are often underused due to concerns about data quality and long delays between data collection and analysis. Traditional household and facility surveys, while essential, are resource-intensive and infrequent.</a:t>
            </a:r>
          </a:p>
          <a:p>
            <a:pPr>
              <a:spcAft>
                <a:spcPts val="1000"/>
              </a:spcAft>
            </a:pPr>
            <a:r>
              <a:rPr sz="1600">
                <a:solidFill>
                  <a:srgbClr val="333333"/>
                </a:solidFill>
                <a:latin typeface="Arial"/>
              </a:rPr>
              <a:t>FASTR's rapid-cycle analytics address this gap by providing:</a:t>
            </a:r>
          </a:p>
          <a:p>
            <a:pPr>
              <a:spcAft>
                <a:spcPts val="400"/>
              </a:spcAft>
            </a:pPr>
            <a:r>
              <a:rPr sz="1600">
                <a:solidFill>
                  <a:srgbClr val="2C3E50"/>
                </a:solidFill>
                <a:latin typeface="Arial"/>
              </a:rPr>
              <a:t>• Timely insights aligned with country decision cycles</a:t>
            </a:r>
          </a:p>
          <a:p>
            <a:pPr>
              <a:spcAft>
                <a:spcPts val="400"/>
              </a:spcAft>
            </a:pPr>
            <a:r>
              <a:rPr sz="1600">
                <a:solidFill>
                  <a:srgbClr val="2C3E50"/>
                </a:solidFill>
                <a:latin typeface="Arial"/>
              </a:rPr>
              <a:t>• Continuous learning rather than one-off assessments</a:t>
            </a:r>
          </a:p>
          <a:p>
            <a:pPr>
              <a:spcAft>
                <a:spcPts val="400"/>
              </a:spcAft>
            </a:pPr>
            <a:r>
              <a:rPr sz="1600">
                <a:solidFill>
                  <a:srgbClr val="2C3E50"/>
                </a:solidFill>
                <a:latin typeface="Arial"/>
              </a:rPr>
              <a:t>• Direct feedback loops between data, analysis, and action</a:t>
            </a:r>
          </a:p>
          <a:p>
            <a:pPr>
              <a:spcAft>
                <a:spcPts val="1000"/>
              </a:spcAft>
            </a:pPr>
            <a:r>
              <a:rPr sz="1600">
                <a:solidFill>
                  <a:srgbClr val="333333"/>
                </a:solidFill>
                <a:latin typeface="Arial"/>
              </a:rPr>
              <a:t>During the COVID-19 pandemic, this approach was applied in over 20 countries to monitor disruptions to essential RMNCAH-N services and inform response and recovery planning.</a:t>
            </a:r>
          </a:p>
        </p:txBody>
      </p:sp>
      <p:pic>
        <p:nvPicPr>
          <p:cNvPr id="5" name="Picture 4" descr="GFF-Rapid-Cycle-Analytics-Data-Use_Figure-1.png"/>
          <p:cNvPicPr>
            <a:picLocks noChangeAspect="1"/>
          </p:cNvPicPr>
          <p:nvPr/>
        </p:nvPicPr>
        <p:blipFill>
          <a:blip r:embed="rId2"/>
          <a:stretch>
            <a:fillRect/>
          </a:stretch>
        </p:blipFill>
        <p:spPr>
          <a:xfrm>
            <a:off x="6400800" y="1280160"/>
            <a:ext cx="5303520" cy="26802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Focus of the analysis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600"/>
              </a:spcAft>
              <a:defRPr sz="2200" b="1" i="0">
                <a:solidFill>
                  <a:srgbClr val="7A1F6E"/>
                </a:solidFill>
                <a:latin typeface="Arial"/>
              </a:defRPr>
            </a:pPr>
            <a:r>
              <a:t>Core indicators</a:t>
            </a:r>
          </a:p>
          <a:p>
            <a:pPr>
              <a:spcAft>
                <a:spcPts val="1000"/>
              </a:spcAft>
            </a:pPr>
            <a:r>
              <a:rPr sz="1600">
                <a:solidFill>
                  <a:srgbClr val="333333"/>
                </a:solidFill>
                <a:latin typeface="Arial"/>
              </a:rPr>
              <a:t>FASTR prioritizes a core set of RMNCAH-N indicators that:</a:t>
            </a:r>
          </a:p>
          <a:p>
            <a:pPr>
              <a:spcAft>
                <a:spcPts val="400"/>
              </a:spcAft>
            </a:pPr>
            <a:r>
              <a:rPr sz="1600">
                <a:solidFill>
                  <a:srgbClr val="2C3E50"/>
                </a:solidFill>
                <a:latin typeface="Arial"/>
              </a:rPr>
              <a:t>• Represent key service delivery contacts across the continuum of care</a:t>
            </a:r>
          </a:p>
          <a:p>
            <a:pPr>
              <a:spcAft>
                <a:spcPts val="400"/>
              </a:spcAft>
            </a:pPr>
            <a:r>
              <a:rPr sz="1600">
                <a:solidFill>
                  <a:srgbClr val="2C3E50"/>
                </a:solidFill>
                <a:latin typeface="Arial"/>
              </a:rPr>
              <a:t>• Have relatively high reporting completeness and volumes</a:t>
            </a:r>
          </a:p>
          <a:p>
            <a:pPr>
              <a:spcAft>
                <a:spcPts val="400"/>
              </a:spcAft>
            </a:pPr>
            <a:r>
              <a:rPr sz="1600">
                <a:solidFill>
                  <a:srgbClr val="2C3E50"/>
                </a:solidFill>
                <a:latin typeface="Arial"/>
              </a:rPr>
              <a:t>• Serve as proxies for broader service delivery performance</a:t>
            </a:r>
          </a:p>
          <a:p>
            <a:pPr>
              <a:spcAft>
                <a:spcPts val="1000"/>
              </a:spcAft>
            </a:pPr>
            <a:r>
              <a:rPr sz="1600">
                <a:solidFill>
                  <a:srgbClr val="333333"/>
                </a:solidFill>
                <a:latin typeface="Arial"/>
              </a:rPr>
              <a:t>Outpatient consultations are included as a proxy for overall health service use. The indicator set can be expanded to reflect country-specific priorities.</a:t>
            </a:r>
          </a:p>
          <a:p>
            <a:pPr>
              <a:spcAft>
                <a:spcPts val="600"/>
              </a:spcAft>
              <a:defRPr sz="2200" b="1" i="0">
                <a:solidFill>
                  <a:srgbClr val="7A1F6E"/>
                </a:solidFill>
                <a:latin typeface="Arial"/>
              </a:defRPr>
            </a:pPr>
            <a:r>
              <a:t>Core data quality metrics</a:t>
            </a:r>
          </a:p>
          <a:p>
            <a:pPr>
              <a:spcAft>
                <a:spcPts val="1000"/>
              </a:spcAft>
            </a:pPr>
            <a:r>
              <a:rPr sz="1600">
                <a:solidFill>
                  <a:srgbClr val="333333"/>
                </a:solidFill>
                <a:latin typeface="Arial"/>
              </a:rPr>
              <a:t>Analysis is anchored in a standardized set of data quality metrics, including:</a:t>
            </a:r>
          </a:p>
          <a:p>
            <a:pPr>
              <a:spcAft>
                <a:spcPts val="400"/>
              </a:spcAft>
            </a:pPr>
            <a:r>
              <a:rPr sz="1600">
                <a:solidFill>
                  <a:srgbClr val="2C3E50"/>
                </a:solidFill>
                <a:latin typeface="Arial"/>
              </a:rPr>
              <a:t>• Reporting completeness</a:t>
            </a:r>
          </a:p>
          <a:p>
            <a:pPr>
              <a:spcAft>
                <a:spcPts val="400"/>
              </a:spcAft>
            </a:pPr>
            <a:r>
              <a:rPr sz="1600">
                <a:solidFill>
                  <a:srgbClr val="2C3E50"/>
                </a:solidFill>
                <a:latin typeface="Arial"/>
              </a:rPr>
              <a:t>• Extreme value (outlier) detection</a:t>
            </a:r>
          </a:p>
          <a:p>
            <a:pPr>
              <a:spcAft>
                <a:spcPts val="400"/>
              </a:spcAft>
            </a:pPr>
            <a:r>
              <a:rPr sz="1600">
                <a:solidFill>
                  <a:srgbClr val="2C3E50"/>
                </a:solidFill>
                <a:latin typeface="Arial"/>
              </a:rPr>
              <a:t>• Consistency across related indicators</a:t>
            </a:r>
          </a:p>
          <a:p>
            <a:pPr>
              <a:spcAft>
                <a:spcPts val="1000"/>
              </a:spcAft>
            </a:pPr>
            <a:r>
              <a:rPr sz="1600">
                <a:solidFill>
                  <a:srgbClr val="333333"/>
                </a:solidFill>
                <a:latin typeface="Arial"/>
              </a:rPr>
              <a:t>These metrics are summarized into an overall data quality score to support interpretation and comparison across areas.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FASTR approach to routine data analysis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The FASTR approach follows a three-step workflow:</a:t>
            </a:r>
          </a:p>
          <a:p>
            <a:pPr>
              <a:spcAft>
                <a:spcPts val="600"/>
              </a:spcAft>
              <a:defRPr sz="2200" b="1" i="0">
                <a:solidFill>
                  <a:srgbClr val="7A1F6E"/>
                </a:solidFill>
                <a:latin typeface="Arial"/>
              </a:defRPr>
            </a:pPr>
            <a:r>
              <a:t>1. Assess data quality</a:t>
            </a:r>
          </a:p>
          <a:p>
            <a:pPr>
              <a:spcAft>
                <a:spcPts val="1000"/>
              </a:spcAft>
            </a:pPr>
            <a:r>
              <a:rPr sz="1600">
                <a:solidFill>
                  <a:srgbClr val="333333"/>
                </a:solidFill>
                <a:latin typeface="Arial"/>
              </a:rPr>
              <a:t>Identify issues related to completeness, outliers, and internal consistency at national and subnational levels.</a:t>
            </a:r>
          </a:p>
          <a:p>
            <a:pPr>
              <a:spcAft>
                <a:spcPts val="600"/>
              </a:spcAft>
              <a:defRPr sz="2200" b="1" i="0">
                <a:solidFill>
                  <a:srgbClr val="7A1F6E"/>
                </a:solidFill>
                <a:latin typeface="Arial"/>
              </a:defRPr>
            </a:pPr>
            <a:r>
              <a:t>2. Adjust for data quality limitations</a:t>
            </a:r>
          </a:p>
          <a:p>
            <a:pPr>
              <a:spcAft>
                <a:spcPts val="1000"/>
              </a:spcAft>
            </a:pPr>
            <a:r>
              <a:rPr sz="1600">
                <a:solidFill>
                  <a:srgbClr val="333333"/>
                </a:solidFill>
                <a:latin typeface="Arial"/>
              </a:rPr>
              <a:t>Apply transparent, indicator-specific corrections to improve the reliability of trend analysis.</a:t>
            </a:r>
          </a:p>
          <a:p>
            <a:pPr>
              <a:spcAft>
                <a:spcPts val="600"/>
              </a:spcAft>
              <a:defRPr sz="2200" b="1" i="0">
                <a:solidFill>
                  <a:srgbClr val="7A1F6E"/>
                </a:solidFill>
                <a:latin typeface="Arial"/>
              </a:defRPr>
            </a:pPr>
            <a:r>
              <a:t>3. Analyze service delivery</a:t>
            </a:r>
          </a:p>
          <a:p>
            <a:pPr>
              <a:spcAft>
                <a:spcPts val="1000"/>
              </a:spcAft>
            </a:pPr>
            <a:r>
              <a:rPr sz="1600">
                <a:solidFill>
                  <a:srgbClr val="333333"/>
                </a:solidFill>
                <a:latin typeface="Arial"/>
              </a:rPr>
              <a:t>Quantify changes in priority service volumes and compare coverage trends against country targets.</a:t>
            </a:r>
          </a:p>
          <a:p>
            <a:pPr>
              <a:spcAft>
                <a:spcPts val="1000"/>
              </a:spcAft>
            </a:pPr>
            <a:r>
              <a:rPr sz="1600">
                <a:solidFill>
                  <a:srgbClr val="333333"/>
                </a:solidFill>
                <a:latin typeface="Arial"/>
              </a:rPr>
              <a:t>This enables continuous, subnational monitoring while data quality is systematically improved.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2: HMIS data extraction</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extract data from DHIS2?</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600"/>
              </a:spcAft>
              <a:defRPr sz="2200" b="1" i="0">
                <a:solidFill>
                  <a:srgbClr val="7A1F6E"/>
                </a:solidFill>
                <a:latin typeface="Arial"/>
              </a:defRPr>
            </a:pPr>
            <a:r>
              <a:t>Data quality adjustment</a:t>
            </a:r>
          </a:p>
          <a:p>
            <a:pPr>
              <a:spcAft>
                <a:spcPts val="1000"/>
              </a:spcAft>
            </a:pPr>
            <a:r>
              <a:rPr sz="1600">
                <a:solidFill>
                  <a:srgbClr val="333333"/>
                </a:solidFill>
                <a:latin typeface="Arial"/>
              </a:rPr>
              <a:t>The FASTR approach focuses on data quality adjustments to expand the analyses countries can do with DHIS2 data and to generate more robust estimates.</a:t>
            </a:r>
          </a:p>
          <a:p>
            <a:pPr>
              <a:spcAft>
                <a:spcPts val="1000"/>
              </a:spcAft>
            </a:pPr>
            <a:r>
              <a:rPr sz="1600">
                <a:solidFill>
                  <a:srgbClr val="333333"/>
                </a:solidFill>
                <a:latin typeface="Arial"/>
              </a:rPr>
              <a:t>The FASTR methodology includes specific approaches to:</a:t>
            </a:r>
          </a:p>
          <a:p>
            <a:pPr>
              <a:spcAft>
                <a:spcPts val="400"/>
              </a:spcAft>
            </a:pPr>
            <a:r>
              <a:rPr sz="1600">
                <a:solidFill>
                  <a:srgbClr val="2C3E50"/>
                </a:solidFill>
                <a:latin typeface="Arial"/>
              </a:rPr>
              <a:t>• Identify and adjust for outliers</a:t>
            </a:r>
          </a:p>
          <a:p>
            <a:pPr>
              <a:spcAft>
                <a:spcPts val="400"/>
              </a:spcAft>
            </a:pPr>
            <a:r>
              <a:rPr sz="1600">
                <a:solidFill>
                  <a:srgbClr val="2C3E50"/>
                </a:solidFill>
                <a:latin typeface="Arial"/>
              </a:rPr>
              <a:t>• Adjust for incomplete reporting</a:t>
            </a:r>
          </a:p>
          <a:p>
            <a:pPr>
              <a:spcAft>
                <a:spcPts val="400"/>
              </a:spcAft>
            </a:pPr>
            <a:r>
              <a:rPr sz="1600">
                <a:solidFill>
                  <a:srgbClr val="2C3E50"/>
                </a:solidFill>
                <a:latin typeface="Arial"/>
              </a:rPr>
              <a:t>• Apply consistent data quality metrics</a:t>
            </a:r>
          </a:p>
          <a:p>
            <a:pPr>
              <a:spcAft>
                <a:spcPts val="1000"/>
              </a:spcAft>
            </a:pPr>
            <a:r>
              <a:rPr sz="1600">
                <a:solidFill>
                  <a:srgbClr val="333333"/>
                </a:solidFill>
                <a:latin typeface="Arial"/>
              </a:rPr>
              <a:t>These adjustments require processing that cannot be done within DHIS2's native analytics.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extract data from DHIS2?</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600"/>
              </a:spcAft>
              <a:defRPr sz="2200" b="1" i="0">
                <a:solidFill>
                  <a:srgbClr val="7A1F6E"/>
                </a:solidFill>
                <a:latin typeface="Arial"/>
              </a:defRPr>
            </a:pPr>
            <a:r>
              <a:t>Analysis complexity</a:t>
            </a:r>
          </a:p>
          <a:p>
            <a:pPr>
              <a:spcAft>
                <a:spcPts val="1000"/>
              </a:spcAft>
            </a:pPr>
            <a:r>
              <a:rPr sz="1600">
                <a:solidFill>
                  <a:srgbClr val="333333"/>
                </a:solidFill>
                <a:latin typeface="Arial"/>
              </a:rPr>
              <a:t>The FASTR approach uses more advanced statistical methods, such as regression analysis, which are not available in DHIS2. While DHIS2 can plot trends over time using raw data, FASTR can go further by:</a:t>
            </a:r>
          </a:p>
          <a:p>
            <a:pPr>
              <a:spcAft>
                <a:spcPts val="400"/>
              </a:spcAft>
            </a:pPr>
            <a:r>
              <a:rPr sz="1600">
                <a:solidFill>
                  <a:srgbClr val="2C3E50"/>
                </a:solidFill>
                <a:latin typeface="Arial"/>
              </a:rPr>
              <a:t>• Identifying significant increases or decreases in service volume</a:t>
            </a:r>
          </a:p>
          <a:p>
            <a:pPr>
              <a:spcAft>
                <a:spcPts val="400"/>
              </a:spcAft>
            </a:pPr>
            <a:r>
              <a:rPr sz="1600">
                <a:solidFill>
                  <a:srgbClr val="2C3E50"/>
                </a:solidFill>
                <a:latin typeface="Arial"/>
              </a:rPr>
              <a:t>• Adjusting for data quality issues</a:t>
            </a:r>
          </a:p>
          <a:p>
            <a:pPr>
              <a:spcAft>
                <a:spcPts val="400"/>
              </a:spcAft>
            </a:pPr>
            <a:r>
              <a:rPr sz="1600">
                <a:solidFill>
                  <a:srgbClr val="2C3E50"/>
                </a:solidFill>
                <a:latin typeface="Arial"/>
              </a:rPr>
              <a:t>• Accounting for expected seasonal variations</a:t>
            </a:r>
          </a:p>
          <a:p>
            <a:pPr>
              <a:spcAft>
                <a:spcPts val="400"/>
              </a:spcAft>
            </a:pPr>
            <a:r>
              <a:rPr sz="1600">
                <a:solidFill>
                  <a:srgbClr val="2C3E50"/>
                </a:solidFill>
                <a:latin typeface="Arial"/>
              </a:rPr>
              <a:t>• Comparing key periods, such as before and after a reform</a:t>
            </a:r>
          </a:p>
          <a:p>
            <a:pPr>
              <a:spcAft>
                <a:spcPts val="1000"/>
              </a:spcAft>
            </a:pPr>
            <a:r>
              <a:rPr sz="1600">
                <a:solidFill>
                  <a:srgbClr val="333333"/>
                </a:solidFill>
                <a:latin typeface="Arial"/>
              </a:rPr>
              <a:t>The choice between DHIS2 and the FASTR approach should be guided by the specific purpose of your analysis.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Data format and granularity</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Data should be downloaded for each </a:t>
            </a:r>
            <a:r>
              <a:rPr sz="1600" b="1">
                <a:solidFill>
                  <a:srgbClr val="333333"/>
                </a:solidFill>
                <a:latin typeface="Arial"/>
              </a:rPr>
              <a:t>indicator of interest</a:t>
            </a:r>
            <a:r>
              <a:rPr sz="1600">
                <a:solidFill>
                  <a:srgbClr val="333333"/>
                </a:solidFill>
                <a:latin typeface="Arial"/>
              </a:rPr>
              <a:t>, at </a:t>
            </a:r>
            <a:r>
              <a:rPr sz="1600" b="1">
                <a:solidFill>
                  <a:srgbClr val="333333"/>
                </a:solidFill>
                <a:latin typeface="Arial"/>
              </a:rPr>
              <a:t>facility level</a:t>
            </a:r>
            <a:r>
              <a:rPr sz="1600">
                <a:solidFill>
                  <a:srgbClr val="333333"/>
                </a:solidFill>
                <a:latin typeface="Arial"/>
              </a:rPr>
              <a:t>, and </a:t>
            </a:r>
            <a:r>
              <a:rPr sz="1600" b="1">
                <a:solidFill>
                  <a:srgbClr val="333333"/>
                </a:solidFill>
                <a:latin typeface="Arial"/>
              </a:rPr>
              <a:t>monthly</a:t>
            </a:r>
            <a:r>
              <a:rPr sz="1600">
                <a:solidFill>
                  <a:srgbClr val="333333"/>
                </a:solidFill>
                <a:latin typeface="Arial"/>
              </a:rPr>
              <a:t> for the </a:t>
            </a:r>
            <a:r>
              <a:rPr sz="1600" b="1">
                <a:solidFill>
                  <a:srgbClr val="333333"/>
                </a:solidFill>
                <a:latin typeface="Arial"/>
              </a:rPr>
              <a:t>period of interest</a:t>
            </a:r>
            <a:r>
              <a:rPr sz="1600">
                <a:solidFill>
                  <a:srgbClr val="333333"/>
                </a:solidFill>
                <a:latin typeface="Arial"/>
              </a:rPr>
              <a:t>.</a:t>
            </a:r>
          </a:p>
          <a:p>
            <a:pPr>
              <a:spcAft>
                <a:spcPts val="400"/>
              </a:spcAft>
            </a:pPr>
            <a:r>
              <a:rPr sz="1600">
                <a:solidFill>
                  <a:srgbClr val="2C3E50"/>
                </a:solidFill>
                <a:latin typeface="Arial"/>
              </a:rPr>
              <a:t>• Data should be saved in </a:t>
            </a:r>
            <a:r>
              <a:rPr sz="1600" b="1">
                <a:solidFill>
                  <a:srgbClr val="2C3E50"/>
                </a:solidFill>
                <a:latin typeface="Arial"/>
              </a:rPr>
              <a:t>long format</a:t>
            </a:r>
            <a:r>
              <a:rPr sz="1600">
                <a:solidFill>
                  <a:srgbClr val="2C3E50"/>
                </a:solidFill>
                <a:latin typeface="Arial"/>
              </a:rPr>
              <a:t> meaning each row represents a single observation or measurement</a:t>
            </a:r>
          </a:p>
          <a:p>
            <a:pPr>
              <a:spcAft>
                <a:spcPts val="400"/>
              </a:spcAft>
            </a:pPr>
            <a:r>
              <a:rPr sz="1600">
                <a:solidFill>
                  <a:srgbClr val="2C3E50"/>
                </a:solidFill>
                <a:latin typeface="Arial"/>
              </a:rPr>
              <a:t>• Data should be saved in </a:t>
            </a:r>
            <a:r>
              <a:rPr sz="1600" b="1">
                <a:solidFill>
                  <a:srgbClr val="2C3E50"/>
                </a:solidFill>
                <a:latin typeface="Arial"/>
              </a:rPr>
              <a:t>.csv format</a:t>
            </a:r>
            <a:r>
              <a:rPr sz="1600">
                <a:solidFill>
                  <a:srgbClr val="2C3E50"/>
                </a:solidFill>
                <a:latin typeface="Arial"/>
              </a:rPr>
              <a:t> and can be saved in either a single .csv file or multiple .csv files</a:t>
            </a:r>
          </a:p>
          <a:p>
            <a:pPr>
              <a:spcAft>
                <a:spcPts val="600"/>
              </a:spcAft>
              <a:defRPr sz="2200" b="1" i="0">
                <a:solidFill>
                  <a:srgbClr val="7A1F6E"/>
                </a:solidFill>
                <a:latin typeface="Arial"/>
              </a:defRPr>
            </a:pPr>
            <a:r>
              <a:t>Why monthly facility level data?</a:t>
            </a:r>
          </a:p>
          <a:p>
            <a:pPr>
              <a:spcAft>
                <a:spcPts val="1000"/>
              </a:spcAft>
            </a:pPr>
            <a:r>
              <a:rPr sz="1600">
                <a:solidFill>
                  <a:srgbClr val="333333"/>
                </a:solidFill>
                <a:latin typeface="Arial"/>
              </a:rPr>
              <a:t>We want to use the most granular data we have access to in order to make more fine tuned assessments for data quality. Using monthly facility level data allows us to conduct the most robust analysis.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Key variables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7295" cy="731520"/>
          </a:xfrm>
          <a:prstGeom prst="rect">
            <a:avLst/>
          </a:prstGeom>
          <a:noFill/>
        </p:spPr>
        <p:txBody>
          <a:bodyPr wrap="square">
            <a:spAutoFit/>
          </a:bodyPr>
          <a:lstStyle/>
          <a:p>
            <a:pPr>
              <a:spcAft>
                <a:spcPts val="400"/>
              </a:spcAft>
            </a:pPr>
            <a:r>
              <a:rPr sz="1600">
                <a:solidFill>
                  <a:srgbClr val="2C3E50"/>
                </a:solidFill>
                <a:latin typeface="Arial"/>
              </a:rPr>
              <a:t>The data extracted should include the following required elements:</a:t>
            </a:r>
          </a:p>
        </p:txBody>
      </p:sp>
      <p:graphicFrame>
        <p:nvGraphicFramePr>
          <p:cNvPr id="5" name="Table 4"/>
          <p:cNvGraphicFramePr>
            <a:graphicFrameLocks noGrp="1"/>
          </p:cNvGraphicFramePr>
          <p:nvPr/>
        </p:nvGraphicFramePr>
        <p:xfrm>
          <a:off x="457200" y="1828800"/>
          <a:ext cx="11247119" cy="1600200"/>
        </p:xfrm>
        <a:graphic>
          <a:graphicData uri="http://schemas.openxmlformats.org/drawingml/2006/table">
            <a:tbl>
              <a:tblPr firstRow="1" bandRow="1">
                <a:tableStyleId>{5C22544A-7EE6-4342-B048-85BDC9FD1C3A}</a:tableStyleId>
              </a:tblPr>
              <a:tblGrid>
                <a:gridCol w="4788834"/>
                <a:gridCol w="6458285"/>
              </a:tblGrid>
              <a:tr h="320040">
                <a:tc>
                  <a:txBody>
                    <a:bodyPr wrap="square"/>
                    <a:lstStyle/>
                    <a:p>
                      <a:pPr>
                        <a:defRPr sz="1400" b="1">
                          <a:solidFill>
                            <a:srgbClr val="21568C"/>
                          </a:solidFill>
                          <a:latin typeface="Arial"/>
                        </a:defRPr>
                      </a:pPr>
                      <a:r>
                        <a:t>Element</a:t>
                      </a:r>
                    </a:p>
                  </a:txBody>
                  <a:tcPr>
                    <a:solidFill>
                      <a:srgbClr val="CAE6E9"/>
                    </a:solidFill>
                  </a:tcPr>
                </a:tc>
                <a:tc>
                  <a:txBody>
                    <a:bodyPr wrap="square"/>
                    <a:lstStyle/>
                    <a:p>
                      <a:pPr>
                        <a:defRPr sz="1400" b="1">
                          <a:solidFill>
                            <a:srgbClr val="21568C"/>
                          </a:solidFill>
                          <a:latin typeface="Arial"/>
                        </a:defRPr>
                      </a:pPr>
                      <a:r>
                        <a:t>Description</a:t>
                      </a:r>
                    </a:p>
                  </a:txBody>
                  <a:tcPr>
                    <a:solidFill>
                      <a:srgbClr val="CAE6E9"/>
                    </a:solidFill>
                  </a:tcPr>
                </a:tc>
              </a:tr>
              <a:tr h="320040">
                <a:tc>
                  <a:txBody>
                    <a:bodyPr wrap="square"/>
                    <a:lstStyle/>
                    <a:p>
                      <a:r>
                        <a:rPr sz="1400">
                          <a:solidFill>
                            <a:srgbClr val="2C3E50"/>
                          </a:solidFill>
                          <a:latin typeface="Arial"/>
                        </a:rPr>
                        <a:t>Org units</a:t>
                      </a:r>
                    </a:p>
                  </a:txBody>
                  <a:tcPr/>
                </a:tc>
                <a:tc>
                  <a:txBody>
                    <a:bodyPr wrap="square"/>
                    <a:lstStyle/>
                    <a:p>
                      <a:r>
                        <a:rPr sz="1400">
                          <a:solidFill>
                            <a:srgbClr val="2C3E50"/>
                          </a:solidFill>
                          <a:latin typeface="Arial"/>
                        </a:rPr>
                        <a:t>Organizational unit identifier</a:t>
                      </a:r>
                    </a:p>
                  </a:txBody>
                  <a:tcPr/>
                </a:tc>
              </a:tr>
              <a:tr h="320040">
                <a:tc>
                  <a:txBody>
                    <a:bodyPr wrap="square"/>
                    <a:lstStyle/>
                    <a:p>
                      <a:r>
                        <a:rPr sz="1400">
                          <a:solidFill>
                            <a:srgbClr val="2C3E50"/>
                          </a:solidFill>
                          <a:latin typeface="Arial"/>
                        </a:rPr>
                        <a:t>Period</a:t>
                      </a:r>
                    </a:p>
                  </a:txBody>
                  <a:tcPr/>
                </a:tc>
                <a:tc>
                  <a:txBody>
                    <a:bodyPr wrap="square"/>
                    <a:lstStyle/>
                    <a:p>
                      <a:r>
                        <a:rPr sz="1400">
                          <a:solidFill>
                            <a:srgbClr val="2C3E50"/>
                          </a:solidFill>
                          <a:latin typeface="Arial"/>
                        </a:rPr>
                        <a:t>Time period of the data</a:t>
                      </a:r>
                    </a:p>
                  </a:txBody>
                  <a:tcPr/>
                </a:tc>
              </a:tr>
              <a:tr h="320040">
                <a:tc>
                  <a:txBody>
                    <a:bodyPr wrap="square"/>
                    <a:lstStyle/>
                    <a:p>
                      <a:r>
                        <a:rPr sz="1400">
                          <a:solidFill>
                            <a:srgbClr val="2C3E50"/>
                          </a:solidFill>
                          <a:latin typeface="Arial"/>
                        </a:rPr>
                        <a:t>Indicator name</a:t>
                      </a:r>
                    </a:p>
                  </a:txBody>
                  <a:tcPr/>
                </a:tc>
                <a:tc>
                  <a:txBody>
                    <a:bodyPr wrap="square"/>
                    <a:lstStyle/>
                    <a:p>
                      <a:r>
                        <a:rPr sz="1400">
                          <a:solidFill>
                            <a:srgbClr val="2C3E50"/>
                          </a:solidFill>
                          <a:latin typeface="Arial"/>
                        </a:rPr>
                        <a:t>Name of the indicator</a:t>
                      </a:r>
                    </a:p>
                  </a:txBody>
                  <a:tcPr/>
                </a:tc>
              </a:tr>
              <a:tr h="320040">
                <a:tc>
                  <a:txBody>
                    <a:bodyPr wrap="square"/>
                    <a:lstStyle/>
                    <a:p>
                      <a:r>
                        <a:rPr sz="1400">
                          <a:solidFill>
                            <a:srgbClr val="2C3E50"/>
                          </a:solidFill>
                          <a:latin typeface="Arial"/>
                        </a:rPr>
                        <a:t>Total/count</a:t>
                      </a:r>
                    </a:p>
                  </a:txBody>
                  <a:tcPr/>
                </a:tc>
                <a:tc>
                  <a:txBody>
                    <a:bodyPr wrap="square"/>
                    <a:lstStyle/>
                    <a:p>
                      <a:r>
                        <a:rPr sz="1400">
                          <a:solidFill>
                            <a:srgbClr val="2C3E50"/>
                          </a:solidFill>
                          <a:latin typeface="Arial"/>
                        </a:rPr>
                        <a:t>The aggregated value</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How much data?</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600"/>
              </a:spcAft>
              <a:defRPr sz="2200" b="1" i="0">
                <a:solidFill>
                  <a:srgbClr val="7A1F6E"/>
                </a:solidFill>
                <a:latin typeface="Arial"/>
              </a:defRPr>
            </a:pPr>
            <a:r>
              <a:t>Initial FASTR analysis</a:t>
            </a:r>
          </a:p>
          <a:p>
            <a:pPr>
              <a:spcAft>
                <a:spcPts val="400"/>
              </a:spcAft>
            </a:pPr>
            <a:r>
              <a:rPr sz="1600">
                <a:solidFill>
                  <a:srgbClr val="2C3E50"/>
                </a:solidFill>
                <a:latin typeface="Arial"/>
              </a:rPr>
              <a:t>• Download approximately </a:t>
            </a:r>
            <a:r>
              <a:rPr sz="1600" b="1">
                <a:solidFill>
                  <a:srgbClr val="2C3E50"/>
                </a:solidFill>
                <a:latin typeface="Arial"/>
              </a:rPr>
              <a:t>five years</a:t>
            </a:r>
            <a:r>
              <a:rPr sz="1600">
                <a:solidFill>
                  <a:srgbClr val="2C3E50"/>
                </a:solidFill>
                <a:latin typeface="Arial"/>
              </a:rPr>
              <a:t> of historical data</a:t>
            </a:r>
          </a:p>
          <a:p>
            <a:pPr>
              <a:spcAft>
                <a:spcPts val="400"/>
              </a:spcAft>
            </a:pPr>
            <a:r>
              <a:rPr sz="1600">
                <a:solidFill>
                  <a:srgbClr val="2C3E50"/>
                </a:solidFill>
                <a:latin typeface="Arial"/>
              </a:rPr>
              <a:t>• Exact period depends on data availability and consistency in indicator definitions</a:t>
            </a:r>
          </a:p>
          <a:p>
            <a:pPr>
              <a:spcAft>
                <a:spcPts val="600"/>
              </a:spcAft>
              <a:defRPr sz="2200" b="1" i="0">
                <a:solidFill>
                  <a:srgbClr val="7A1F6E"/>
                </a:solidFill>
                <a:latin typeface="Arial"/>
              </a:defRPr>
            </a:pPr>
            <a:r>
              <a:t>Routine update to FASTR analysis</a:t>
            </a:r>
          </a:p>
          <a:p>
            <a:pPr>
              <a:spcAft>
                <a:spcPts val="400"/>
              </a:spcAft>
            </a:pPr>
            <a:r>
              <a:rPr sz="1600">
                <a:solidFill>
                  <a:srgbClr val="2C3E50"/>
                </a:solidFill>
                <a:latin typeface="Arial"/>
              </a:rPr>
              <a:t>• Download new data covering the most recent months not previously included (usually </a:t>
            </a:r>
            <a:r>
              <a:rPr sz="1600" b="1">
                <a:solidFill>
                  <a:srgbClr val="2C3E50"/>
                </a:solidFill>
                <a:latin typeface="Arial"/>
              </a:rPr>
              <a:t>three months</a:t>
            </a:r>
            <a:r>
              <a:rPr sz="1600">
                <a:solidFill>
                  <a:srgbClr val="2C3E50"/>
                </a:solidFill>
                <a:latin typeface="Arial"/>
              </a:rPr>
              <a:t> for quarterly implementation)</a:t>
            </a:r>
          </a:p>
          <a:p>
            <a:pPr>
              <a:spcAft>
                <a:spcPts val="400"/>
              </a:spcAft>
            </a:pPr>
            <a:r>
              <a:rPr sz="1600">
                <a:solidFill>
                  <a:srgbClr val="2C3E50"/>
                </a:solidFill>
                <a:latin typeface="Arial"/>
              </a:rPr>
              <a:t>• Include the </a:t>
            </a:r>
            <a:r>
              <a:rPr sz="1600" b="1">
                <a:solidFill>
                  <a:srgbClr val="2C3E50"/>
                </a:solidFill>
                <a:latin typeface="Arial"/>
              </a:rPr>
              <a:t>three preceding months</a:t>
            </a:r>
            <a:r>
              <a:rPr sz="1600">
                <a:solidFill>
                  <a:srgbClr val="2C3E50"/>
                </a:solidFill>
                <a:latin typeface="Arial"/>
              </a:rPr>
              <a:t> as recent data is often subject to changes due to late reporting or data quality adjustments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Data extraction tools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We offer two tools for bulk DHIS2 data extraction:</a:t>
            </a:r>
          </a:p>
          <a:p>
            <a:pPr>
              <a:spcAft>
                <a:spcPts val="1000"/>
              </a:spcAft>
            </a:pPr>
            <a:r>
              <a:rPr sz="1600" b="1">
                <a:solidFill>
                  <a:srgbClr val="333333"/>
                </a:solidFill>
                <a:latin typeface="Arial"/>
              </a:rPr>
              <a:t>API Script</a:t>
            </a:r>
            <a:r>
              <a:rPr sz="1600">
                <a:solidFill>
                  <a:srgbClr val="333333"/>
                </a:solidFill>
                <a:latin typeface="Arial"/>
              </a:rPr>
              <a:t> (Google Colab)</a:t>
            </a:r>
          </a:p>
          <a:p>
            <a:pPr>
              <a:spcAft>
                <a:spcPts val="400"/>
              </a:spcAft>
            </a:pPr>
            <a:r>
              <a:rPr sz="1600">
                <a:solidFill>
                  <a:srgbClr val="2C3E50"/>
                </a:solidFill>
                <a:latin typeface="Arial"/>
              </a:rPr>
              <a:t>• Input login credentials, specify timeframes, indicators, and administrative levels</a:t>
            </a:r>
          </a:p>
          <a:p>
            <a:pPr>
              <a:spcAft>
                <a:spcPts val="400"/>
              </a:spcAft>
            </a:pPr>
            <a:r>
              <a:rPr sz="1600">
                <a:solidFill>
                  <a:srgbClr val="2C3E50"/>
                </a:solidFill>
                <a:latin typeface="Arial"/>
              </a:rPr>
              <a:t>• Download data as a .csv file</a:t>
            </a:r>
          </a:p>
          <a:p>
            <a:pPr>
              <a:spcAft>
                <a:spcPts val="1000"/>
              </a:spcAft>
            </a:pPr>
            <a:r>
              <a:rPr sz="1600" b="1">
                <a:solidFill>
                  <a:srgbClr val="333333"/>
                </a:solidFill>
                <a:latin typeface="Arial"/>
              </a:rPr>
              <a:t>Data Downloader</a:t>
            </a:r>
          </a:p>
          <a:p>
            <a:pPr>
              <a:spcAft>
                <a:spcPts val="400"/>
              </a:spcAft>
            </a:pPr>
            <a:r>
              <a:rPr sz="1600">
                <a:solidFill>
                  <a:srgbClr val="2C3E50"/>
                </a:solidFill>
                <a:latin typeface="Arial"/>
              </a:rPr>
              <a:t>• More intuitive, streamlined interface</a:t>
            </a:r>
          </a:p>
          <a:p>
            <a:pPr>
              <a:spcAft>
                <a:spcPts val="400"/>
              </a:spcAft>
            </a:pPr>
            <a:r>
              <a:rPr sz="1600">
                <a:solidFill>
                  <a:srgbClr val="2C3E50"/>
                </a:solidFill>
                <a:latin typeface="Arial"/>
              </a:rPr>
              <a:t>• Recommended for most users</a:t>
            </a:r>
          </a:p>
          <a:p>
            <a:pPr>
              <a:spcAft>
                <a:spcPts val="1000"/>
              </a:spcAft>
            </a:pPr>
            <a:r>
              <a:rPr sz="1600">
                <a:solidFill>
                  <a:srgbClr val="333333"/>
                </a:solidFill>
                <a:latin typeface="Arial"/>
              </a:rPr>
              <a:t>Both tools enable efficient data extraction, and we provide training resources to support their use.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DHIS2 Data Downloader</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The Data Downloader is a desktop application for extracting data from DHIS2.</a:t>
            </a:r>
          </a:p>
          <a:p>
            <a:pPr>
              <a:spcAft>
                <a:spcPts val="1000"/>
              </a:spcAft>
            </a:pPr>
            <a:r>
              <a:rPr sz="1600" b="1">
                <a:solidFill>
                  <a:srgbClr val="333333"/>
                </a:solidFill>
                <a:latin typeface="Arial"/>
              </a:rPr>
              <a:t>Key features:</a:t>
            </a:r>
          </a:p>
          <a:p>
            <a:pPr>
              <a:spcAft>
                <a:spcPts val="400"/>
              </a:spcAft>
            </a:pPr>
            <a:r>
              <a:rPr sz="1600">
                <a:solidFill>
                  <a:srgbClr val="2C3E50"/>
                </a:solidFill>
                <a:latin typeface="Arial"/>
              </a:rPr>
              <a:t>• Connect to any DHIS2 instance</a:t>
            </a:r>
          </a:p>
          <a:p>
            <a:pPr>
              <a:spcAft>
                <a:spcPts val="400"/>
              </a:spcAft>
            </a:pPr>
            <a:r>
              <a:rPr sz="1600">
                <a:solidFill>
                  <a:srgbClr val="2C3E50"/>
                </a:solidFill>
                <a:latin typeface="Arial"/>
              </a:rPr>
              <a:t>• Browse and select data elements and indicators</a:t>
            </a:r>
          </a:p>
          <a:p>
            <a:pPr>
              <a:spcAft>
                <a:spcPts val="400"/>
              </a:spcAft>
            </a:pPr>
            <a:r>
              <a:rPr sz="1600">
                <a:solidFill>
                  <a:srgbClr val="2C3E50"/>
                </a:solidFill>
                <a:latin typeface="Arial"/>
              </a:rPr>
              <a:t>• Download facility-level data in CSV format</a:t>
            </a:r>
          </a:p>
          <a:p>
            <a:pPr>
              <a:spcAft>
                <a:spcPts val="400"/>
              </a:spcAft>
            </a:pPr>
            <a:r>
              <a:rPr sz="1600">
                <a:solidFill>
                  <a:srgbClr val="2C3E50"/>
                </a:solidFill>
                <a:latin typeface="Arial"/>
              </a:rPr>
              <a:t>• Maintain download history</a:t>
            </a:r>
          </a:p>
          <a:p>
            <a:pPr>
              <a:spcAft>
                <a:spcPts val="1000"/>
              </a:spcAft>
            </a:pPr>
            <a:r>
              <a:rPr sz="1600" b="1">
                <a:solidFill>
                  <a:srgbClr val="333333"/>
                </a:solidFill>
                <a:latin typeface="Arial"/>
              </a:rPr>
              <a:t>Download from GitHub:</a:t>
            </a:r>
          </a:p>
          <a:p>
            <a:pPr>
              <a:spcAft>
                <a:spcPts val="1000"/>
              </a:spcAft>
            </a:pPr>
            <a:r>
              <a:rPr sz="1600">
                <a:solidFill>
                  <a:srgbClr val="333333"/>
                </a:solidFill>
                <a:latin typeface="Arial"/>
              </a:rPr>
              <a:t>https://github.com/worldbank/DHIS2-Downloader/releases/</a:t>
            </a:r>
          </a:p>
          <a:p>
            <a:pPr>
              <a:spcAft>
                <a:spcPts val="1000"/>
              </a:spcAft>
            </a:pPr>
            <a:r>
              <a:rPr sz="1600" i="1">
                <a:solidFill>
                  <a:srgbClr val="333333"/>
                </a:solidFill>
                <a:latin typeface="Arial"/>
              </a:rPr>
              <a:t>Facilitator will demonstrate the Data Downloader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3: Introduction to the FASTR analytics platform</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Introduction to the FASTR Analytics Platform</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The FASTR analytics platform is a web-based tool for data quality assessment, adjustment, and analysis of routine health data.</a:t>
            </a:r>
          </a:p>
          <a:p>
            <a:pPr>
              <a:spcAft>
                <a:spcPts val="1000"/>
              </a:spcAft>
            </a:pPr>
            <a:r>
              <a:rPr sz="1600" b="1">
                <a:solidFill>
                  <a:srgbClr val="333333"/>
                </a:solidFill>
                <a:latin typeface="Arial"/>
              </a:rPr>
              <a:t>Key features:</a:t>
            </a:r>
          </a:p>
          <a:p>
            <a:pPr>
              <a:spcAft>
                <a:spcPts val="400"/>
              </a:spcAft>
            </a:pPr>
            <a:r>
              <a:rPr sz="1600">
                <a:solidFill>
                  <a:srgbClr val="2C3E50"/>
                </a:solidFill>
                <a:latin typeface="Arial"/>
              </a:rPr>
              <a:t>• Upload and analyze data from DHIS2 and other sources</a:t>
            </a:r>
          </a:p>
          <a:p>
            <a:pPr>
              <a:spcAft>
                <a:spcPts val="400"/>
              </a:spcAft>
            </a:pPr>
            <a:r>
              <a:rPr sz="1600">
                <a:solidFill>
                  <a:srgbClr val="2C3E50"/>
                </a:solidFill>
                <a:latin typeface="Arial"/>
              </a:rPr>
              <a:t>• Built-in statistical methods for data quality adjustment</a:t>
            </a:r>
          </a:p>
          <a:p>
            <a:pPr>
              <a:spcAft>
                <a:spcPts val="400"/>
              </a:spcAft>
            </a:pPr>
            <a:r>
              <a:rPr sz="1600">
                <a:solidFill>
                  <a:srgbClr val="2C3E50"/>
                </a:solidFill>
                <a:latin typeface="Arial"/>
              </a:rPr>
              <a:t>• User-friendly interface for running analyses</a:t>
            </a:r>
          </a:p>
          <a:p>
            <a:pPr>
              <a:spcAft>
                <a:spcPts val="400"/>
              </a:spcAft>
            </a:pPr>
            <a:r>
              <a:rPr sz="1600">
                <a:solidFill>
                  <a:srgbClr val="2C3E50"/>
                </a:solidFill>
                <a:latin typeface="Arial"/>
              </a:rPr>
              <a:t>• Flexible visualization and export options</a:t>
            </a:r>
          </a:p>
          <a:p>
            <a:pPr>
              <a:spcAft>
                <a:spcPts val="1000"/>
              </a:spcAft>
            </a:pPr>
            <a:r>
              <a:rPr sz="1600" b="1">
                <a:solidFill>
                  <a:srgbClr val="333333"/>
                </a:solidFill>
                <a:latin typeface="Arial"/>
              </a:rPr>
              <a:t>In this session, we will provide a conceptual walkthrough of the platform and its capabilities.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Live Demo: Platform Access &amp; Roles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In this demo, we will:</a:t>
            </a:r>
          </a:p>
          <a:p>
            <a:pPr>
              <a:spcAft>
                <a:spcPts val="400"/>
              </a:spcAft>
            </a:pPr>
            <a:r>
              <a:rPr sz="1600">
                <a:solidFill>
                  <a:srgbClr val="2C3E50"/>
                </a:solidFill>
                <a:latin typeface="Arial"/>
              </a:rPr>
              <a:t>• Navigate to the FASTR platform</a:t>
            </a:r>
          </a:p>
          <a:p>
            <a:pPr>
              <a:spcAft>
                <a:spcPts val="400"/>
              </a:spcAft>
            </a:pPr>
            <a:r>
              <a:rPr sz="1600">
                <a:solidFill>
                  <a:srgbClr val="2C3E50"/>
                </a:solidFill>
                <a:latin typeface="Arial"/>
              </a:rPr>
              <a:t>• Explore user roles: Administrator, Editor, Viewer</a:t>
            </a:r>
          </a:p>
          <a:p>
            <a:pPr>
              <a:spcAft>
                <a:spcPts val="400"/>
              </a:spcAft>
            </a:pPr>
            <a:r>
              <a:rPr sz="1600">
                <a:solidFill>
                  <a:srgbClr val="2C3E50"/>
                </a:solidFill>
                <a:latin typeface="Arial"/>
              </a:rPr>
              <a:t>• Review user management and permissions</a:t>
            </a:r>
          </a:p>
          <a:p>
            <a:pPr>
              <a:spcAft>
                <a:spcPts val="400"/>
              </a:spcAft>
            </a:pPr>
            <a:r>
              <a:rPr sz="1600">
                <a:solidFill>
                  <a:srgbClr val="2C3E50"/>
                </a:solidFill>
                <a:latin typeface="Arial"/>
              </a:rPr>
              <a:t>• Understand the workflow for uploading data and making analytical decisions</a:t>
            </a:r>
          </a:p>
          <a:p>
            <a:pPr>
              <a:spcAft>
                <a:spcPts val="1000"/>
              </a:spcAft>
            </a:pPr>
            <a:r>
              <a:rPr sz="1600" i="1">
                <a:solidFill>
                  <a:srgbClr val="333333"/>
                </a:solidFill>
                <a:latin typeface="Arial"/>
              </a:rPr>
              <a:t>Facilitator will demonstrate in the live platform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5600" b="1" i="0">
                <a:solidFill>
                  <a:srgbClr val="09544F"/>
                </a:solidFill>
                <a:latin typeface="Arial"/>
              </a:defRPr>
            </a:pPr>
            <a:r>
              <a:t>Lunch Break</a:t>
            </a:r>
          </a:p>
        </p:txBody>
      </p:sp>
      <p:sp>
        <p:nvSpPr>
          <p:cNvPr id="3" name="TextBox 2"/>
          <p:cNvSpPr txBox="1"/>
          <p:nvPr/>
        </p:nvSpPr>
        <p:spPr>
          <a:xfrm>
            <a:off x="914400" y="3931920"/>
            <a:ext cx="10362895" cy="548640"/>
          </a:xfrm>
          <a:prstGeom prst="rect">
            <a:avLst/>
          </a:prstGeom>
          <a:noFill/>
        </p:spPr>
        <p:txBody>
          <a:bodyPr wrap="square"/>
          <a:lstStyle/>
          <a:p>
            <a:pPr algn="ctr">
              <a:defRPr sz="2600" b="0" i="0">
                <a:solidFill>
                  <a:srgbClr val="21568C"/>
                </a:solidFill>
                <a:latin typeface="Arial"/>
              </a:defRPr>
            </a:pPr>
            <a:r>
              <a:t>90 minutes • Back at 14:00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4: Configuring the FASTR analytics platform</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Activity: Setting Up Admin Areas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In this hands-on session, we will configure:</a:t>
            </a:r>
          </a:p>
          <a:p>
            <a:pPr>
              <a:spcAft>
                <a:spcPts val="400"/>
              </a:spcAft>
            </a:pPr>
            <a:r>
              <a:rPr sz="1600">
                <a:solidFill>
                  <a:srgbClr val="2C3E50"/>
                </a:solidFill>
                <a:latin typeface="Arial"/>
              </a:rPr>
              <a:t>• Admin areas (regions, districts)</a:t>
            </a:r>
          </a:p>
          <a:p>
            <a:pPr>
              <a:spcAft>
                <a:spcPts val="400"/>
              </a:spcAft>
            </a:pPr>
            <a:r>
              <a:rPr sz="1600">
                <a:solidFill>
                  <a:srgbClr val="2C3E50"/>
                </a:solidFill>
                <a:latin typeface="Arial"/>
              </a:rPr>
              <a:t>• Facility structure</a:t>
            </a:r>
          </a:p>
          <a:p>
            <a:pPr>
              <a:spcAft>
                <a:spcPts val="400"/>
              </a:spcAft>
            </a:pPr>
            <a:r>
              <a:rPr sz="1600">
                <a:solidFill>
                  <a:srgbClr val="2C3E50"/>
                </a:solidFill>
                <a:latin typeface="Arial"/>
              </a:rPr>
              <a:t>• Indicator definitions</a:t>
            </a:r>
          </a:p>
          <a:p>
            <a:pPr>
              <a:spcAft>
                <a:spcPts val="1000"/>
              </a:spcAft>
            </a:pPr>
            <a:r>
              <a:rPr sz="1600" i="1">
                <a:solidFill>
                  <a:srgbClr val="333333"/>
                </a:solidFill>
                <a:latin typeface="Arial"/>
              </a:rPr>
              <a:t>Participants will work directly in the platform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Activity: Importing Data</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In this hands-on session, we will:</a:t>
            </a:r>
          </a:p>
          <a:p>
            <a:pPr>
              <a:spcAft>
                <a:spcPts val="400"/>
              </a:spcAft>
            </a:pPr>
            <a:r>
              <a:rPr sz="1600">
                <a:solidFill>
                  <a:srgbClr val="2C3E50"/>
                </a:solidFill>
                <a:latin typeface="Arial"/>
              </a:rPr>
              <a:t>• Review data format requirements</a:t>
            </a:r>
          </a:p>
          <a:p>
            <a:pPr>
              <a:spcAft>
                <a:spcPts val="400"/>
              </a:spcAft>
            </a:pPr>
            <a:r>
              <a:rPr sz="1600">
                <a:solidFill>
                  <a:srgbClr val="2C3E50"/>
                </a:solidFill>
                <a:latin typeface="Arial"/>
              </a:rPr>
              <a:t>• Walk through the import process</a:t>
            </a:r>
          </a:p>
          <a:p>
            <a:pPr>
              <a:spcAft>
                <a:spcPts val="400"/>
              </a:spcAft>
            </a:pPr>
            <a:r>
              <a:rPr sz="1600">
                <a:solidFill>
                  <a:srgbClr val="2C3E50"/>
                </a:solidFill>
                <a:latin typeface="Arial"/>
              </a:rPr>
              <a:t>• Handle validation and error checking</a:t>
            </a:r>
          </a:p>
          <a:p>
            <a:pPr>
              <a:spcAft>
                <a:spcPts val="1000"/>
              </a:spcAft>
            </a:pPr>
            <a:r>
              <a:rPr sz="1600" i="1">
                <a:solidFill>
                  <a:srgbClr val="333333"/>
                </a:solidFill>
                <a:latin typeface="Arial"/>
              </a:rPr>
              <a:t>Participants will import their country's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Activity: Installing and Running Modules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In this hands-on session, we will:</a:t>
            </a:r>
          </a:p>
          <a:p>
            <a:pPr>
              <a:spcAft>
                <a:spcPts val="400"/>
              </a:spcAft>
            </a:pPr>
            <a:r>
              <a:rPr sz="1600">
                <a:solidFill>
                  <a:srgbClr val="2C3E50"/>
                </a:solidFill>
                <a:latin typeface="Arial"/>
              </a:rPr>
              <a:t>• Review available analysis modules</a:t>
            </a:r>
          </a:p>
          <a:p>
            <a:pPr>
              <a:spcAft>
                <a:spcPts val="400"/>
              </a:spcAft>
            </a:pPr>
            <a:r>
              <a:rPr sz="1600">
                <a:solidFill>
                  <a:srgbClr val="2C3E50"/>
                </a:solidFill>
                <a:latin typeface="Arial"/>
              </a:rPr>
              <a:t>• Install required modules</a:t>
            </a:r>
          </a:p>
          <a:p>
            <a:pPr>
              <a:spcAft>
                <a:spcPts val="400"/>
              </a:spcAft>
            </a:pPr>
            <a:r>
              <a:rPr sz="1600">
                <a:solidFill>
                  <a:srgbClr val="2C3E50"/>
                </a:solidFill>
                <a:latin typeface="Arial"/>
              </a:rPr>
              <a:t>• Run initial analyses</a:t>
            </a:r>
          </a:p>
          <a:p>
            <a:pPr>
              <a:spcAft>
                <a:spcPts val="1000"/>
              </a:spcAft>
            </a:pPr>
            <a:r>
              <a:rPr sz="1600" i="1">
                <a:solidFill>
                  <a:srgbClr val="333333"/>
                </a:solidFill>
                <a:latin typeface="Arial"/>
              </a:rPr>
              <a:t>Participants will configure and run modules on their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Day 2</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Recap</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On Day 1, we covered:</a:t>
            </a:r>
          </a:p>
          <a:p>
            <a:pPr>
              <a:spcAft>
                <a:spcPts val="400"/>
              </a:spcAft>
            </a:pPr>
            <a:r>
              <a:rPr sz="1600">
                <a:solidFill>
                  <a:srgbClr val="2C3E50"/>
                </a:solidFill>
                <a:latin typeface="Arial"/>
              </a:rPr>
              <a:t>• The FASTR approach and rapid-cycle analytics methodology</a:t>
            </a:r>
          </a:p>
          <a:p>
            <a:pPr>
              <a:spcAft>
                <a:spcPts val="400"/>
              </a:spcAft>
            </a:pPr>
            <a:r>
              <a:rPr sz="1600">
                <a:solidFill>
                  <a:srgbClr val="2C3E50"/>
                </a:solidFill>
                <a:latin typeface="Arial"/>
              </a:rPr>
              <a:t>• Data extraction from DHIS2 using the Data Downloader</a:t>
            </a:r>
          </a:p>
          <a:p>
            <a:pPr>
              <a:spcAft>
                <a:spcPts val="400"/>
              </a:spcAft>
            </a:pPr>
            <a:r>
              <a:rPr sz="1600">
                <a:solidFill>
                  <a:srgbClr val="2C3E50"/>
                </a:solidFill>
                <a:latin typeface="Arial"/>
              </a:rPr>
              <a:t>• Introduction to the FASTR Analytics Platform</a:t>
            </a:r>
          </a:p>
          <a:p>
            <a:pPr>
              <a:spcAft>
                <a:spcPts val="400"/>
              </a:spcAft>
            </a:pPr>
            <a:r>
              <a:rPr sz="1600">
                <a:solidFill>
                  <a:srgbClr val="2C3E50"/>
                </a:solidFill>
                <a:latin typeface="Arial"/>
              </a:rPr>
              <a:t>• Platform configuration: admin areas, data import, modules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Day 2 Focus</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Today we will:</a:t>
            </a:r>
          </a:p>
          <a:p>
            <a:pPr>
              <a:spcAft>
                <a:spcPts val="400"/>
              </a:spcAft>
            </a:pPr>
            <a:r>
              <a:rPr sz="1600">
                <a:solidFill>
                  <a:srgbClr val="2C3E50"/>
                </a:solidFill>
                <a:latin typeface="Arial"/>
              </a:rPr>
              <a:t>• Explore FASTR methods for data quality and analysis</a:t>
            </a:r>
          </a:p>
          <a:p>
            <a:pPr>
              <a:spcAft>
                <a:spcPts val="400"/>
              </a:spcAft>
            </a:pPr>
            <a:r>
              <a:rPr sz="1600">
                <a:solidFill>
                  <a:srgbClr val="2C3E50"/>
                </a:solidFill>
                <a:latin typeface="Arial"/>
              </a:rPr>
              <a:t>• Create and configure projects</a:t>
            </a:r>
          </a:p>
          <a:p>
            <a:pPr>
              <a:spcAft>
                <a:spcPts val="400"/>
              </a:spcAft>
            </a:pPr>
            <a:r>
              <a:rPr sz="1600">
                <a:solidFill>
                  <a:srgbClr val="2C3E50"/>
                </a:solidFill>
                <a:latin typeface="Arial"/>
              </a:rPr>
              <a:t>• Build visualizations</a:t>
            </a:r>
          </a:p>
          <a:p>
            <a:pPr>
              <a:spcAft>
                <a:spcPts val="400"/>
              </a:spcAft>
            </a:pPr>
            <a:r>
              <a:rPr sz="1600">
                <a:solidFill>
                  <a:srgbClr val="2C3E50"/>
                </a:solidFill>
                <a:latin typeface="Arial"/>
              </a:rPr>
              <a:t>• Generate reports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5: Overview of FASTR methods and analytical outputs</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FASTR Analytical Pipeline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nalytical_pipeline.png"/>
          <p:cNvPicPr>
            <a:picLocks noChangeAspect="1"/>
          </p:cNvPicPr>
          <p:nvPr/>
        </p:nvPicPr>
        <p:blipFill>
          <a:blip r:embed="rId2"/>
          <a:stretch>
            <a:fillRect/>
          </a:stretch>
        </p:blipFill>
        <p:spPr>
          <a:xfrm>
            <a:off x="1523847" y="1371600"/>
            <a:ext cx="9144000" cy="3657600"/>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a:solidFill>
                  <a:srgbClr val="333333"/>
                </a:solidFill>
                <a:latin typeface="Arial"/>
              </a:rPr>
              <a:t>The components are interdependent: first assess data quality, then apply adjustments, then use the adjusted data for analysis.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Data quality assessment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Understanding the reliability of routine health data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talk about data quality?</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The challenge:</a:t>
            </a:r>
            <a:r>
              <a:rPr sz="1600">
                <a:solidFill>
                  <a:srgbClr val="333333"/>
                </a:solidFill>
                <a:latin typeface="Arial"/>
              </a:rPr>
              <a:t> Health facilities report data every month, but sometimes:</a:t>
            </a:r>
          </a:p>
          <a:p>
            <a:pPr>
              <a:spcAft>
                <a:spcPts val="400"/>
              </a:spcAft>
            </a:pPr>
            <a:r>
              <a:rPr sz="1600">
                <a:solidFill>
                  <a:srgbClr val="2C3E50"/>
                </a:solidFill>
                <a:latin typeface="Arial"/>
              </a:rPr>
              <a:t>• Numbers seem too high or too low</a:t>
            </a:r>
          </a:p>
          <a:p>
            <a:pPr>
              <a:spcAft>
                <a:spcPts val="400"/>
              </a:spcAft>
            </a:pPr>
            <a:r>
              <a:rPr sz="1600">
                <a:solidFill>
                  <a:srgbClr val="2C3E50"/>
                </a:solidFill>
                <a:latin typeface="Arial"/>
              </a:rPr>
              <a:t>• Facilities forget to report</a:t>
            </a:r>
          </a:p>
          <a:p>
            <a:pPr>
              <a:spcAft>
                <a:spcPts val="400"/>
              </a:spcAft>
            </a:pPr>
            <a:r>
              <a:rPr sz="1600">
                <a:solidFill>
                  <a:srgbClr val="2C3E50"/>
                </a:solidFill>
                <a:latin typeface="Arial"/>
              </a:rPr>
              <a:t>• Related numbers don't match up</a:t>
            </a:r>
          </a:p>
          <a:p>
            <a:pPr>
              <a:spcAft>
                <a:spcPts val="1000"/>
              </a:spcAft>
            </a:pPr>
            <a:r>
              <a:rPr sz="1600" b="1">
                <a:solidFill>
                  <a:srgbClr val="333333"/>
                </a:solidFill>
                <a:latin typeface="Arial"/>
              </a:rPr>
              <a:t>The impact:</a:t>
            </a:r>
            <a:r>
              <a:rPr sz="1600">
                <a:solidFill>
                  <a:srgbClr val="333333"/>
                </a:solidFill>
                <a:latin typeface="Arial"/>
              </a:rPr>
              <a:t> Bad data leads to bad decisions</a:t>
            </a:r>
          </a:p>
          <a:p>
            <a:pPr>
              <a:spcAft>
                <a:spcPts val="400"/>
              </a:spcAft>
            </a:pPr>
            <a:r>
              <a:rPr sz="1600">
                <a:solidFill>
                  <a:srgbClr val="2C3E50"/>
                </a:solidFill>
                <a:latin typeface="Arial"/>
              </a:rPr>
              <a:t>• We might think services are improving when they're not</a:t>
            </a:r>
          </a:p>
          <a:p>
            <a:pPr>
              <a:spcAft>
                <a:spcPts val="400"/>
              </a:spcAft>
            </a:pPr>
            <a:r>
              <a:rPr sz="1600">
                <a:solidFill>
                  <a:srgbClr val="2C3E50"/>
                </a:solidFill>
                <a:latin typeface="Arial"/>
              </a:rPr>
              <a:t>• We might miss real problems in certain areas</a:t>
            </a:r>
          </a:p>
          <a:p>
            <a:pPr>
              <a:spcAft>
                <a:spcPts val="400"/>
              </a:spcAft>
            </a:pPr>
            <a:r>
              <a:rPr sz="1600">
                <a:solidFill>
                  <a:srgbClr val="2C3E50"/>
                </a:solidFill>
                <a:latin typeface="Arial"/>
              </a:rPr>
              <a:t>• Resources might go to the wrong places</a:t>
            </a:r>
          </a:p>
          <a:p>
            <a:pPr>
              <a:spcAft>
                <a:spcPts val="1000"/>
              </a:spcAft>
            </a:pPr>
            <a:r>
              <a:rPr sz="1600" b="1">
                <a:solidFill>
                  <a:srgbClr val="333333"/>
                </a:solidFill>
                <a:latin typeface="Arial"/>
              </a:rPr>
              <a:t>FASTR's solution:</a:t>
            </a:r>
            <a:r>
              <a:rPr sz="1600">
                <a:solidFill>
                  <a:srgbClr val="333333"/>
                </a:solidFill>
                <a:latin typeface="Arial"/>
              </a:rPr>
              <a:t> Check data quality systematically, fix what we can, and be transparent about limitations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Objectives of FASTR Data Quality Assessment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Objective 1: Analytical adjustment</a:t>
            </a:r>
          </a:p>
          <a:p>
            <a:pPr>
              <a:spcAft>
                <a:spcPts val="1000"/>
              </a:spcAft>
            </a:pPr>
            <a:r>
              <a:rPr sz="1600">
                <a:solidFill>
                  <a:srgbClr val="333333"/>
                </a:solidFill>
                <a:latin typeface="Arial"/>
              </a:rPr>
              <a:t>Assessing data quality allows you to adjust for data quality issues, improving the ability to use DHIS2 data for decision-making</a:t>
            </a:r>
          </a:p>
          <a:p>
            <a:pPr>
              <a:spcAft>
                <a:spcPts val="1000"/>
              </a:spcAft>
            </a:pPr>
            <a:r>
              <a:rPr sz="1600" b="1">
                <a:solidFill>
                  <a:srgbClr val="333333"/>
                </a:solidFill>
                <a:latin typeface="Arial"/>
              </a:rPr>
              <a:t>Objective 2: Monitor data quality over time</a:t>
            </a:r>
          </a:p>
          <a:p>
            <a:pPr>
              <a:spcAft>
                <a:spcPts val="1000"/>
              </a:spcAft>
            </a:pPr>
            <a:r>
              <a:rPr sz="1600">
                <a:solidFill>
                  <a:srgbClr val="333333"/>
                </a:solidFill>
                <a:latin typeface="Arial"/>
              </a:rPr>
              <a:t>Key learning questions include:</a:t>
            </a:r>
          </a:p>
          <a:p>
            <a:pPr>
              <a:spcAft>
                <a:spcPts val="400"/>
              </a:spcAft>
            </a:pPr>
            <a:r>
              <a:rPr sz="1600">
                <a:solidFill>
                  <a:srgbClr val="2C3E50"/>
                </a:solidFill>
                <a:latin typeface="Arial"/>
              </a:rPr>
              <a:t>• </a:t>
            </a:r>
            <a:r>
              <a:rPr sz="1600" b="1">
                <a:solidFill>
                  <a:srgbClr val="2C3E50"/>
                </a:solidFill>
                <a:latin typeface="Arial"/>
              </a:rPr>
              <a:t>What is the quality of data for different indicators in DHIS2?</a:t>
            </a:r>
            <a:r>
              <a:rPr sz="1600">
                <a:solidFill>
                  <a:srgbClr val="2C3E50"/>
                </a:solidFill>
                <a:latin typeface="Arial"/>
              </a:rPr>
              <a:t> (can inform indicators you select for analysis)</a:t>
            </a:r>
          </a:p>
          <a:p>
            <a:pPr>
              <a:spcAft>
                <a:spcPts val="400"/>
              </a:spcAft>
            </a:pPr>
            <a:r>
              <a:rPr sz="1600">
                <a:solidFill>
                  <a:srgbClr val="2C3E50"/>
                </a:solidFill>
                <a:latin typeface="Arial"/>
              </a:rPr>
              <a:t>• </a:t>
            </a:r>
            <a:r>
              <a:rPr sz="1600" b="1">
                <a:solidFill>
                  <a:srgbClr val="2C3E50"/>
                </a:solidFill>
                <a:latin typeface="Arial"/>
              </a:rPr>
              <a:t>Which areas report higher vs. lower quality data?</a:t>
            </a:r>
            <a:r>
              <a:rPr sz="1600">
                <a:solidFill>
                  <a:srgbClr val="2C3E50"/>
                </a:solidFill>
                <a:latin typeface="Arial"/>
              </a:rPr>
              <a:t> (can inform targeted data quality validation and supportive supervision)</a:t>
            </a:r>
          </a:p>
          <a:p>
            <a:pPr>
              <a:spcAft>
                <a:spcPts val="400"/>
              </a:spcAft>
            </a:pPr>
            <a:r>
              <a:rPr sz="1600">
                <a:solidFill>
                  <a:srgbClr val="2C3E50"/>
                </a:solidFill>
                <a:latin typeface="Arial"/>
              </a:rPr>
              <a:t>• </a:t>
            </a:r>
            <a:r>
              <a:rPr sz="1600" b="1">
                <a:solidFill>
                  <a:srgbClr val="2C3E50"/>
                </a:solidFill>
                <a:latin typeface="Arial"/>
              </a:rPr>
              <a:t>How has data quality improved over time?</a:t>
            </a:r>
            <a:r>
              <a:rPr sz="1600">
                <a:solidFill>
                  <a:srgbClr val="2C3E50"/>
                </a:solidFill>
                <a:latin typeface="Arial"/>
              </a:rPr>
              <a:t> (can assess the result of data quality investments, training, etc.)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Three simple questions about data quality</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1. Are facilities reporting regularly?</a:t>
            </a:r>
          </a:p>
          <a:p>
            <a:pPr>
              <a:spcAft>
                <a:spcPts val="400"/>
              </a:spcAft>
            </a:pPr>
            <a:r>
              <a:rPr sz="1600">
                <a:solidFill>
                  <a:srgbClr val="2C3E50"/>
                </a:solidFill>
                <a:latin typeface="Arial"/>
              </a:rPr>
              <a:t>• Completeness: Did we get reports from facilities this month?</a:t>
            </a:r>
          </a:p>
          <a:p>
            <a:pPr>
              <a:spcAft>
                <a:spcPts val="1000"/>
              </a:spcAft>
            </a:pPr>
            <a:r>
              <a:rPr sz="1600" b="1">
                <a:solidFill>
                  <a:srgbClr val="333333"/>
                </a:solidFill>
                <a:latin typeface="Arial"/>
              </a:rPr>
              <a:t>2. Are the numbers reasonable?</a:t>
            </a:r>
          </a:p>
          <a:p>
            <a:pPr>
              <a:spcAft>
                <a:spcPts val="400"/>
              </a:spcAft>
            </a:pPr>
            <a:r>
              <a:rPr sz="1600">
                <a:solidFill>
                  <a:srgbClr val="2C3E50"/>
                </a:solidFill>
                <a:latin typeface="Arial"/>
              </a:rPr>
              <a:t>• Outliers: Are there any suspiciously high values?</a:t>
            </a:r>
          </a:p>
          <a:p>
            <a:pPr>
              <a:spcAft>
                <a:spcPts val="1000"/>
              </a:spcAft>
            </a:pPr>
            <a:r>
              <a:rPr sz="1600" b="1">
                <a:solidFill>
                  <a:srgbClr val="333333"/>
                </a:solidFill>
                <a:latin typeface="Arial"/>
              </a:rPr>
              <a:t>3. Do related numbers make sense together?</a:t>
            </a:r>
          </a:p>
          <a:p>
            <a:pPr>
              <a:spcAft>
                <a:spcPts val="400"/>
              </a:spcAft>
            </a:pPr>
            <a:r>
              <a:rPr sz="1600">
                <a:solidFill>
                  <a:srgbClr val="2C3E50"/>
                </a:solidFill>
                <a:latin typeface="Arial"/>
              </a:rPr>
              <a:t>• Consistency: Do related services show expected patterns?</a:t>
            </a:r>
          </a:p>
          <a:p>
            <a:pPr>
              <a:spcAft>
                <a:spcPts val="1000"/>
              </a:spcAft>
            </a:pPr>
            <a:r>
              <a:rPr sz="1600">
                <a:solidFill>
                  <a:srgbClr val="333333"/>
                </a:solidFill>
                <a:latin typeface="Arial"/>
              </a:rPr>
              <a:t>These three questions help us understand if we can trust the data for decision-making.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Question 1: Are facilities reporting?</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Completeness: Did we get reports?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What we're checking:</a:t>
            </a:r>
          </a:p>
          <a:p>
            <a:pPr>
              <a:spcAft>
                <a:spcPts val="1000"/>
              </a:spcAft>
            </a:pPr>
            <a:r>
              <a:rPr sz="1600">
                <a:solidFill>
                  <a:srgbClr val="333333"/>
                </a:solidFill>
                <a:latin typeface="Arial"/>
              </a:rPr>
              <a:t>Each month, are facilities sending in their reports?</a:t>
            </a:r>
          </a:p>
          <a:p>
            <a:pPr>
              <a:spcAft>
                <a:spcPts val="1000"/>
              </a:spcAft>
            </a:pPr>
            <a:r>
              <a:rPr sz="1600" b="1">
                <a:solidFill>
                  <a:srgbClr val="333333"/>
                </a:solidFill>
                <a:latin typeface="Arial"/>
              </a:rPr>
              <a:t>Why it matters:</a:t>
            </a:r>
          </a:p>
          <a:p>
            <a:pPr>
              <a:spcAft>
                <a:spcPts val="400"/>
              </a:spcAft>
            </a:pPr>
            <a:r>
              <a:rPr sz="1600">
                <a:solidFill>
                  <a:srgbClr val="2C3E50"/>
                </a:solidFill>
                <a:latin typeface="Arial"/>
              </a:rPr>
              <a:t>• Missing reports = incomplete picture</a:t>
            </a:r>
          </a:p>
          <a:p>
            <a:pPr>
              <a:spcAft>
                <a:spcPts val="400"/>
              </a:spcAft>
            </a:pPr>
            <a:r>
              <a:rPr sz="1600">
                <a:solidFill>
                  <a:srgbClr val="2C3E50"/>
                </a:solidFill>
                <a:latin typeface="Arial"/>
              </a:rPr>
              <a:t>• Apparent drops may just be missing data</a:t>
            </a:r>
          </a:p>
        </p:txBody>
      </p:sp>
      <p:pic>
        <p:nvPicPr>
          <p:cNvPr id="5" name="Picture 4" descr="completeness_illustration.png"/>
          <p:cNvPicPr>
            <a:picLocks noChangeAspect="1"/>
          </p:cNvPicPr>
          <p:nvPr/>
        </p:nvPicPr>
        <p:blipFill>
          <a:blip r:embed="rId2"/>
          <a:stretch>
            <a:fillRect/>
          </a:stretch>
        </p:blipFill>
        <p:spPr>
          <a:xfrm>
            <a:off x="7315200" y="1371600"/>
            <a:ext cx="4114800" cy="1694329"/>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What's good completeness?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It depends on your health system:</a:t>
            </a:r>
          </a:p>
          <a:p>
            <a:pPr>
              <a:spcAft>
                <a:spcPts val="400"/>
              </a:spcAft>
            </a:pPr>
            <a:r>
              <a:rPr sz="1600">
                <a:solidFill>
                  <a:srgbClr val="2C3E50"/>
                </a:solidFill>
                <a:latin typeface="Arial"/>
              </a:rPr>
              <a:t>• 90%+ is excellent</a:t>
            </a:r>
          </a:p>
          <a:p>
            <a:pPr>
              <a:spcAft>
                <a:spcPts val="400"/>
              </a:spcAft>
            </a:pPr>
            <a:r>
              <a:rPr sz="1600">
                <a:solidFill>
                  <a:srgbClr val="2C3E50"/>
                </a:solidFill>
                <a:latin typeface="Arial"/>
              </a:rPr>
              <a:t>• 80-90% is good</a:t>
            </a:r>
          </a:p>
          <a:p>
            <a:pPr>
              <a:spcAft>
                <a:spcPts val="400"/>
              </a:spcAft>
            </a:pPr>
            <a:r>
              <a:rPr sz="1600">
                <a:solidFill>
                  <a:srgbClr val="2C3E50"/>
                </a:solidFill>
                <a:latin typeface="Arial"/>
              </a:rPr>
              <a:t>• Below 80% means we're missing a lot of information</a:t>
            </a:r>
          </a:p>
          <a:p>
            <a:pPr>
              <a:spcAft>
                <a:spcPts val="1000"/>
              </a:spcAft>
            </a:pPr>
            <a:r>
              <a:rPr sz="1600" b="1">
                <a:solidFill>
                  <a:srgbClr val="333333"/>
                </a:solidFill>
                <a:latin typeface="Arial"/>
              </a:rPr>
              <a:t>Important:</a:t>
            </a:r>
            <a:r>
              <a:rPr sz="1600">
                <a:solidFill>
                  <a:srgbClr val="333333"/>
                </a:solidFill>
                <a:latin typeface="Arial"/>
              </a:rPr>
              <a:t> Even 100% completeness doesn't mean we have the full picture - some services might happen outside facilities or some facilities might not be in the reporting system.</a:t>
            </a:r>
          </a:p>
          <a:p>
            <a:pPr>
              <a:spcAft>
                <a:spcPts val="1000"/>
              </a:spcAft>
            </a:pPr>
            <a:r>
              <a:rPr sz="1600" b="1">
                <a:solidFill>
                  <a:srgbClr val="333333"/>
                </a:solidFill>
                <a:latin typeface="Arial"/>
              </a:rPr>
              <a:t>What to look for:</a:t>
            </a:r>
            <a:r>
              <a:rPr sz="1600">
                <a:solidFill>
                  <a:srgbClr val="333333"/>
                </a:solidFill>
                <a:latin typeface="Arial"/>
              </a:rPr>
              <a:t> Is completeness improving over time? Which areas have low completeness?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Completeness: FASTR output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ault_2._Proportion_of_completed_records.png"/>
          <p:cNvPicPr>
            <a:picLocks noChangeAspect="1"/>
          </p:cNvPicPr>
          <p:nvPr/>
        </p:nvPicPr>
        <p:blipFill>
          <a:blip r:embed="rId2"/>
          <a:stretch>
            <a:fillRect/>
          </a:stretch>
        </p:blipFill>
        <p:spPr>
          <a:xfrm>
            <a:off x="1523847" y="1371600"/>
            <a:ext cx="9144000" cy="5371011"/>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Question 2: Are numbers reasonable?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Outliers: Spotting suspicious numbers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outlier_impact.png"/>
          <p:cNvPicPr>
            <a:picLocks noChangeAspect="1"/>
          </p:cNvPicPr>
          <p:nvPr/>
        </p:nvPicPr>
        <p:blipFill>
          <a:blip r:embed="rId2"/>
          <a:stretch>
            <a:fillRect/>
          </a:stretch>
        </p:blipFill>
        <p:spPr>
          <a:xfrm>
            <a:off x="1523847" y="1371600"/>
            <a:ext cx="9144000" cy="4064000"/>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b="1">
                <a:solidFill>
                  <a:srgbClr val="333333"/>
                </a:solidFill>
                <a:latin typeface="Arial"/>
              </a:rPr>
              <a:t>In this example:</a:t>
            </a:r>
          </a:p>
          <a:p>
            <a:pPr>
              <a:spcAft>
                <a:spcPts val="600"/>
              </a:spcAft>
            </a:pPr>
            <a:r>
              <a:rPr sz="1600">
                <a:solidFill>
                  <a:srgbClr val="333333"/>
                </a:solidFill>
                <a:latin typeface="Arial"/>
              </a:rPr>
              <a:t>Region A shows a spike in February that's far higher than the other regions.</a:t>
            </a:r>
          </a:p>
          <a:p>
            <a:pPr>
              <a:spcAft>
                <a:spcPts val="600"/>
              </a:spcAft>
            </a:pPr>
            <a:r>
              <a:rPr sz="1600">
                <a:solidFill>
                  <a:srgbClr val="333333"/>
                </a:solidFill>
                <a:latin typeface="Arial"/>
              </a:rPr>
              <a:t>This is likely a data entry error - after adjustment, all regions show similar gradual trends.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How we spot outliers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Outliers are identified by assessing the within-facility variation in monthly reporting for each indicator.</a:t>
            </a:r>
          </a:p>
          <a:p>
            <a:pPr>
              <a:spcAft>
                <a:spcPts val="1000"/>
              </a:spcAft>
            </a:pPr>
            <a:r>
              <a:rPr sz="1600">
                <a:solidFill>
                  <a:srgbClr val="333333"/>
                </a:solidFill>
                <a:latin typeface="Arial"/>
              </a:rPr>
              <a:t>A value is flagged as an outlier if it meets EITHER of two criteria:</a:t>
            </a:r>
          </a:p>
          <a:p>
            <a:pPr>
              <a:spcAft>
                <a:spcPts val="400"/>
              </a:spcAft>
            </a:pPr>
            <a:r>
              <a:rPr sz="1600">
                <a:solidFill>
                  <a:srgbClr val="2C3E50"/>
                </a:solidFill>
                <a:latin typeface="Arial"/>
              </a:rPr>
              <a:t>• A value greater than 10 times the Median Absolute Deviation (MAD) from the monthly median value for the indicator, OR</a:t>
            </a:r>
          </a:p>
          <a:p>
            <a:pPr>
              <a:spcAft>
                <a:spcPts val="400"/>
              </a:spcAft>
            </a:pPr>
            <a:r>
              <a:rPr sz="1600">
                <a:solidFill>
                  <a:srgbClr val="2C3E50"/>
                </a:solidFill>
                <a:latin typeface="Arial"/>
              </a:rPr>
              <a:t>• A value for which the proportional contribution in volume for a facility, indicator, and time period is greater than 80%</a:t>
            </a:r>
          </a:p>
          <a:p>
            <a:pPr>
              <a:spcAft>
                <a:spcPts val="1000"/>
              </a:spcAft>
            </a:pPr>
            <a:r>
              <a:rPr sz="1600">
                <a:solidFill>
                  <a:srgbClr val="333333"/>
                </a:solidFill>
                <a:latin typeface="Arial"/>
              </a:rPr>
              <a:t>AND for which the count is greater than 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Outlier example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7295" cy="731520"/>
          </a:xfrm>
          <a:prstGeom prst="rect">
            <a:avLst/>
          </a:prstGeom>
          <a:noFill/>
        </p:spPr>
        <p:txBody>
          <a:bodyPr wrap="square">
            <a:spAutoFit/>
          </a:bodyPr>
          <a:lstStyle/>
          <a:p>
            <a:pPr>
              <a:spcAft>
                <a:spcPts val="400"/>
              </a:spcAft>
            </a:pPr>
            <a:r>
              <a:rPr sz="1600" b="1">
                <a:solidFill>
                  <a:srgbClr val="2C3E50"/>
                </a:solidFill>
                <a:latin typeface="Arial"/>
              </a:rPr>
              <a:t>Health Center B - Malaria tests:</a:t>
            </a:r>
          </a:p>
        </p:txBody>
      </p:sp>
      <p:graphicFrame>
        <p:nvGraphicFramePr>
          <p:cNvPr id="5" name="Table 4"/>
          <p:cNvGraphicFramePr>
            <a:graphicFrameLocks noGrp="1"/>
          </p:cNvGraphicFramePr>
          <p:nvPr/>
        </p:nvGraphicFramePr>
        <p:xfrm>
          <a:off x="457200" y="1828800"/>
          <a:ext cx="11247118" cy="1600200"/>
        </p:xfrm>
        <a:graphic>
          <a:graphicData uri="http://schemas.openxmlformats.org/drawingml/2006/table">
            <a:tbl>
              <a:tblPr firstRow="1" bandRow="1">
                <a:tableStyleId>{5C22544A-7EE6-4342-B048-85BDC9FD1C3A}</a:tableStyleId>
              </a:tblPr>
              <a:tblGrid>
                <a:gridCol w="3672362"/>
                <a:gridCol w="3905561"/>
                <a:gridCol w="3669195"/>
              </a:tblGrid>
              <a:tr h="320040">
                <a:tc>
                  <a:txBody>
                    <a:bodyPr wrap="square"/>
                    <a:lstStyle/>
                    <a:p>
                      <a:pPr>
                        <a:defRPr sz="1400" b="1">
                          <a:solidFill>
                            <a:srgbClr val="21568C"/>
                          </a:solidFill>
                          <a:latin typeface="Arial"/>
                        </a:defRPr>
                      </a:pPr>
                      <a:r>
                        <a:t>Month</a:t>
                      </a:r>
                    </a:p>
                  </a:txBody>
                  <a:tcPr>
                    <a:solidFill>
                      <a:srgbClr val="CAE6E9"/>
                    </a:solidFill>
                  </a:tcPr>
                </a:tc>
                <a:tc>
                  <a:txBody>
                    <a:bodyPr wrap="square"/>
                    <a:lstStyle/>
                    <a:p>
                      <a:pPr>
                        <a:defRPr sz="1400" b="1">
                          <a:solidFill>
                            <a:srgbClr val="21568C"/>
                          </a:solidFill>
                          <a:latin typeface="Arial"/>
                        </a:defRPr>
                      </a:pPr>
                      <a:r>
                        <a:t>Tests Reported</a:t>
                      </a:r>
                    </a:p>
                  </a:txBody>
                  <a:tcPr>
                    <a:solidFill>
                      <a:srgbClr val="CAE6E9"/>
                    </a:solidFill>
                  </a:tcPr>
                </a:tc>
                <a:tc>
                  <a:txBody>
                    <a:bodyPr wrap="square"/>
                    <a:lstStyle/>
                    <a:p>
                      <a:pPr>
                        <a:defRPr sz="1400" b="1">
                          <a:solidFill>
                            <a:srgbClr val="21568C"/>
                          </a:solidFill>
                          <a:latin typeface="Arial"/>
                        </a:defRPr>
                      </a:pPr>
                      <a:r>
                        <a:t>Normal?</a:t>
                      </a:r>
                    </a:p>
                  </a:txBody>
                  <a:tcPr>
                    <a:solidFill>
                      <a:srgbClr val="CAE6E9"/>
                    </a:solidFill>
                  </a:tcPr>
                </a:tc>
              </a:tr>
              <a:tr h="320040">
                <a:tc>
                  <a:txBody>
                    <a:bodyPr wrap="square"/>
                    <a:lstStyle/>
                    <a:p>
                      <a:r>
                        <a:rPr sz="1400">
                          <a:solidFill>
                            <a:srgbClr val="2C3E50"/>
                          </a:solidFill>
                          <a:latin typeface="Arial"/>
                        </a:rPr>
                        <a:t>January</a:t>
                      </a:r>
                    </a:p>
                  </a:txBody>
                  <a:tcPr/>
                </a:tc>
                <a:tc>
                  <a:txBody>
                    <a:bodyPr wrap="square"/>
                    <a:lstStyle/>
                    <a:p>
                      <a:r>
                        <a:rPr sz="1400">
                          <a:solidFill>
                            <a:srgbClr val="2C3E50"/>
                          </a:solidFill>
                          <a:latin typeface="Arial"/>
                        </a:rPr>
                        <a:t>245</a:t>
                      </a:r>
                    </a:p>
                  </a:txBody>
                  <a:tcPr/>
                </a:tc>
                <a:tc>
                  <a:txBody>
                    <a:bodyPr wrap="square"/>
                    <a:lstStyle/>
                    <a:p>
                      <a:r>
                        <a:rPr sz="1400">
                          <a:solidFill>
                            <a:srgbClr val="2C3E50"/>
                          </a:solidFill>
                          <a:latin typeface="Arial"/>
                        </a:rPr>
                        <a:t>Normal</a:t>
                      </a:r>
                    </a:p>
                  </a:txBody>
                  <a:tcPr/>
                </a:tc>
              </a:tr>
              <a:tr h="320040">
                <a:tc>
                  <a:txBody>
                    <a:bodyPr wrap="square"/>
                    <a:lstStyle/>
                    <a:p>
                      <a:r>
                        <a:rPr sz="1400">
                          <a:solidFill>
                            <a:srgbClr val="2C3E50"/>
                          </a:solidFill>
                          <a:latin typeface="Arial"/>
                        </a:rPr>
                        <a:t>February</a:t>
                      </a:r>
                    </a:p>
                  </a:txBody>
                  <a:tcPr/>
                </a:tc>
                <a:tc>
                  <a:txBody>
                    <a:bodyPr wrap="square"/>
                    <a:lstStyle/>
                    <a:p>
                      <a:r>
                        <a:rPr sz="1400">
                          <a:solidFill>
                            <a:srgbClr val="2C3E50"/>
                          </a:solidFill>
                          <a:latin typeface="Arial"/>
                        </a:rPr>
                        <a:t>267</a:t>
                      </a:r>
                    </a:p>
                  </a:txBody>
                  <a:tcPr/>
                </a:tc>
                <a:tc>
                  <a:txBody>
                    <a:bodyPr wrap="square"/>
                    <a:lstStyle/>
                    <a:p>
                      <a:r>
                        <a:rPr sz="1400">
                          <a:solidFill>
                            <a:srgbClr val="2C3E50"/>
                          </a:solidFill>
                          <a:latin typeface="Arial"/>
                        </a:rPr>
                        <a:t>Normal</a:t>
                      </a:r>
                    </a:p>
                  </a:txBody>
                  <a:tcPr/>
                </a:tc>
              </a:tr>
              <a:tr h="320040">
                <a:tc>
                  <a:txBody>
                    <a:bodyPr wrap="square"/>
                    <a:lstStyle/>
                    <a:p>
                      <a:r>
                        <a:rPr sz="1400" b="1">
                          <a:solidFill>
                            <a:srgbClr val="2C3E50"/>
                          </a:solidFill>
                          <a:latin typeface="Arial"/>
                        </a:rPr>
                        <a:t>March</a:t>
                      </a:r>
                    </a:p>
                  </a:txBody>
                  <a:tcPr/>
                </a:tc>
                <a:tc>
                  <a:txBody>
                    <a:bodyPr wrap="square"/>
                    <a:lstStyle/>
                    <a:p>
                      <a:r>
                        <a:rPr sz="1400" b="1">
                          <a:solidFill>
                            <a:srgbClr val="2C3E50"/>
                          </a:solidFill>
                          <a:latin typeface="Arial"/>
                        </a:rPr>
                        <a:t>2,890</a:t>
                      </a:r>
                    </a:p>
                  </a:txBody>
                  <a:tcPr/>
                </a:tc>
                <a:tc>
                  <a:txBody>
                    <a:bodyPr wrap="square"/>
                    <a:lstStyle/>
                    <a:p>
                      <a:r>
                        <a:rPr sz="1400" b="1">
                          <a:solidFill>
                            <a:srgbClr val="2C3E50"/>
                          </a:solidFill>
                          <a:latin typeface="Arial"/>
                        </a:rPr>
                        <a:t>Outlier</a:t>
                      </a:r>
                    </a:p>
                  </a:txBody>
                  <a:tcPr/>
                </a:tc>
              </a:tr>
              <a:tr h="320040">
                <a:tc>
                  <a:txBody>
                    <a:bodyPr wrap="square"/>
                    <a:lstStyle/>
                    <a:p>
                      <a:r>
                        <a:rPr sz="1400">
                          <a:solidFill>
                            <a:srgbClr val="2C3E50"/>
                          </a:solidFill>
                          <a:latin typeface="Arial"/>
                        </a:rPr>
                        <a:t>April</a:t>
                      </a:r>
                    </a:p>
                  </a:txBody>
                  <a:tcPr/>
                </a:tc>
                <a:tc>
                  <a:txBody>
                    <a:bodyPr wrap="square"/>
                    <a:lstStyle/>
                    <a:p>
                      <a:r>
                        <a:rPr sz="1400">
                          <a:solidFill>
                            <a:srgbClr val="2C3E50"/>
                          </a:solidFill>
                          <a:latin typeface="Arial"/>
                        </a:rPr>
                        <a:t>256</a:t>
                      </a:r>
                    </a:p>
                  </a:txBody>
                  <a:tcPr/>
                </a:tc>
                <a:tc>
                  <a:txBody>
                    <a:bodyPr wrap="square"/>
                    <a:lstStyle/>
                    <a:p>
                      <a:r>
                        <a:rPr sz="1400">
                          <a:solidFill>
                            <a:srgbClr val="2C3E50"/>
                          </a:solidFill>
                          <a:latin typeface="Arial"/>
                        </a:rPr>
                        <a:t>Normal</a:t>
                      </a:r>
                    </a:p>
                  </a:txBody>
                  <a:tcPr/>
                </a:tc>
              </a:tr>
            </a:tbl>
          </a:graphicData>
        </a:graphic>
      </p:graphicFrame>
      <p:sp>
        <p:nvSpPr>
          <p:cNvPr id="6" name="TextBox 5"/>
          <p:cNvSpPr txBox="1"/>
          <p:nvPr/>
        </p:nvSpPr>
        <p:spPr>
          <a:xfrm>
            <a:off x="457200" y="3611880"/>
            <a:ext cx="11277295" cy="2286000"/>
          </a:xfrm>
          <a:prstGeom prst="rect">
            <a:avLst/>
          </a:prstGeom>
          <a:noFill/>
        </p:spPr>
        <p:txBody>
          <a:bodyPr wrap="square">
            <a:spAutoFit/>
          </a:bodyPr>
          <a:lstStyle/>
          <a:p>
            <a:pPr>
              <a:spcAft>
                <a:spcPts val="600"/>
              </a:spcAft>
            </a:pPr>
            <a:r>
              <a:rPr sz="1600" b="1">
                <a:solidFill>
                  <a:srgbClr val="2C3E50"/>
                </a:solidFill>
                <a:latin typeface="Arial"/>
              </a:rPr>
              <a:t>What happened?</a:t>
            </a:r>
            <a:r>
              <a:rPr sz="1600">
                <a:solidFill>
                  <a:srgbClr val="2C3E50"/>
                </a:solidFill>
                <a:latin typeface="Arial"/>
              </a:rPr>
              <a:t> Probably someone entered "2890" instead of "289" (extra zero)</a:t>
            </a:r>
          </a:p>
          <a:p>
            <a:pPr>
              <a:spcAft>
                <a:spcPts val="600"/>
              </a:spcAft>
            </a:pPr>
            <a:r>
              <a:rPr sz="1600" b="1">
                <a:solidFill>
                  <a:srgbClr val="2C3E50"/>
                </a:solidFill>
                <a:latin typeface="Arial"/>
              </a:rPr>
              <a:t>Impact if we don't fix it:</a:t>
            </a:r>
            <a:r>
              <a:rPr sz="1600">
                <a:solidFill>
                  <a:srgbClr val="2C3E50"/>
                </a:solidFill>
                <a:latin typeface="Arial"/>
              </a:rPr>
              <a:t> March would show a huge "spike" in malaria that didn't really happen.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Outliers: FASTR output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ault_1._Proportion_of_outliers.png"/>
          <p:cNvPicPr>
            <a:picLocks noChangeAspect="1"/>
          </p:cNvPicPr>
          <p:nvPr/>
        </p:nvPicPr>
        <p:blipFill>
          <a:blip r:embed="rId2"/>
          <a:stretch>
            <a:fillRect/>
          </a:stretch>
        </p:blipFill>
        <p:spPr>
          <a:xfrm>
            <a:off x="1523847" y="1371600"/>
            <a:ext cx="9144000" cy="32766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Question 3: Do related numbers match up?</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Consistency: Do related services make sense together?</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What we're checking:</a:t>
            </a:r>
          </a:p>
          <a:p>
            <a:pPr>
              <a:spcAft>
                <a:spcPts val="1000"/>
              </a:spcAft>
            </a:pPr>
            <a:r>
              <a:rPr sz="1600">
                <a:solidFill>
                  <a:srgbClr val="333333"/>
                </a:solidFill>
                <a:latin typeface="Arial"/>
              </a:rPr>
              <a:t>Health services are related - certain patterns are expected.</a:t>
            </a:r>
          </a:p>
          <a:p>
            <a:pPr>
              <a:spcAft>
                <a:spcPts val="1000"/>
              </a:spcAft>
            </a:pPr>
            <a:r>
              <a:rPr sz="1600" b="1">
                <a:solidFill>
                  <a:srgbClr val="333333"/>
                </a:solidFill>
                <a:latin typeface="Arial"/>
              </a:rPr>
              <a:t>Example 1 - ANC visits:</a:t>
            </a:r>
          </a:p>
          <a:p>
            <a:pPr>
              <a:spcAft>
                <a:spcPts val="400"/>
              </a:spcAft>
            </a:pPr>
            <a:r>
              <a:rPr sz="1600">
                <a:solidFill>
                  <a:srgbClr val="2C3E50"/>
                </a:solidFill>
                <a:latin typeface="Arial"/>
              </a:rPr>
              <a:t>• More women should get their </a:t>
            </a:r>
            <a:r>
              <a:rPr sz="1600" b="1">
                <a:solidFill>
                  <a:srgbClr val="2C3E50"/>
                </a:solidFill>
                <a:latin typeface="Arial"/>
              </a:rPr>
              <a:t>1st</a:t>
            </a:r>
            <a:r>
              <a:rPr sz="1600">
                <a:solidFill>
                  <a:srgbClr val="2C3E50"/>
                </a:solidFill>
                <a:latin typeface="Arial"/>
              </a:rPr>
              <a:t> ANC visit (ANC1)</a:t>
            </a:r>
          </a:p>
          <a:p>
            <a:pPr>
              <a:spcAft>
                <a:spcPts val="400"/>
              </a:spcAft>
            </a:pPr>
            <a:r>
              <a:rPr sz="1600">
                <a:solidFill>
                  <a:srgbClr val="2C3E50"/>
                </a:solidFill>
                <a:latin typeface="Arial"/>
              </a:rPr>
              <a:t>• Fewer should complete all </a:t>
            </a:r>
            <a:r>
              <a:rPr sz="1600" b="1">
                <a:solidFill>
                  <a:srgbClr val="2C3E50"/>
                </a:solidFill>
                <a:latin typeface="Arial"/>
              </a:rPr>
              <a:t>4</a:t>
            </a:r>
            <a:r>
              <a:rPr sz="1600">
                <a:solidFill>
                  <a:srgbClr val="2C3E50"/>
                </a:solidFill>
                <a:latin typeface="Arial"/>
              </a:rPr>
              <a:t> visits (ANC4)</a:t>
            </a:r>
          </a:p>
          <a:p>
            <a:pPr>
              <a:spcAft>
                <a:spcPts val="400"/>
              </a:spcAft>
            </a:pPr>
            <a:r>
              <a:rPr sz="1600">
                <a:solidFill>
                  <a:srgbClr val="2C3E50"/>
                </a:solidFill>
                <a:latin typeface="Arial"/>
              </a:rPr>
              <a:t>• We expect: ANC1 &gt;= ANC4</a:t>
            </a:r>
          </a:p>
          <a:p>
            <a:pPr>
              <a:spcAft>
                <a:spcPts val="1000"/>
              </a:spcAft>
            </a:pPr>
            <a:r>
              <a:rPr sz="1600" b="1">
                <a:solidFill>
                  <a:srgbClr val="333333"/>
                </a:solidFill>
                <a:latin typeface="Arial"/>
              </a:rPr>
              <a:t>Example 2 - Vaccinations:</a:t>
            </a:r>
          </a:p>
          <a:p>
            <a:pPr>
              <a:spcAft>
                <a:spcPts val="400"/>
              </a:spcAft>
            </a:pPr>
            <a:r>
              <a:rPr sz="1600">
                <a:solidFill>
                  <a:srgbClr val="2C3E50"/>
                </a:solidFill>
                <a:latin typeface="Arial"/>
              </a:rPr>
              <a:t>• More babies should get their </a:t>
            </a:r>
            <a:r>
              <a:rPr sz="1600" b="1">
                <a:solidFill>
                  <a:srgbClr val="2C3E50"/>
                </a:solidFill>
                <a:latin typeface="Arial"/>
              </a:rPr>
              <a:t>1st</a:t>
            </a:r>
            <a:r>
              <a:rPr sz="1600">
                <a:solidFill>
                  <a:srgbClr val="2C3E50"/>
                </a:solidFill>
                <a:latin typeface="Arial"/>
              </a:rPr>
              <a:t> Penta dose (Penta1)</a:t>
            </a:r>
          </a:p>
          <a:p>
            <a:pPr>
              <a:spcAft>
                <a:spcPts val="400"/>
              </a:spcAft>
            </a:pPr>
            <a:r>
              <a:rPr sz="1600">
                <a:solidFill>
                  <a:srgbClr val="2C3E50"/>
                </a:solidFill>
                <a:latin typeface="Arial"/>
              </a:rPr>
              <a:t>• Fewer should complete all </a:t>
            </a:r>
            <a:r>
              <a:rPr sz="1600" b="1">
                <a:solidFill>
                  <a:srgbClr val="2C3E50"/>
                </a:solidFill>
                <a:latin typeface="Arial"/>
              </a:rPr>
              <a:t>3</a:t>
            </a:r>
            <a:r>
              <a:rPr sz="1600">
                <a:solidFill>
                  <a:srgbClr val="2C3E50"/>
                </a:solidFill>
                <a:latin typeface="Arial"/>
              </a:rPr>
              <a:t> doses (Penta3)</a:t>
            </a:r>
          </a:p>
          <a:p>
            <a:pPr>
              <a:spcAft>
                <a:spcPts val="400"/>
              </a:spcAft>
            </a:pPr>
            <a:r>
              <a:rPr sz="1600">
                <a:solidFill>
                  <a:srgbClr val="2C3E50"/>
                </a:solidFill>
                <a:latin typeface="Arial"/>
              </a:rPr>
              <a:t>• We expect: Penta1 &gt;= Penta3</a:t>
            </a:r>
          </a:p>
          <a:p>
            <a:pPr>
              <a:spcAft>
                <a:spcPts val="1000"/>
              </a:spcAft>
            </a:pPr>
            <a:r>
              <a:rPr sz="1600" b="1">
                <a:solidFill>
                  <a:srgbClr val="333333"/>
                </a:solidFill>
                <a:latin typeface="Arial"/>
              </a:rPr>
              <a:t>If these relationships are backwards, something's wrong with the data.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check consistency at district level?</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Patients move between facilities:</a:t>
            </a:r>
          </a:p>
          <a:p>
            <a:pPr>
              <a:spcAft>
                <a:spcPts val="400"/>
              </a:spcAft>
            </a:pPr>
            <a:r>
              <a:rPr sz="1600">
                <a:solidFill>
                  <a:srgbClr val="2C3E50"/>
                </a:solidFill>
                <a:latin typeface="Arial"/>
              </a:rPr>
              <a:t>• Woman might get ANC1 at Health Center A</a:t>
            </a:r>
          </a:p>
          <a:p>
            <a:pPr>
              <a:spcAft>
                <a:spcPts val="400"/>
              </a:spcAft>
            </a:pPr>
            <a:r>
              <a:rPr sz="1600">
                <a:solidFill>
                  <a:srgbClr val="2C3E50"/>
                </a:solidFill>
                <a:latin typeface="Arial"/>
              </a:rPr>
              <a:t>• But deliver at District Hospital B</a:t>
            </a:r>
          </a:p>
          <a:p>
            <a:pPr>
              <a:spcAft>
                <a:spcPts val="400"/>
              </a:spcAft>
            </a:pPr>
            <a:r>
              <a:rPr sz="1600">
                <a:solidFill>
                  <a:srgbClr val="2C3E50"/>
                </a:solidFill>
                <a:latin typeface="Arial"/>
              </a:rPr>
              <a:t>• If we only look at each facility separately, numbers might not match</a:t>
            </a:r>
          </a:p>
          <a:p>
            <a:pPr>
              <a:spcAft>
                <a:spcPts val="1000"/>
              </a:spcAft>
            </a:pPr>
            <a:r>
              <a:rPr sz="1600" b="1">
                <a:solidFill>
                  <a:srgbClr val="333333"/>
                </a:solidFill>
                <a:latin typeface="Arial"/>
              </a:rPr>
              <a:t>Solution:</a:t>
            </a:r>
            <a:r>
              <a:rPr sz="1600">
                <a:solidFill>
                  <a:srgbClr val="333333"/>
                </a:solidFill>
                <a:latin typeface="Arial"/>
              </a:rPr>
              <a:t> Check consistency at district level</a:t>
            </a:r>
          </a:p>
          <a:p>
            <a:pPr>
              <a:spcAft>
                <a:spcPts val="400"/>
              </a:spcAft>
            </a:pPr>
            <a:r>
              <a:rPr sz="1600">
                <a:solidFill>
                  <a:srgbClr val="2C3E50"/>
                </a:solidFill>
                <a:latin typeface="Arial"/>
              </a:rPr>
              <a:t>• Add up all ANC1 visits in the district</a:t>
            </a:r>
          </a:p>
          <a:p>
            <a:pPr>
              <a:spcAft>
                <a:spcPts val="400"/>
              </a:spcAft>
            </a:pPr>
            <a:r>
              <a:rPr sz="1600">
                <a:solidFill>
                  <a:srgbClr val="2C3E50"/>
                </a:solidFill>
                <a:latin typeface="Arial"/>
              </a:rPr>
              <a:t>• Add up all ANC4 visits in the district</a:t>
            </a:r>
          </a:p>
          <a:p>
            <a:pPr>
              <a:spcAft>
                <a:spcPts val="400"/>
              </a:spcAft>
            </a:pPr>
            <a:r>
              <a:rPr sz="1600">
                <a:solidFill>
                  <a:srgbClr val="2C3E50"/>
                </a:solidFill>
                <a:latin typeface="Arial"/>
              </a:rPr>
              <a:t>• Compare the totals</a:t>
            </a:r>
          </a:p>
          <a:p>
            <a:pPr>
              <a:spcAft>
                <a:spcPts val="1000"/>
              </a:spcAft>
            </a:pPr>
            <a:r>
              <a:rPr sz="1600">
                <a:solidFill>
                  <a:srgbClr val="333333"/>
                </a:solidFill>
                <a:latin typeface="Arial"/>
              </a:rPr>
              <a:t>This accounts for patients visiting different facilities for different services.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Consistency example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This passes the consistency check:</a:t>
            </a:r>
          </a:p>
          <a:p>
            <a:pPr>
              <a:spcAft>
                <a:spcPts val="400"/>
              </a:spcAft>
            </a:pPr>
            <a:r>
              <a:rPr sz="1600">
                <a:solidFill>
                  <a:srgbClr val="2C3E50"/>
                </a:solidFill>
                <a:latin typeface="Arial"/>
              </a:rPr>
              <a:t>• More women started ANC (5,200) than completed 4 visits (4,100)</a:t>
            </a:r>
          </a:p>
          <a:p>
            <a:pPr>
              <a:spcAft>
                <a:spcPts val="400"/>
              </a:spcAft>
            </a:pPr>
            <a:r>
              <a:rPr sz="1600">
                <a:solidFill>
                  <a:srgbClr val="2C3E50"/>
                </a:solidFill>
                <a:latin typeface="Arial"/>
              </a:rPr>
              <a:t>• This is logical - not everyone completes all visits</a:t>
            </a:r>
          </a:p>
          <a:p>
            <a:pPr>
              <a:spcAft>
                <a:spcPts val="1000"/>
              </a:spcAft>
            </a:pPr>
            <a:r>
              <a:rPr sz="1600" b="1">
                <a:solidFill>
                  <a:srgbClr val="333333"/>
                </a:solidFill>
                <a:latin typeface="Arial"/>
              </a:rPr>
              <a:t>If it was reversed</a:t>
            </a:r>
            <a:r>
              <a:rPr sz="1600">
                <a:solidFill>
                  <a:srgbClr val="333333"/>
                </a:solidFill>
                <a:latin typeface="Arial"/>
              </a:rPr>
              <a:t> (ANC4 &gt; ANC1), we'd know there's a data quality problem.</a:t>
            </a:r>
          </a:p>
        </p:txBody>
      </p:sp>
      <p:pic>
        <p:nvPicPr>
          <p:cNvPr id="5" name="Picture 4" descr="consistency_illustration.png"/>
          <p:cNvPicPr>
            <a:picLocks noChangeAspect="1"/>
          </p:cNvPicPr>
          <p:nvPr/>
        </p:nvPicPr>
        <p:blipFill>
          <a:blip r:embed="rId2"/>
          <a:stretch>
            <a:fillRect/>
          </a:stretch>
        </p:blipFill>
        <p:spPr>
          <a:xfrm>
            <a:off x="7315200" y="1371600"/>
            <a:ext cx="4114800" cy="2547257"/>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Consistency: FASTR output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ault_4._Proportion_of_sub-national_areas_meeting_consistency_criteria.png"/>
          <p:cNvPicPr>
            <a:picLocks noChangeAspect="1"/>
          </p:cNvPicPr>
          <p:nvPr/>
        </p:nvPicPr>
        <p:blipFill>
          <a:blip r:embed="rId2"/>
          <a:stretch>
            <a:fillRect/>
          </a:stretch>
        </p:blipFill>
        <p:spPr>
          <a:xfrm>
            <a:off x="1523847" y="1371600"/>
            <a:ext cx="9144000" cy="3065417"/>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Putting it all together: Overall data quality</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Overall quality score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For each facility and month, we combine all three checks:</a:t>
            </a:r>
          </a:p>
          <a:p>
            <a:pPr>
              <a:spcAft>
                <a:spcPts val="400"/>
              </a:spcAft>
            </a:pPr>
            <a:r>
              <a:rPr sz="1600">
                <a:solidFill>
                  <a:srgbClr val="2C3E50"/>
                </a:solidFill>
                <a:latin typeface="Arial"/>
              </a:rPr>
              <a:t>• </a:t>
            </a:r>
            <a:r>
              <a:rPr sz="1600" b="1">
                <a:solidFill>
                  <a:srgbClr val="2C3E50"/>
                </a:solidFill>
                <a:latin typeface="Arial"/>
              </a:rPr>
              <a:t>Complete:</a:t>
            </a:r>
            <a:r>
              <a:rPr sz="1600">
                <a:solidFill>
                  <a:srgbClr val="2C3E50"/>
                </a:solidFill>
                <a:latin typeface="Arial"/>
              </a:rPr>
              <a:t> Did the facility report?</a:t>
            </a:r>
          </a:p>
          <a:p>
            <a:pPr>
              <a:spcAft>
                <a:spcPts val="400"/>
              </a:spcAft>
            </a:pPr>
            <a:r>
              <a:rPr sz="1600">
                <a:solidFill>
                  <a:srgbClr val="2C3E50"/>
                </a:solidFill>
                <a:latin typeface="Arial"/>
              </a:rPr>
              <a:t>• </a:t>
            </a:r>
            <a:r>
              <a:rPr sz="1600" b="1">
                <a:solidFill>
                  <a:srgbClr val="2C3E50"/>
                </a:solidFill>
                <a:latin typeface="Arial"/>
              </a:rPr>
              <a:t>No outliers:</a:t>
            </a:r>
            <a:r>
              <a:rPr sz="1600">
                <a:solidFill>
                  <a:srgbClr val="2C3E50"/>
                </a:solidFill>
                <a:latin typeface="Arial"/>
              </a:rPr>
              <a:t> Are the numbers reasonable?</a:t>
            </a:r>
          </a:p>
          <a:p>
            <a:pPr>
              <a:spcAft>
                <a:spcPts val="400"/>
              </a:spcAft>
            </a:pPr>
            <a:r>
              <a:rPr sz="1600">
                <a:solidFill>
                  <a:srgbClr val="2C3E50"/>
                </a:solidFill>
                <a:latin typeface="Arial"/>
              </a:rPr>
              <a:t>• </a:t>
            </a:r>
            <a:r>
              <a:rPr sz="1600" b="1">
                <a:solidFill>
                  <a:srgbClr val="2C3E50"/>
                </a:solidFill>
                <a:latin typeface="Arial"/>
              </a:rPr>
              <a:t>Consistent:</a:t>
            </a:r>
            <a:r>
              <a:rPr sz="1600">
                <a:solidFill>
                  <a:srgbClr val="2C3E50"/>
                </a:solidFill>
                <a:latin typeface="Arial"/>
              </a:rPr>
              <a:t> Do related numbers make sense?</a:t>
            </a:r>
          </a:p>
          <a:p>
            <a:pPr>
              <a:spcAft>
                <a:spcPts val="1000"/>
              </a:spcAft>
            </a:pPr>
            <a:r>
              <a:rPr sz="1600" b="1">
                <a:solidFill>
                  <a:srgbClr val="333333"/>
                </a:solidFill>
                <a:latin typeface="Arial"/>
              </a:rPr>
              <a:t>Binary DQA Score:</a:t>
            </a:r>
          </a:p>
          <a:p>
            <a:pPr>
              <a:spcAft>
                <a:spcPts val="400"/>
              </a:spcAft>
            </a:pPr>
            <a:r>
              <a:rPr sz="1600">
                <a:solidFill>
                  <a:srgbClr val="2C3E50"/>
                </a:solidFill>
                <a:latin typeface="Arial"/>
              </a:rPr>
              <a:t>• dqa_score = 1 if ALL three checks pass</a:t>
            </a:r>
          </a:p>
          <a:p>
            <a:pPr>
              <a:spcAft>
                <a:spcPts val="400"/>
              </a:spcAft>
            </a:pPr>
            <a:r>
              <a:rPr sz="1600">
                <a:solidFill>
                  <a:srgbClr val="2C3E50"/>
                </a:solidFill>
                <a:latin typeface="Arial"/>
              </a:rPr>
              <a:t>• dqa_score = 0 if ANY check fails</a:t>
            </a:r>
          </a:p>
          <a:p>
            <a:pPr>
              <a:spcAft>
                <a:spcPts val="1000"/>
              </a:spcAft>
            </a:pPr>
            <a:r>
              <a:rPr sz="1600" b="1">
                <a:solidFill>
                  <a:srgbClr val="333333"/>
                </a:solidFill>
                <a:latin typeface="Arial"/>
              </a:rPr>
              <a:t>DQA Mean:</a:t>
            </a:r>
            <a:r>
              <a:rPr sz="1600">
                <a:solidFill>
                  <a:srgbClr val="333333"/>
                </a:solidFill>
                <a:latin typeface="Arial"/>
              </a:rPr>
              <a:t> Average of completeness-outlier score and consistency score</a:t>
            </a:r>
          </a:p>
          <a:p>
            <a:pPr>
              <a:spcAft>
                <a:spcPts val="1000"/>
              </a:spcAft>
            </a:pPr>
            <a:r>
              <a:rPr sz="1600" b="1">
                <a:solidFill>
                  <a:srgbClr val="333333"/>
                </a:solidFill>
                <a:latin typeface="Arial"/>
              </a:rPr>
              <a:t>This helps us:</a:t>
            </a:r>
          </a:p>
          <a:p>
            <a:pPr>
              <a:spcAft>
                <a:spcPts val="400"/>
              </a:spcAft>
            </a:pPr>
            <a:r>
              <a:rPr sz="1600">
                <a:solidFill>
                  <a:srgbClr val="2C3E50"/>
                </a:solidFill>
                <a:latin typeface="Arial"/>
              </a:rPr>
              <a:t>• Decide which data to use for analysis</a:t>
            </a:r>
          </a:p>
          <a:p>
            <a:pPr>
              <a:spcAft>
                <a:spcPts val="400"/>
              </a:spcAft>
            </a:pPr>
            <a:r>
              <a:rPr sz="1600">
                <a:solidFill>
                  <a:srgbClr val="2C3E50"/>
                </a:solidFill>
                <a:latin typeface="Arial"/>
              </a:rPr>
              <a:t>• Identify facilities needing support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Overall DQA score: FASTR output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ault_5._Overall_DQA_score.png"/>
          <p:cNvPicPr>
            <a:picLocks noChangeAspect="1"/>
          </p:cNvPicPr>
          <p:nvPr/>
        </p:nvPicPr>
        <p:blipFill>
          <a:blip r:embed="rId2"/>
          <a:stretch>
            <a:fillRect/>
          </a:stretch>
        </p:blipFill>
        <p:spPr>
          <a:xfrm>
            <a:off x="1523847" y="1371600"/>
            <a:ext cx="9144000" cy="286512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Mean DQA score: FASTR output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ault_6._Mean_DQA_score.png"/>
          <p:cNvPicPr>
            <a:picLocks noChangeAspect="1"/>
          </p:cNvPicPr>
          <p:nvPr/>
        </p:nvPicPr>
        <p:blipFill>
          <a:blip r:embed="rId2"/>
          <a:stretch>
            <a:fillRect/>
          </a:stretch>
        </p:blipFill>
        <p:spPr>
          <a:xfrm>
            <a:off x="1523847" y="1371600"/>
            <a:ext cx="9144000" cy="2965269"/>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Approach to data quality adjustment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The FASTR analytics platform provides an option for adjusting data for outliers, indicator completeness, or both.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Adjustment for outliers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7295" cy="731520"/>
          </a:xfrm>
          <a:prstGeom prst="rect">
            <a:avLst/>
          </a:prstGeom>
          <a:noFill/>
        </p:spPr>
        <p:txBody>
          <a:bodyPr wrap="square">
            <a:spAutoFit/>
          </a:bodyPr>
          <a:lstStyle/>
          <a:p>
            <a:pPr>
              <a:spcAft>
                <a:spcPts val="400"/>
              </a:spcAft>
            </a:pPr>
            <a:r>
              <a:rPr sz="1600">
                <a:solidFill>
                  <a:srgbClr val="2C3E50"/>
                </a:solidFill>
                <a:latin typeface="Arial"/>
              </a:rPr>
              <a:t>Each outlier is replaced using the facility's own historical data through a </a:t>
            </a:r>
            <a:r>
              <a:rPr sz="1600" b="1">
                <a:solidFill>
                  <a:srgbClr val="2C3E50"/>
                </a:solidFill>
                <a:latin typeface="Arial"/>
              </a:rPr>
              <a:t>6-month rolling average</a:t>
            </a:r>
            <a:r>
              <a:rPr sz="1600">
                <a:solidFill>
                  <a:srgbClr val="2C3E50"/>
                </a:solidFill>
                <a:latin typeface="Arial"/>
              </a:rPr>
              <a:t>.</a:t>
            </a:r>
          </a:p>
          <a:p>
            <a:pPr>
              <a:spcAft>
                <a:spcPts val="400"/>
              </a:spcAft>
            </a:pPr>
            <a:r>
              <a:rPr sz="1600" b="1">
                <a:solidFill>
                  <a:srgbClr val="2C3E50"/>
                </a:solidFill>
                <a:latin typeface="Arial"/>
              </a:rPr>
              <a:t>Method depends on position in time series:</a:t>
            </a:r>
          </a:p>
        </p:txBody>
      </p:sp>
      <p:graphicFrame>
        <p:nvGraphicFramePr>
          <p:cNvPr id="5" name="Table 4"/>
          <p:cNvGraphicFramePr>
            <a:graphicFrameLocks noGrp="1"/>
          </p:cNvGraphicFramePr>
          <p:nvPr/>
        </p:nvGraphicFramePr>
        <p:xfrm>
          <a:off x="457200" y="1828800"/>
          <a:ext cx="11247119" cy="1280160"/>
        </p:xfrm>
        <a:graphic>
          <a:graphicData uri="http://schemas.openxmlformats.org/drawingml/2006/table">
            <a:tbl>
              <a:tblPr firstRow="1" bandRow="1">
                <a:tableStyleId>{5C22544A-7EE6-4342-B048-85BDC9FD1C3A}</a:tableStyleId>
              </a:tblPr>
              <a:tblGrid>
                <a:gridCol w="2584316"/>
                <a:gridCol w="3365129"/>
                <a:gridCol w="5297674"/>
              </a:tblGrid>
              <a:tr h="320040">
                <a:tc>
                  <a:txBody>
                    <a:bodyPr wrap="square"/>
                    <a:lstStyle/>
                    <a:p>
                      <a:pPr>
                        <a:defRPr sz="1400" b="1">
                          <a:solidFill>
                            <a:srgbClr val="21568C"/>
                          </a:solidFill>
                          <a:latin typeface="Arial"/>
                        </a:defRPr>
                      </a:pPr>
                      <a:r>
                        <a:t>Position</a:t>
                      </a:r>
                    </a:p>
                  </a:txBody>
                  <a:tcPr>
                    <a:solidFill>
                      <a:srgbClr val="CAE6E9"/>
                    </a:solidFill>
                  </a:tcPr>
                </a:tc>
                <a:tc>
                  <a:txBody>
                    <a:bodyPr wrap="square"/>
                    <a:lstStyle/>
                    <a:p>
                      <a:pPr>
                        <a:defRPr sz="1400" b="1">
                          <a:solidFill>
                            <a:srgbClr val="21568C"/>
                          </a:solidFill>
                          <a:latin typeface="Arial"/>
                        </a:defRPr>
                      </a:pPr>
                      <a:r>
                        <a:t>Method</a:t>
                      </a:r>
                    </a:p>
                  </a:txBody>
                  <a:tcPr>
                    <a:solidFill>
                      <a:srgbClr val="CAE6E9"/>
                    </a:solidFill>
                  </a:tcPr>
                </a:tc>
                <a:tc>
                  <a:txBody>
                    <a:bodyPr wrap="square"/>
                    <a:lstStyle/>
                    <a:p>
                      <a:pPr>
                        <a:defRPr sz="1400" b="1">
                          <a:solidFill>
                            <a:srgbClr val="21568C"/>
                          </a:solidFill>
                          <a:latin typeface="Arial"/>
                        </a:defRPr>
                      </a:pPr>
                      <a:r>
                        <a:t>Example (outlier in June)</a:t>
                      </a:r>
                    </a:p>
                  </a:txBody>
                  <a:tcPr>
                    <a:solidFill>
                      <a:srgbClr val="CAE6E9"/>
                    </a:solidFill>
                  </a:tcPr>
                </a:tc>
              </a:tr>
              <a:tr h="320040">
                <a:tc>
                  <a:txBody>
                    <a:bodyPr wrap="square"/>
                    <a:lstStyle/>
                    <a:p>
                      <a:r>
                        <a:rPr sz="1400" b="1">
                          <a:solidFill>
                            <a:srgbClr val="2C3E50"/>
                          </a:solidFill>
                          <a:latin typeface="Arial"/>
                        </a:rPr>
                        <a:t>Middle</a:t>
                      </a:r>
                    </a:p>
                  </a:txBody>
                  <a:tcPr/>
                </a:tc>
                <a:tc>
                  <a:txBody>
                    <a:bodyPr wrap="square"/>
                    <a:lstStyle/>
                    <a:p>
                      <a:r>
                        <a:rPr sz="1400">
                          <a:solidFill>
                            <a:srgbClr val="2C3E50"/>
                          </a:solidFill>
                          <a:latin typeface="Arial"/>
                        </a:rPr>
                        <a:t>Centered average</a:t>
                      </a:r>
                    </a:p>
                  </a:txBody>
                  <a:tcPr/>
                </a:tc>
                <a:tc>
                  <a:txBody>
                    <a:bodyPr wrap="square"/>
                    <a:lstStyle/>
                    <a:p>
                      <a:r>
                        <a:rPr sz="1400">
                          <a:solidFill>
                            <a:srgbClr val="2C3E50"/>
                          </a:solidFill>
                          <a:latin typeface="Arial"/>
                        </a:rPr>
                        <a:t>Average of Mar-Apr-May + Jul-Aug-Sep</a:t>
                      </a:r>
                    </a:p>
                  </a:txBody>
                  <a:tcPr/>
                </a:tc>
              </a:tr>
              <a:tr h="320040">
                <a:tc>
                  <a:txBody>
                    <a:bodyPr wrap="square"/>
                    <a:lstStyle/>
                    <a:p>
                      <a:r>
                        <a:rPr sz="1400" b="1">
                          <a:solidFill>
                            <a:srgbClr val="2C3E50"/>
                          </a:solidFill>
                          <a:latin typeface="Arial"/>
                        </a:rPr>
                        <a:t>End</a:t>
                      </a:r>
                    </a:p>
                  </a:txBody>
                  <a:tcPr/>
                </a:tc>
                <a:tc>
                  <a:txBody>
                    <a:bodyPr wrap="square"/>
                    <a:lstStyle/>
                    <a:p>
                      <a:r>
                        <a:rPr sz="1400">
                          <a:solidFill>
                            <a:srgbClr val="2C3E50"/>
                          </a:solidFill>
                          <a:latin typeface="Arial"/>
                        </a:rPr>
                        <a:t>Backward average</a:t>
                      </a:r>
                    </a:p>
                  </a:txBody>
                  <a:tcPr/>
                </a:tc>
                <a:tc>
                  <a:txBody>
                    <a:bodyPr wrap="square"/>
                    <a:lstStyle/>
                    <a:p>
                      <a:r>
                        <a:rPr sz="1400">
                          <a:solidFill>
                            <a:srgbClr val="2C3E50"/>
                          </a:solidFill>
                          <a:latin typeface="Arial"/>
                        </a:rPr>
                        <a:t>Average of Jan-Feb-Mar-Apr-May-Jun (excluding outlier)</a:t>
                      </a:r>
                    </a:p>
                  </a:txBody>
                  <a:tcPr/>
                </a:tc>
              </a:tr>
              <a:tr h="320040">
                <a:tc>
                  <a:txBody>
                    <a:bodyPr wrap="square"/>
                    <a:lstStyle/>
                    <a:p>
                      <a:r>
                        <a:rPr sz="1400" b="1">
                          <a:solidFill>
                            <a:srgbClr val="2C3E50"/>
                          </a:solidFill>
                          <a:latin typeface="Arial"/>
                        </a:rPr>
                        <a:t>Start</a:t>
                      </a:r>
                    </a:p>
                  </a:txBody>
                  <a:tcPr/>
                </a:tc>
                <a:tc>
                  <a:txBody>
                    <a:bodyPr wrap="square"/>
                    <a:lstStyle/>
                    <a:p>
                      <a:r>
                        <a:rPr sz="1400">
                          <a:solidFill>
                            <a:srgbClr val="2C3E50"/>
                          </a:solidFill>
                          <a:latin typeface="Arial"/>
                        </a:rPr>
                        <a:t>Forward average</a:t>
                      </a:r>
                    </a:p>
                  </a:txBody>
                  <a:tcPr/>
                </a:tc>
                <a:tc>
                  <a:txBody>
                    <a:bodyPr wrap="square"/>
                    <a:lstStyle/>
                    <a:p>
                      <a:r>
                        <a:rPr sz="1400">
                          <a:solidFill>
                            <a:srgbClr val="2C3E50"/>
                          </a:solidFill>
                          <a:latin typeface="Arial"/>
                        </a:rPr>
                        <a:t>Average of Jul-Aug-Sep-Oct-Nov-Dec</a:t>
                      </a:r>
                    </a:p>
                  </a:txBody>
                  <a:tcPr/>
                </a:tc>
              </a:tr>
            </a:tbl>
          </a:graphicData>
        </a:graphic>
      </p:graphicFrame>
      <p:sp>
        <p:nvSpPr>
          <p:cNvPr id="6" name="TextBox 5"/>
          <p:cNvSpPr txBox="1"/>
          <p:nvPr/>
        </p:nvSpPr>
        <p:spPr>
          <a:xfrm>
            <a:off x="457200" y="3291840"/>
            <a:ext cx="11277295" cy="2286000"/>
          </a:xfrm>
          <a:prstGeom prst="rect">
            <a:avLst/>
          </a:prstGeom>
          <a:noFill/>
        </p:spPr>
        <p:txBody>
          <a:bodyPr wrap="square">
            <a:spAutoFit/>
          </a:bodyPr>
          <a:lstStyle/>
          <a:p>
            <a:pPr>
              <a:spcAft>
                <a:spcPts val="600"/>
              </a:spcAft>
            </a:pPr>
            <a:r>
              <a:rPr sz="1600">
                <a:solidFill>
                  <a:srgbClr val="2C3E50"/>
                </a:solidFill>
                <a:latin typeface="Arial"/>
              </a:rPr>
              <a:t>If rolling averages unavailable: same month from previous year, then facility mean.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Adjustment for completeness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7295" cy="731520"/>
          </a:xfrm>
          <a:prstGeom prst="rect">
            <a:avLst/>
          </a:prstGeom>
          <a:noFill/>
        </p:spPr>
        <p:txBody>
          <a:bodyPr wrap="square">
            <a:spAutoFit/>
          </a:bodyPr>
          <a:lstStyle/>
          <a:p>
            <a:pPr>
              <a:spcAft>
                <a:spcPts val="400"/>
              </a:spcAft>
            </a:pPr>
            <a:r>
              <a:rPr sz="1600">
                <a:solidFill>
                  <a:srgbClr val="2C3E50"/>
                </a:solidFill>
                <a:latin typeface="Arial"/>
              </a:rPr>
              <a:t>Missing values are imputed using the same 6-month rolling average approach.</a:t>
            </a:r>
          </a:p>
          <a:p>
            <a:pPr>
              <a:spcAft>
                <a:spcPts val="400"/>
              </a:spcAft>
            </a:pPr>
            <a:r>
              <a:rPr sz="1600" b="1">
                <a:solidFill>
                  <a:srgbClr val="2C3E50"/>
                </a:solidFill>
                <a:latin typeface="Arial"/>
              </a:rPr>
              <a:t>Method depends on position in time series:</a:t>
            </a:r>
          </a:p>
        </p:txBody>
      </p:sp>
      <p:graphicFrame>
        <p:nvGraphicFramePr>
          <p:cNvPr id="5" name="Table 4"/>
          <p:cNvGraphicFramePr>
            <a:graphicFrameLocks noGrp="1"/>
          </p:cNvGraphicFramePr>
          <p:nvPr/>
        </p:nvGraphicFramePr>
        <p:xfrm>
          <a:off x="457200" y="1828800"/>
          <a:ext cx="11247119" cy="1280160"/>
        </p:xfrm>
        <a:graphic>
          <a:graphicData uri="http://schemas.openxmlformats.org/drawingml/2006/table">
            <a:tbl>
              <a:tblPr firstRow="1" bandRow="1">
                <a:tableStyleId>{5C22544A-7EE6-4342-B048-85BDC9FD1C3A}</a:tableStyleId>
              </a:tblPr>
              <a:tblGrid>
                <a:gridCol w="2721868"/>
                <a:gridCol w="3544240"/>
                <a:gridCol w="4981011"/>
              </a:tblGrid>
              <a:tr h="320040">
                <a:tc>
                  <a:txBody>
                    <a:bodyPr wrap="square"/>
                    <a:lstStyle/>
                    <a:p>
                      <a:pPr>
                        <a:defRPr sz="1400" b="1">
                          <a:solidFill>
                            <a:srgbClr val="21568C"/>
                          </a:solidFill>
                          <a:latin typeface="Arial"/>
                        </a:defRPr>
                      </a:pPr>
                      <a:r>
                        <a:t>Position</a:t>
                      </a:r>
                    </a:p>
                  </a:txBody>
                  <a:tcPr>
                    <a:solidFill>
                      <a:srgbClr val="CAE6E9"/>
                    </a:solidFill>
                  </a:tcPr>
                </a:tc>
                <a:tc>
                  <a:txBody>
                    <a:bodyPr wrap="square"/>
                    <a:lstStyle/>
                    <a:p>
                      <a:pPr>
                        <a:defRPr sz="1400" b="1">
                          <a:solidFill>
                            <a:srgbClr val="21568C"/>
                          </a:solidFill>
                          <a:latin typeface="Arial"/>
                        </a:defRPr>
                      </a:pPr>
                      <a:r>
                        <a:t>Method</a:t>
                      </a:r>
                    </a:p>
                  </a:txBody>
                  <a:tcPr>
                    <a:solidFill>
                      <a:srgbClr val="CAE6E9"/>
                    </a:solidFill>
                  </a:tcPr>
                </a:tc>
                <a:tc>
                  <a:txBody>
                    <a:bodyPr wrap="square"/>
                    <a:lstStyle/>
                    <a:p>
                      <a:pPr>
                        <a:defRPr sz="1400" b="1">
                          <a:solidFill>
                            <a:srgbClr val="21568C"/>
                          </a:solidFill>
                          <a:latin typeface="Arial"/>
                        </a:defRPr>
                      </a:pPr>
                      <a:r>
                        <a:t>Example (missing in June)</a:t>
                      </a:r>
                    </a:p>
                  </a:txBody>
                  <a:tcPr>
                    <a:solidFill>
                      <a:srgbClr val="CAE6E9"/>
                    </a:solidFill>
                  </a:tcPr>
                </a:tc>
              </a:tr>
              <a:tr h="320040">
                <a:tc>
                  <a:txBody>
                    <a:bodyPr wrap="square"/>
                    <a:lstStyle/>
                    <a:p>
                      <a:r>
                        <a:rPr sz="1400" b="1">
                          <a:solidFill>
                            <a:srgbClr val="2C3E50"/>
                          </a:solidFill>
                          <a:latin typeface="Arial"/>
                        </a:rPr>
                        <a:t>Middle</a:t>
                      </a:r>
                    </a:p>
                  </a:txBody>
                  <a:tcPr/>
                </a:tc>
                <a:tc>
                  <a:txBody>
                    <a:bodyPr wrap="square"/>
                    <a:lstStyle/>
                    <a:p>
                      <a:r>
                        <a:rPr sz="1400">
                          <a:solidFill>
                            <a:srgbClr val="2C3E50"/>
                          </a:solidFill>
                          <a:latin typeface="Arial"/>
                        </a:rPr>
                        <a:t>Centered average</a:t>
                      </a:r>
                    </a:p>
                  </a:txBody>
                  <a:tcPr/>
                </a:tc>
                <a:tc>
                  <a:txBody>
                    <a:bodyPr wrap="square"/>
                    <a:lstStyle/>
                    <a:p>
                      <a:r>
                        <a:rPr sz="1400">
                          <a:solidFill>
                            <a:srgbClr val="2C3E50"/>
                          </a:solidFill>
                          <a:latin typeface="Arial"/>
                        </a:rPr>
                        <a:t>Average of Mar-Apr-May + Jul-Aug-Sep</a:t>
                      </a:r>
                    </a:p>
                  </a:txBody>
                  <a:tcPr/>
                </a:tc>
              </a:tr>
              <a:tr h="320040">
                <a:tc>
                  <a:txBody>
                    <a:bodyPr wrap="square"/>
                    <a:lstStyle/>
                    <a:p>
                      <a:r>
                        <a:rPr sz="1400" b="1">
                          <a:solidFill>
                            <a:srgbClr val="2C3E50"/>
                          </a:solidFill>
                          <a:latin typeface="Arial"/>
                        </a:rPr>
                        <a:t>End</a:t>
                      </a:r>
                    </a:p>
                  </a:txBody>
                  <a:tcPr/>
                </a:tc>
                <a:tc>
                  <a:txBody>
                    <a:bodyPr wrap="square"/>
                    <a:lstStyle/>
                    <a:p>
                      <a:r>
                        <a:rPr sz="1400">
                          <a:solidFill>
                            <a:srgbClr val="2C3E50"/>
                          </a:solidFill>
                          <a:latin typeface="Arial"/>
                        </a:rPr>
                        <a:t>Backward average</a:t>
                      </a:r>
                    </a:p>
                  </a:txBody>
                  <a:tcPr/>
                </a:tc>
                <a:tc>
                  <a:txBody>
                    <a:bodyPr wrap="square"/>
                    <a:lstStyle/>
                    <a:p>
                      <a:r>
                        <a:rPr sz="1400">
                          <a:solidFill>
                            <a:srgbClr val="2C3E50"/>
                          </a:solidFill>
                          <a:latin typeface="Arial"/>
                        </a:rPr>
                        <a:t>Average of Jan-Feb-Mar-Apr-May</a:t>
                      </a:r>
                    </a:p>
                  </a:txBody>
                  <a:tcPr/>
                </a:tc>
              </a:tr>
              <a:tr h="320040">
                <a:tc>
                  <a:txBody>
                    <a:bodyPr wrap="square"/>
                    <a:lstStyle/>
                    <a:p>
                      <a:r>
                        <a:rPr sz="1400" b="1">
                          <a:solidFill>
                            <a:srgbClr val="2C3E50"/>
                          </a:solidFill>
                          <a:latin typeface="Arial"/>
                        </a:rPr>
                        <a:t>Start</a:t>
                      </a:r>
                    </a:p>
                  </a:txBody>
                  <a:tcPr/>
                </a:tc>
                <a:tc>
                  <a:txBody>
                    <a:bodyPr wrap="square"/>
                    <a:lstStyle/>
                    <a:p>
                      <a:r>
                        <a:rPr sz="1400">
                          <a:solidFill>
                            <a:srgbClr val="2C3E50"/>
                          </a:solidFill>
                          <a:latin typeface="Arial"/>
                        </a:rPr>
                        <a:t>Forward average</a:t>
                      </a:r>
                    </a:p>
                  </a:txBody>
                  <a:tcPr/>
                </a:tc>
                <a:tc>
                  <a:txBody>
                    <a:bodyPr wrap="square"/>
                    <a:lstStyle/>
                    <a:p>
                      <a:r>
                        <a:rPr sz="1400">
                          <a:solidFill>
                            <a:srgbClr val="2C3E50"/>
                          </a:solidFill>
                          <a:latin typeface="Arial"/>
                        </a:rPr>
                        <a:t>Average of Jul-Aug-Sep-Oct-Nov-Dec</a:t>
                      </a:r>
                    </a:p>
                  </a:txBody>
                  <a:tcPr/>
                </a:tc>
              </a:tr>
            </a:tbl>
          </a:graphicData>
        </a:graphic>
      </p:graphicFrame>
      <p:sp>
        <p:nvSpPr>
          <p:cNvPr id="6" name="TextBox 5"/>
          <p:cNvSpPr txBox="1"/>
          <p:nvPr/>
        </p:nvSpPr>
        <p:spPr>
          <a:xfrm>
            <a:off x="457200" y="3291840"/>
            <a:ext cx="11277295" cy="2286000"/>
          </a:xfrm>
          <a:prstGeom prst="rect">
            <a:avLst/>
          </a:prstGeom>
          <a:noFill/>
        </p:spPr>
        <p:txBody>
          <a:bodyPr wrap="square">
            <a:spAutoFit/>
          </a:bodyPr>
          <a:lstStyle/>
          <a:p>
            <a:pPr>
              <a:spcAft>
                <a:spcPts val="600"/>
              </a:spcAft>
            </a:pPr>
            <a:r>
              <a:rPr sz="1600">
                <a:solidFill>
                  <a:srgbClr val="2C3E50"/>
                </a:solidFill>
                <a:latin typeface="Arial"/>
              </a:rPr>
              <a:t>This prevents reporting gaps from creating artificial drops to zero.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Service utilization analysis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Understanding how health service volumes are changing over time.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Two questions we answer</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1. How is service volume changing?</a:t>
            </a:r>
          </a:p>
          <a:p>
            <a:pPr>
              <a:spcAft>
                <a:spcPts val="1000"/>
              </a:spcAft>
            </a:pPr>
            <a:r>
              <a:rPr sz="1600">
                <a:solidFill>
                  <a:srgbClr val="333333"/>
                </a:solidFill>
                <a:latin typeface="Arial"/>
              </a:rPr>
              <a:t>Compare volumes year-over-year to identify increases or decreases across regions and indicators.</a:t>
            </a:r>
          </a:p>
          <a:p>
            <a:pPr>
              <a:spcAft>
                <a:spcPts val="1000"/>
              </a:spcAft>
            </a:pPr>
            <a:r>
              <a:rPr sz="1600" b="1">
                <a:solidFill>
                  <a:srgbClr val="333333"/>
                </a:solidFill>
                <a:latin typeface="Arial"/>
              </a:rPr>
              <a:t>2. Are there disruptions from expected patterns?</a:t>
            </a:r>
          </a:p>
          <a:p>
            <a:pPr>
              <a:spcAft>
                <a:spcPts val="1000"/>
              </a:spcAft>
            </a:pPr>
            <a:r>
              <a:rPr sz="1600">
                <a:solidFill>
                  <a:srgbClr val="333333"/>
                </a:solidFill>
                <a:latin typeface="Arial"/>
              </a:rPr>
              <a:t>Compare actual volumes to what we would expect based on historical trends, to detect and quantify shortfalls or surpluses.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Measuring change over time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We calculate </a:t>
            </a:r>
            <a:r>
              <a:rPr sz="1600" b="1">
                <a:solidFill>
                  <a:srgbClr val="333333"/>
                </a:solidFill>
                <a:latin typeface="Arial"/>
              </a:rPr>
              <a:t>year-over-year percent change</a:t>
            </a:r>
            <a:r>
              <a:rPr sz="1600">
                <a:solidFill>
                  <a:srgbClr val="333333"/>
                </a:solidFill>
                <a:latin typeface="Arial"/>
              </a:rPr>
              <a:t> to identify meaningful shifts in service delivery.</a:t>
            </a:r>
          </a:p>
          <a:p>
            <a:pPr>
              <a:spcAft>
                <a:spcPts val="1000"/>
              </a:spcAft>
            </a:pPr>
            <a:r>
              <a:rPr sz="1600" b="1">
                <a:solidFill>
                  <a:srgbClr val="333333"/>
                </a:solidFill>
                <a:latin typeface="Arial"/>
              </a:rPr>
              <a:t>How it works:</a:t>
            </a:r>
          </a:p>
          <a:p>
            <a:pPr>
              <a:spcAft>
                <a:spcPts val="1000"/>
              </a:spcAft>
            </a:pPr>
            <a:r>
              <a:rPr sz="1600">
                <a:solidFill>
                  <a:srgbClr val="333333"/>
                </a:solidFill>
                <a:latin typeface="Arial"/>
              </a:rPr>
              <a:t>For each indicator and region, we compare total volume in the current year to the previous year:</a:t>
            </a:r>
          </a:p>
          <a:p>
            <a:pPr>
              <a:spcAft>
                <a:spcPts val="1000"/>
              </a:spcAft>
            </a:pPr>
            <a:r>
              <a:rPr sz="1600">
                <a:solidFill>
                  <a:srgbClr val="333333"/>
                </a:solidFill>
                <a:latin typeface="Arial"/>
              </a:rPr>
              <a:t>$$\text{Percent change} = \frac{\text{Current year} - \text{Previous year}}{\text{Previous year}} \times 100$$</a:t>
            </a:r>
          </a:p>
          <a:p>
            <a:pPr>
              <a:spcAft>
                <a:spcPts val="1000"/>
              </a:spcAft>
            </a:pPr>
            <a:r>
              <a:rPr sz="1600">
                <a:solidFill>
                  <a:srgbClr val="333333"/>
                </a:solidFill>
                <a:latin typeface="Arial"/>
              </a:rPr>
              <a:t>Changes greater than </a:t>
            </a:r>
            <a:r>
              <a:rPr sz="1600" b="1">
                <a:solidFill>
                  <a:srgbClr val="333333"/>
                </a:solidFill>
                <a:latin typeface="Arial"/>
              </a:rPr>
              <a:t>10%</a:t>
            </a:r>
            <a:r>
              <a:rPr sz="1600">
                <a:solidFill>
                  <a:srgbClr val="333333"/>
                </a:solidFill>
                <a:latin typeface="Arial"/>
              </a:rPr>
              <a:t> (increase or decrease) are flagged for review.</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Output: Change in service volume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dule3_1_Change_in_service_volume.png"/>
          <p:cNvPicPr>
            <a:picLocks noChangeAspect="1"/>
          </p:cNvPicPr>
          <p:nvPr/>
        </p:nvPicPr>
        <p:blipFill>
          <a:blip r:embed="rId2"/>
          <a:stretch>
            <a:fillRect/>
          </a:stretch>
        </p:blipFill>
        <p:spPr>
          <a:xfrm>
            <a:off x="1523847" y="1371600"/>
            <a:ext cx="9144000" cy="5468983"/>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Reading this chart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Bars</a:t>
            </a:r>
            <a:r>
              <a:rPr sz="1600">
                <a:solidFill>
                  <a:srgbClr val="333333"/>
                </a:solidFill>
                <a:latin typeface="Arial"/>
              </a:rPr>
              <a:t> show annual service volumes by region.</a:t>
            </a:r>
          </a:p>
          <a:p>
            <a:pPr>
              <a:spcAft>
                <a:spcPts val="1000"/>
              </a:spcAft>
            </a:pPr>
            <a:r>
              <a:rPr sz="1600" b="1">
                <a:solidFill>
                  <a:srgbClr val="333333"/>
                </a:solidFill>
                <a:latin typeface="Arial"/>
              </a:rPr>
              <a:t>Percentages</a:t>
            </a:r>
            <a:r>
              <a:rPr sz="1600">
                <a:solidFill>
                  <a:srgbClr val="333333"/>
                </a:solidFill>
                <a:latin typeface="Arial"/>
              </a:rPr>
              <a:t> above bars show year-over-year change.</a:t>
            </a:r>
          </a:p>
          <a:p>
            <a:pPr>
              <a:spcAft>
                <a:spcPts val="1000"/>
              </a:spcAft>
            </a:pPr>
            <a:r>
              <a:rPr sz="1600" b="1">
                <a:solidFill>
                  <a:srgbClr val="333333"/>
                </a:solidFill>
                <a:latin typeface="Arial"/>
              </a:rPr>
              <a:t>What to look for:</a:t>
            </a:r>
          </a:p>
          <a:p>
            <a:pPr>
              <a:spcAft>
                <a:spcPts val="400"/>
              </a:spcAft>
            </a:pPr>
            <a:r>
              <a:rPr sz="1600">
                <a:solidFill>
                  <a:srgbClr val="2C3E50"/>
                </a:solidFill>
                <a:latin typeface="Arial"/>
              </a:rPr>
              <a:t>• Which regions show the largest increases or decreases?</a:t>
            </a:r>
          </a:p>
          <a:p>
            <a:pPr>
              <a:spcAft>
                <a:spcPts val="400"/>
              </a:spcAft>
            </a:pPr>
            <a:r>
              <a:rPr sz="1600">
                <a:solidFill>
                  <a:srgbClr val="2C3E50"/>
                </a:solidFill>
                <a:latin typeface="Arial"/>
              </a:rPr>
              <a:t>• Are changes consistent across regions or localized?</a:t>
            </a:r>
          </a:p>
          <a:p>
            <a:pPr>
              <a:spcAft>
                <a:spcPts val="400"/>
              </a:spcAft>
            </a:pPr>
            <a:r>
              <a:rPr sz="1600">
                <a:solidFill>
                  <a:srgbClr val="2C3E50"/>
                </a:solidFill>
                <a:latin typeface="Arial"/>
              </a:rPr>
              <a:t>• Do patterns differ by indicator?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Service Coverage Estimates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This module estimates health service coverage by answering: </a:t>
            </a:r>
            <a:r>
              <a:rPr sz="1600" b="1">
                <a:solidFill>
                  <a:srgbClr val="333333"/>
                </a:solidFill>
                <a:latin typeface="Arial"/>
              </a:rPr>
              <a:t>"What percentage of the target population received this health service?"</a:t>
            </a:r>
          </a:p>
          <a:p>
            <a:pPr>
              <a:spcAft>
                <a:spcPts val="1000"/>
              </a:spcAft>
            </a:pPr>
            <a:r>
              <a:rPr sz="1600" b="1">
                <a:solidFill>
                  <a:srgbClr val="333333"/>
                </a:solidFill>
                <a:latin typeface="Arial"/>
              </a:rPr>
              <a:t>Three data sources integrated:</a:t>
            </a:r>
          </a:p>
          <a:p>
            <a:pPr>
              <a:spcAft>
                <a:spcPts val="400"/>
              </a:spcAft>
            </a:pPr>
            <a:r>
              <a:rPr sz="1600">
                <a:solidFill>
                  <a:srgbClr val="2C3E50"/>
                </a:solidFill>
                <a:latin typeface="Arial"/>
              </a:rPr>
              <a:t>• Adjusted health service volumes from HMIS</a:t>
            </a:r>
          </a:p>
          <a:p>
            <a:pPr>
              <a:spcAft>
                <a:spcPts val="400"/>
              </a:spcAft>
            </a:pPr>
            <a:r>
              <a:rPr sz="1600">
                <a:solidFill>
                  <a:srgbClr val="2C3E50"/>
                </a:solidFill>
                <a:latin typeface="Arial"/>
              </a:rPr>
              <a:t>• Population projections from United Nations</a:t>
            </a:r>
          </a:p>
          <a:p>
            <a:pPr>
              <a:spcAft>
                <a:spcPts val="400"/>
              </a:spcAft>
            </a:pPr>
            <a:r>
              <a:rPr sz="1600">
                <a:solidFill>
                  <a:srgbClr val="2C3E50"/>
                </a:solidFill>
                <a:latin typeface="Arial"/>
              </a:rPr>
              <a:t>• Household survey data from MICS/DHS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188720"/>
            <a:ext cx="11277295" cy="5212080"/>
          </a:xfrm>
          <a:prstGeom prst="rect">
            <a:avLst/>
          </a:prstGeom>
          <a:noFill/>
        </p:spPr>
        <p:txBody>
          <a:bodyPr wrap="square">
            <a:spAutoFit/>
          </a:bodyPr>
          <a:lstStyle/>
          <a:p>
            <a:pPr>
              <a:spcAft>
                <a:spcPts val="600"/>
              </a:spcAft>
              <a:defRPr sz="2200" b="1" i="0">
                <a:solidFill>
                  <a:srgbClr val="7A1F6E"/>
                </a:solidFill>
                <a:latin typeface="Arial"/>
              </a:defRPr>
            </a:pPr>
            <a:r>
              <a:t>Two-Part Process</a:t>
            </a:r>
          </a:p>
          <a:p>
            <a:pPr>
              <a:spcAft>
                <a:spcPts val="1000"/>
              </a:spcAft>
            </a:pPr>
            <a:r>
              <a:rPr sz="1600" b="1">
                <a:solidFill>
                  <a:srgbClr val="333333"/>
                </a:solidFill>
                <a:latin typeface="Arial"/>
              </a:rPr>
              <a:t>Part 1: Denominator Calculation</a:t>
            </a:r>
          </a:p>
          <a:p>
            <a:pPr>
              <a:spcAft>
                <a:spcPts val="400"/>
              </a:spcAft>
            </a:pPr>
            <a:r>
              <a:rPr sz="1600">
                <a:solidFill>
                  <a:srgbClr val="2C3E50"/>
                </a:solidFill>
                <a:latin typeface="Arial"/>
              </a:rPr>
              <a:t>• Calculate target populations using multiple methods (HMIS-based and population-based)</a:t>
            </a:r>
          </a:p>
          <a:p>
            <a:pPr>
              <a:spcAft>
                <a:spcPts val="400"/>
              </a:spcAft>
            </a:pPr>
            <a:r>
              <a:rPr sz="1600">
                <a:solidFill>
                  <a:srgbClr val="2C3E50"/>
                </a:solidFill>
                <a:latin typeface="Arial"/>
              </a:rPr>
              <a:t>• Compare against survey benchmarks</a:t>
            </a:r>
          </a:p>
          <a:p>
            <a:pPr>
              <a:spcAft>
                <a:spcPts val="400"/>
              </a:spcAft>
            </a:pPr>
            <a:r>
              <a:rPr sz="1600">
                <a:solidFill>
                  <a:srgbClr val="2C3E50"/>
                </a:solidFill>
                <a:latin typeface="Arial"/>
              </a:rPr>
              <a:t>• Automatically select best denominator for each indicator</a:t>
            </a:r>
          </a:p>
          <a:p>
            <a:pPr>
              <a:spcAft>
                <a:spcPts val="1000"/>
              </a:spcAft>
            </a:pPr>
            <a:r>
              <a:rPr sz="1600" b="1">
                <a:solidFill>
                  <a:srgbClr val="333333"/>
                </a:solidFill>
                <a:latin typeface="Arial"/>
              </a:rPr>
              <a:t>Part 2: Coverage Estimation</a:t>
            </a:r>
          </a:p>
          <a:p>
            <a:pPr>
              <a:spcAft>
                <a:spcPts val="400"/>
              </a:spcAft>
            </a:pPr>
            <a:r>
              <a:rPr sz="1600">
                <a:solidFill>
                  <a:srgbClr val="2C3E50"/>
                </a:solidFill>
                <a:latin typeface="Arial"/>
              </a:rPr>
              <a:t>• Override automatic selections based on programmatic knowledge</a:t>
            </a:r>
          </a:p>
          <a:p>
            <a:pPr>
              <a:spcAft>
                <a:spcPts val="400"/>
              </a:spcAft>
            </a:pPr>
            <a:r>
              <a:rPr sz="1600">
                <a:solidFill>
                  <a:srgbClr val="2C3E50"/>
                </a:solidFill>
                <a:latin typeface="Arial"/>
              </a:rPr>
              <a:t>• Project survey estimates forward using HMIS trends</a:t>
            </a:r>
          </a:p>
          <a:p>
            <a:pPr>
              <a:spcAft>
                <a:spcPts val="400"/>
              </a:spcAft>
            </a:pPr>
            <a:r>
              <a:rPr sz="1600">
                <a:solidFill>
                  <a:srgbClr val="2C3E50"/>
                </a:solidFill>
                <a:latin typeface="Arial"/>
              </a:rPr>
              <a:t>• Generate final coverage estimates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Output: Actual vs expected (national)</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dule3_2_Actual_vs_expected_national.png"/>
          <p:cNvPicPr>
            <a:picLocks noChangeAspect="1"/>
          </p:cNvPicPr>
          <p:nvPr/>
        </p:nvPicPr>
        <p:blipFill>
          <a:blip r:embed="rId2"/>
          <a:stretch>
            <a:fillRect/>
          </a:stretch>
        </p:blipFill>
        <p:spPr>
          <a:xfrm>
            <a:off x="1523847" y="1371600"/>
            <a:ext cx="9144000" cy="5468983"/>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a:solidFill>
                  <a:srgbClr val="333333"/>
                </a:solidFill>
                <a:latin typeface="Arial"/>
              </a:rPr>
              <a:t>This chart shows national-level comparison of actual service volumes against expected values derived from historical trends and seasonality.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Output: Actual vs expected (subnational)</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dule3_3_Actual_vs_expected_subnational.png"/>
          <p:cNvPicPr>
            <a:picLocks noChangeAspect="1"/>
          </p:cNvPicPr>
          <p:nvPr/>
        </p:nvPicPr>
        <p:blipFill>
          <a:blip r:embed="rId2"/>
          <a:stretch>
            <a:fillRect/>
          </a:stretch>
        </p:blipFill>
        <p:spPr>
          <a:xfrm>
            <a:off x="1523847" y="1371600"/>
            <a:ext cx="9144000" cy="5468983"/>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a:solidFill>
                  <a:srgbClr val="333333"/>
                </a:solidFill>
                <a:latin typeface="Arial"/>
              </a:rPr>
              <a:t>Subnational charts allow comparison across regions to identify where disruptions are concentrated.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Impact of data quality adjustments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7295" cy="731520"/>
          </a:xfrm>
          <a:prstGeom prst="rect">
            <a:avLst/>
          </a:prstGeom>
          <a:noFill/>
        </p:spPr>
        <p:txBody>
          <a:bodyPr wrap="square">
            <a:spAutoFit/>
          </a:bodyPr>
          <a:lstStyle/>
          <a:p>
            <a:pPr>
              <a:spcAft>
                <a:spcPts val="400"/>
              </a:spcAft>
            </a:pPr>
            <a:r>
              <a:rPr sz="1600">
                <a:solidFill>
                  <a:srgbClr val="2C3E50"/>
                </a:solidFill>
                <a:latin typeface="Arial"/>
              </a:rPr>
              <a:t>The analysis can use different versions of the data:</a:t>
            </a:r>
          </a:p>
        </p:txBody>
      </p:sp>
      <p:graphicFrame>
        <p:nvGraphicFramePr>
          <p:cNvPr id="5" name="Table 4"/>
          <p:cNvGraphicFramePr>
            <a:graphicFrameLocks noGrp="1"/>
          </p:cNvGraphicFramePr>
          <p:nvPr/>
        </p:nvGraphicFramePr>
        <p:xfrm>
          <a:off x="457200" y="1828800"/>
          <a:ext cx="11247119" cy="1600200"/>
        </p:xfrm>
        <a:graphic>
          <a:graphicData uri="http://schemas.openxmlformats.org/drawingml/2006/table">
            <a:tbl>
              <a:tblPr firstRow="1" bandRow="1">
                <a:tableStyleId>{5C22544A-7EE6-4342-B048-85BDC9FD1C3A}</a:tableStyleId>
              </a:tblPr>
              <a:tblGrid>
                <a:gridCol w="5020561"/>
                <a:gridCol w="6226558"/>
              </a:tblGrid>
              <a:tr h="320040">
                <a:tc>
                  <a:txBody>
                    <a:bodyPr wrap="square"/>
                    <a:lstStyle/>
                    <a:p>
                      <a:pPr>
                        <a:defRPr sz="1400" b="1">
                          <a:solidFill>
                            <a:srgbClr val="21568C"/>
                          </a:solidFill>
                          <a:latin typeface="Arial"/>
                        </a:defRPr>
                      </a:pPr>
                      <a:r>
                        <a:t>Scenario</a:t>
                      </a:r>
                    </a:p>
                  </a:txBody>
                  <a:tcPr>
                    <a:solidFill>
                      <a:srgbClr val="CAE6E9"/>
                    </a:solidFill>
                  </a:tcPr>
                </a:tc>
                <a:tc>
                  <a:txBody>
                    <a:bodyPr wrap="square"/>
                    <a:lstStyle/>
                    <a:p>
                      <a:pPr>
                        <a:defRPr sz="1400" b="1">
                          <a:solidFill>
                            <a:srgbClr val="21568C"/>
                          </a:solidFill>
                          <a:latin typeface="Arial"/>
                        </a:defRPr>
                      </a:pPr>
                      <a:r>
                        <a:t>What it uses</a:t>
                      </a:r>
                    </a:p>
                  </a:txBody>
                  <a:tcPr>
                    <a:solidFill>
                      <a:srgbClr val="CAE6E9"/>
                    </a:solidFill>
                  </a:tcPr>
                </a:tc>
              </a:tr>
              <a:tr h="320040">
                <a:tc>
                  <a:txBody>
                    <a:bodyPr wrap="square"/>
                    <a:lstStyle/>
                    <a:p>
                      <a:r>
                        <a:rPr sz="1400" b="1">
                          <a:solidFill>
                            <a:srgbClr val="2C3E50"/>
                          </a:solidFill>
                          <a:latin typeface="Arial"/>
                        </a:rPr>
                        <a:t>No adjustment</a:t>
                      </a:r>
                    </a:p>
                  </a:txBody>
                  <a:tcPr/>
                </a:tc>
                <a:tc>
                  <a:txBody>
                    <a:bodyPr wrap="square"/>
                    <a:lstStyle/>
                    <a:p>
                      <a:r>
                        <a:rPr sz="1400">
                          <a:solidFill>
                            <a:srgbClr val="2C3E50"/>
                          </a:solidFill>
                          <a:latin typeface="Arial"/>
                        </a:rPr>
                        <a:t>Raw reported values</a:t>
                      </a:r>
                    </a:p>
                  </a:txBody>
                  <a:tcPr/>
                </a:tc>
              </a:tr>
              <a:tr h="320040">
                <a:tc>
                  <a:txBody>
                    <a:bodyPr wrap="square"/>
                    <a:lstStyle/>
                    <a:p>
                      <a:r>
                        <a:rPr sz="1400" b="1">
                          <a:solidFill>
                            <a:srgbClr val="2C3E50"/>
                          </a:solidFill>
                          <a:latin typeface="Arial"/>
                        </a:rPr>
                        <a:t>Outlier adjustment</a:t>
                      </a:r>
                    </a:p>
                  </a:txBody>
                  <a:tcPr/>
                </a:tc>
                <a:tc>
                  <a:txBody>
                    <a:bodyPr wrap="square"/>
                    <a:lstStyle/>
                    <a:p>
                      <a:r>
                        <a:rPr sz="1400">
                          <a:solidFill>
                            <a:srgbClr val="2C3E50"/>
                          </a:solidFill>
                          <a:latin typeface="Arial"/>
                        </a:rPr>
                        <a:t>Extreme values corrected</a:t>
                      </a:r>
                    </a:p>
                  </a:txBody>
                  <a:tcPr/>
                </a:tc>
              </a:tr>
              <a:tr h="320040">
                <a:tc>
                  <a:txBody>
                    <a:bodyPr wrap="square"/>
                    <a:lstStyle/>
                    <a:p>
                      <a:r>
                        <a:rPr sz="1400" b="1">
                          <a:solidFill>
                            <a:srgbClr val="2C3E50"/>
                          </a:solidFill>
                          <a:latin typeface="Arial"/>
                        </a:rPr>
                        <a:t>Completeness adjustment</a:t>
                      </a:r>
                    </a:p>
                  </a:txBody>
                  <a:tcPr/>
                </a:tc>
                <a:tc>
                  <a:txBody>
                    <a:bodyPr wrap="square"/>
                    <a:lstStyle/>
                    <a:p>
                      <a:r>
                        <a:rPr sz="1400">
                          <a:solidFill>
                            <a:srgbClr val="2C3E50"/>
                          </a:solidFill>
                          <a:latin typeface="Arial"/>
                        </a:rPr>
                        <a:t>Adjusted for missing reports</a:t>
                      </a:r>
                    </a:p>
                  </a:txBody>
                  <a:tcPr/>
                </a:tc>
              </a:tr>
              <a:tr h="320040">
                <a:tc>
                  <a:txBody>
                    <a:bodyPr wrap="square"/>
                    <a:lstStyle/>
                    <a:p>
                      <a:r>
                        <a:rPr sz="1400" b="1">
                          <a:solidFill>
                            <a:srgbClr val="2C3E50"/>
                          </a:solidFill>
                          <a:latin typeface="Arial"/>
                        </a:rPr>
                        <a:t>Both adjustments</a:t>
                      </a:r>
                    </a:p>
                  </a:txBody>
                  <a:tcPr/>
                </a:tc>
                <a:tc>
                  <a:txBody>
                    <a:bodyPr wrap="square"/>
                    <a:lstStyle/>
                    <a:p>
                      <a:r>
                        <a:rPr sz="1400">
                          <a:solidFill>
                            <a:srgbClr val="2C3E50"/>
                          </a:solidFill>
                          <a:latin typeface="Arial"/>
                        </a:rPr>
                        <a:t>Outliers corrected + completeness adjusted</a:t>
                      </a:r>
                    </a:p>
                  </a:txBody>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Output: Volume change by adjustment scenario</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dule3_4_Volume_change_adjustments.png"/>
          <p:cNvPicPr>
            <a:picLocks noChangeAspect="1"/>
          </p:cNvPicPr>
          <p:nvPr/>
        </p:nvPicPr>
        <p:blipFill>
          <a:blip r:embed="rId2"/>
          <a:stretch>
            <a:fillRect/>
          </a:stretch>
        </p:blipFill>
        <p:spPr>
          <a:xfrm>
            <a:off x="1523847" y="1371600"/>
            <a:ext cx="9144000" cy="5468983"/>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compare scenarios?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Comparing results across adjustment scenarios helps assess:</a:t>
            </a:r>
          </a:p>
          <a:p>
            <a:pPr>
              <a:spcAft>
                <a:spcPts val="400"/>
              </a:spcAft>
            </a:pPr>
            <a:r>
              <a:rPr sz="1600">
                <a:solidFill>
                  <a:srgbClr val="2C3E50"/>
                </a:solidFill>
                <a:latin typeface="Arial"/>
              </a:rPr>
              <a:t>• </a:t>
            </a:r>
            <a:r>
              <a:rPr sz="1600" b="1">
                <a:solidFill>
                  <a:srgbClr val="2C3E50"/>
                </a:solidFill>
                <a:latin typeface="Arial"/>
              </a:rPr>
              <a:t>How much do adjustments change the picture?</a:t>
            </a:r>
            <a:r>
              <a:rPr sz="1600">
                <a:solidFill>
                  <a:srgbClr val="2C3E50"/>
                </a:solidFill>
                <a:latin typeface="Arial"/>
              </a:rPr>
              <a:t> If results are similar, findings are robust.</a:t>
            </a:r>
          </a:p>
          <a:p>
            <a:pPr>
              <a:spcAft>
                <a:spcPts val="400"/>
              </a:spcAft>
            </a:pPr>
            <a:r>
              <a:rPr sz="1600">
                <a:solidFill>
                  <a:srgbClr val="2C3E50"/>
                </a:solidFill>
                <a:latin typeface="Arial"/>
              </a:rPr>
              <a:t>• </a:t>
            </a:r>
            <a:r>
              <a:rPr sz="1600" b="1">
                <a:solidFill>
                  <a:srgbClr val="2C3E50"/>
                </a:solidFill>
                <a:latin typeface="Arial"/>
              </a:rPr>
              <a:t>Which adjustment has the biggest impact?</a:t>
            </a:r>
            <a:r>
              <a:rPr sz="1600">
                <a:solidFill>
                  <a:srgbClr val="2C3E50"/>
                </a:solidFill>
                <a:latin typeface="Arial"/>
              </a:rPr>
              <a:t> Completeness vs outlier corrections.</a:t>
            </a:r>
          </a:p>
          <a:p>
            <a:pPr>
              <a:spcAft>
                <a:spcPts val="400"/>
              </a:spcAft>
            </a:pPr>
            <a:r>
              <a:rPr sz="1600">
                <a:solidFill>
                  <a:srgbClr val="2C3E50"/>
                </a:solidFill>
                <a:latin typeface="Arial"/>
              </a:rPr>
              <a:t>• </a:t>
            </a:r>
            <a:r>
              <a:rPr sz="1600" b="1">
                <a:solidFill>
                  <a:srgbClr val="2C3E50"/>
                </a:solidFill>
                <a:latin typeface="Arial"/>
              </a:rPr>
              <a:t>Are conclusions sensitive to data quality assumptions?</a:t>
            </a:r>
            <a:r>
              <a:rPr sz="1600">
                <a:solidFill>
                  <a:srgbClr val="2C3E50"/>
                </a:solidFill>
                <a:latin typeface="Arial"/>
              </a:rPr>
              <a:t> Important for interpretation confidence.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Service coverage estimates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The Coverage Estimates module (Module 4 in the FASTR analytics platform) estimates health service coverage by answering: </a:t>
            </a:r>
            <a:r>
              <a:rPr sz="1600" b="1">
                <a:solidFill>
                  <a:srgbClr val="333333"/>
                </a:solidFill>
                <a:latin typeface="Arial"/>
              </a:rPr>
              <a:t>"What percentage of the target population received this health service?"</a:t>
            </a:r>
          </a:p>
          <a:p>
            <a:pPr>
              <a:spcAft>
                <a:spcPts val="1000"/>
              </a:spcAft>
            </a:pPr>
            <a:r>
              <a:rPr sz="1600" b="1">
                <a:solidFill>
                  <a:srgbClr val="333333"/>
                </a:solidFill>
                <a:latin typeface="Arial"/>
              </a:rPr>
              <a:t>Three data sources integrated:</a:t>
            </a:r>
          </a:p>
          <a:p>
            <a:pPr>
              <a:spcAft>
                <a:spcPts val="400"/>
              </a:spcAft>
            </a:pPr>
            <a:r>
              <a:rPr sz="1600">
                <a:solidFill>
                  <a:srgbClr val="2C3E50"/>
                </a:solidFill>
                <a:latin typeface="Arial"/>
              </a:rPr>
              <a:t>• Adjusted health service volumes from HMIS</a:t>
            </a:r>
          </a:p>
          <a:p>
            <a:pPr>
              <a:spcAft>
                <a:spcPts val="400"/>
              </a:spcAft>
            </a:pPr>
            <a:r>
              <a:rPr sz="1600">
                <a:solidFill>
                  <a:srgbClr val="2C3E50"/>
                </a:solidFill>
                <a:latin typeface="Arial"/>
              </a:rPr>
              <a:t>• Population projections from United Nations</a:t>
            </a:r>
          </a:p>
          <a:p>
            <a:pPr>
              <a:spcAft>
                <a:spcPts val="400"/>
              </a:spcAft>
            </a:pPr>
            <a:r>
              <a:rPr sz="1600">
                <a:solidFill>
                  <a:srgbClr val="2C3E50"/>
                </a:solidFill>
                <a:latin typeface="Arial"/>
              </a:rPr>
              <a:t>• Household survey data from MICS/DHS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188720"/>
            <a:ext cx="11277295" cy="5212080"/>
          </a:xfrm>
          <a:prstGeom prst="rect">
            <a:avLst/>
          </a:prstGeom>
          <a:noFill/>
        </p:spPr>
        <p:txBody>
          <a:bodyPr wrap="square">
            <a:spAutoFit/>
          </a:bodyPr>
          <a:lstStyle/>
          <a:p>
            <a:pPr>
              <a:spcAft>
                <a:spcPts val="600"/>
              </a:spcAft>
              <a:defRPr sz="2200" b="1" i="0">
                <a:solidFill>
                  <a:srgbClr val="7A1F6E"/>
                </a:solidFill>
                <a:latin typeface="Arial"/>
              </a:defRPr>
            </a:pPr>
            <a:r>
              <a:t>Two-part process</a:t>
            </a:r>
          </a:p>
          <a:p>
            <a:pPr>
              <a:spcAft>
                <a:spcPts val="1000"/>
              </a:spcAft>
            </a:pPr>
            <a:r>
              <a:rPr sz="1600" b="1">
                <a:solidFill>
                  <a:srgbClr val="333333"/>
                </a:solidFill>
                <a:latin typeface="Arial"/>
              </a:rPr>
              <a:t>Part 1: Denominator calculation</a:t>
            </a:r>
          </a:p>
          <a:p>
            <a:pPr>
              <a:spcAft>
                <a:spcPts val="400"/>
              </a:spcAft>
            </a:pPr>
            <a:r>
              <a:rPr sz="1600">
                <a:solidFill>
                  <a:srgbClr val="2C3E50"/>
                </a:solidFill>
                <a:latin typeface="Arial"/>
              </a:rPr>
              <a:t>• Calculate target populations using multiple methods (HMIS-based and population-based)</a:t>
            </a:r>
          </a:p>
          <a:p>
            <a:pPr>
              <a:spcAft>
                <a:spcPts val="400"/>
              </a:spcAft>
            </a:pPr>
            <a:r>
              <a:rPr sz="1600">
                <a:solidFill>
                  <a:srgbClr val="2C3E50"/>
                </a:solidFill>
                <a:latin typeface="Arial"/>
              </a:rPr>
              <a:t>• Compare against survey benchmarks</a:t>
            </a:r>
          </a:p>
          <a:p>
            <a:pPr>
              <a:spcAft>
                <a:spcPts val="400"/>
              </a:spcAft>
            </a:pPr>
            <a:r>
              <a:rPr sz="1600">
                <a:solidFill>
                  <a:srgbClr val="2C3E50"/>
                </a:solidFill>
                <a:latin typeface="Arial"/>
              </a:rPr>
              <a:t>• Automatically select best denominator for each indicator</a:t>
            </a:r>
          </a:p>
          <a:p>
            <a:pPr>
              <a:spcAft>
                <a:spcPts val="1000"/>
              </a:spcAft>
            </a:pPr>
            <a:r>
              <a:rPr sz="1600" b="1">
                <a:solidFill>
                  <a:srgbClr val="333333"/>
                </a:solidFill>
                <a:latin typeface="Arial"/>
              </a:rPr>
              <a:t>Part 2: Coverage estimation</a:t>
            </a:r>
          </a:p>
          <a:p>
            <a:pPr>
              <a:spcAft>
                <a:spcPts val="400"/>
              </a:spcAft>
            </a:pPr>
            <a:r>
              <a:rPr sz="1600">
                <a:solidFill>
                  <a:srgbClr val="2C3E50"/>
                </a:solidFill>
                <a:latin typeface="Arial"/>
              </a:rPr>
              <a:t>• Override automatic selections based on programmatic knowledge</a:t>
            </a:r>
          </a:p>
          <a:p>
            <a:pPr>
              <a:spcAft>
                <a:spcPts val="400"/>
              </a:spcAft>
            </a:pPr>
            <a:r>
              <a:rPr sz="1600">
                <a:solidFill>
                  <a:srgbClr val="2C3E50"/>
                </a:solidFill>
                <a:latin typeface="Arial"/>
              </a:rPr>
              <a:t>• Project survey estimates forward using HMIS trends</a:t>
            </a:r>
          </a:p>
          <a:p>
            <a:pPr>
              <a:spcAft>
                <a:spcPts val="400"/>
              </a:spcAft>
            </a:pPr>
            <a:r>
              <a:rPr sz="1600">
                <a:solidFill>
                  <a:srgbClr val="2C3E50"/>
                </a:solidFill>
                <a:latin typeface="Arial"/>
              </a:rPr>
              <a:t>• Generate final coverage estimates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What is service coverage?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verage_equation.png"/>
          <p:cNvPicPr>
            <a:picLocks noChangeAspect="1"/>
          </p:cNvPicPr>
          <p:nvPr/>
        </p:nvPicPr>
        <p:blipFill>
          <a:blip r:embed="rId2"/>
          <a:stretch>
            <a:fillRect/>
          </a:stretch>
        </p:blipFill>
        <p:spPr>
          <a:xfrm>
            <a:off x="1523847" y="1371600"/>
            <a:ext cx="9144000" cy="2438400"/>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b="1">
                <a:solidFill>
                  <a:srgbClr val="333333"/>
                </a:solidFill>
                <a:latin typeface="Arial"/>
              </a:rPr>
              <a:t>Coverage</a:t>
            </a:r>
            <a:r>
              <a:rPr sz="1600">
                <a:solidFill>
                  <a:srgbClr val="333333"/>
                </a:solidFill>
                <a:latin typeface="Arial"/>
              </a:rPr>
              <a:t> answers: </a:t>
            </a:r>
            <a:r>
              <a:rPr sz="1600" i="1">
                <a:solidFill>
                  <a:srgbClr val="333333"/>
                </a:solidFill>
                <a:latin typeface="Arial"/>
              </a:rPr>
              <a:t>What percentage of the target population received this health service?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Types of denominators for FASTR core analysis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097280"/>
          <a:ext cx="11247119" cy="1920240"/>
        </p:xfrm>
        <a:graphic>
          <a:graphicData uri="http://schemas.openxmlformats.org/drawingml/2006/table">
            <a:tbl>
              <a:tblPr firstRow="1" bandRow="1">
                <a:tableStyleId>{5C22544A-7EE6-4342-B048-85BDC9FD1C3A}</a:tableStyleId>
              </a:tblPr>
              <a:tblGrid>
                <a:gridCol w="4206953"/>
                <a:gridCol w="7040166"/>
              </a:tblGrid>
              <a:tr h="320040">
                <a:tc>
                  <a:txBody>
                    <a:bodyPr wrap="square"/>
                    <a:lstStyle/>
                    <a:p>
                      <a:pPr>
                        <a:defRPr sz="1400" b="1">
                          <a:solidFill>
                            <a:srgbClr val="21568C"/>
                          </a:solidFill>
                          <a:latin typeface="Arial"/>
                        </a:defRPr>
                      </a:pPr>
                      <a:r>
                        <a:t>Type of service</a:t>
                      </a:r>
                    </a:p>
                  </a:txBody>
                  <a:tcPr>
                    <a:solidFill>
                      <a:srgbClr val="CAE6E9"/>
                    </a:solidFill>
                  </a:tcPr>
                </a:tc>
                <a:tc>
                  <a:txBody>
                    <a:bodyPr wrap="square"/>
                    <a:lstStyle/>
                    <a:p>
                      <a:pPr>
                        <a:defRPr sz="1400" b="1">
                          <a:solidFill>
                            <a:srgbClr val="21568C"/>
                          </a:solidFill>
                          <a:latin typeface="Arial"/>
                        </a:defRPr>
                      </a:pPr>
                      <a:r>
                        <a:t>Denominator</a:t>
                      </a:r>
                    </a:p>
                  </a:txBody>
                  <a:tcPr>
                    <a:solidFill>
                      <a:srgbClr val="CAE6E9"/>
                    </a:solidFill>
                  </a:tcPr>
                </a:tc>
              </a:tr>
              <a:tr h="320040">
                <a:tc>
                  <a:txBody>
                    <a:bodyPr wrap="square"/>
                    <a:lstStyle/>
                    <a:p>
                      <a:r>
                        <a:rPr sz="1400">
                          <a:solidFill>
                            <a:srgbClr val="2C3E50"/>
                          </a:solidFill>
                          <a:latin typeface="Arial"/>
                        </a:rPr>
                        <a:t>ANC</a:t>
                      </a:r>
                    </a:p>
                  </a:txBody>
                  <a:tcPr/>
                </a:tc>
                <a:tc>
                  <a:txBody>
                    <a:bodyPr wrap="square"/>
                    <a:lstStyle/>
                    <a:p>
                      <a:r>
                        <a:rPr sz="1400">
                          <a:solidFill>
                            <a:srgbClr val="2C3E50"/>
                          </a:solidFill>
                          <a:latin typeface="Arial"/>
                        </a:rPr>
                        <a:t>Pregnancies</a:t>
                      </a:r>
                    </a:p>
                  </a:txBody>
                  <a:tcPr/>
                </a:tc>
              </a:tr>
              <a:tr h="320040">
                <a:tc>
                  <a:txBody>
                    <a:bodyPr wrap="square"/>
                    <a:lstStyle/>
                    <a:p>
                      <a:r>
                        <a:rPr sz="1400">
                          <a:solidFill>
                            <a:srgbClr val="2C3E50"/>
                          </a:solidFill>
                          <a:latin typeface="Arial"/>
                        </a:rPr>
                        <a:t>Delivery</a:t>
                      </a:r>
                    </a:p>
                  </a:txBody>
                  <a:tcPr/>
                </a:tc>
                <a:tc>
                  <a:txBody>
                    <a:bodyPr wrap="square"/>
                    <a:lstStyle/>
                    <a:p>
                      <a:r>
                        <a:rPr sz="1400">
                          <a:solidFill>
                            <a:srgbClr val="2C3E50"/>
                          </a:solidFill>
                          <a:latin typeface="Arial"/>
                        </a:rPr>
                        <a:t>Live births</a:t>
                      </a:r>
                    </a:p>
                  </a:txBody>
                  <a:tcPr/>
                </a:tc>
              </a:tr>
              <a:tr h="320040">
                <a:tc>
                  <a:txBody>
                    <a:bodyPr wrap="square"/>
                    <a:lstStyle/>
                    <a:p>
                      <a:r>
                        <a:rPr sz="1400">
                          <a:solidFill>
                            <a:srgbClr val="2C3E50"/>
                          </a:solidFill>
                          <a:latin typeface="Arial"/>
                        </a:rPr>
                        <a:t>BCG</a:t>
                      </a:r>
                    </a:p>
                  </a:txBody>
                  <a:tcPr/>
                </a:tc>
                <a:tc>
                  <a:txBody>
                    <a:bodyPr wrap="square"/>
                    <a:lstStyle/>
                    <a:p>
                      <a:r>
                        <a:rPr sz="1400">
                          <a:solidFill>
                            <a:srgbClr val="2C3E50"/>
                          </a:solidFill>
                          <a:latin typeface="Arial"/>
                        </a:rPr>
                        <a:t>Live births</a:t>
                      </a:r>
                    </a:p>
                  </a:txBody>
                  <a:tcPr/>
                </a:tc>
              </a:tr>
              <a:tr h="320040">
                <a:tc>
                  <a:txBody>
                    <a:bodyPr wrap="square"/>
                    <a:lstStyle/>
                    <a:p>
                      <a:r>
                        <a:rPr sz="1400">
                          <a:solidFill>
                            <a:srgbClr val="2C3E50"/>
                          </a:solidFill>
                          <a:latin typeface="Arial"/>
                        </a:rPr>
                        <a:t>Penta1</a:t>
                      </a:r>
                    </a:p>
                  </a:txBody>
                  <a:tcPr/>
                </a:tc>
                <a:tc>
                  <a:txBody>
                    <a:bodyPr wrap="square"/>
                    <a:lstStyle/>
                    <a:p>
                      <a:r>
                        <a:rPr sz="1400">
                          <a:solidFill>
                            <a:srgbClr val="2C3E50"/>
                          </a:solidFill>
                          <a:latin typeface="Arial"/>
                        </a:rPr>
                        <a:t>Infants eligible for Penta (infants surviving 1+ months)</a:t>
                      </a:r>
                    </a:p>
                  </a:txBody>
                  <a:tcPr/>
                </a:tc>
              </a:tr>
              <a:tr h="320040">
                <a:tc>
                  <a:txBody>
                    <a:bodyPr wrap="square"/>
                    <a:lstStyle/>
                    <a:p>
                      <a:r>
                        <a:rPr sz="1400">
                          <a:solidFill>
                            <a:srgbClr val="2C3E50"/>
                          </a:solidFill>
                          <a:latin typeface="Arial"/>
                        </a:rPr>
                        <a:t>Penta3</a:t>
                      </a:r>
                    </a:p>
                  </a:txBody>
                  <a:tcPr/>
                </a:tc>
                <a:tc>
                  <a:txBody>
                    <a:bodyPr wrap="square"/>
                    <a:lstStyle/>
                    <a:p>
                      <a:r>
                        <a:rPr sz="1400">
                          <a:solidFill>
                            <a:srgbClr val="2C3E50"/>
                          </a:solidFill>
                          <a:latin typeface="Arial"/>
                        </a:rPr>
                        <a:t>Infants eligible for Penta (infants surviving 1+ months)</a:t>
                      </a:r>
                    </a:p>
                  </a:txBody>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Expected relationships which help with estimating denominators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nominator_cascade.png"/>
          <p:cNvPicPr>
            <a:picLocks noChangeAspect="1"/>
          </p:cNvPicPr>
          <p:nvPr/>
        </p:nvPicPr>
        <p:blipFill>
          <a:blip r:embed="rId2"/>
          <a:stretch>
            <a:fillRect/>
          </a:stretch>
        </p:blipFill>
        <p:spPr>
          <a:xfrm>
            <a:off x="1523847" y="1371600"/>
            <a:ext cx="9144000" cy="4343400"/>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a:solidFill>
                  <a:srgbClr val="333333"/>
                </a:solidFill>
                <a:latin typeface="Arial"/>
              </a:rPr>
              <a:t>Starting from pregnancies, apply demographic factors to estimate other denominators: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Estimating denominators from ANC-1</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7295" cy="731520"/>
          </a:xfrm>
          <a:prstGeom prst="rect">
            <a:avLst/>
          </a:prstGeom>
          <a:noFill/>
        </p:spPr>
        <p:txBody>
          <a:bodyPr wrap="square">
            <a:spAutoFit/>
          </a:bodyPr>
          <a:lstStyle/>
          <a:p>
            <a:pPr>
              <a:spcAft>
                <a:spcPts val="400"/>
              </a:spcAft>
            </a:pPr>
            <a:r>
              <a:rPr sz="1600">
                <a:solidFill>
                  <a:srgbClr val="2C3E50"/>
                </a:solidFill>
                <a:latin typeface="Arial"/>
              </a:rPr>
              <a:t>Using survey coverage + DHIS2 counts to derive denominators:</a:t>
            </a:r>
          </a:p>
        </p:txBody>
      </p:sp>
      <p:graphicFrame>
        <p:nvGraphicFramePr>
          <p:cNvPr id="5" name="Table 4"/>
          <p:cNvGraphicFramePr>
            <a:graphicFrameLocks noGrp="1"/>
          </p:cNvGraphicFramePr>
          <p:nvPr/>
        </p:nvGraphicFramePr>
        <p:xfrm>
          <a:off x="457200" y="1828800"/>
          <a:ext cx="11247119" cy="1280160"/>
        </p:xfrm>
        <a:graphic>
          <a:graphicData uri="http://schemas.openxmlformats.org/drawingml/2006/table">
            <a:tbl>
              <a:tblPr firstRow="1" bandRow="1">
                <a:tableStyleId>{5C22544A-7EE6-4342-B048-85BDC9FD1C3A}</a:tableStyleId>
              </a:tblPr>
              <a:tblGrid>
                <a:gridCol w="2948575"/>
                <a:gridCol w="4361855"/>
                <a:gridCol w="3936689"/>
              </a:tblGrid>
              <a:tr h="320040">
                <a:tc>
                  <a:txBody>
                    <a:bodyPr wrap="square"/>
                    <a:lstStyle/>
                    <a:p>
                      <a:pPr>
                        <a:defRPr sz="1400" b="1">
                          <a:solidFill>
                            <a:srgbClr val="21568C"/>
                          </a:solidFill>
                          <a:latin typeface="Arial"/>
                        </a:defRPr>
                      </a:pPr>
                      <a:r>
                        <a:t>Step</a:t>
                      </a:r>
                    </a:p>
                  </a:txBody>
                  <a:tcPr>
                    <a:solidFill>
                      <a:srgbClr val="CAE6E9"/>
                    </a:solidFill>
                  </a:tcPr>
                </a:tc>
                <a:tc>
                  <a:txBody>
                    <a:bodyPr wrap="square"/>
                    <a:lstStyle/>
                    <a:p>
                      <a:pPr>
                        <a:defRPr sz="1400" b="1">
                          <a:solidFill>
                            <a:srgbClr val="21568C"/>
                          </a:solidFill>
                          <a:latin typeface="Arial"/>
                        </a:defRPr>
                      </a:pPr>
                      <a:r>
                        <a:t>Formula</a:t>
                      </a:r>
                    </a:p>
                  </a:txBody>
                  <a:tcPr>
                    <a:solidFill>
                      <a:srgbClr val="CAE6E9"/>
                    </a:solidFill>
                  </a:tcPr>
                </a:tc>
                <a:tc>
                  <a:txBody>
                    <a:bodyPr wrap="square"/>
                    <a:lstStyle/>
                    <a:p>
                      <a:pPr>
                        <a:defRPr sz="1400" b="1">
                          <a:solidFill>
                            <a:srgbClr val="21568C"/>
                          </a:solidFill>
                          <a:latin typeface="Arial"/>
                        </a:defRPr>
                      </a:pPr>
                      <a:r>
                        <a:t>Example</a:t>
                      </a:r>
                    </a:p>
                  </a:txBody>
                  <a:tcPr>
                    <a:solidFill>
                      <a:srgbClr val="CAE6E9"/>
                    </a:solidFill>
                  </a:tcPr>
                </a:tc>
              </a:tr>
              <a:tr h="320040">
                <a:tc>
                  <a:txBody>
                    <a:bodyPr wrap="square"/>
                    <a:lstStyle/>
                    <a:p>
                      <a:r>
                        <a:rPr sz="1400">
                          <a:solidFill>
                            <a:srgbClr val="2C3E50"/>
                          </a:solidFill>
                          <a:latin typeface="Arial"/>
                        </a:rPr>
                        <a:t>Pregnancies</a:t>
                      </a:r>
                    </a:p>
                  </a:txBody>
                  <a:tcPr/>
                </a:tc>
                <a:tc>
                  <a:txBody>
                    <a:bodyPr wrap="square"/>
                    <a:lstStyle/>
                    <a:p>
                      <a:r>
                        <a:rPr sz="1400">
                          <a:solidFill>
                            <a:srgbClr val="2C3E50"/>
                          </a:solidFill>
                          <a:latin typeface="Arial"/>
                        </a:rPr>
                        <a:t>ANC1 count ÷ ANC1 coverage</a:t>
                      </a:r>
                    </a:p>
                  </a:txBody>
                  <a:tcPr/>
                </a:tc>
                <a:tc>
                  <a:txBody>
                    <a:bodyPr wrap="square"/>
                    <a:lstStyle/>
                    <a:p>
                      <a:r>
                        <a:rPr sz="1400">
                          <a:solidFill>
                            <a:srgbClr val="2C3E50"/>
                          </a:solidFill>
                          <a:latin typeface="Arial"/>
                        </a:rPr>
                        <a:t>100,000 ÷ 0.95 = 105,263</a:t>
                      </a:r>
                    </a:p>
                  </a:txBody>
                  <a:tcPr/>
                </a:tc>
              </a:tr>
              <a:tr h="320040">
                <a:tc>
                  <a:txBody>
                    <a:bodyPr wrap="square"/>
                    <a:lstStyle/>
                    <a:p>
                      <a:r>
                        <a:rPr sz="1400">
                          <a:solidFill>
                            <a:srgbClr val="2C3E50"/>
                          </a:solidFill>
                          <a:latin typeface="Arial"/>
                        </a:rPr>
                        <a:t>Deliveries</a:t>
                      </a:r>
                    </a:p>
                  </a:txBody>
                  <a:tcPr/>
                </a:tc>
                <a:tc>
                  <a:txBody>
                    <a:bodyPr wrap="square"/>
                    <a:lstStyle/>
                    <a:p>
                      <a:r>
                        <a:rPr sz="1400">
                          <a:solidFill>
                            <a:srgbClr val="2C3E50"/>
                          </a:solidFill>
                          <a:latin typeface="Arial"/>
                        </a:rPr>
                        <a:t>Pregnancies × (1 - stillbirth rate)</a:t>
                      </a:r>
                    </a:p>
                  </a:txBody>
                  <a:tcPr/>
                </a:tc>
                <a:tc>
                  <a:txBody>
                    <a:bodyPr wrap="square"/>
                    <a:lstStyle/>
                    <a:p>
                      <a:r>
                        <a:rPr sz="1400">
                          <a:solidFill>
                            <a:srgbClr val="2C3E50"/>
                          </a:solidFill>
                          <a:latin typeface="Arial"/>
                        </a:rPr>
                        <a:t>105,263 × 0.97 = 102,105</a:t>
                      </a:r>
                    </a:p>
                  </a:txBody>
                  <a:tcPr/>
                </a:tc>
              </a:tr>
              <a:tr h="320040">
                <a:tc>
                  <a:txBody>
                    <a:bodyPr wrap="square"/>
                    <a:lstStyle/>
                    <a:p>
                      <a:r>
                        <a:rPr sz="1400">
                          <a:solidFill>
                            <a:srgbClr val="2C3E50"/>
                          </a:solidFill>
                          <a:latin typeface="Arial"/>
                        </a:rPr>
                        <a:t>Live births</a:t>
                      </a:r>
                    </a:p>
                  </a:txBody>
                  <a:tcPr/>
                </a:tc>
                <a:tc>
                  <a:txBody>
                    <a:bodyPr wrap="square"/>
                    <a:lstStyle/>
                    <a:p>
                      <a:r>
                        <a:rPr sz="1400">
                          <a:solidFill>
                            <a:srgbClr val="2C3E50"/>
                          </a:solidFill>
                          <a:latin typeface="Arial"/>
                        </a:rPr>
                        <a:t>Deliveries × survival rate</a:t>
                      </a:r>
                    </a:p>
                  </a:txBody>
                  <a:tcPr/>
                </a:tc>
                <a:tc>
                  <a:txBody>
                    <a:bodyPr wrap="square"/>
                    <a:lstStyle/>
                    <a:p>
                      <a:r>
                        <a:rPr sz="1400">
                          <a:solidFill>
                            <a:srgbClr val="2C3E50"/>
                          </a:solidFill>
                          <a:latin typeface="Arial"/>
                        </a:rPr>
                        <a:t>102,105 × 0.98 = 100,063</a:t>
                      </a:r>
                    </a:p>
                  </a:txBody>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Coverage estimates: FASTR outputs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dule4_1_Coverage_HMIS_National.png"/>
          <p:cNvPicPr>
            <a:picLocks noChangeAspect="1"/>
          </p:cNvPicPr>
          <p:nvPr/>
        </p:nvPicPr>
        <p:blipFill>
          <a:blip r:embed="rId2"/>
          <a:stretch>
            <a:fillRect/>
          </a:stretch>
        </p:blipFill>
        <p:spPr>
          <a:xfrm>
            <a:off x="1523847" y="1371600"/>
            <a:ext cx="9144000" cy="6470469"/>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a:solidFill>
                  <a:srgbClr val="333333"/>
                </a:solidFill>
                <a:latin typeface="Arial"/>
              </a:rPr>
              <a:t>The FASTR analysis generates coverage estimate visualizations at multiple geographic levels:</a:t>
            </a:r>
          </a:p>
          <a:p>
            <a:pPr>
              <a:spcAft>
                <a:spcPts val="600"/>
              </a:spcAft>
            </a:pPr>
            <a:r>
              <a:rPr sz="1600" b="1">
                <a:solidFill>
                  <a:srgbClr val="333333"/>
                </a:solidFill>
                <a:latin typeface="Arial"/>
              </a:rPr>
              <a:t>1. Coverage calculated from HMIS data (national)</a:t>
            </a:r>
          </a:p>
          <a:p>
            <a:pPr>
              <a:spcAft>
                <a:spcPts val="600"/>
              </a:spcAft>
            </a:pPr>
            <a:r>
              <a:rPr sz="1600" b="1">
                <a:solidFill>
                  <a:srgbClr val="333333"/>
                </a:solidFill>
                <a:latin typeface="Arial"/>
              </a:rPr>
              <a:t>2. Coverage calculated from HMIS data (admin area 2)</a:t>
            </a:r>
          </a:p>
          <a:p>
            <a:pPr>
              <a:spcAft>
                <a:spcPts val="600"/>
              </a:spcAft>
            </a:pPr>
            <a:r>
              <a:rPr sz="1600" b="1">
                <a:solidFill>
                  <a:srgbClr val="333333"/>
                </a:solidFill>
                <a:latin typeface="Arial"/>
              </a:rPr>
              <a:t>3. Coverage calculated from HMIS data (admin area 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6: Creating a project</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Activity: Creating a Project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In this hands-on session, we will:</a:t>
            </a:r>
          </a:p>
          <a:p>
            <a:pPr>
              <a:spcAft>
                <a:spcPts val="400"/>
              </a:spcAft>
            </a:pPr>
            <a:r>
              <a:rPr sz="1600">
                <a:solidFill>
                  <a:srgbClr val="2C3E50"/>
                </a:solidFill>
                <a:latin typeface="Arial"/>
              </a:rPr>
              <a:t>• Set up a new project</a:t>
            </a:r>
          </a:p>
          <a:p>
            <a:pPr>
              <a:spcAft>
                <a:spcPts val="400"/>
              </a:spcAft>
            </a:pPr>
            <a:r>
              <a:rPr sz="1600">
                <a:solidFill>
                  <a:srgbClr val="2C3E50"/>
                </a:solidFill>
                <a:latin typeface="Arial"/>
              </a:rPr>
              <a:t>• Configure project settings</a:t>
            </a:r>
          </a:p>
          <a:p>
            <a:pPr>
              <a:spcAft>
                <a:spcPts val="400"/>
              </a:spcAft>
            </a:pPr>
            <a:r>
              <a:rPr sz="1600">
                <a:solidFill>
                  <a:srgbClr val="2C3E50"/>
                </a:solidFill>
                <a:latin typeface="Arial"/>
              </a:rPr>
              <a:t>• Select indicators and time periods</a:t>
            </a:r>
          </a:p>
          <a:p>
            <a:pPr>
              <a:spcAft>
                <a:spcPts val="400"/>
              </a:spcAft>
            </a:pPr>
            <a:r>
              <a:rPr sz="1600">
                <a:solidFill>
                  <a:srgbClr val="2C3E50"/>
                </a:solidFill>
                <a:latin typeface="Arial"/>
              </a:rPr>
              <a:t>• Apply best practices for project organization</a:t>
            </a:r>
          </a:p>
          <a:p>
            <a:pPr>
              <a:spcAft>
                <a:spcPts val="1000"/>
              </a:spcAft>
            </a:pPr>
            <a:r>
              <a:rPr sz="1600" i="1">
                <a:solidFill>
                  <a:srgbClr val="333333"/>
                </a:solidFill>
                <a:latin typeface="Arial"/>
              </a:rPr>
              <a:t>Participants will create their first project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7: Creating visualizations</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Activity: Creating Visualizations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In this hands-on session, we will:</a:t>
            </a:r>
          </a:p>
          <a:p>
            <a:pPr>
              <a:spcAft>
                <a:spcPts val="400"/>
              </a:spcAft>
            </a:pPr>
            <a:r>
              <a:rPr sz="1600">
                <a:solidFill>
                  <a:srgbClr val="2C3E50"/>
                </a:solidFill>
                <a:latin typeface="Arial"/>
              </a:rPr>
              <a:t>• Explore available chart types</a:t>
            </a:r>
          </a:p>
          <a:p>
            <a:pPr>
              <a:spcAft>
                <a:spcPts val="400"/>
              </a:spcAft>
            </a:pPr>
            <a:r>
              <a:rPr sz="1600">
                <a:solidFill>
                  <a:srgbClr val="2C3E50"/>
                </a:solidFill>
                <a:latin typeface="Arial"/>
              </a:rPr>
              <a:t>• Create and customize visualizations</a:t>
            </a:r>
          </a:p>
          <a:p>
            <a:pPr>
              <a:spcAft>
                <a:spcPts val="400"/>
              </a:spcAft>
            </a:pPr>
            <a:r>
              <a:rPr sz="1600">
                <a:solidFill>
                  <a:srgbClr val="2C3E50"/>
                </a:solidFill>
                <a:latin typeface="Arial"/>
              </a:rPr>
              <a:t>• Export charts for use in reports</a:t>
            </a:r>
          </a:p>
          <a:p>
            <a:pPr>
              <a:spcAft>
                <a:spcPts val="1000"/>
              </a:spcAft>
            </a:pPr>
            <a:r>
              <a:rPr sz="1600" i="1">
                <a:solidFill>
                  <a:srgbClr val="333333"/>
                </a:solidFill>
                <a:latin typeface="Arial"/>
              </a:rPr>
              <a:t>Participants will build visualizations from their analysis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5600" b="1" i="0">
                <a:solidFill>
                  <a:srgbClr val="09544F"/>
                </a:solidFill>
                <a:latin typeface="Arial"/>
              </a:defRPr>
            </a:pPr>
            <a:r>
              <a:t>Lunch Break</a:t>
            </a:r>
          </a:p>
        </p:txBody>
      </p:sp>
      <p:sp>
        <p:nvSpPr>
          <p:cNvPr id="3" name="TextBox 2"/>
          <p:cNvSpPr txBox="1"/>
          <p:nvPr/>
        </p:nvSpPr>
        <p:spPr>
          <a:xfrm>
            <a:off x="914400" y="3931920"/>
            <a:ext cx="10362895" cy="548640"/>
          </a:xfrm>
          <a:prstGeom prst="rect">
            <a:avLst/>
          </a:prstGeom>
          <a:noFill/>
        </p:spPr>
        <p:txBody>
          <a:bodyPr wrap="square"/>
          <a:lstStyle/>
          <a:p>
            <a:pPr algn="ctr">
              <a:defRPr sz="2600" b="0" i="0">
                <a:solidFill>
                  <a:srgbClr val="21568C"/>
                </a:solidFill>
                <a:latin typeface="Arial"/>
              </a:defRPr>
            </a:pPr>
            <a:r>
              <a:t>90 minutes • Back at 14:00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8: Creating reports</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Activity: Creating Reports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In this hands-on session, we will:</a:t>
            </a:r>
          </a:p>
          <a:p>
            <a:pPr>
              <a:spcAft>
                <a:spcPts val="400"/>
              </a:spcAft>
            </a:pPr>
            <a:r>
              <a:rPr sz="1600">
                <a:solidFill>
                  <a:srgbClr val="2C3E50"/>
                </a:solidFill>
                <a:latin typeface="Arial"/>
              </a:rPr>
              <a:t>• Use report templates</a:t>
            </a:r>
          </a:p>
          <a:p>
            <a:pPr>
              <a:spcAft>
                <a:spcPts val="400"/>
              </a:spcAft>
            </a:pPr>
            <a:r>
              <a:rPr sz="1600">
                <a:solidFill>
                  <a:srgbClr val="2C3E50"/>
                </a:solidFill>
                <a:latin typeface="Arial"/>
              </a:rPr>
              <a:t>• Generate automated reports</a:t>
            </a:r>
          </a:p>
          <a:p>
            <a:pPr>
              <a:spcAft>
                <a:spcPts val="400"/>
              </a:spcAft>
            </a:pPr>
            <a:r>
              <a:rPr sz="1600">
                <a:solidFill>
                  <a:srgbClr val="2C3E50"/>
                </a:solidFill>
                <a:latin typeface="Arial"/>
              </a:rPr>
              <a:t>• Customize report content and layout</a:t>
            </a:r>
          </a:p>
          <a:p>
            <a:pPr>
              <a:spcAft>
                <a:spcPts val="1000"/>
              </a:spcAft>
            </a:pPr>
            <a:r>
              <a:rPr sz="1600" i="1">
                <a:solidFill>
                  <a:srgbClr val="333333"/>
                </a:solidFill>
                <a:latin typeface="Arial"/>
              </a:rPr>
              <a:t>Participants will create their first quarterly report draft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Day 3</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Recap</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On Day 2, we covered:</a:t>
            </a:r>
          </a:p>
          <a:p>
            <a:pPr>
              <a:spcAft>
                <a:spcPts val="400"/>
              </a:spcAft>
            </a:pPr>
            <a:r>
              <a:rPr sz="1600">
                <a:solidFill>
                  <a:srgbClr val="2C3E50"/>
                </a:solidFill>
                <a:latin typeface="Arial"/>
              </a:rPr>
              <a:t>• FASTR methods for data quality assessment and adjustment</a:t>
            </a:r>
          </a:p>
          <a:p>
            <a:pPr>
              <a:spcAft>
                <a:spcPts val="400"/>
              </a:spcAft>
            </a:pPr>
            <a:r>
              <a:rPr sz="1600">
                <a:solidFill>
                  <a:srgbClr val="2C3E50"/>
                </a:solidFill>
                <a:latin typeface="Arial"/>
              </a:rPr>
              <a:t>• Creating and configuring projects in the platform</a:t>
            </a:r>
          </a:p>
          <a:p>
            <a:pPr>
              <a:spcAft>
                <a:spcPts val="400"/>
              </a:spcAft>
            </a:pPr>
            <a:r>
              <a:rPr sz="1600">
                <a:solidFill>
                  <a:srgbClr val="2C3E50"/>
                </a:solidFill>
                <a:latin typeface="Arial"/>
              </a:rPr>
              <a:t>• Building visualizations from Zambia data</a:t>
            </a:r>
          </a:p>
          <a:p>
            <a:pPr>
              <a:spcAft>
                <a:spcPts val="400"/>
              </a:spcAft>
            </a:pPr>
            <a:r>
              <a:rPr sz="1600">
                <a:solidFill>
                  <a:srgbClr val="2C3E50"/>
                </a:solidFill>
                <a:latin typeface="Arial"/>
              </a:rPr>
              <a:t>• Generating reports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Day 3 Focus</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Today we move from analysis to action:</a:t>
            </a:r>
          </a:p>
          <a:p>
            <a:pPr>
              <a:spcAft>
                <a:spcPts val="400"/>
              </a:spcAft>
            </a:pPr>
            <a:r>
              <a:rPr sz="1600">
                <a:solidFill>
                  <a:srgbClr val="2C3E50"/>
                </a:solidFill>
                <a:latin typeface="Arial"/>
              </a:rPr>
              <a:t>• Deep dive into interpretation of results</a:t>
            </a:r>
          </a:p>
          <a:p>
            <a:pPr>
              <a:spcAft>
                <a:spcPts val="400"/>
              </a:spcAft>
            </a:pPr>
            <a:r>
              <a:rPr sz="1600">
                <a:solidFill>
                  <a:srgbClr val="2C3E50"/>
                </a:solidFill>
                <a:latin typeface="Arial"/>
              </a:rPr>
              <a:t>• Create the Q4 2025 quarterly report</a:t>
            </a:r>
          </a:p>
          <a:p>
            <a:pPr>
              <a:spcAft>
                <a:spcPts val="400"/>
              </a:spcAft>
            </a:pPr>
            <a:r>
              <a:rPr sz="1600">
                <a:solidFill>
                  <a:srgbClr val="2C3E50"/>
                </a:solidFill>
                <a:latin typeface="Arial"/>
              </a:rPr>
              <a:t>• Present findings to the group</a:t>
            </a:r>
          </a:p>
          <a:p>
            <a:pPr>
              <a:spcAft>
                <a:spcPts val="400"/>
              </a:spcAft>
            </a:pPr>
            <a:r>
              <a:rPr sz="1600">
                <a:solidFill>
                  <a:srgbClr val="2C3E50"/>
                </a:solidFill>
                <a:latin typeface="Arial"/>
              </a:rPr>
              <a:t>• Develop action plans for continued work</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8: Interpretation of visualizations</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Analytical thinking &amp; interpretation</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i="1">
                <a:solidFill>
                  <a:srgbClr val="333333"/>
                </a:solidFill>
                <a:latin typeface="Arial"/>
              </a:rPr>
              <a:t>Content to be developed</a:t>
            </a:r>
          </a:p>
          <a:p>
            <a:pPr>
              <a:spcAft>
                <a:spcPts val="1000"/>
              </a:spcAft>
            </a:pPr>
            <a:r>
              <a:rPr sz="1600">
                <a:solidFill>
                  <a:srgbClr val="333333"/>
                </a:solidFill>
                <a:latin typeface="Arial"/>
              </a:rPr>
              <a:t>This section will cover:</a:t>
            </a:r>
          </a:p>
          <a:p>
            <a:pPr>
              <a:spcAft>
                <a:spcPts val="400"/>
              </a:spcAft>
            </a:pPr>
            <a:r>
              <a:rPr sz="1600">
                <a:solidFill>
                  <a:srgbClr val="2C3E50"/>
                </a:solidFill>
                <a:latin typeface="Arial"/>
              </a:rPr>
              <a:t>• Frameworks for interpreting FASTR outputs</a:t>
            </a:r>
          </a:p>
          <a:p>
            <a:pPr>
              <a:spcAft>
                <a:spcPts val="400"/>
              </a:spcAft>
            </a:pPr>
            <a:r>
              <a:rPr sz="1600">
                <a:solidFill>
                  <a:srgbClr val="2C3E50"/>
                </a:solidFill>
                <a:latin typeface="Arial"/>
              </a:rPr>
              <a:t>• Connecting data patterns to programmatic meaning</a:t>
            </a:r>
          </a:p>
          <a:p>
            <a:pPr>
              <a:spcAft>
                <a:spcPts val="400"/>
              </a:spcAft>
            </a:pPr>
            <a:r>
              <a:rPr sz="1600">
                <a:solidFill>
                  <a:srgbClr val="2C3E50"/>
                </a:solidFill>
                <a:latin typeface="Arial"/>
              </a:rPr>
              <a:t>• Common interpretation pitfalls to avoid</a:t>
            </a:r>
          </a:p>
          <a:p>
            <a:pPr>
              <a:spcAft>
                <a:spcPts val="400"/>
              </a:spcAft>
            </a:pPr>
            <a:r>
              <a:rPr sz="1600">
                <a:solidFill>
                  <a:srgbClr val="2C3E50"/>
                </a:solidFill>
                <a:latin typeface="Arial"/>
              </a:rPr>
              <a:t>• Building analytical thinking skills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9: Creating a Q4 2025 report</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Generating quarterly reporting products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i="1">
                <a:solidFill>
                  <a:srgbClr val="333333"/>
                </a:solidFill>
                <a:latin typeface="Arial"/>
              </a:rPr>
              <a:t>Content to be developed</a:t>
            </a:r>
          </a:p>
          <a:p>
            <a:pPr>
              <a:spcAft>
                <a:spcPts val="1000"/>
              </a:spcAft>
            </a:pPr>
            <a:r>
              <a:rPr sz="1600">
                <a:solidFill>
                  <a:srgbClr val="333333"/>
                </a:solidFill>
                <a:latin typeface="Arial"/>
              </a:rPr>
              <a:t>This section will cover:</a:t>
            </a:r>
          </a:p>
          <a:p>
            <a:pPr>
              <a:spcAft>
                <a:spcPts val="400"/>
              </a:spcAft>
            </a:pPr>
            <a:r>
              <a:rPr sz="1600">
                <a:solidFill>
                  <a:srgbClr val="2C3E50"/>
                </a:solidFill>
                <a:latin typeface="Arial"/>
              </a:rPr>
              <a:t>• Quarterly reporting workflow</a:t>
            </a:r>
          </a:p>
          <a:p>
            <a:pPr>
              <a:spcAft>
                <a:spcPts val="400"/>
              </a:spcAft>
            </a:pPr>
            <a:r>
              <a:rPr sz="1600">
                <a:solidFill>
                  <a:srgbClr val="2C3E50"/>
                </a:solidFill>
                <a:latin typeface="Arial"/>
              </a:rPr>
              <a:t>• Using the FASTR platform for automated reports</a:t>
            </a:r>
          </a:p>
          <a:p>
            <a:pPr>
              <a:spcAft>
                <a:spcPts val="400"/>
              </a:spcAft>
            </a:pPr>
            <a:r>
              <a:rPr sz="1600">
                <a:solidFill>
                  <a:srgbClr val="2C3E50"/>
                </a:solidFill>
                <a:latin typeface="Arial"/>
              </a:rPr>
              <a:t>• Quality assurance for reports</a:t>
            </a:r>
          </a:p>
          <a:p>
            <a:pPr>
              <a:spcAft>
                <a:spcPts val="400"/>
              </a:spcAft>
            </a:pPr>
            <a:r>
              <a:rPr sz="1600">
                <a:solidFill>
                  <a:srgbClr val="2C3E50"/>
                </a:solidFill>
                <a:latin typeface="Arial"/>
              </a:rPr>
              <a:t>• Distribution and feedback mechanisms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5600" b="1" i="0">
                <a:solidFill>
                  <a:srgbClr val="09544F"/>
                </a:solidFill>
                <a:latin typeface="Arial"/>
              </a:defRPr>
            </a:pPr>
            <a:r>
              <a:t>Lunch Break</a:t>
            </a:r>
          </a:p>
        </p:txBody>
      </p:sp>
      <p:sp>
        <p:nvSpPr>
          <p:cNvPr id="3" name="TextBox 2"/>
          <p:cNvSpPr txBox="1"/>
          <p:nvPr/>
        </p:nvSpPr>
        <p:spPr>
          <a:xfrm>
            <a:off x="914400" y="3931920"/>
            <a:ext cx="10362895" cy="548640"/>
          </a:xfrm>
          <a:prstGeom prst="rect">
            <a:avLst/>
          </a:prstGeom>
          <a:noFill/>
        </p:spPr>
        <p:txBody>
          <a:bodyPr wrap="square"/>
          <a:lstStyle/>
          <a:p>
            <a:pPr algn="ctr">
              <a:defRPr sz="2600" b="0" i="0">
                <a:solidFill>
                  <a:srgbClr val="21568C"/>
                </a:solidFill>
                <a:latin typeface="Arial"/>
              </a:defRPr>
            </a:pPr>
            <a:r>
              <a:t>90 minutes • Back at 14:00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10: Presenting reports</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End user mapping</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End user mapping helps ensure that our outputs will meet the real needs of our end users.</a:t>
            </a:r>
          </a:p>
          <a:p>
            <a:pPr>
              <a:spcAft>
                <a:spcPts val="600"/>
              </a:spcAft>
              <a:defRPr sz="2200" b="1" i="0">
                <a:solidFill>
                  <a:srgbClr val="7A1F6E"/>
                </a:solidFill>
                <a:latin typeface="Arial"/>
              </a:defRPr>
            </a:pPr>
            <a:r>
              <a:t>Key questions</a:t>
            </a:r>
          </a:p>
          <a:p>
            <a:pPr>
              <a:spcAft>
                <a:spcPts val="400"/>
              </a:spcAft>
            </a:pPr>
            <a:r>
              <a:rPr sz="1600">
                <a:solidFill>
                  <a:srgbClr val="2C3E50"/>
                </a:solidFill>
                <a:latin typeface="Arial"/>
              </a:rPr>
              <a:t>• </a:t>
            </a:r>
            <a:r>
              <a:rPr sz="1600" b="1">
                <a:solidFill>
                  <a:srgbClr val="2C3E50"/>
                </a:solidFill>
                <a:latin typeface="Arial"/>
              </a:rPr>
              <a:t>Who is my end user?</a:t>
            </a:r>
          </a:p>
          <a:p>
            <a:pPr>
              <a:spcAft>
                <a:spcPts val="400"/>
              </a:spcAft>
            </a:pPr>
            <a:r>
              <a:rPr sz="1600">
                <a:solidFill>
                  <a:srgbClr val="2C3E50"/>
                </a:solidFill>
                <a:latin typeface="Arial"/>
              </a:rPr>
              <a:t>• </a:t>
            </a:r>
            <a:r>
              <a:rPr sz="1600" b="1">
                <a:solidFill>
                  <a:srgbClr val="2C3E50"/>
                </a:solidFill>
                <a:latin typeface="Arial"/>
              </a:rPr>
              <a:t>What does this end user need to accomplish with the report?</a:t>
            </a:r>
          </a:p>
          <a:p>
            <a:pPr>
              <a:spcAft>
                <a:spcPts val="400"/>
              </a:spcAft>
            </a:pPr>
            <a:r>
              <a:rPr sz="1600">
                <a:solidFill>
                  <a:srgbClr val="2C3E50"/>
                </a:solidFill>
                <a:latin typeface="Arial"/>
              </a:rPr>
              <a:t>• </a:t>
            </a:r>
            <a:r>
              <a:rPr sz="1600" b="1">
                <a:solidFill>
                  <a:srgbClr val="2C3E50"/>
                </a:solidFill>
                <a:latin typeface="Arial"/>
              </a:rPr>
              <a:t>What information are they most interested in?</a:t>
            </a:r>
          </a:p>
          <a:p>
            <a:pPr>
              <a:spcAft>
                <a:spcPts val="400"/>
              </a:spcAft>
            </a:pPr>
            <a:r>
              <a:rPr sz="1600">
                <a:solidFill>
                  <a:srgbClr val="2C3E50"/>
                </a:solidFill>
                <a:latin typeface="Arial"/>
              </a:rPr>
              <a:t>• </a:t>
            </a:r>
            <a:r>
              <a:rPr sz="1600" b="1">
                <a:solidFill>
                  <a:srgbClr val="2C3E50"/>
                </a:solidFill>
                <a:latin typeface="Arial"/>
              </a:rPr>
              <a:t>What do they like/not like about current reports?</a:t>
            </a:r>
          </a:p>
          <a:p>
            <a:pPr>
              <a:spcAft>
                <a:spcPts val="400"/>
              </a:spcAft>
            </a:pPr>
            <a:r>
              <a:rPr sz="1600">
                <a:solidFill>
                  <a:srgbClr val="2C3E50"/>
                </a:solidFill>
                <a:latin typeface="Arial"/>
              </a:rPr>
              <a:t>• </a:t>
            </a:r>
            <a:r>
              <a:rPr sz="1600" b="1">
                <a:solidFill>
                  <a:srgbClr val="2C3E50"/>
                </a:solidFill>
                <a:latin typeface="Arial"/>
              </a:rPr>
              <a:t>How do they like to receive their information?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Day 4</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Recap</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On Day 3, we covered:</a:t>
            </a:r>
          </a:p>
          <a:p>
            <a:pPr>
              <a:spcAft>
                <a:spcPts val="400"/>
              </a:spcAft>
            </a:pPr>
            <a:r>
              <a:rPr sz="1600">
                <a:solidFill>
                  <a:srgbClr val="2C3E50"/>
                </a:solidFill>
                <a:latin typeface="Arial"/>
              </a:rPr>
              <a:t>• Interpretation of FASTR visualizations</a:t>
            </a:r>
          </a:p>
          <a:p>
            <a:pPr>
              <a:spcAft>
                <a:spcPts val="400"/>
              </a:spcAft>
            </a:pPr>
            <a:r>
              <a:rPr sz="1600">
                <a:solidFill>
                  <a:srgbClr val="2C3E50"/>
                </a:solidFill>
                <a:latin typeface="Arial"/>
              </a:rPr>
              <a:t>• Creation of the Q4 2025 quarterly report</a:t>
            </a:r>
          </a:p>
          <a:p>
            <a:pPr>
              <a:spcAft>
                <a:spcPts val="400"/>
              </a:spcAft>
            </a:pPr>
            <a:r>
              <a:rPr sz="1600">
                <a:solidFill>
                  <a:srgbClr val="2C3E50"/>
                </a:solidFill>
                <a:latin typeface="Arial"/>
              </a:rPr>
              <a:t>• Presentation of findings and group feedback</a:t>
            </a:r>
          </a:p>
          <a:p>
            <a:pPr>
              <a:spcAft>
                <a:spcPts val="400"/>
              </a:spcAft>
            </a:pPr>
            <a:r>
              <a:rPr sz="1600">
                <a:solidFill>
                  <a:srgbClr val="2C3E50"/>
                </a:solidFill>
                <a:latin typeface="Arial"/>
              </a:rPr>
              <a:t>• Action planning for continued platform use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Day 4 Focus</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Today we design the Health Facility Assessment:</a:t>
            </a:r>
          </a:p>
          <a:p>
            <a:pPr>
              <a:spcAft>
                <a:spcPts val="400"/>
              </a:spcAft>
            </a:pPr>
            <a:r>
              <a:rPr sz="1600">
                <a:solidFill>
                  <a:srgbClr val="2C3E50"/>
                </a:solidFill>
                <a:latin typeface="Arial"/>
              </a:rPr>
              <a:t>• Overview of the FASTR HFA phone survey</a:t>
            </a:r>
          </a:p>
          <a:p>
            <a:pPr>
              <a:spcAft>
                <a:spcPts val="400"/>
              </a:spcAft>
            </a:pPr>
            <a:r>
              <a:rPr sz="1600">
                <a:solidFill>
                  <a:srgbClr val="2C3E50"/>
                </a:solidFill>
                <a:latin typeface="Arial"/>
              </a:rPr>
              <a:t>• Review questionnaire structure</a:t>
            </a:r>
          </a:p>
          <a:p>
            <a:pPr>
              <a:spcAft>
                <a:spcPts val="400"/>
              </a:spcAft>
            </a:pPr>
            <a:r>
              <a:rPr sz="1600">
                <a:solidFill>
                  <a:srgbClr val="2C3E50"/>
                </a:solidFill>
                <a:latin typeface="Arial"/>
              </a:rPr>
              <a:t>• Adapt questionnaire for Zambia context</a:t>
            </a:r>
          </a:p>
          <a:p>
            <a:pPr>
              <a:spcAft>
                <a:spcPts val="400"/>
              </a:spcAft>
            </a:pPr>
            <a:r>
              <a:rPr sz="1600">
                <a:solidFill>
                  <a:srgbClr val="2C3E50"/>
                </a:solidFill>
                <a:latin typeface="Arial"/>
              </a:rPr>
              <a:t>• Plan HFA priorities and data use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12: Overview of FASTR HFA phone survey</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Health Facility Assessment Phone Survey</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Complementing routine data with facility-level insights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Survey Objectives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The FASTR HFA phone survey is designed to:</a:t>
            </a:r>
          </a:p>
          <a:p>
            <a:pPr>
              <a:spcAft>
                <a:spcPts val="400"/>
              </a:spcAft>
            </a:pPr>
            <a:r>
              <a:rPr sz="1600">
                <a:solidFill>
                  <a:srgbClr val="2C3E50"/>
                </a:solidFill>
                <a:latin typeface="Arial"/>
              </a:rPr>
              <a:t>• </a:t>
            </a:r>
            <a:r>
              <a:rPr sz="1600" b="1">
                <a:solidFill>
                  <a:srgbClr val="2C3E50"/>
                </a:solidFill>
                <a:latin typeface="Arial"/>
              </a:rPr>
              <a:t>Monitor</a:t>
            </a:r>
            <a:r>
              <a:rPr sz="1600">
                <a:solidFill>
                  <a:srgbClr val="2C3E50"/>
                </a:solidFill>
                <a:latin typeface="Arial"/>
              </a:rPr>
              <a:t> service availability, readiness, and functioning of PHC facilities over time (with emphasis on RMNCAH-N services)</a:t>
            </a:r>
          </a:p>
          <a:p>
            <a:pPr>
              <a:spcAft>
                <a:spcPts val="400"/>
              </a:spcAft>
            </a:pPr>
            <a:r>
              <a:rPr sz="1600">
                <a:solidFill>
                  <a:srgbClr val="2C3E50"/>
                </a:solidFill>
                <a:latin typeface="Arial"/>
              </a:rPr>
              <a:t>• </a:t>
            </a:r>
            <a:r>
              <a:rPr sz="1600" b="1">
                <a:solidFill>
                  <a:srgbClr val="2C3E50"/>
                </a:solidFill>
                <a:latin typeface="Arial"/>
              </a:rPr>
              <a:t>Characterize</a:t>
            </a:r>
            <a:r>
              <a:rPr sz="1600">
                <a:solidFill>
                  <a:srgbClr val="2C3E50"/>
                </a:solidFill>
                <a:latin typeface="Arial"/>
              </a:rPr>
              <a:t> and assess effect of shocks on PHC functioning</a:t>
            </a:r>
          </a:p>
          <a:p>
            <a:pPr>
              <a:spcAft>
                <a:spcPts val="400"/>
              </a:spcAft>
            </a:pPr>
            <a:r>
              <a:rPr sz="1600">
                <a:solidFill>
                  <a:srgbClr val="2C3E50"/>
                </a:solidFill>
                <a:latin typeface="Arial"/>
              </a:rPr>
              <a:t>• </a:t>
            </a:r>
            <a:r>
              <a:rPr sz="1600" b="1">
                <a:solidFill>
                  <a:srgbClr val="2C3E50"/>
                </a:solidFill>
                <a:latin typeface="Arial"/>
              </a:rPr>
              <a:t>Inform</a:t>
            </a:r>
            <a:r>
              <a:rPr sz="1600">
                <a:solidFill>
                  <a:srgbClr val="2C3E50"/>
                </a:solidFill>
                <a:latin typeface="Arial"/>
              </a:rPr>
              <a:t> and assess implementation of interventions for resilient PHC systems</a:t>
            </a:r>
          </a:p>
          <a:p>
            <a:pPr>
              <a:spcAft>
                <a:spcPts val="400"/>
              </a:spcAft>
            </a:pPr>
            <a:r>
              <a:rPr sz="1600">
                <a:solidFill>
                  <a:srgbClr val="2C3E50"/>
                </a:solidFill>
                <a:latin typeface="Arial"/>
              </a:rPr>
              <a:t>• </a:t>
            </a:r>
            <a:r>
              <a:rPr sz="1600" b="1">
                <a:solidFill>
                  <a:srgbClr val="2C3E50"/>
                </a:solidFill>
                <a:latin typeface="Arial"/>
              </a:rPr>
              <a:t>Enhance timeliness</a:t>
            </a:r>
            <a:r>
              <a:rPr sz="1600">
                <a:solidFill>
                  <a:srgbClr val="2C3E50"/>
                </a:solidFill>
                <a:latin typeface="Arial"/>
              </a:rPr>
              <a:t> by supplementing large-scale in-person surveys with a rapid-cycle phone approach</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Tool Design</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Framework alignment:</a:t>
            </a:r>
          </a:p>
          <a:p>
            <a:pPr>
              <a:spcAft>
                <a:spcPts val="400"/>
              </a:spcAft>
            </a:pPr>
            <a:r>
              <a:rPr sz="1600">
                <a:solidFill>
                  <a:srgbClr val="2C3E50"/>
                </a:solidFill>
                <a:latin typeface="Arial"/>
              </a:rPr>
              <a:t>• Aligned with WHO/UNICEF Primary Health Care Measurement Framework (2022)</a:t>
            </a:r>
          </a:p>
          <a:p>
            <a:pPr>
              <a:spcAft>
                <a:spcPts val="1000"/>
              </a:spcAft>
            </a:pPr>
            <a:r>
              <a:rPr sz="1600" b="1">
                <a:solidFill>
                  <a:srgbClr val="333333"/>
                </a:solidFill>
                <a:latin typeface="Arial"/>
              </a:rPr>
              <a:t>Question sources:</a:t>
            </a:r>
          </a:p>
          <a:p>
            <a:pPr>
              <a:spcAft>
                <a:spcPts val="400"/>
              </a:spcAft>
            </a:pPr>
            <a:r>
              <a:rPr sz="1600">
                <a:solidFill>
                  <a:srgbClr val="2C3E50"/>
                </a:solidFill>
                <a:latin typeface="Arial"/>
              </a:rPr>
              <a:t>• WHO Harmonized Health Facility Assessment</a:t>
            </a:r>
          </a:p>
          <a:p>
            <a:pPr>
              <a:spcAft>
                <a:spcPts val="400"/>
              </a:spcAft>
            </a:pPr>
            <a:r>
              <a:rPr sz="1600">
                <a:solidFill>
                  <a:srgbClr val="2C3E50"/>
                </a:solidFill>
                <a:latin typeface="Arial"/>
              </a:rPr>
              <a:t>• WHO Service Availability and Readiness Assessment (SARA)</a:t>
            </a:r>
          </a:p>
          <a:p>
            <a:pPr>
              <a:spcAft>
                <a:spcPts val="400"/>
              </a:spcAft>
            </a:pPr>
            <a:r>
              <a:rPr sz="1600">
                <a:solidFill>
                  <a:srgbClr val="2C3E50"/>
                </a:solidFill>
                <a:latin typeface="Arial"/>
              </a:rPr>
              <a:t>• World Bank Service Delivery Indicators (SDI)</a:t>
            </a:r>
          </a:p>
          <a:p>
            <a:pPr>
              <a:spcAft>
                <a:spcPts val="400"/>
              </a:spcAft>
            </a:pPr>
            <a:r>
              <a:rPr sz="1600">
                <a:solidFill>
                  <a:srgbClr val="2C3E50"/>
                </a:solidFill>
                <a:latin typeface="Arial"/>
              </a:rPr>
              <a:t>• DHS Service Provision Assessment (SPA)</a:t>
            </a:r>
          </a:p>
          <a:p>
            <a:pPr>
              <a:spcAft>
                <a:spcPts val="400"/>
              </a:spcAft>
            </a:pPr>
            <a:r>
              <a:rPr sz="1600">
                <a:solidFill>
                  <a:srgbClr val="2C3E50"/>
                </a:solidFill>
                <a:latin typeface="Arial"/>
              </a:rPr>
              <a:t>• USAID MOMENTUM</a:t>
            </a:r>
          </a:p>
          <a:p>
            <a:pPr>
              <a:spcAft>
                <a:spcPts val="1000"/>
              </a:spcAft>
            </a:pPr>
            <a:r>
              <a:rPr sz="1600" b="1">
                <a:solidFill>
                  <a:srgbClr val="333333"/>
                </a:solidFill>
                <a:latin typeface="Arial"/>
              </a:rPr>
              <a:t>Implementation:</a:t>
            </a:r>
          </a:p>
          <a:p>
            <a:pPr>
              <a:spcAft>
                <a:spcPts val="400"/>
              </a:spcAft>
            </a:pPr>
            <a:r>
              <a:rPr sz="1600">
                <a:solidFill>
                  <a:srgbClr val="2C3E50"/>
                </a:solidFill>
                <a:latin typeface="Arial"/>
              </a:rPr>
              <a:t>• Phone-based survey to facility managers/Officers in Charge</a:t>
            </a:r>
          </a:p>
          <a:p>
            <a:pPr>
              <a:spcAft>
                <a:spcPts val="400"/>
              </a:spcAft>
            </a:pPr>
            <a:r>
              <a:rPr sz="1600">
                <a:solidFill>
                  <a:srgbClr val="2C3E50"/>
                </a:solidFill>
                <a:latin typeface="Arial"/>
              </a:rPr>
              <a:t>• Target duration: 30 minutes</a:t>
            </a:r>
          </a:p>
          <a:p>
            <a:pPr>
              <a:spcAft>
                <a:spcPts val="400"/>
              </a:spcAft>
            </a:pPr>
            <a:r>
              <a:rPr sz="1600">
                <a:solidFill>
                  <a:srgbClr val="2C3E50"/>
                </a:solidFill>
                <a:latin typeface="Arial"/>
              </a:rPr>
              <a:t>• Quarterly contacts</a:t>
            </a:r>
          </a:p>
          <a:p>
            <a:pPr>
              <a:spcAft>
                <a:spcPts val="400"/>
              </a:spcAft>
            </a:pPr>
            <a:r>
              <a:rPr sz="1600">
                <a:solidFill>
                  <a:srgbClr val="2C3E50"/>
                </a:solidFill>
                <a:latin typeface="Arial"/>
              </a:rPr>
              <a:t>• Modular design for flexibility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phone surveys?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i="1">
                <a:solidFill>
                  <a:srgbClr val="333333"/>
                </a:solidFill>
                <a:latin typeface="Arial"/>
              </a:rPr>
              <a:t>Routine HMIS data tells us </a:t>
            </a:r>
            <a:r>
              <a:rPr sz="1600">
                <a:solidFill>
                  <a:srgbClr val="333333"/>
                </a:solidFill>
                <a:latin typeface="Arial"/>
              </a:rPr>
              <a:t>what</a:t>
            </a:r>
            <a:r>
              <a:rPr sz="1600" i="1">
                <a:solidFill>
                  <a:srgbClr val="333333"/>
                </a:solidFill>
                <a:latin typeface="Arial"/>
              </a:rPr>
              <a:t> is happening:</a:t>
            </a:r>
          </a:p>
          <a:p>
            <a:pPr>
              <a:spcAft>
                <a:spcPts val="400"/>
              </a:spcAft>
            </a:pPr>
            <a:r>
              <a:rPr sz="1600">
                <a:solidFill>
                  <a:srgbClr val="2C3E50"/>
                </a:solidFill>
                <a:latin typeface="Arial"/>
              </a:rPr>
              <a:t>• How many services were delivered</a:t>
            </a:r>
          </a:p>
          <a:p>
            <a:pPr>
              <a:spcAft>
                <a:spcPts val="400"/>
              </a:spcAft>
            </a:pPr>
            <a:r>
              <a:rPr sz="1600">
                <a:solidFill>
                  <a:srgbClr val="2C3E50"/>
                </a:solidFill>
                <a:latin typeface="Arial"/>
              </a:rPr>
              <a:t>• Which facilities reported</a:t>
            </a:r>
          </a:p>
          <a:p>
            <a:pPr>
              <a:spcAft>
                <a:spcPts val="400"/>
              </a:spcAft>
            </a:pPr>
            <a:r>
              <a:rPr sz="1600">
                <a:solidFill>
                  <a:srgbClr val="2C3E50"/>
                </a:solidFill>
                <a:latin typeface="Arial"/>
              </a:rPr>
              <a:t>• Where there might be data quality issues</a:t>
            </a:r>
          </a:p>
          <a:p>
            <a:pPr>
              <a:spcAft>
                <a:spcPts val="1000"/>
              </a:spcAft>
            </a:pPr>
            <a:r>
              <a:rPr sz="1600" i="1">
                <a:solidFill>
                  <a:srgbClr val="333333"/>
                </a:solidFill>
                <a:latin typeface="Arial"/>
              </a:rPr>
              <a:t>But HMIS data can't tell us </a:t>
            </a:r>
            <a:r>
              <a:rPr sz="1600">
                <a:solidFill>
                  <a:srgbClr val="333333"/>
                </a:solidFill>
                <a:latin typeface="Arial"/>
              </a:rPr>
              <a:t>why</a:t>
            </a:r>
            <a:r>
              <a:rPr sz="1600" i="1">
                <a:solidFill>
                  <a:srgbClr val="333333"/>
                </a:solidFill>
                <a:latin typeface="Arial"/>
              </a:rPr>
              <a:t>:</a:t>
            </a:r>
          </a:p>
          <a:p>
            <a:pPr>
              <a:spcAft>
                <a:spcPts val="400"/>
              </a:spcAft>
            </a:pPr>
            <a:r>
              <a:rPr sz="1600">
                <a:solidFill>
                  <a:srgbClr val="2C3E50"/>
                </a:solidFill>
                <a:latin typeface="Arial"/>
              </a:rPr>
              <a:t>• Is the facility actually open?</a:t>
            </a:r>
          </a:p>
          <a:p>
            <a:pPr>
              <a:spcAft>
                <a:spcPts val="400"/>
              </a:spcAft>
            </a:pPr>
            <a:r>
              <a:rPr sz="1600">
                <a:solidFill>
                  <a:srgbClr val="2C3E50"/>
                </a:solidFill>
                <a:latin typeface="Arial"/>
              </a:rPr>
              <a:t>• Are essential supplies available?</a:t>
            </a:r>
          </a:p>
          <a:p>
            <a:pPr>
              <a:spcAft>
                <a:spcPts val="400"/>
              </a:spcAft>
            </a:pPr>
            <a:r>
              <a:rPr sz="1600">
                <a:solidFill>
                  <a:srgbClr val="2C3E50"/>
                </a:solidFill>
                <a:latin typeface="Arial"/>
              </a:rPr>
              <a:t>• Are trained staff present?</a:t>
            </a:r>
          </a:p>
          <a:p>
            <a:pPr>
              <a:spcAft>
                <a:spcPts val="400"/>
              </a:spcAft>
            </a:pPr>
            <a:r>
              <a:rPr sz="1600">
                <a:solidFill>
                  <a:srgbClr val="2C3E50"/>
                </a:solidFill>
                <a:latin typeface="Arial"/>
              </a:rPr>
              <a:t>• What challenges are facilities facing?</a:t>
            </a:r>
          </a:p>
          <a:p>
            <a:pPr>
              <a:spcAft>
                <a:spcPts val="1000"/>
              </a:spcAft>
            </a:pPr>
            <a:r>
              <a:rPr sz="1600" b="1">
                <a:solidFill>
                  <a:srgbClr val="333333"/>
                </a:solidFill>
                <a:latin typeface="Arial"/>
              </a:rPr>
              <a:t>Phone surveys fill this gap</a:t>
            </a:r>
            <a:r>
              <a:rPr sz="1600">
                <a:solidFill>
                  <a:srgbClr val="333333"/>
                </a:solidFill>
                <a:latin typeface="Arial"/>
              </a:rPr>
              <a:t> by contacting facilities directly to understand context.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What the survey covers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400"/>
              </a:spcAft>
            </a:pPr>
            <a:r>
              <a:rPr sz="1600">
                <a:solidFill>
                  <a:srgbClr val="2C3E50"/>
                </a:solidFill>
                <a:latin typeface="Arial"/>
              </a:rPr>
              <a:t>• </a:t>
            </a:r>
            <a:r>
              <a:rPr sz="1600" b="1">
                <a:solidFill>
                  <a:srgbClr val="2C3E50"/>
                </a:solidFill>
                <a:latin typeface="Arial"/>
              </a:rPr>
              <a:t>Is the facility open and functioning?</a:t>
            </a:r>
          </a:p>
          <a:p>
            <a:pPr>
              <a:spcAft>
                <a:spcPts val="400"/>
              </a:spcAft>
            </a:pPr>
            <a:r>
              <a:rPr sz="1600">
                <a:solidFill>
                  <a:srgbClr val="2C3E50"/>
                </a:solidFill>
                <a:latin typeface="Arial"/>
              </a:rPr>
              <a:t>• </a:t>
            </a:r>
            <a:r>
              <a:rPr sz="1600" b="1">
                <a:solidFill>
                  <a:srgbClr val="2C3E50"/>
                </a:solidFill>
                <a:latin typeface="Arial"/>
              </a:rPr>
              <a:t>Which services are currently available?</a:t>
            </a:r>
          </a:p>
          <a:p>
            <a:pPr>
              <a:spcAft>
                <a:spcPts val="400"/>
              </a:spcAft>
            </a:pPr>
            <a:r>
              <a:rPr sz="1600">
                <a:solidFill>
                  <a:srgbClr val="2C3E50"/>
                </a:solidFill>
                <a:latin typeface="Arial"/>
              </a:rPr>
              <a:t>• </a:t>
            </a:r>
            <a:r>
              <a:rPr sz="1600" b="1">
                <a:solidFill>
                  <a:srgbClr val="2C3E50"/>
                </a:solidFill>
                <a:latin typeface="Arial"/>
              </a:rPr>
              <a:t>Are essential medicines in stock?</a:t>
            </a:r>
          </a:p>
          <a:p>
            <a:pPr>
              <a:spcAft>
                <a:spcPts val="400"/>
              </a:spcAft>
            </a:pPr>
            <a:r>
              <a:rPr sz="1600">
                <a:solidFill>
                  <a:srgbClr val="2C3E50"/>
                </a:solidFill>
                <a:latin typeface="Arial"/>
              </a:rPr>
              <a:t>• </a:t>
            </a:r>
            <a:r>
              <a:rPr sz="1600" b="1">
                <a:solidFill>
                  <a:srgbClr val="2C3E50"/>
                </a:solidFill>
                <a:latin typeface="Arial"/>
              </a:rPr>
              <a:t>What staff are present today?</a:t>
            </a:r>
          </a:p>
          <a:p>
            <a:pPr>
              <a:spcAft>
                <a:spcPts val="400"/>
              </a:spcAft>
            </a:pPr>
            <a:r>
              <a:rPr sz="1600">
                <a:solidFill>
                  <a:srgbClr val="2C3E50"/>
                </a:solidFill>
                <a:latin typeface="Arial"/>
              </a:rPr>
              <a:t>• </a:t>
            </a:r>
            <a:r>
              <a:rPr sz="1600" b="1">
                <a:solidFill>
                  <a:srgbClr val="2C3E50"/>
                </a:solidFill>
                <a:latin typeface="Arial"/>
              </a:rPr>
              <a:t>What challenges is the facility facing?</a:t>
            </a:r>
          </a:p>
          <a:p>
            <a:pPr>
              <a:spcAft>
                <a:spcPts val="1000"/>
              </a:spcAft>
            </a:pPr>
            <a:r>
              <a:rPr sz="1600">
                <a:solidFill>
                  <a:srgbClr val="333333"/>
                </a:solidFill>
                <a:latin typeface="Arial"/>
              </a:rPr>
              <a:t>Results help explain </a:t>
            </a:r>
            <a:r>
              <a:rPr sz="1600" i="1">
                <a:solidFill>
                  <a:srgbClr val="333333"/>
                </a:solidFill>
                <a:latin typeface="Arial"/>
              </a:rPr>
              <a:t>why</a:t>
            </a:r>
            <a:r>
              <a:rPr sz="1600">
                <a:solidFill>
                  <a:srgbClr val="333333"/>
                </a:solidFill>
                <a:latin typeface="Arial"/>
              </a:rPr>
              <a:t> routine data might show certain patterns.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Questionnaire adaptation guidelines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Why adapt the questionnaire?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The standard FASTR questionnaire is a </a:t>
            </a:r>
            <a:r>
              <a:rPr sz="1600" b="1">
                <a:solidFill>
                  <a:srgbClr val="333333"/>
                </a:solidFill>
                <a:latin typeface="Arial"/>
              </a:rPr>
              <a:t>starting point</a:t>
            </a:r>
            <a:r>
              <a:rPr sz="1600">
                <a:solidFill>
                  <a:srgbClr val="333333"/>
                </a:solidFill>
                <a:latin typeface="Arial"/>
              </a:rPr>
              <a:t>, not a final product.</a:t>
            </a:r>
          </a:p>
          <a:p>
            <a:pPr>
              <a:spcAft>
                <a:spcPts val="1000"/>
              </a:spcAft>
            </a:pPr>
            <a:r>
              <a:rPr sz="1600" b="1">
                <a:solidFill>
                  <a:srgbClr val="333333"/>
                </a:solidFill>
                <a:latin typeface="Arial"/>
              </a:rPr>
              <a:t>Every country needs to:</a:t>
            </a:r>
          </a:p>
          <a:p>
            <a:pPr>
              <a:spcAft>
                <a:spcPts val="400"/>
              </a:spcAft>
            </a:pPr>
            <a:r>
              <a:rPr sz="1600">
                <a:solidFill>
                  <a:srgbClr val="2C3E50"/>
                </a:solidFill>
                <a:latin typeface="Arial"/>
              </a:rPr>
              <a:t>• Translate into local language(s)</a:t>
            </a:r>
          </a:p>
          <a:p>
            <a:pPr>
              <a:spcAft>
                <a:spcPts val="400"/>
              </a:spcAft>
            </a:pPr>
            <a:r>
              <a:rPr sz="1600">
                <a:solidFill>
                  <a:srgbClr val="2C3E50"/>
                </a:solidFill>
                <a:latin typeface="Arial"/>
              </a:rPr>
              <a:t>• Use local health system terminology</a:t>
            </a:r>
          </a:p>
          <a:p>
            <a:pPr>
              <a:spcAft>
                <a:spcPts val="400"/>
              </a:spcAft>
            </a:pPr>
            <a:r>
              <a:rPr sz="1600">
                <a:solidFill>
                  <a:srgbClr val="2C3E50"/>
                </a:solidFill>
                <a:latin typeface="Arial"/>
              </a:rPr>
              <a:t>• Focus on nationally relevant indicators</a:t>
            </a:r>
          </a:p>
          <a:p>
            <a:pPr>
              <a:spcAft>
                <a:spcPts val="400"/>
              </a:spcAft>
            </a:pPr>
            <a:r>
              <a:rPr sz="1600">
                <a:solidFill>
                  <a:srgbClr val="2C3E50"/>
                </a:solidFill>
                <a:latin typeface="Arial"/>
              </a:rPr>
              <a:t>• Adjust for local facility types</a:t>
            </a:r>
          </a:p>
          <a:p>
            <a:pPr>
              <a:spcAft>
                <a:spcPts val="400"/>
              </a:spcAft>
            </a:pPr>
            <a:r>
              <a:rPr sz="1600">
                <a:solidFill>
                  <a:srgbClr val="2C3E50"/>
                </a:solidFill>
                <a:latin typeface="Arial"/>
              </a:rPr>
              <a:t>• Match local supply/medicine names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Adaptation principles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Keep what matters:</a:t>
            </a:r>
          </a:p>
          <a:p>
            <a:pPr>
              <a:spcAft>
                <a:spcPts val="400"/>
              </a:spcAft>
            </a:pPr>
            <a:r>
              <a:rPr sz="1600">
                <a:solidFill>
                  <a:srgbClr val="2C3E50"/>
                </a:solidFill>
                <a:latin typeface="Arial"/>
              </a:rPr>
              <a:t>• Core questions on operational status</a:t>
            </a:r>
          </a:p>
          <a:p>
            <a:pPr>
              <a:spcAft>
                <a:spcPts val="400"/>
              </a:spcAft>
            </a:pPr>
            <a:r>
              <a:rPr sz="1600">
                <a:solidFill>
                  <a:srgbClr val="2C3E50"/>
                </a:solidFill>
                <a:latin typeface="Arial"/>
              </a:rPr>
              <a:t>• Essential supply availability</a:t>
            </a:r>
          </a:p>
          <a:p>
            <a:pPr>
              <a:spcAft>
                <a:spcPts val="400"/>
              </a:spcAft>
            </a:pPr>
            <a:r>
              <a:rPr sz="1600">
                <a:solidFill>
                  <a:srgbClr val="2C3E50"/>
                </a:solidFill>
                <a:latin typeface="Arial"/>
              </a:rPr>
              <a:t>• Basic service provision</a:t>
            </a:r>
          </a:p>
          <a:p>
            <a:pPr>
              <a:spcAft>
                <a:spcPts val="1000"/>
              </a:spcAft>
            </a:pPr>
            <a:r>
              <a:rPr sz="1600" b="1">
                <a:solidFill>
                  <a:srgbClr val="333333"/>
                </a:solidFill>
                <a:latin typeface="Arial"/>
              </a:rPr>
              <a:t>Adapt to context:</a:t>
            </a:r>
          </a:p>
          <a:p>
            <a:pPr>
              <a:spcAft>
                <a:spcPts val="400"/>
              </a:spcAft>
            </a:pPr>
            <a:r>
              <a:rPr sz="1600">
                <a:solidFill>
                  <a:srgbClr val="2C3E50"/>
                </a:solidFill>
                <a:latin typeface="Arial"/>
              </a:rPr>
              <a:t>• Local terminology and naming</a:t>
            </a:r>
          </a:p>
          <a:p>
            <a:pPr>
              <a:spcAft>
                <a:spcPts val="400"/>
              </a:spcAft>
            </a:pPr>
            <a:r>
              <a:rPr sz="1600">
                <a:solidFill>
                  <a:srgbClr val="2C3E50"/>
                </a:solidFill>
                <a:latin typeface="Arial"/>
              </a:rPr>
              <a:t>• Country-specific priority services</a:t>
            </a:r>
          </a:p>
          <a:p>
            <a:pPr>
              <a:spcAft>
                <a:spcPts val="400"/>
              </a:spcAft>
            </a:pPr>
            <a:r>
              <a:rPr sz="1600">
                <a:solidFill>
                  <a:srgbClr val="2C3E50"/>
                </a:solidFill>
                <a:latin typeface="Arial"/>
              </a:rPr>
              <a:t>• Relevant response categories</a:t>
            </a:r>
          </a:p>
          <a:p>
            <a:pPr>
              <a:spcAft>
                <a:spcPts val="1000"/>
              </a:spcAft>
            </a:pPr>
            <a:r>
              <a:rPr sz="1600" b="1">
                <a:solidFill>
                  <a:srgbClr val="333333"/>
                </a:solidFill>
                <a:latin typeface="Arial"/>
              </a:rPr>
              <a:t>Don't add too much:</a:t>
            </a:r>
          </a:p>
          <a:p>
            <a:pPr>
              <a:spcAft>
                <a:spcPts val="400"/>
              </a:spcAft>
            </a:pPr>
            <a:r>
              <a:rPr sz="1600">
                <a:solidFill>
                  <a:srgbClr val="2C3E50"/>
                </a:solidFill>
                <a:latin typeface="Arial"/>
              </a:rPr>
              <a:t>• Phone surveys should stay short (15-30 min)</a:t>
            </a:r>
          </a:p>
          <a:p>
            <a:pPr>
              <a:spcAft>
                <a:spcPts val="400"/>
              </a:spcAft>
            </a:pPr>
            <a:r>
              <a:rPr sz="1600">
                <a:solidFill>
                  <a:srgbClr val="2C3E50"/>
                </a:solidFill>
                <a:latin typeface="Arial"/>
              </a:rPr>
              <a:t>• Focus on actionable information</a:t>
            </a:r>
          </a:p>
          <a:p>
            <a:pPr>
              <a:spcAft>
                <a:spcPts val="400"/>
              </a:spcAft>
            </a:pPr>
            <a:r>
              <a:rPr sz="1600">
                <a:solidFill>
                  <a:srgbClr val="2C3E50"/>
                </a:solidFill>
                <a:latin typeface="Arial"/>
              </a:rPr>
              <a:t>• Avoid "nice to know" questions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13: Questionnaire adaptation to the Zambian context</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Questionnaire structure and review</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i="1">
                <a:solidFill>
                  <a:srgbClr val="333333"/>
                </a:solidFill>
                <a:latin typeface="Arial"/>
              </a:rPr>
              <a:t>Note: Content generated with AI - human review needed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Survey blocks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097280"/>
          <a:ext cx="11247119" cy="4160520"/>
        </p:xfrm>
        <a:graphic>
          <a:graphicData uri="http://schemas.openxmlformats.org/drawingml/2006/table">
            <a:tbl>
              <a:tblPr firstRow="1" bandRow="1">
                <a:tableStyleId>{5C22544A-7EE6-4342-B048-85BDC9FD1C3A}</a:tableStyleId>
              </a:tblPr>
              <a:tblGrid>
                <a:gridCol w="3742446"/>
                <a:gridCol w="7504673"/>
              </a:tblGrid>
              <a:tr h="320040">
                <a:tc>
                  <a:txBody>
                    <a:bodyPr wrap="square"/>
                    <a:lstStyle/>
                    <a:p>
                      <a:pPr>
                        <a:defRPr sz="1400" b="1">
                          <a:solidFill>
                            <a:srgbClr val="21568C"/>
                          </a:solidFill>
                          <a:latin typeface="Arial"/>
                        </a:defRPr>
                      </a:pPr>
                      <a:r>
                        <a:t>Block</a:t>
                      </a:r>
                    </a:p>
                  </a:txBody>
                  <a:tcPr>
                    <a:solidFill>
                      <a:srgbClr val="CAE6E9"/>
                    </a:solidFill>
                  </a:tcPr>
                </a:tc>
                <a:tc>
                  <a:txBody>
                    <a:bodyPr wrap="square"/>
                    <a:lstStyle/>
                    <a:p>
                      <a:pPr>
                        <a:defRPr sz="1400" b="1">
                          <a:solidFill>
                            <a:srgbClr val="21568C"/>
                          </a:solidFill>
                          <a:latin typeface="Arial"/>
                        </a:defRPr>
                      </a:pPr>
                      <a:r>
                        <a:t>Content</a:t>
                      </a:r>
                    </a:p>
                  </a:txBody>
                  <a:tcPr>
                    <a:solidFill>
                      <a:srgbClr val="CAE6E9"/>
                    </a:solidFill>
                  </a:tcPr>
                </a:tc>
              </a:tr>
              <a:tr h="320040">
                <a:tc>
                  <a:txBody>
                    <a:bodyPr wrap="square"/>
                    <a:lstStyle/>
                    <a:p>
                      <a:r>
                        <a:rPr sz="1400" b="1">
                          <a:solidFill>
                            <a:srgbClr val="2C3E50"/>
                          </a:solidFill>
                          <a:latin typeface="Arial"/>
                        </a:rPr>
                        <a:t>A</a:t>
                      </a:r>
                    </a:p>
                  </a:txBody>
                  <a:tcPr/>
                </a:tc>
                <a:tc>
                  <a:txBody>
                    <a:bodyPr wrap="square"/>
                    <a:lstStyle/>
                    <a:p>
                      <a:r>
                        <a:rPr sz="1400">
                          <a:solidFill>
                            <a:srgbClr val="2C3E50"/>
                          </a:solidFill>
                          <a:latin typeface="Arial"/>
                        </a:rPr>
                        <a:t>Health Facility and Respondent Information</a:t>
                      </a:r>
                    </a:p>
                  </a:txBody>
                  <a:tcPr/>
                </a:tc>
              </a:tr>
              <a:tr h="320040">
                <a:tc>
                  <a:txBody>
                    <a:bodyPr wrap="square"/>
                    <a:lstStyle/>
                    <a:p>
                      <a:r>
                        <a:rPr sz="1400" b="1">
                          <a:solidFill>
                            <a:srgbClr val="2C3E50"/>
                          </a:solidFill>
                          <a:latin typeface="Arial"/>
                        </a:rPr>
                        <a:t>B</a:t>
                      </a:r>
                    </a:p>
                  </a:txBody>
                  <a:tcPr/>
                </a:tc>
                <a:tc>
                  <a:txBody>
                    <a:bodyPr wrap="square"/>
                    <a:lstStyle/>
                    <a:p>
                      <a:r>
                        <a:rPr sz="1400">
                          <a:solidFill>
                            <a:srgbClr val="2C3E50"/>
                          </a:solidFill>
                          <a:latin typeface="Arial"/>
                        </a:rPr>
                        <a:t>Shocks</a:t>
                      </a:r>
                    </a:p>
                  </a:txBody>
                  <a:tcPr/>
                </a:tc>
              </a:tr>
              <a:tr h="320040">
                <a:tc>
                  <a:txBody>
                    <a:bodyPr wrap="square"/>
                    <a:lstStyle/>
                    <a:p>
                      <a:r>
                        <a:rPr sz="1400" b="1">
                          <a:solidFill>
                            <a:srgbClr val="2C3E50"/>
                          </a:solidFill>
                          <a:latin typeface="Arial"/>
                        </a:rPr>
                        <a:t>B.1</a:t>
                      </a:r>
                    </a:p>
                  </a:txBody>
                  <a:tcPr/>
                </a:tc>
                <a:tc>
                  <a:txBody>
                    <a:bodyPr wrap="square"/>
                    <a:lstStyle/>
                    <a:p>
                      <a:r>
                        <a:rPr sz="1400">
                          <a:solidFill>
                            <a:srgbClr val="2C3E50"/>
                          </a:solidFill>
                          <a:latin typeface="Arial"/>
                        </a:rPr>
                        <a:t>Resilience to Shocks</a:t>
                      </a:r>
                    </a:p>
                  </a:txBody>
                  <a:tcPr/>
                </a:tc>
              </a:tr>
              <a:tr h="320040">
                <a:tc>
                  <a:txBody>
                    <a:bodyPr wrap="square"/>
                    <a:lstStyle/>
                    <a:p>
                      <a:r>
                        <a:rPr sz="1400" b="1">
                          <a:solidFill>
                            <a:srgbClr val="2C3E50"/>
                          </a:solidFill>
                          <a:latin typeface="Arial"/>
                        </a:rPr>
                        <a:t>B.2</a:t>
                      </a:r>
                    </a:p>
                  </a:txBody>
                  <a:tcPr/>
                </a:tc>
                <a:tc>
                  <a:txBody>
                    <a:bodyPr wrap="square"/>
                    <a:lstStyle/>
                    <a:p>
                      <a:r>
                        <a:rPr sz="1400">
                          <a:solidFill>
                            <a:srgbClr val="2C3E50"/>
                          </a:solidFill>
                          <a:latin typeface="Arial"/>
                        </a:rPr>
                        <a:t>Challenges in Past Three Months</a:t>
                      </a:r>
                    </a:p>
                  </a:txBody>
                  <a:tcPr/>
                </a:tc>
              </a:tr>
              <a:tr h="320040">
                <a:tc>
                  <a:txBody>
                    <a:bodyPr wrap="square"/>
                    <a:lstStyle/>
                    <a:p>
                      <a:r>
                        <a:rPr sz="1400" b="1">
                          <a:solidFill>
                            <a:srgbClr val="2C3E50"/>
                          </a:solidFill>
                          <a:latin typeface="Arial"/>
                        </a:rPr>
                        <a:t>C</a:t>
                      </a:r>
                    </a:p>
                  </a:txBody>
                  <a:tcPr/>
                </a:tc>
                <a:tc>
                  <a:txBody>
                    <a:bodyPr wrap="square"/>
                    <a:lstStyle/>
                    <a:p>
                      <a:r>
                        <a:rPr sz="1400">
                          <a:solidFill>
                            <a:srgbClr val="2C3E50"/>
                          </a:solidFill>
                          <a:latin typeface="Arial"/>
                        </a:rPr>
                        <a:t>Services</a:t>
                      </a:r>
                    </a:p>
                  </a:txBody>
                  <a:tcPr/>
                </a:tc>
              </a:tr>
              <a:tr h="320040">
                <a:tc>
                  <a:txBody>
                    <a:bodyPr wrap="square"/>
                    <a:lstStyle/>
                    <a:p>
                      <a:r>
                        <a:rPr sz="1400" b="1">
                          <a:solidFill>
                            <a:srgbClr val="2C3E50"/>
                          </a:solidFill>
                          <a:latin typeface="Arial"/>
                        </a:rPr>
                        <a:t>D</a:t>
                      </a:r>
                    </a:p>
                  </a:txBody>
                  <a:tcPr/>
                </a:tc>
                <a:tc>
                  <a:txBody>
                    <a:bodyPr wrap="square"/>
                    <a:lstStyle/>
                    <a:p>
                      <a:r>
                        <a:rPr sz="1400">
                          <a:solidFill>
                            <a:srgbClr val="2C3E50"/>
                          </a:solidFill>
                          <a:latin typeface="Arial"/>
                        </a:rPr>
                        <a:t>Infrastructure</a:t>
                      </a:r>
                    </a:p>
                  </a:txBody>
                  <a:tcPr/>
                </a:tc>
              </a:tr>
              <a:tr h="320040">
                <a:tc>
                  <a:txBody>
                    <a:bodyPr wrap="square"/>
                    <a:lstStyle/>
                    <a:p>
                      <a:r>
                        <a:rPr sz="1400" b="1">
                          <a:solidFill>
                            <a:srgbClr val="2C3E50"/>
                          </a:solidFill>
                          <a:latin typeface="Arial"/>
                        </a:rPr>
                        <a:t>E</a:t>
                      </a:r>
                    </a:p>
                  </a:txBody>
                  <a:tcPr/>
                </a:tc>
                <a:tc>
                  <a:txBody>
                    <a:bodyPr wrap="square"/>
                    <a:lstStyle/>
                    <a:p>
                      <a:r>
                        <a:rPr sz="1400">
                          <a:solidFill>
                            <a:srgbClr val="2C3E50"/>
                          </a:solidFill>
                          <a:latin typeface="Arial"/>
                        </a:rPr>
                        <a:t>Financing</a:t>
                      </a:r>
                    </a:p>
                  </a:txBody>
                  <a:tcPr/>
                </a:tc>
              </a:tr>
              <a:tr h="320040">
                <a:tc>
                  <a:txBody>
                    <a:bodyPr wrap="square"/>
                    <a:lstStyle/>
                    <a:p>
                      <a:r>
                        <a:rPr sz="1400" b="1">
                          <a:solidFill>
                            <a:srgbClr val="2C3E50"/>
                          </a:solidFill>
                          <a:latin typeface="Arial"/>
                        </a:rPr>
                        <a:t>F</a:t>
                      </a:r>
                    </a:p>
                  </a:txBody>
                  <a:tcPr/>
                </a:tc>
                <a:tc>
                  <a:txBody>
                    <a:bodyPr wrap="square"/>
                    <a:lstStyle/>
                    <a:p>
                      <a:r>
                        <a:rPr sz="1400">
                          <a:solidFill>
                            <a:srgbClr val="2C3E50"/>
                          </a:solidFill>
                          <a:latin typeface="Arial"/>
                        </a:rPr>
                        <a:t>Workforce and Staffing</a:t>
                      </a:r>
                    </a:p>
                  </a:txBody>
                  <a:tcPr/>
                </a:tc>
              </a:tr>
              <a:tr h="320040">
                <a:tc>
                  <a:txBody>
                    <a:bodyPr wrap="square"/>
                    <a:lstStyle/>
                    <a:p>
                      <a:r>
                        <a:rPr sz="1400" b="1">
                          <a:solidFill>
                            <a:srgbClr val="2C3E50"/>
                          </a:solidFill>
                          <a:latin typeface="Arial"/>
                        </a:rPr>
                        <a:t>G</a:t>
                      </a:r>
                    </a:p>
                  </a:txBody>
                  <a:tcPr/>
                </a:tc>
                <a:tc>
                  <a:txBody>
                    <a:bodyPr wrap="square"/>
                    <a:lstStyle/>
                    <a:p>
                      <a:r>
                        <a:rPr sz="1400">
                          <a:solidFill>
                            <a:srgbClr val="2C3E50"/>
                          </a:solidFill>
                          <a:latin typeface="Arial"/>
                        </a:rPr>
                        <a:t>Supplies</a:t>
                      </a:r>
                    </a:p>
                  </a:txBody>
                  <a:tcPr/>
                </a:tc>
              </a:tr>
              <a:tr h="320040">
                <a:tc>
                  <a:txBody>
                    <a:bodyPr wrap="square"/>
                    <a:lstStyle/>
                    <a:p>
                      <a:r>
                        <a:rPr sz="1400" b="1">
                          <a:solidFill>
                            <a:srgbClr val="2C3E50"/>
                          </a:solidFill>
                          <a:latin typeface="Arial"/>
                        </a:rPr>
                        <a:t>H</a:t>
                      </a:r>
                    </a:p>
                  </a:txBody>
                  <a:tcPr/>
                </a:tc>
                <a:tc>
                  <a:txBody>
                    <a:bodyPr wrap="square"/>
                    <a:lstStyle/>
                    <a:p>
                      <a:r>
                        <a:rPr sz="1400">
                          <a:solidFill>
                            <a:srgbClr val="2C3E50"/>
                          </a:solidFill>
                          <a:latin typeface="Arial"/>
                        </a:rPr>
                        <a:t>Leadership and Coordination</a:t>
                      </a:r>
                    </a:p>
                  </a:txBody>
                  <a:tcPr/>
                </a:tc>
              </a:tr>
              <a:tr h="320040">
                <a:tc>
                  <a:txBody>
                    <a:bodyPr wrap="square"/>
                    <a:lstStyle/>
                    <a:p>
                      <a:r>
                        <a:rPr sz="1400" b="1">
                          <a:solidFill>
                            <a:srgbClr val="2C3E50"/>
                          </a:solidFill>
                          <a:latin typeface="Arial"/>
                        </a:rPr>
                        <a:t>I</a:t>
                      </a:r>
                    </a:p>
                  </a:txBody>
                  <a:tcPr/>
                </a:tc>
                <a:tc>
                  <a:txBody>
                    <a:bodyPr wrap="square"/>
                    <a:lstStyle/>
                    <a:p>
                      <a:r>
                        <a:rPr sz="1400">
                          <a:solidFill>
                            <a:srgbClr val="2C3E50"/>
                          </a:solidFill>
                          <a:latin typeface="Arial"/>
                        </a:rPr>
                        <a:t>Community Engagement</a:t>
                      </a:r>
                    </a:p>
                  </a:txBody>
                  <a:tcPr/>
                </a:tc>
              </a:tr>
              <a:tr h="320040">
                <a:tc>
                  <a:txBody>
                    <a:bodyPr wrap="square"/>
                    <a:lstStyle/>
                    <a:p>
                      <a:r>
                        <a:rPr sz="1400" b="1">
                          <a:solidFill>
                            <a:srgbClr val="2C3E50"/>
                          </a:solidFill>
                          <a:latin typeface="Arial"/>
                        </a:rPr>
                        <a:t>J</a:t>
                      </a:r>
                    </a:p>
                  </a:txBody>
                  <a:tcPr/>
                </a:tc>
                <a:tc>
                  <a:txBody>
                    <a:bodyPr wrap="square"/>
                    <a:lstStyle/>
                    <a:p>
                      <a:r>
                        <a:rPr sz="1400">
                          <a:solidFill>
                            <a:srgbClr val="2C3E50"/>
                          </a:solidFill>
                          <a:latin typeface="Arial"/>
                        </a:rPr>
                        <a:t>Quality Improvement Processes</a:t>
                      </a:r>
                    </a:p>
                  </a:txBody>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Review process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For each block, ask:</a:t>
            </a:r>
          </a:p>
          <a:p>
            <a:pPr>
              <a:spcAft>
                <a:spcPts val="400"/>
              </a:spcAft>
            </a:pPr>
            <a:r>
              <a:rPr sz="1600">
                <a:solidFill>
                  <a:srgbClr val="2C3E50"/>
                </a:solidFill>
                <a:latin typeface="Arial"/>
              </a:rPr>
              <a:t>• Is this question relevant for our context?</a:t>
            </a:r>
          </a:p>
          <a:p>
            <a:pPr>
              <a:spcAft>
                <a:spcPts val="400"/>
              </a:spcAft>
            </a:pPr>
            <a:r>
              <a:rPr sz="1600">
                <a:solidFill>
                  <a:srgbClr val="2C3E50"/>
                </a:solidFill>
                <a:latin typeface="Arial"/>
              </a:rPr>
              <a:t>• Is the wording clear in local language?</a:t>
            </a:r>
          </a:p>
          <a:p>
            <a:pPr>
              <a:spcAft>
                <a:spcPts val="400"/>
              </a:spcAft>
            </a:pPr>
            <a:r>
              <a:rPr sz="1600">
                <a:solidFill>
                  <a:srgbClr val="2C3E50"/>
                </a:solidFill>
                <a:latin typeface="Arial"/>
              </a:rPr>
              <a:t>• Are the response options complete?</a:t>
            </a:r>
          </a:p>
          <a:p>
            <a:pPr>
              <a:spcAft>
                <a:spcPts val="400"/>
              </a:spcAft>
            </a:pPr>
            <a:r>
              <a:rPr sz="1600">
                <a:solidFill>
                  <a:srgbClr val="2C3E50"/>
                </a:solidFill>
                <a:latin typeface="Arial"/>
              </a:rPr>
              <a:t>• Should we add country-specific items?</a:t>
            </a:r>
          </a:p>
          <a:p>
            <a:pPr>
              <a:spcAft>
                <a:spcPts val="400"/>
              </a:spcAft>
            </a:pPr>
            <a:r>
              <a:rPr sz="1600">
                <a:solidFill>
                  <a:srgbClr val="2C3E50"/>
                </a:solidFill>
                <a:latin typeface="Arial"/>
              </a:rPr>
              <a:t>• Can we remove anything non-essential?</a:t>
            </a:r>
          </a:p>
          <a:p>
            <a:pPr>
              <a:spcAft>
                <a:spcPts val="1000"/>
              </a:spcAft>
            </a:pPr>
            <a:r>
              <a:rPr sz="1600" b="1">
                <a:solidFill>
                  <a:srgbClr val="333333"/>
                </a:solidFill>
                <a:latin typeface="Arial"/>
              </a:rPr>
              <a:t>Goal:</a:t>
            </a:r>
            <a:r>
              <a:rPr sz="1600">
                <a:solidFill>
                  <a:srgbClr val="333333"/>
                </a:solidFill>
                <a:latin typeface="Arial"/>
              </a:rPr>
              <a:t> A questionnaire that is locally relevant while maintaining comparability with the FASTR standard.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Hands-on questionnaire adaptation</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i="1">
                <a:solidFill>
                  <a:srgbClr val="333333"/>
                </a:solidFill>
                <a:latin typeface="Arial"/>
              </a:rPr>
              <a:t>Note: Content generated with AI - human review needed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Activity overview</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What we'll do:</a:t>
            </a:r>
          </a:p>
          <a:p>
            <a:pPr>
              <a:spcAft>
                <a:spcPts val="1000"/>
              </a:spcAft>
            </a:pPr>
            <a:r>
              <a:rPr sz="1600">
                <a:solidFill>
                  <a:srgbClr val="333333"/>
                </a:solidFill>
                <a:latin typeface="Arial"/>
              </a:rPr>
              <a:t>Work in groups to adapt the standard FASTR questionnaire to our country context.</a:t>
            </a:r>
          </a:p>
          <a:p>
            <a:pPr>
              <a:spcAft>
                <a:spcPts val="1000"/>
              </a:spcAft>
            </a:pPr>
            <a:r>
              <a:rPr sz="1600" b="1">
                <a:solidFill>
                  <a:srgbClr val="333333"/>
                </a:solidFill>
                <a:latin typeface="Arial"/>
              </a:rPr>
              <a:t>Groups:</a:t>
            </a:r>
          </a:p>
          <a:p>
            <a:pPr>
              <a:spcAft>
                <a:spcPts val="400"/>
              </a:spcAft>
            </a:pPr>
            <a:r>
              <a:rPr sz="1600">
                <a:solidFill>
                  <a:srgbClr val="2C3E50"/>
                </a:solidFill>
                <a:latin typeface="Arial"/>
              </a:rPr>
              <a:t>• Group 1: Blocks A-B (Facility info, Shocks, Resilience, Challenges)</a:t>
            </a:r>
          </a:p>
          <a:p>
            <a:pPr>
              <a:spcAft>
                <a:spcPts val="400"/>
              </a:spcAft>
            </a:pPr>
            <a:r>
              <a:rPr sz="1600">
                <a:solidFill>
                  <a:srgbClr val="2C3E50"/>
                </a:solidFill>
                <a:latin typeface="Arial"/>
              </a:rPr>
              <a:t>• Group 2: Blocks C-D (Services, Infrastructure)</a:t>
            </a:r>
          </a:p>
          <a:p>
            <a:pPr>
              <a:spcAft>
                <a:spcPts val="400"/>
              </a:spcAft>
            </a:pPr>
            <a:r>
              <a:rPr sz="1600">
                <a:solidFill>
                  <a:srgbClr val="2C3E50"/>
                </a:solidFill>
                <a:latin typeface="Arial"/>
              </a:rPr>
              <a:t>• Group 3: Blocks E-F (Financing, Workforce)</a:t>
            </a:r>
          </a:p>
          <a:p>
            <a:pPr>
              <a:spcAft>
                <a:spcPts val="400"/>
              </a:spcAft>
            </a:pPr>
            <a:r>
              <a:rPr sz="1600">
                <a:solidFill>
                  <a:srgbClr val="2C3E50"/>
                </a:solidFill>
                <a:latin typeface="Arial"/>
              </a:rPr>
              <a:t>• Group 4: Blocks G-J (Supplies, Leadership, Community, QI)</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Adaptation checklist</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For each question in your block:</a:t>
            </a:r>
          </a:p>
          <a:p>
            <a:pPr>
              <a:spcAft>
                <a:spcPts val="400"/>
              </a:spcAft>
            </a:pPr>
            <a:r>
              <a:rPr sz="1600">
                <a:solidFill>
                  <a:srgbClr val="2C3E50"/>
                </a:solidFill>
                <a:latin typeface="Arial"/>
              </a:rPr>
              <a:t>• [ ] Is the question clear in local language?</a:t>
            </a:r>
          </a:p>
          <a:p>
            <a:pPr>
              <a:spcAft>
                <a:spcPts val="400"/>
              </a:spcAft>
            </a:pPr>
            <a:r>
              <a:rPr sz="1600">
                <a:solidFill>
                  <a:srgbClr val="2C3E50"/>
                </a:solidFill>
                <a:latin typeface="Arial"/>
              </a:rPr>
              <a:t>• [ ] Are response options appropriate?</a:t>
            </a:r>
          </a:p>
          <a:p>
            <a:pPr>
              <a:spcAft>
                <a:spcPts val="400"/>
              </a:spcAft>
            </a:pPr>
            <a:r>
              <a:rPr sz="1600">
                <a:solidFill>
                  <a:srgbClr val="2C3E50"/>
                </a:solidFill>
                <a:latin typeface="Arial"/>
              </a:rPr>
              <a:t>• [ ] Should we add country-specific items?</a:t>
            </a:r>
          </a:p>
          <a:p>
            <a:pPr>
              <a:spcAft>
                <a:spcPts val="400"/>
              </a:spcAft>
            </a:pPr>
            <a:r>
              <a:rPr sz="1600">
                <a:solidFill>
                  <a:srgbClr val="2C3E50"/>
                </a:solidFill>
                <a:latin typeface="Arial"/>
              </a:rPr>
              <a:t>• [ ] Can we simplify without losing information?</a:t>
            </a:r>
          </a:p>
          <a:p>
            <a:pPr>
              <a:spcAft>
                <a:spcPts val="400"/>
              </a:spcAft>
            </a:pPr>
            <a:r>
              <a:rPr sz="1600">
                <a:solidFill>
                  <a:srgbClr val="2C3E50"/>
                </a:solidFill>
                <a:latin typeface="Arial"/>
              </a:rPr>
              <a:t>• [ ] Does skip logic make sense?</a:t>
            </a:r>
          </a:p>
          <a:p>
            <a:pPr>
              <a:spcAft>
                <a:spcPts val="1000"/>
              </a:spcAft>
            </a:pPr>
            <a:r>
              <a:rPr sz="1600" b="1">
                <a:solidFill>
                  <a:srgbClr val="333333"/>
                </a:solidFill>
                <a:latin typeface="Arial"/>
              </a:rPr>
              <a:t>Document your changes</a:t>
            </a:r>
            <a:r>
              <a:rPr sz="1600">
                <a:solidFill>
                  <a:srgbClr val="333333"/>
                </a:solidFill>
                <a:latin typeface="Arial"/>
              </a:rPr>
              <a:t> for group discussion.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Group discussion</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After working in groups, we'll:</a:t>
            </a:r>
          </a:p>
          <a:p>
            <a:pPr>
              <a:spcAft>
                <a:spcPts val="400"/>
              </a:spcAft>
            </a:pPr>
            <a:r>
              <a:rPr sz="1600">
                <a:solidFill>
                  <a:srgbClr val="2C3E50"/>
                </a:solidFill>
                <a:latin typeface="Arial"/>
              </a:rPr>
              <a:t>• </a:t>
            </a:r>
            <a:r>
              <a:rPr sz="1600" b="1">
                <a:solidFill>
                  <a:srgbClr val="2C3E50"/>
                </a:solidFill>
                <a:latin typeface="Arial"/>
              </a:rPr>
              <a:t>Present adaptations</a:t>
            </a:r>
            <a:r>
              <a:rPr sz="1600">
                <a:solidFill>
                  <a:srgbClr val="2C3E50"/>
                </a:solidFill>
                <a:latin typeface="Arial"/>
              </a:rPr>
              <a:t> - Each group shares key changes</a:t>
            </a:r>
          </a:p>
          <a:p>
            <a:pPr>
              <a:spcAft>
                <a:spcPts val="400"/>
              </a:spcAft>
            </a:pPr>
            <a:r>
              <a:rPr sz="1600">
                <a:solidFill>
                  <a:srgbClr val="2C3E50"/>
                </a:solidFill>
                <a:latin typeface="Arial"/>
              </a:rPr>
              <a:t>• </a:t>
            </a:r>
            <a:r>
              <a:rPr sz="1600" b="1">
                <a:solidFill>
                  <a:srgbClr val="2C3E50"/>
                </a:solidFill>
                <a:latin typeface="Arial"/>
              </a:rPr>
              <a:t>Discuss trade-offs</a:t>
            </a:r>
            <a:r>
              <a:rPr sz="1600">
                <a:solidFill>
                  <a:srgbClr val="2C3E50"/>
                </a:solidFill>
                <a:latin typeface="Arial"/>
              </a:rPr>
              <a:t> - What did we add vs. remove?</a:t>
            </a:r>
          </a:p>
          <a:p>
            <a:pPr>
              <a:spcAft>
                <a:spcPts val="400"/>
              </a:spcAft>
            </a:pPr>
            <a:r>
              <a:rPr sz="1600">
                <a:solidFill>
                  <a:srgbClr val="2C3E50"/>
                </a:solidFill>
                <a:latin typeface="Arial"/>
              </a:rPr>
              <a:t>• </a:t>
            </a:r>
            <a:r>
              <a:rPr sz="1600" b="1">
                <a:solidFill>
                  <a:srgbClr val="2C3E50"/>
                </a:solidFill>
                <a:latin typeface="Arial"/>
              </a:rPr>
              <a:t>Reach consensus</a:t>
            </a:r>
            <a:r>
              <a:rPr sz="1600">
                <a:solidFill>
                  <a:srgbClr val="2C3E50"/>
                </a:solidFill>
                <a:latin typeface="Arial"/>
              </a:rPr>
              <a:t> - Agree on final adaptations</a:t>
            </a:r>
          </a:p>
          <a:p>
            <a:pPr>
              <a:spcAft>
                <a:spcPts val="400"/>
              </a:spcAft>
            </a:pPr>
            <a:r>
              <a:rPr sz="1600">
                <a:solidFill>
                  <a:srgbClr val="2C3E50"/>
                </a:solidFill>
                <a:latin typeface="Arial"/>
              </a:rPr>
              <a:t>• </a:t>
            </a:r>
            <a:r>
              <a:rPr sz="1600" b="1">
                <a:solidFill>
                  <a:srgbClr val="2C3E50"/>
                </a:solidFill>
                <a:latin typeface="Arial"/>
              </a:rPr>
              <a:t>Plan pre-testing</a:t>
            </a:r>
            <a:r>
              <a:rPr sz="1600">
                <a:solidFill>
                  <a:srgbClr val="2C3E50"/>
                </a:solidFill>
                <a:latin typeface="Arial"/>
              </a:rPr>
              <a:t> - How will we test the adapted questionnaire?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5600" b="1" i="0">
                <a:solidFill>
                  <a:srgbClr val="09544F"/>
                </a:solidFill>
                <a:latin typeface="Arial"/>
              </a:defRPr>
            </a:pPr>
            <a:r>
              <a:t>Lunch Break</a:t>
            </a:r>
          </a:p>
        </p:txBody>
      </p:sp>
      <p:sp>
        <p:nvSpPr>
          <p:cNvPr id="3" name="TextBox 2"/>
          <p:cNvSpPr txBox="1"/>
          <p:nvPr/>
        </p:nvSpPr>
        <p:spPr>
          <a:xfrm>
            <a:off x="914400" y="3931920"/>
            <a:ext cx="10362895" cy="548640"/>
          </a:xfrm>
          <a:prstGeom prst="rect">
            <a:avLst/>
          </a:prstGeom>
          <a:noFill/>
        </p:spPr>
        <p:txBody>
          <a:bodyPr wrap="square"/>
          <a:lstStyle/>
          <a:p>
            <a:pPr algn="ctr">
              <a:defRPr sz="2600" b="0" i="0">
                <a:solidFill>
                  <a:srgbClr val="21568C"/>
                </a:solidFill>
                <a:latin typeface="Arial"/>
              </a:defRPr>
            </a:pPr>
            <a:r>
              <a:t>90 minutes • Back at 14:00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lstStyle/>
          <a:p>
            <a:pPr algn="ctr">
              <a:defRPr sz="4400" b="1" i="0">
                <a:solidFill>
                  <a:srgbClr val="09544F"/>
                </a:solidFill>
                <a:latin typeface="Arial"/>
              </a:defRPr>
            </a:pPr>
            <a:r>
              <a:t>Session 16: Discussion: HFA priorities and data use</a:t>
            </a:r>
          </a:p>
        </p:txBody>
      </p:sp>
      <p:sp>
        <p:nvSpPr>
          <p:cNvPr id="3" name="Rectangle 2"/>
          <p:cNvSpPr/>
          <p:nvPr/>
        </p:nvSpPr>
        <p:spPr>
          <a:xfrm>
            <a:off x="3657600" y="4114800"/>
            <a:ext cx="4876495" cy="27432"/>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HFA priorities and data use</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i="1">
                <a:solidFill>
                  <a:srgbClr val="333333"/>
                </a:solidFill>
                <a:latin typeface="Arial"/>
              </a:rPr>
              <a:t>Note: Content generated with AI - human review needed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Using survey results</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b="1">
                <a:solidFill>
                  <a:srgbClr val="333333"/>
                </a:solidFill>
                <a:latin typeface="Arial"/>
              </a:rPr>
              <a:t>Phone survey results should inform:</a:t>
            </a:r>
          </a:p>
          <a:p>
            <a:pPr>
              <a:spcAft>
                <a:spcPts val="400"/>
              </a:spcAft>
            </a:pPr>
            <a:r>
              <a:rPr sz="1600">
                <a:solidFill>
                  <a:srgbClr val="2C3E50"/>
                </a:solidFill>
                <a:latin typeface="Arial"/>
              </a:rPr>
              <a:t>• </a:t>
            </a:r>
            <a:r>
              <a:rPr sz="1600" b="1">
                <a:solidFill>
                  <a:srgbClr val="2C3E50"/>
                </a:solidFill>
                <a:latin typeface="Arial"/>
              </a:rPr>
              <a:t>Routine data interpretation</a:t>
            </a:r>
          </a:p>
          <a:p>
            <a:pPr>
              <a:spcAft>
                <a:spcPts val="400"/>
              </a:spcAft>
            </a:pPr>
            <a:r>
              <a:rPr sz="1600">
                <a:solidFill>
                  <a:srgbClr val="2C3E50"/>
                </a:solidFill>
                <a:latin typeface="Arial"/>
              </a:rPr>
              <a:t>• Explain patterns in HMIS data</a:t>
            </a:r>
          </a:p>
          <a:p>
            <a:pPr>
              <a:spcAft>
                <a:spcPts val="400"/>
              </a:spcAft>
            </a:pPr>
            <a:r>
              <a:rPr sz="1600">
                <a:solidFill>
                  <a:srgbClr val="2C3E50"/>
                </a:solidFill>
                <a:latin typeface="Arial"/>
              </a:rPr>
              <a:t>• Validate data quality concerns</a:t>
            </a:r>
          </a:p>
          <a:p>
            <a:pPr>
              <a:spcAft>
                <a:spcPts val="400"/>
              </a:spcAft>
            </a:pPr>
            <a:r>
              <a:rPr sz="1600">
                <a:solidFill>
                  <a:srgbClr val="2C3E50"/>
                </a:solidFill>
                <a:latin typeface="Arial"/>
              </a:rPr>
              <a:t>• </a:t>
            </a:r>
            <a:r>
              <a:rPr sz="1600" b="1">
                <a:solidFill>
                  <a:srgbClr val="2C3E50"/>
                </a:solidFill>
                <a:latin typeface="Arial"/>
              </a:rPr>
              <a:t>Targeted support</a:t>
            </a:r>
          </a:p>
          <a:p>
            <a:pPr>
              <a:spcAft>
                <a:spcPts val="400"/>
              </a:spcAft>
            </a:pPr>
            <a:r>
              <a:rPr sz="1600">
                <a:solidFill>
                  <a:srgbClr val="2C3E50"/>
                </a:solidFill>
                <a:latin typeface="Arial"/>
              </a:rPr>
              <a:t>• Identify facilities needing intervention</a:t>
            </a:r>
          </a:p>
          <a:p>
            <a:pPr>
              <a:spcAft>
                <a:spcPts val="400"/>
              </a:spcAft>
            </a:pPr>
            <a:r>
              <a:rPr sz="1600">
                <a:solidFill>
                  <a:srgbClr val="2C3E50"/>
                </a:solidFill>
                <a:latin typeface="Arial"/>
              </a:rPr>
              <a:t>• Prioritize supervision visits</a:t>
            </a:r>
          </a:p>
          <a:p>
            <a:pPr>
              <a:spcAft>
                <a:spcPts val="400"/>
              </a:spcAft>
            </a:pPr>
            <a:r>
              <a:rPr sz="1600">
                <a:solidFill>
                  <a:srgbClr val="2C3E50"/>
                </a:solidFill>
                <a:latin typeface="Arial"/>
              </a:rPr>
              <a:t>• </a:t>
            </a:r>
            <a:r>
              <a:rPr sz="1600" b="1">
                <a:solidFill>
                  <a:srgbClr val="2C3E50"/>
                </a:solidFill>
                <a:latin typeface="Arial"/>
              </a:rPr>
              <a:t>Supply chain management</a:t>
            </a:r>
          </a:p>
          <a:p>
            <a:pPr>
              <a:spcAft>
                <a:spcPts val="400"/>
              </a:spcAft>
            </a:pPr>
            <a:r>
              <a:rPr sz="1600">
                <a:solidFill>
                  <a:srgbClr val="2C3E50"/>
                </a:solidFill>
                <a:latin typeface="Arial"/>
              </a:rPr>
              <a:t>• Track stockout patterns</a:t>
            </a:r>
          </a:p>
          <a:p>
            <a:pPr>
              <a:spcAft>
                <a:spcPts val="400"/>
              </a:spcAft>
            </a:pPr>
            <a:r>
              <a:rPr sz="1600">
                <a:solidFill>
                  <a:srgbClr val="2C3E50"/>
                </a:solidFill>
                <a:latin typeface="Arial"/>
              </a:rPr>
              <a:t>• Inform distribution planning</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Linking survey to routine data</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7295" cy="731520"/>
          </a:xfrm>
          <a:prstGeom prst="rect">
            <a:avLst/>
          </a:prstGeom>
          <a:noFill/>
        </p:spPr>
        <p:txBody>
          <a:bodyPr wrap="square">
            <a:spAutoFit/>
          </a:bodyPr>
          <a:lstStyle/>
          <a:p>
            <a:pPr>
              <a:spcAft>
                <a:spcPts val="400"/>
              </a:spcAft>
            </a:pPr>
            <a:r>
              <a:rPr sz="1600" b="1">
                <a:solidFill>
                  <a:srgbClr val="2C3E50"/>
                </a:solidFill>
                <a:latin typeface="Arial"/>
              </a:rPr>
              <a:t>Example use cases:</a:t>
            </a:r>
          </a:p>
        </p:txBody>
      </p:sp>
      <p:graphicFrame>
        <p:nvGraphicFramePr>
          <p:cNvPr id="5" name="Table 4"/>
          <p:cNvGraphicFramePr>
            <a:graphicFrameLocks noGrp="1"/>
          </p:cNvGraphicFramePr>
          <p:nvPr/>
        </p:nvGraphicFramePr>
        <p:xfrm>
          <a:off x="457200" y="1828800"/>
          <a:ext cx="11247118" cy="1280160"/>
        </p:xfrm>
        <a:graphic>
          <a:graphicData uri="http://schemas.openxmlformats.org/drawingml/2006/table">
            <a:tbl>
              <a:tblPr firstRow="1" bandRow="1">
                <a:tableStyleId>{5C22544A-7EE6-4342-B048-85BDC9FD1C3A}</a:tableStyleId>
              </a:tblPr>
              <a:tblGrid>
                <a:gridCol w="3910418"/>
                <a:gridCol w="3533732"/>
                <a:gridCol w="3802968"/>
              </a:tblGrid>
              <a:tr h="320040">
                <a:tc>
                  <a:txBody>
                    <a:bodyPr wrap="square"/>
                    <a:lstStyle/>
                    <a:p>
                      <a:pPr>
                        <a:defRPr sz="1400" b="1">
                          <a:solidFill>
                            <a:srgbClr val="21568C"/>
                          </a:solidFill>
                          <a:latin typeface="Arial"/>
                        </a:defRPr>
                      </a:pPr>
                      <a:r>
                        <a:t>HMIS pattern</a:t>
                      </a:r>
                    </a:p>
                  </a:txBody>
                  <a:tcPr>
                    <a:solidFill>
                      <a:srgbClr val="CAE6E9"/>
                    </a:solidFill>
                  </a:tcPr>
                </a:tc>
                <a:tc>
                  <a:txBody>
                    <a:bodyPr wrap="square"/>
                    <a:lstStyle/>
                    <a:p>
                      <a:pPr>
                        <a:defRPr sz="1400" b="1">
                          <a:solidFill>
                            <a:srgbClr val="21568C"/>
                          </a:solidFill>
                          <a:latin typeface="Arial"/>
                        </a:defRPr>
                      </a:pPr>
                      <a:r>
                        <a:t>Survey question</a:t>
                      </a:r>
                    </a:p>
                  </a:txBody>
                  <a:tcPr>
                    <a:solidFill>
                      <a:srgbClr val="CAE6E9"/>
                    </a:solidFill>
                  </a:tcPr>
                </a:tc>
                <a:tc>
                  <a:txBody>
                    <a:bodyPr wrap="square"/>
                    <a:lstStyle/>
                    <a:p>
                      <a:pPr>
                        <a:defRPr sz="1400" b="1">
                          <a:solidFill>
                            <a:srgbClr val="21568C"/>
                          </a:solidFill>
                          <a:latin typeface="Arial"/>
                        </a:defRPr>
                      </a:pPr>
                      <a:r>
                        <a:t>Insight</a:t>
                      </a:r>
                    </a:p>
                  </a:txBody>
                  <a:tcPr>
                    <a:solidFill>
                      <a:srgbClr val="CAE6E9"/>
                    </a:solidFill>
                  </a:tcPr>
                </a:tc>
              </a:tr>
              <a:tr h="320040">
                <a:tc>
                  <a:txBody>
                    <a:bodyPr wrap="square"/>
                    <a:lstStyle/>
                    <a:p>
                      <a:r>
                        <a:rPr sz="1400">
                          <a:solidFill>
                            <a:srgbClr val="2C3E50"/>
                          </a:solidFill>
                          <a:latin typeface="Arial"/>
                        </a:rPr>
                        <a:t>Facility stopped reporting</a:t>
                      </a:r>
                    </a:p>
                  </a:txBody>
                  <a:tcPr/>
                </a:tc>
                <a:tc>
                  <a:txBody>
                    <a:bodyPr wrap="square"/>
                    <a:lstStyle/>
                    <a:p>
                      <a:r>
                        <a:rPr sz="1400">
                          <a:solidFill>
                            <a:srgbClr val="2C3E50"/>
                          </a:solidFill>
                          <a:latin typeface="Arial"/>
                        </a:rPr>
                        <a:t>Is facility open?</a:t>
                      </a:r>
                    </a:p>
                  </a:txBody>
                  <a:tcPr/>
                </a:tc>
                <a:tc>
                  <a:txBody>
                    <a:bodyPr wrap="square"/>
                    <a:lstStyle/>
                    <a:p>
                      <a:r>
                        <a:rPr sz="1400">
                          <a:solidFill>
                            <a:srgbClr val="2C3E50"/>
                          </a:solidFill>
                          <a:latin typeface="Arial"/>
                        </a:rPr>
                        <a:t>Closed vs. reporting failure</a:t>
                      </a:r>
                    </a:p>
                  </a:txBody>
                  <a:tcPr/>
                </a:tc>
              </a:tr>
              <a:tr h="320040">
                <a:tc>
                  <a:txBody>
                    <a:bodyPr wrap="square"/>
                    <a:lstStyle/>
                    <a:p>
                      <a:r>
                        <a:rPr sz="1400">
                          <a:solidFill>
                            <a:srgbClr val="2C3E50"/>
                          </a:solidFill>
                          <a:latin typeface="Arial"/>
                        </a:rPr>
                        <a:t>Sudden drop in services</a:t>
                      </a:r>
                    </a:p>
                  </a:txBody>
                  <a:tcPr/>
                </a:tc>
                <a:tc>
                  <a:txBody>
                    <a:bodyPr wrap="square"/>
                    <a:lstStyle/>
                    <a:p>
                      <a:r>
                        <a:rPr sz="1400">
                          <a:solidFill>
                            <a:srgbClr val="2C3E50"/>
                          </a:solidFill>
                          <a:latin typeface="Arial"/>
                        </a:rPr>
                        <a:t>Stock availability?</a:t>
                      </a:r>
                    </a:p>
                  </a:txBody>
                  <a:tcPr/>
                </a:tc>
                <a:tc>
                  <a:txBody>
                    <a:bodyPr wrap="square"/>
                    <a:lstStyle/>
                    <a:p>
                      <a:r>
                        <a:rPr sz="1400">
                          <a:solidFill>
                            <a:srgbClr val="2C3E50"/>
                          </a:solidFill>
                          <a:latin typeface="Arial"/>
                        </a:rPr>
                        <a:t>Stockout impact</a:t>
                      </a:r>
                    </a:p>
                  </a:txBody>
                  <a:tcPr/>
                </a:tc>
              </a:tr>
              <a:tr h="320040">
                <a:tc>
                  <a:txBody>
                    <a:bodyPr wrap="square"/>
                    <a:lstStyle/>
                    <a:p>
                      <a:r>
                        <a:rPr sz="1400">
                          <a:solidFill>
                            <a:srgbClr val="2C3E50"/>
                          </a:solidFill>
                          <a:latin typeface="Arial"/>
                        </a:rPr>
                        <a:t>Low immunization numbers</a:t>
                      </a:r>
                    </a:p>
                  </a:txBody>
                  <a:tcPr/>
                </a:tc>
                <a:tc>
                  <a:txBody>
                    <a:bodyPr wrap="square"/>
                    <a:lstStyle/>
                    <a:p>
                      <a:r>
                        <a:rPr sz="1400">
                          <a:solidFill>
                            <a:srgbClr val="2C3E50"/>
                          </a:solidFill>
                          <a:latin typeface="Arial"/>
                        </a:rPr>
                        <a:t>Vaccine in stock?</a:t>
                      </a:r>
                    </a:p>
                  </a:txBody>
                  <a:tcPr/>
                </a:tc>
                <a:tc>
                  <a:txBody>
                    <a:bodyPr wrap="square"/>
                    <a:lstStyle/>
                    <a:p>
                      <a:r>
                        <a:rPr sz="1400">
                          <a:solidFill>
                            <a:srgbClr val="2C3E50"/>
                          </a:solidFill>
                          <a:latin typeface="Arial"/>
                        </a:rPr>
                        <a:t>Supply vs. demand issue</a:t>
                      </a:r>
                    </a:p>
                  </a:txBody>
                  <a:tcPr/>
                </a:tc>
              </a:tr>
            </a:tbl>
          </a:graphicData>
        </a:graphic>
      </p:graphicFrame>
      <p:sp>
        <p:nvSpPr>
          <p:cNvPr id="6" name="TextBox 5"/>
          <p:cNvSpPr txBox="1"/>
          <p:nvPr/>
        </p:nvSpPr>
        <p:spPr>
          <a:xfrm>
            <a:off x="457200" y="3291840"/>
            <a:ext cx="11277295" cy="2286000"/>
          </a:xfrm>
          <a:prstGeom prst="rect">
            <a:avLst/>
          </a:prstGeom>
          <a:noFill/>
        </p:spPr>
        <p:txBody>
          <a:bodyPr wrap="square">
            <a:spAutoFit/>
          </a:bodyPr>
          <a:lstStyle/>
          <a:p>
            <a:pPr>
              <a:spcAft>
                <a:spcPts val="600"/>
              </a:spcAft>
            </a:pPr>
            <a:r>
              <a:rPr sz="1600" b="1">
                <a:solidFill>
                  <a:srgbClr val="2C3E50"/>
                </a:solidFill>
                <a:latin typeface="Arial"/>
              </a:rPr>
              <a:t>Goal:</a:t>
            </a:r>
            <a:r>
              <a:rPr sz="1600">
                <a:solidFill>
                  <a:srgbClr val="2C3E50"/>
                </a:solidFill>
                <a:latin typeface="Arial"/>
              </a:rPr>
              <a:t> Triangulate multiple data sources for better decision-making.</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457200"/>
          </a:xfrm>
          <a:prstGeom prst="rect">
            <a:avLst/>
          </a:prstGeom>
          <a:noFill/>
        </p:spPr>
        <p:txBody>
          <a:bodyPr wrap="square"/>
          <a:lstStyle/>
          <a:p>
            <a:pPr algn="l">
              <a:defRPr sz="2600" b="1" i="0">
                <a:solidFill>
                  <a:srgbClr val="21568C"/>
                </a:solidFill>
                <a:latin typeface="Arial"/>
              </a:defRPr>
            </a:pPr>
            <a:r>
              <a:t>Next steps for HFA implementation</a:t>
            </a:r>
          </a:p>
        </p:txBody>
      </p:sp>
      <p:sp>
        <p:nvSpPr>
          <p:cNvPr id="3" name="Rectangle 2"/>
          <p:cNvSpPr/>
          <p:nvPr/>
        </p:nvSpPr>
        <p:spPr>
          <a:xfrm>
            <a:off x="457200" y="960120"/>
            <a:ext cx="2743200" cy="18288"/>
          </a:xfrm>
          <a:prstGeom prst="rect">
            <a:avLst/>
          </a:prstGeom>
          <a:solidFill>
            <a:srgbClr val="1A9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400"/>
              </a:spcAft>
            </a:pPr>
            <a:r>
              <a:rPr sz="1600">
                <a:solidFill>
                  <a:srgbClr val="2C3E50"/>
                </a:solidFill>
                <a:latin typeface="Arial"/>
              </a:rPr>
              <a:t>• </a:t>
            </a:r>
            <a:r>
              <a:rPr sz="1600" b="1">
                <a:solidFill>
                  <a:srgbClr val="2C3E50"/>
                </a:solidFill>
                <a:latin typeface="Arial"/>
              </a:rPr>
              <a:t>Finalize adapted questionnaire</a:t>
            </a:r>
          </a:p>
          <a:p>
            <a:pPr>
              <a:spcAft>
                <a:spcPts val="400"/>
              </a:spcAft>
            </a:pPr>
            <a:r>
              <a:rPr sz="1600">
                <a:solidFill>
                  <a:srgbClr val="2C3E50"/>
                </a:solidFill>
                <a:latin typeface="Arial"/>
              </a:rPr>
              <a:t>• </a:t>
            </a:r>
            <a:r>
              <a:rPr sz="1600" b="1">
                <a:solidFill>
                  <a:srgbClr val="2C3E50"/>
                </a:solidFill>
                <a:latin typeface="Arial"/>
              </a:rPr>
              <a:t>Train enumerators</a:t>
            </a:r>
          </a:p>
          <a:p>
            <a:pPr>
              <a:spcAft>
                <a:spcPts val="400"/>
              </a:spcAft>
            </a:pPr>
            <a:r>
              <a:rPr sz="1600">
                <a:solidFill>
                  <a:srgbClr val="2C3E50"/>
                </a:solidFill>
                <a:latin typeface="Arial"/>
              </a:rPr>
              <a:t>• </a:t>
            </a:r>
            <a:r>
              <a:rPr sz="1600" b="1">
                <a:solidFill>
                  <a:srgbClr val="2C3E50"/>
                </a:solidFill>
                <a:latin typeface="Arial"/>
              </a:rPr>
              <a:t>Establish call schedule</a:t>
            </a:r>
          </a:p>
          <a:p>
            <a:pPr>
              <a:spcAft>
                <a:spcPts val="400"/>
              </a:spcAft>
            </a:pPr>
            <a:r>
              <a:rPr sz="1600">
                <a:solidFill>
                  <a:srgbClr val="2C3E50"/>
                </a:solidFill>
                <a:latin typeface="Arial"/>
              </a:rPr>
              <a:t>• </a:t>
            </a:r>
            <a:r>
              <a:rPr sz="1600" b="1">
                <a:solidFill>
                  <a:srgbClr val="2C3E50"/>
                </a:solidFill>
                <a:latin typeface="Arial"/>
              </a:rPr>
              <a:t>Conduct pilot round</a:t>
            </a:r>
          </a:p>
          <a:p>
            <a:pPr>
              <a:spcAft>
                <a:spcPts val="400"/>
              </a:spcAft>
            </a:pPr>
            <a:r>
              <a:rPr sz="1600">
                <a:solidFill>
                  <a:srgbClr val="2C3E50"/>
                </a:solidFill>
                <a:latin typeface="Arial"/>
              </a:rPr>
              <a:t>• </a:t>
            </a:r>
            <a:r>
              <a:rPr sz="1600" b="1">
                <a:solidFill>
                  <a:srgbClr val="2C3E50"/>
                </a:solidFill>
                <a:latin typeface="Arial"/>
              </a:rPr>
              <a:t>Analyze and link to HMIS</a:t>
            </a:r>
          </a:p>
          <a:p>
            <a:pPr>
              <a:spcAft>
                <a:spcPts val="400"/>
              </a:spcAft>
            </a:pPr>
            <a:r>
              <a:rPr sz="1600">
                <a:solidFill>
                  <a:srgbClr val="2C3E50"/>
                </a:solidFill>
                <a:latin typeface="Arial"/>
              </a:rPr>
              <a:t>• </a:t>
            </a:r>
            <a:r>
              <a:rPr sz="1600" b="1">
                <a:solidFill>
                  <a:srgbClr val="2C3E50"/>
                </a:solidFill>
                <a:latin typeface="Arial"/>
              </a:rPr>
              <a:t>Report and use findings</a:t>
            </a:r>
          </a:p>
          <a:p>
            <a:pPr>
              <a:spcAft>
                <a:spcPts val="1000"/>
              </a:spcAft>
            </a:pPr>
            <a:r>
              <a:rPr sz="1600" b="1">
                <a:solidFill>
                  <a:srgbClr val="333333"/>
                </a:solidFill>
                <a:latin typeface="Arial"/>
              </a:rPr>
              <a:t>Key question:</a:t>
            </a:r>
            <a:r>
              <a:rPr sz="1600">
                <a:solidFill>
                  <a:srgbClr val="333333"/>
                </a:solidFill>
                <a:latin typeface="Arial"/>
              </a:rPr>
              <a:t> How will HFA results feed into your routine monitoring and decision-making processes?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Next Steps &amp; Action Planning</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Key actions to take after this working session:</a:t>
            </a:r>
          </a:p>
          <a:p>
            <a:pPr>
              <a:spcAft>
                <a:spcPts val="400"/>
              </a:spcAft>
            </a:pPr>
            <a:r>
              <a:rPr sz="1600">
                <a:solidFill>
                  <a:srgbClr val="2C3E50"/>
                </a:solidFill>
                <a:latin typeface="Arial"/>
              </a:rPr>
              <a:t>• Finalize adapted phone survey questionnaire</a:t>
            </a:r>
          </a:p>
          <a:p>
            <a:pPr>
              <a:spcAft>
                <a:spcPts val="400"/>
              </a:spcAft>
            </a:pPr>
            <a:r>
              <a:rPr sz="1600">
                <a:solidFill>
                  <a:srgbClr val="2C3E50"/>
                </a:solidFill>
                <a:latin typeface="Arial"/>
              </a:rPr>
              <a:t>• Complete first quarterly report draft</a:t>
            </a:r>
          </a:p>
          <a:p>
            <a:pPr>
              <a:spcAft>
                <a:spcPts val="400"/>
              </a:spcAft>
            </a:pPr>
            <a:r>
              <a:rPr sz="1600">
                <a:solidFill>
                  <a:srgbClr val="2C3E50"/>
                </a:solidFill>
                <a:latin typeface="Arial"/>
              </a:rPr>
              <a:t>• Train remaining MoH team on data downloader tools</a:t>
            </a:r>
          </a:p>
          <a:p>
            <a:pPr>
              <a:spcAft>
                <a:spcPts val="400"/>
              </a:spcAft>
            </a:pPr>
            <a:r>
              <a:rPr sz="1600">
                <a:solidFill>
                  <a:srgbClr val="2C3E50"/>
                </a:solidFill>
                <a:latin typeface="Arial"/>
              </a:rPr>
              <a:t>• Prepare roadmap for participation in Abuja workshop</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Quarterly Reporting Cycle</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Establish a sustainable reporting rhythm:</a:t>
            </a:r>
          </a:p>
          <a:p>
            <a:pPr>
              <a:spcAft>
                <a:spcPts val="400"/>
              </a:spcAft>
            </a:pPr>
            <a:r>
              <a:rPr sz="1600">
                <a:solidFill>
                  <a:srgbClr val="2C3E50"/>
                </a:solidFill>
                <a:latin typeface="Arial"/>
              </a:rPr>
              <a:t>• Define quarterly report timeline and responsibilities</a:t>
            </a:r>
          </a:p>
          <a:p>
            <a:pPr>
              <a:spcAft>
                <a:spcPts val="400"/>
              </a:spcAft>
            </a:pPr>
            <a:r>
              <a:rPr sz="1600">
                <a:solidFill>
                  <a:srgbClr val="2C3E50"/>
                </a:solidFill>
                <a:latin typeface="Arial"/>
              </a:rPr>
              <a:t>• Set up data extraction schedule</a:t>
            </a:r>
          </a:p>
          <a:p>
            <a:pPr>
              <a:spcAft>
                <a:spcPts val="400"/>
              </a:spcAft>
            </a:pPr>
            <a:r>
              <a:rPr sz="1600">
                <a:solidFill>
                  <a:srgbClr val="2C3E50"/>
                </a:solidFill>
                <a:latin typeface="Arial"/>
              </a:rPr>
              <a:t>• Establish review and approval process</a:t>
            </a:r>
          </a:p>
          <a:p>
            <a:pPr>
              <a:spcAft>
                <a:spcPts val="400"/>
              </a:spcAft>
            </a:pPr>
            <a:r>
              <a:rPr sz="1600">
                <a:solidFill>
                  <a:srgbClr val="2C3E50"/>
                </a:solidFill>
                <a:latin typeface="Arial"/>
              </a:rPr>
              <a:t>• Plan dissemination to stakeholders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Continued Platform Usage</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Maintain momentum with the FASTR platform:</a:t>
            </a:r>
          </a:p>
          <a:p>
            <a:pPr>
              <a:spcAft>
                <a:spcPts val="400"/>
              </a:spcAft>
            </a:pPr>
            <a:r>
              <a:rPr sz="1600">
                <a:solidFill>
                  <a:srgbClr val="2C3E50"/>
                </a:solidFill>
                <a:latin typeface="Arial"/>
              </a:rPr>
              <a:t>• Regular data updates and quality checks</a:t>
            </a:r>
          </a:p>
          <a:p>
            <a:pPr>
              <a:spcAft>
                <a:spcPts val="400"/>
              </a:spcAft>
            </a:pPr>
            <a:r>
              <a:rPr sz="1600">
                <a:solidFill>
                  <a:srgbClr val="2C3E50"/>
                </a:solidFill>
                <a:latin typeface="Arial"/>
              </a:rPr>
              <a:t>• Expanding analysis to additional indicators</a:t>
            </a:r>
          </a:p>
          <a:p>
            <a:pPr>
              <a:spcAft>
                <a:spcPts val="400"/>
              </a:spcAft>
            </a:pPr>
            <a:r>
              <a:rPr sz="1600">
                <a:solidFill>
                  <a:srgbClr val="2C3E50"/>
                </a:solidFill>
                <a:latin typeface="Arial"/>
              </a:rPr>
              <a:t>• Building capacity across MoH teams</a:t>
            </a:r>
          </a:p>
          <a:p>
            <a:pPr>
              <a:spcAft>
                <a:spcPts val="400"/>
              </a:spcAft>
            </a:pPr>
            <a:r>
              <a:rPr sz="1600">
                <a:solidFill>
                  <a:srgbClr val="2C3E50"/>
                </a:solidFill>
                <a:latin typeface="Arial"/>
              </a:rPr>
              <a:t>• Documentation of lessons learned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Workshop Closing</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Thank you for your participation!</a:t>
            </a:r>
          </a:p>
          <a:p>
            <a:pPr>
              <a:spcAft>
                <a:spcPts val="1000"/>
              </a:spcAft>
            </a:pPr>
            <a:r>
              <a:rPr sz="1600">
                <a:solidFill>
                  <a:srgbClr val="333333"/>
                </a:solidFill>
                <a:latin typeface="Arial"/>
              </a:rPr>
              <a:t>Over the past four days, we have:</a:t>
            </a:r>
          </a:p>
          <a:p>
            <a:pPr>
              <a:spcAft>
                <a:spcPts val="400"/>
              </a:spcAft>
            </a:pPr>
            <a:r>
              <a:rPr sz="1600">
                <a:solidFill>
                  <a:srgbClr val="2C3E50"/>
                </a:solidFill>
                <a:latin typeface="Arial"/>
              </a:rPr>
              <a:t>• Configured the FASTR platform for Zambia</a:t>
            </a:r>
          </a:p>
          <a:p>
            <a:pPr>
              <a:spcAft>
                <a:spcPts val="400"/>
              </a:spcAft>
            </a:pPr>
            <a:r>
              <a:rPr sz="1600">
                <a:solidFill>
                  <a:srgbClr val="2C3E50"/>
                </a:solidFill>
                <a:latin typeface="Arial"/>
              </a:rPr>
              <a:t>• Created the first quarterly RMNCAH-N report</a:t>
            </a:r>
          </a:p>
          <a:p>
            <a:pPr>
              <a:spcAft>
                <a:spcPts val="400"/>
              </a:spcAft>
            </a:pPr>
            <a:r>
              <a:rPr sz="1600">
                <a:solidFill>
                  <a:srgbClr val="2C3E50"/>
                </a:solidFill>
                <a:latin typeface="Arial"/>
              </a:rPr>
              <a:t>• Adapted the HFA questionnaire for local context</a:t>
            </a:r>
          </a:p>
          <a:p>
            <a:pPr>
              <a:spcAft>
                <a:spcPts val="400"/>
              </a:spcAft>
            </a:pPr>
            <a:r>
              <a:rPr sz="1600">
                <a:solidFill>
                  <a:srgbClr val="2C3E50"/>
                </a:solidFill>
                <a:latin typeface="Arial"/>
              </a:rPr>
              <a:t>• Built capacity for ongoing analysis and reporting</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Stay Connected</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Continue the journey:</a:t>
            </a:r>
          </a:p>
          <a:p>
            <a:pPr>
              <a:spcAft>
                <a:spcPts val="400"/>
              </a:spcAft>
            </a:pPr>
            <a:r>
              <a:rPr sz="1600">
                <a:solidFill>
                  <a:srgbClr val="2C3E50"/>
                </a:solidFill>
                <a:latin typeface="Arial"/>
              </a:rPr>
              <a:t>• Platform access and support</a:t>
            </a:r>
          </a:p>
          <a:p>
            <a:pPr>
              <a:spcAft>
                <a:spcPts val="400"/>
              </a:spcAft>
            </a:pPr>
            <a:r>
              <a:rPr sz="1600">
                <a:solidFill>
                  <a:srgbClr val="2C3E50"/>
                </a:solidFill>
                <a:latin typeface="Arial"/>
              </a:rPr>
              <a:t>• Quarterly report submissions</a:t>
            </a:r>
          </a:p>
          <a:p>
            <a:pPr>
              <a:spcAft>
                <a:spcPts val="400"/>
              </a:spcAft>
            </a:pPr>
            <a:r>
              <a:rPr sz="1600">
                <a:solidFill>
                  <a:srgbClr val="2C3E50"/>
                </a:solidFill>
                <a:latin typeface="Arial"/>
              </a:rPr>
              <a:t>• Multi-country workshop in Abuja</a:t>
            </a:r>
          </a:p>
          <a:p>
            <a:pPr>
              <a:spcAft>
                <a:spcPts val="400"/>
              </a:spcAft>
            </a:pPr>
            <a:r>
              <a:rPr sz="1600">
                <a:solidFill>
                  <a:srgbClr val="2C3E50"/>
                </a:solidFill>
                <a:latin typeface="Arial"/>
              </a:rPr>
              <a:t>• Ongoing technical assistance from GFF team</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Thank You</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11277295" cy="5212080"/>
          </a:xfrm>
          <a:prstGeom prst="rect">
            <a:avLst/>
          </a:prstGeom>
          <a:noFill/>
        </p:spPr>
        <p:txBody>
          <a:bodyPr wrap="square">
            <a:spAutoFit/>
          </a:bodyPr>
          <a:lstStyle/>
          <a:p>
            <a:pPr>
              <a:spcAft>
                <a:spcPts val="1000"/>
              </a:spcAft>
            </a:pPr>
            <a:r>
              <a:rPr sz="1600">
                <a:solidFill>
                  <a:srgbClr val="333333"/>
                </a:solidFill>
                <a:latin typeface="Arial"/>
              </a:rPr>
              <a:t>FASTR Working Session - Zambia</a:t>
            </a:r>
          </a:p>
          <a:p>
            <a:pPr>
              <a:spcAft>
                <a:spcPts val="1000"/>
              </a:spcAft>
            </a:pPr>
            <a:r>
              <a:rPr sz="1600">
                <a:solidFill>
                  <a:srgbClr val="333333"/>
                </a:solidFill>
                <a:latin typeface="Arial"/>
              </a:rPr>
              <a:t>January 27-30, 2026</a:t>
            </a:r>
          </a:p>
          <a:p>
            <a:pPr>
              <a:spcAft>
                <a:spcPts val="1000"/>
              </a:spcAft>
            </a:pPr>
            <a:r>
              <a:rPr sz="1600">
                <a:solidFill>
                  <a:srgbClr val="333333"/>
                </a:solidFill>
                <a:latin typeface="Arial"/>
              </a:rPr>
              <a:t>Lusaka</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548640"/>
          </a:xfrm>
          <a:prstGeom prst="rect">
            <a:avLst/>
          </a:prstGeom>
          <a:noFill/>
        </p:spPr>
        <p:txBody>
          <a:bodyPr wrap="square"/>
          <a:lstStyle/>
          <a:p>
            <a:pPr algn="l">
              <a:defRPr sz="3200" b="1" i="0">
                <a:solidFill>
                  <a:srgbClr val="09544F"/>
                </a:solidFill>
                <a:latin typeface="Arial"/>
              </a:defRPr>
            </a:pPr>
            <a:r>
              <a:t>Contact Information</a:t>
            </a:r>
          </a:p>
        </p:txBody>
      </p:sp>
      <p:sp>
        <p:nvSpPr>
          <p:cNvPr id="3" name="Rectangle 2"/>
          <p:cNvSpPr/>
          <p:nvPr/>
        </p:nvSpPr>
        <p:spPr>
          <a:xfrm>
            <a:off x="457200" y="1051560"/>
            <a:ext cx="3657600" cy="22860"/>
          </a:xfrm>
          <a:prstGeom prst="rect">
            <a:avLst/>
          </a:prstGeom>
          <a:solidFill>
            <a:srgbClr val="D0CB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mail.png"/>
          <p:cNvPicPr>
            <a:picLocks noChangeAspect="1"/>
          </p:cNvPicPr>
          <p:nvPr/>
        </p:nvPicPr>
        <p:blipFill>
          <a:blip r:embed="rId2"/>
          <a:stretch>
            <a:fillRect/>
          </a:stretch>
        </p:blipFill>
        <p:spPr>
          <a:xfrm>
            <a:off x="1523847" y="1371600"/>
            <a:ext cx="9144000" cy="9144000"/>
          </a:xfrm>
          <a:prstGeom prst="rect">
            <a:avLst/>
          </a:prstGeom>
        </p:spPr>
      </p:pic>
      <p:sp>
        <p:nvSpPr>
          <p:cNvPr id="5" name="TextBox 4"/>
          <p:cNvSpPr txBox="1"/>
          <p:nvPr/>
        </p:nvSpPr>
        <p:spPr>
          <a:xfrm>
            <a:off x="457200" y="5303520"/>
            <a:ext cx="11277295" cy="1371600"/>
          </a:xfrm>
          <a:prstGeom prst="rect">
            <a:avLst/>
          </a:prstGeom>
          <a:noFill/>
        </p:spPr>
        <p:txBody>
          <a:bodyPr wrap="square">
            <a:spAutoFit/>
          </a:bodyPr>
          <a:lstStyle/>
          <a:p>
            <a:pPr>
              <a:spcAft>
                <a:spcPts val="600"/>
              </a:spcAft>
            </a:pPr>
            <a:r>
              <a:rPr sz="1600" b="1">
                <a:solidFill>
                  <a:srgbClr val="333333"/>
                </a:solidFill>
                <a:latin typeface="Arial"/>
              </a:rPr>
              <a:t>FASTR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