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926080"/>
            <a:ext cx="10362895" cy="1097280"/>
          </a:xfrm>
          <a:prstGeom prst="rect">
            <a:avLst/>
          </a:prstGeom>
          <a:noFill/>
        </p:spPr>
        <p:txBody>
          <a:bodyPr wrap="square"/>
          <a:lstStyle/>
          <a:p>
            <a:pPr algn="ctr">
              <a:defRPr sz="2800" b="1" i="0">
                <a:solidFill>
                  <a:srgbClr val="FFFFFF"/>
                </a:solidFill>
                <a:latin typeface="Poppins"/>
              </a:defRPr>
            </a:pPr>
            <a:r>
              <a:t>In-Country Working Session: FASTR Implementation &amp; RMNCAH-N Service Monitoring Analysis</a:t>
            </a:r>
          </a:p>
        </p:txBody>
      </p:sp>
      <p:sp>
        <p:nvSpPr>
          <p:cNvPr id="4" name="Rectangle 3"/>
          <p:cNvSpPr/>
          <p:nvPr/>
        </p:nvSpPr>
        <p:spPr>
          <a:xfrm>
            <a:off x="2743200" y="4114800"/>
            <a:ext cx="6705295" cy="45720"/>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389120"/>
            <a:ext cx="10362895" cy="457200"/>
          </a:xfrm>
          <a:prstGeom prst="rect">
            <a:avLst/>
          </a:prstGeom>
          <a:noFill/>
        </p:spPr>
        <p:txBody>
          <a:bodyPr wrap="square"/>
          <a:lstStyle/>
          <a:p>
            <a:pPr algn="ctr">
              <a:defRPr sz="2200" b="0" i="0">
                <a:solidFill>
                  <a:srgbClr val="F0F0F0"/>
                </a:solidFill>
                <a:latin typeface="Poppins"/>
              </a:defRPr>
            </a:pPr>
            <a:r>
              <a:t>January 27-30, 2026 | Lusaka</a:t>
            </a:r>
          </a:p>
        </p:txBody>
      </p:sp>
      <p:sp>
        <p:nvSpPr>
          <p:cNvPr id="6" name="TextBox 5"/>
          <p:cNvSpPr txBox="1"/>
          <p:nvPr/>
        </p:nvSpPr>
        <p:spPr>
          <a:xfrm>
            <a:off x="914400" y="4937760"/>
            <a:ext cx="10362895" cy="365760"/>
          </a:xfrm>
          <a:prstGeom prst="rect">
            <a:avLst/>
          </a:prstGeom>
          <a:noFill/>
        </p:spPr>
        <p:txBody>
          <a:bodyPr wrap="square"/>
          <a:lstStyle/>
          <a:p>
            <a:pPr algn="ctr">
              <a:defRPr sz="1800" b="0" i="0">
                <a:solidFill>
                  <a:srgbClr val="E0E0E0"/>
                </a:solidFill>
                <a:latin typeface="Poppins"/>
              </a:defRPr>
            </a:pPr>
            <a:br/>
            <a:b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409651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gridSpan="3">
                  <a:txBody>
                    <a:bodyPr wrap="none"/>
                    <a:lstStyle/>
                    <a:p>
                      <a:pPr>
                        <a:defRPr sz="1200" b="1">
                          <a:solidFill>
                            <a:srgbClr val="09544F"/>
                          </a:solidFill>
                          <a:latin typeface="Poppins"/>
                        </a:defRPr>
                      </a:pPr>
                      <a:r>
                        <a:t>Opening Session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08:30-09:00</a:t>
                      </a:r>
                    </a:p>
                  </a:txBody>
                  <a:tcPr/>
                </a:tc>
                <a:tc>
                  <a:txBody>
                    <a:bodyPr wrap="square"/>
                    <a:lstStyle/>
                    <a:p>
                      <a:r>
                        <a:rPr sz="1200">
                          <a:solidFill>
                            <a:srgbClr val="2C3E50"/>
                          </a:solidFill>
                          <a:latin typeface="Poppins"/>
                        </a:rPr>
                        <a:t>Participant registration</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09:00-09:10</a:t>
                      </a:r>
                    </a:p>
                  </a:txBody>
                  <a:tcPr/>
                </a:tc>
                <a:tc>
                  <a:txBody>
                    <a:bodyPr wrap="square"/>
                    <a:lstStyle/>
                    <a:p>
                      <a:r>
                        <a:rPr sz="1200">
                          <a:solidFill>
                            <a:srgbClr val="2C3E50"/>
                          </a:solidFill>
                          <a:latin typeface="Poppins"/>
                        </a:rPr>
                        <a:t>Welcome and opening remarks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09:10-09:20</a:t>
                      </a:r>
                    </a:p>
                  </a:txBody>
                  <a:tcPr/>
                </a:tc>
                <a:tc>
                  <a:txBody>
                    <a:bodyPr wrap="square"/>
                    <a:lstStyle/>
                    <a:p>
                      <a:r>
                        <a:rPr sz="1200">
                          <a:solidFill>
                            <a:srgbClr val="2C3E50"/>
                          </a:solidFill>
                          <a:latin typeface="Poppins"/>
                        </a:rPr>
                        <a:t>Icebreakers/Introductions</a:t>
                      </a:r>
                    </a:p>
                  </a:txBody>
                  <a:tcPr/>
                </a:tc>
                <a:tc>
                  <a:txBody>
                    <a:bodyPr wrap="square"/>
                    <a:lstStyle/>
                    <a:p>
                      <a:r>
                        <a:rPr sz="1200">
                          <a:solidFill>
                            <a:srgbClr val="2C3E50"/>
                          </a:solidFill>
                          <a:latin typeface="Poppins"/>
                        </a:rPr>
                        <a:t>MoH team</a:t>
                      </a:r>
                    </a:p>
                  </a:txBody>
                  <a:tcPr/>
                </a:tc>
              </a:tr>
              <a:tr h="256032">
                <a:tc>
                  <a:txBody>
                    <a:bodyPr wrap="square"/>
                    <a:lstStyle/>
                    <a:p>
                      <a:r>
                        <a:rPr sz="1200">
                          <a:solidFill>
                            <a:srgbClr val="2C3E50"/>
                          </a:solidFill>
                          <a:latin typeface="Poppins"/>
                        </a:rPr>
                        <a:t>09:20-09:35</a:t>
                      </a:r>
                    </a:p>
                  </a:txBody>
                  <a:tcPr/>
                </a:tc>
                <a:tc>
                  <a:txBody>
                    <a:bodyPr wrap="square"/>
                    <a:lstStyle/>
                    <a:p>
                      <a:r>
                        <a:rPr sz="1200">
                          <a:solidFill>
                            <a:srgbClr val="2C3E50"/>
                          </a:solidFill>
                          <a:latin typeface="Poppins"/>
                        </a:rPr>
                        <a:t>Overview of agenda, workshop objectives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 Overview of the FASTR approach</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09:35-10:30</a:t>
                      </a:r>
                    </a:p>
                  </a:txBody>
                  <a:tcPr/>
                </a:tc>
                <a:tc>
                  <a:txBody>
                    <a:bodyPr wrap="square"/>
                    <a:lstStyle/>
                    <a:p>
                      <a:r>
                        <a:rPr sz="1200">
                          <a:solidFill>
                            <a:srgbClr val="2C3E50"/>
                          </a:solidFill>
                          <a:latin typeface="Poppins"/>
                        </a:rPr>
                        <a:t>Overview: FASTR Approaches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2: HMIS data extraction</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10:30-11:30</a:t>
                      </a:r>
                    </a:p>
                  </a:txBody>
                  <a:tcPr/>
                </a:tc>
                <a:tc>
                  <a:txBody>
                    <a:bodyPr wrap="square"/>
                    <a:lstStyle/>
                    <a:p>
                      <a:r>
                        <a:rPr sz="1200">
                          <a:solidFill>
                            <a:srgbClr val="2C3E50"/>
                          </a:solidFill>
                          <a:latin typeface="Poppins"/>
                        </a:rPr>
                        <a:t>Data extraction: Rationale and methods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3: Introduction to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11:30-12:30</a:t>
                      </a:r>
                    </a:p>
                  </a:txBody>
                  <a:tcPr/>
                </a:tc>
                <a:tc>
                  <a:txBody>
                    <a:bodyPr wrap="square"/>
                    <a:lstStyle/>
                    <a:p>
                      <a:r>
                        <a:rPr sz="1200">
                          <a:solidFill>
                            <a:srgbClr val="2C3E50"/>
                          </a:solidFill>
                          <a:latin typeface="Poppins"/>
                        </a:rPr>
                        <a:t>Introduction to the FASTR analytics platform</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a:txBody>
                    <a:bodyPr wrap="square"/>
                    <a:lstStyle/>
                    <a:p>
                      <a:r>
                        <a:rPr sz="1200">
                          <a:solidFill>
                            <a:srgbClr val="2C3E50"/>
                          </a:solidFill>
                          <a:latin typeface="Poppins"/>
                        </a:rPr>
                        <a:t>14:00-14:30</a:t>
                      </a:r>
                    </a:p>
                  </a:txBody>
                  <a:tcPr/>
                </a:tc>
                <a:tc>
                  <a:txBody>
                    <a:bodyPr wrap="square"/>
                    <a:lstStyle/>
                    <a:p>
                      <a:r>
                        <a:rPr sz="1200">
                          <a:solidFill>
                            <a:srgbClr val="2C3E50"/>
                          </a:solidFill>
                          <a:latin typeface="Poppins"/>
                        </a:rPr>
                        <a:t>Getting participants into the platform</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4: Configuring the FASTR analytics platform</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Configuring the analysis platform</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2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5: Overview of FASTR methods and analytical outputs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Data quality, service utilization, coverage</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6: Creating a project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10:15-11:15</a:t>
                      </a:r>
                    </a:p>
                  </a:txBody>
                  <a:tcPr/>
                </a:tc>
                <a:tc>
                  <a:txBody>
                    <a:bodyPr wrap="square"/>
                    <a:lstStyle/>
                    <a:p>
                      <a:r>
                        <a:rPr sz="1200">
                          <a:solidFill>
                            <a:srgbClr val="2C3E50"/>
                          </a:solidFill>
                          <a:latin typeface="Poppins"/>
                        </a:rPr>
                        <a:t>Project creation and settings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7: Creating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11:15-12:30</a:t>
                      </a:r>
                    </a:p>
                  </a:txBody>
                  <a:tcPr/>
                </a:tc>
                <a:tc>
                  <a:txBody>
                    <a:bodyPr wrap="square"/>
                    <a:lstStyle/>
                    <a:p>
                      <a:r>
                        <a:rPr sz="1200">
                          <a:solidFill>
                            <a:srgbClr val="2C3E50"/>
                          </a:solidFill>
                          <a:latin typeface="Poppins"/>
                        </a:rPr>
                        <a:t>Creating and editing visualizations</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8: Creating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14:30-16:30</a:t>
                      </a:r>
                    </a:p>
                  </a:txBody>
                  <a:tcPr/>
                </a:tc>
                <a:tc>
                  <a:txBody>
                    <a:bodyPr wrap="square"/>
                    <a:lstStyle/>
                    <a:p>
                      <a:r>
                        <a:rPr sz="1200">
                          <a:solidFill>
                            <a:srgbClr val="2C3E50"/>
                          </a:solidFill>
                          <a:latin typeface="Poppins"/>
                        </a:rPr>
                        <a:t>Practice creating and editing reports</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2816352"/>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3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8: Interpretation of visualizations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Approaches to support interpretation</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9: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Creating short and long reports with country context</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9 (cont'd): Creating a Q4 2025 report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report creation with country context</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10: Presenting reports</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Present reports, group feedback</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Agenda</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0789920" cy="3840480"/>
        </p:xfrm>
        <a:graphic>
          <a:graphicData uri="http://schemas.openxmlformats.org/drawingml/2006/table">
            <a:tbl>
              <a:tblPr firstRow="1" bandRow="1">
                <a:tableStyleId>{5C22544A-7EE6-4342-B048-85BDC9FD1C3A}</a:tableStyleId>
              </a:tblPr>
              <a:tblGrid>
                <a:gridCol w="1828800"/>
                <a:gridCol w="6949440"/>
                <a:gridCol w="2011680"/>
              </a:tblGrid>
              <a:tr h="256032">
                <a:tc>
                  <a:txBody>
                    <a:bodyPr wrap="square"/>
                    <a:lstStyle/>
                    <a:p>
                      <a:pPr>
                        <a:defRPr sz="1200" b="1">
                          <a:solidFill>
                            <a:srgbClr val="21568C"/>
                          </a:solidFill>
                          <a:latin typeface="Poppins"/>
                        </a:defRPr>
                      </a:pPr>
                      <a:r>
                        <a:t>Time</a:t>
                      </a:r>
                    </a:p>
                  </a:txBody>
                  <a:tcPr>
                    <a:solidFill>
                      <a:srgbClr val="CAE6E9"/>
                    </a:solidFill>
                  </a:tcPr>
                </a:tc>
                <a:tc>
                  <a:txBody>
                    <a:bodyPr wrap="square"/>
                    <a:lstStyle/>
                    <a:p>
                      <a:pPr>
                        <a:defRPr sz="1200" b="1">
                          <a:solidFill>
                            <a:srgbClr val="21568C"/>
                          </a:solidFill>
                          <a:latin typeface="Poppins"/>
                        </a:defRPr>
                      </a:pPr>
                      <a:r>
                        <a:t>Agenda</a:t>
                      </a:r>
                    </a:p>
                  </a:txBody>
                  <a:tcPr>
                    <a:solidFill>
                      <a:srgbClr val="CAE6E9"/>
                    </a:solidFill>
                  </a:tcPr>
                </a:tc>
                <a:tc>
                  <a:txBody>
                    <a:bodyPr wrap="square"/>
                    <a:lstStyle/>
                    <a:p>
                      <a:pPr>
                        <a:defRPr sz="1200" b="1">
                          <a:solidFill>
                            <a:srgbClr val="21568C"/>
                          </a:solidFill>
                          <a:latin typeface="Poppins"/>
                        </a:defRPr>
                      </a:pPr>
                      <a:r>
                        <a:t>Facilitator/Presenter</a:t>
                      </a:r>
                    </a:p>
                  </a:txBody>
                  <a:tcPr>
                    <a:solidFill>
                      <a:srgbClr val="CAE6E9"/>
                    </a:solidFill>
                  </a:tcPr>
                </a:tc>
              </a:tr>
              <a:tr h="256032">
                <a:tc>
                  <a:txBody>
                    <a:bodyPr wrap="square"/>
                    <a:lstStyle/>
                    <a:p>
                      <a:r>
                        <a:rPr sz="1200">
                          <a:solidFill>
                            <a:srgbClr val="2C3E50"/>
                          </a:solidFill>
                          <a:latin typeface="Poppins"/>
                        </a:rPr>
                        <a:t>09:00-09:15</a:t>
                      </a:r>
                    </a:p>
                  </a:txBody>
                  <a:tcPr/>
                </a:tc>
                <a:tc>
                  <a:txBody>
                    <a:bodyPr wrap="square"/>
                    <a:lstStyle/>
                    <a:p>
                      <a:r>
                        <a:rPr sz="1200">
                          <a:solidFill>
                            <a:srgbClr val="2C3E50"/>
                          </a:solidFill>
                          <a:latin typeface="Poppins"/>
                        </a:rPr>
                        <a:t>Overview of Day 4 agenda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12: Overview of FASTR HFA phone survey</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09:15-10:15</a:t>
                      </a:r>
                    </a:p>
                  </a:txBody>
                  <a:tcPr/>
                </a:tc>
                <a:tc>
                  <a:txBody>
                    <a:bodyPr wrap="square"/>
                    <a:lstStyle/>
                    <a:p>
                      <a:r>
                        <a:rPr sz="1200">
                          <a:solidFill>
                            <a:srgbClr val="2C3E50"/>
                          </a:solidFill>
                          <a:latin typeface="Poppins"/>
                        </a:rPr>
                        <a:t>HFA overview and questionnaire adaptation guidelines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13: Questionnaire adaptation to the Zambian context</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10:15-12:30</a:t>
                      </a:r>
                    </a:p>
                  </a:txBody>
                  <a:tcPr/>
                </a:tc>
                <a:tc>
                  <a:txBody>
                    <a:bodyPr wrap="square"/>
                    <a:lstStyle/>
                    <a:p>
                      <a:r>
                        <a:rPr sz="1200">
                          <a:solidFill>
                            <a:srgbClr val="2C3E50"/>
                          </a:solidFill>
                          <a:latin typeface="Poppins"/>
                        </a:rPr>
                        <a:t>Review questionnaire + hands-on adaptation</a:t>
                      </a:r>
                    </a:p>
                  </a:txBody>
                  <a:tcPr/>
                </a:tc>
                <a:tc>
                  <a:txBody>
                    <a:bodyPr wrap="square"/>
                    <a:lstStyle/>
                    <a:p>
                      <a:r>
                        <a:rPr sz="1200">
                          <a:solidFill>
                            <a:srgbClr val="2C3E50"/>
                          </a:solidFill>
                          <a:latin typeface="Poppins"/>
                        </a:rPr>
                        <a:t>GFF FASTR team</a:t>
                      </a:r>
                    </a:p>
                  </a:txBody>
                  <a:tcPr/>
                </a:tc>
              </a:tr>
              <a:tr h="256032">
                <a:tc>
                  <a:txBody>
                    <a:bodyPr wrap="square"/>
                    <a:lstStyle/>
                    <a:p>
                      <a:r>
                        <a:rPr sz="1200">
                          <a:solidFill>
                            <a:srgbClr val="2C3E50"/>
                          </a:solidFill>
                          <a:latin typeface="Poppins"/>
                        </a:rPr>
                        <a:t>12:30-14:00</a:t>
                      </a:r>
                    </a:p>
                  </a:txBody>
                  <a:tcPr/>
                </a:tc>
                <a:tc>
                  <a:txBody>
                    <a:bodyPr wrap="square"/>
                    <a:lstStyle/>
                    <a:p>
                      <a:r>
                        <a:rPr sz="1200" i="1">
                          <a:solidFill>
                            <a:srgbClr val="1F9A9C"/>
                          </a:solidFill>
                          <a:latin typeface="Poppins"/>
                        </a:rPr>
                        <a:t>Lunch Break</a:t>
                      </a:r>
                    </a:p>
                  </a:txBody>
                  <a:tcPr/>
                </a:tc>
                <a:tc>
                  <a:txBody>
                    <a:bodyPr wrap="square"/>
                    <a:lstStyle/>
                    <a:p/>
                  </a:txBody>
                  <a:tcPr/>
                </a:tc>
              </a:tr>
              <a:tr h="256032">
                <a:tc gridSpan="3">
                  <a:txBody>
                    <a:bodyPr wrap="none"/>
                    <a:lstStyle/>
                    <a:p>
                      <a:pPr>
                        <a:defRPr sz="1200" b="1">
                          <a:solidFill>
                            <a:srgbClr val="09544F"/>
                          </a:solidFill>
                          <a:latin typeface="Poppins"/>
                        </a:defRPr>
                      </a:pPr>
                      <a:r>
                        <a:t>Session 14: Questionnaire adaptation (cont'd)</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14:00-15:00</a:t>
                      </a:r>
                    </a:p>
                  </a:txBody>
                  <a:tcPr/>
                </a:tc>
                <a:tc>
                  <a:txBody>
                    <a:bodyPr wrap="square"/>
                    <a:lstStyle/>
                    <a:p>
                      <a:r>
                        <a:rPr sz="1200">
                          <a:solidFill>
                            <a:srgbClr val="2C3E50"/>
                          </a:solidFill>
                          <a:latin typeface="Poppins"/>
                        </a:rPr>
                        <a:t>Continue questionnaire adaptation (in groups)</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15: Discussion: HFA adapted questionnaire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14:30-15:30</a:t>
                      </a:r>
                    </a:p>
                  </a:txBody>
                  <a:tcPr/>
                </a:tc>
                <a:tc>
                  <a:txBody>
                    <a:bodyPr wrap="square"/>
                    <a:lstStyle/>
                    <a:p>
                      <a:r>
                        <a:rPr sz="1200">
                          <a:solidFill>
                            <a:srgbClr val="2C3E50"/>
                          </a:solidFill>
                          <a:latin typeface="Poppins"/>
                        </a:rPr>
                        <a:t>Discuss adapted questionnaire in plenary</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16: Discussion: HFA priorities and data use</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15:30-16:30</a:t>
                      </a:r>
                    </a:p>
                  </a:txBody>
                  <a:tcPr/>
                </a:tc>
                <a:tc>
                  <a:txBody>
                    <a:bodyPr wrap="square"/>
                    <a:lstStyle/>
                    <a:p>
                      <a:r>
                        <a:rPr sz="1200">
                          <a:solidFill>
                            <a:srgbClr val="2C3E50"/>
                          </a:solidFill>
                          <a:latin typeface="Poppins"/>
                        </a:rPr>
                        <a:t>HFA priorities and data use case in Zambia</a:t>
                      </a:r>
                    </a:p>
                  </a:txBody>
                  <a:tcPr/>
                </a:tc>
                <a:tc>
                  <a:txBody>
                    <a:bodyPr wrap="square"/>
                    <a:lstStyle/>
                    <a:p>
                      <a:r>
                        <a:rPr sz="1200">
                          <a:solidFill>
                            <a:srgbClr val="2C3E50"/>
                          </a:solidFill>
                          <a:latin typeface="Poppins"/>
                        </a:rPr>
                        <a:t>GFF FASTR team</a:t>
                      </a:r>
                    </a:p>
                  </a:txBody>
                  <a:tcPr/>
                </a:tc>
              </a:tr>
              <a:tr h="256032">
                <a:tc gridSpan="3">
                  <a:txBody>
                    <a:bodyPr wrap="none"/>
                    <a:lstStyle/>
                    <a:p>
                      <a:pPr>
                        <a:defRPr sz="1200" b="1">
                          <a:solidFill>
                            <a:srgbClr val="09544F"/>
                          </a:solidFill>
                          <a:latin typeface="Poppins"/>
                        </a:defRPr>
                      </a:pPr>
                      <a:r>
                        <a:t>Session 17: Action planning and wrap-up</a:t>
                      </a:r>
                    </a:p>
                  </a:txBody>
                  <a:tcPr>
                    <a:solidFill>
                      <a:srgbClr val="E8F4F3"/>
                    </a:solidFill>
                  </a:tcPr>
                </a:tc>
                <a:tc hMerge="1">
                  <a:txBody>
                    <a:bodyPr/>
                    <a:lstStyle/>
                    <a:p/>
                  </a:txBody>
                  <a:tcPr/>
                </a:tc>
                <a:tc hMerge="1">
                  <a:txBody>
                    <a:bodyPr/>
                    <a:lstStyle/>
                    <a:p/>
                  </a:txBody>
                  <a:tcPr/>
                </a:tc>
              </a:tr>
              <a:tr h="256032">
                <a:tc>
                  <a:txBody>
                    <a:bodyPr wrap="square"/>
                    <a:lstStyle/>
                    <a:p>
                      <a:r>
                        <a:rPr sz="1200">
                          <a:solidFill>
                            <a:srgbClr val="2C3E50"/>
                          </a:solidFill>
                          <a:latin typeface="Poppins"/>
                        </a:rPr>
                        <a:t>16:30-17:00</a:t>
                      </a:r>
                    </a:p>
                  </a:txBody>
                  <a:tcPr/>
                </a:tc>
                <a:tc>
                  <a:txBody>
                    <a:bodyPr wrap="square"/>
                    <a:lstStyle/>
                    <a:p>
                      <a:r>
                        <a:rPr sz="1200">
                          <a:solidFill>
                            <a:srgbClr val="2C3E50"/>
                          </a:solidFill>
                          <a:latin typeface="Poppins"/>
                        </a:rPr>
                        <a:t>Key messages and wrap-up</a:t>
                      </a:r>
                    </a:p>
                  </a:txBody>
                  <a:tcPr/>
                </a:tc>
                <a:tc>
                  <a:txBody>
                    <a:bodyPr wrap="square"/>
                    <a:lstStyle/>
                    <a:p>
                      <a:r>
                        <a:rPr sz="1200">
                          <a:solidFill>
                            <a:srgbClr val="2C3E50"/>
                          </a:solidFill>
                          <a:latin typeface="Poppins"/>
                        </a:rPr>
                        <a:t>GFF FASTR team</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Objectives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Prepare MoH for participation in the multi-country workshop</a:t>
            </a:r>
          </a:p>
          <a:p>
            <a:pPr>
              <a:spcAft>
                <a:spcPts val="800"/>
              </a:spcAft>
            </a:pPr>
            <a:r>
              <a:rPr sz="1800">
                <a:solidFill>
                  <a:srgbClr val="D0CB17"/>
                </a:solidFill>
                <a:latin typeface="Poppins"/>
              </a:rPr>
              <a:t>• </a:t>
            </a:r>
            <a:r>
              <a:rPr sz="1800">
                <a:solidFill>
                  <a:srgbClr val="2C3E50"/>
                </a:solidFill>
                <a:latin typeface="Poppins"/>
              </a:rPr>
              <a:t>Strengthen capacity for disruption analysis and data extraction</a:t>
            </a:r>
          </a:p>
          <a:p>
            <a:pPr>
              <a:spcAft>
                <a:spcPts val="800"/>
              </a:spcAft>
            </a:pPr>
            <a:r>
              <a:rPr sz="1800">
                <a:solidFill>
                  <a:srgbClr val="D0CB17"/>
                </a:solidFill>
                <a:latin typeface="Poppins"/>
              </a:rPr>
              <a:t>• </a:t>
            </a:r>
            <a:r>
              <a:rPr sz="1800">
                <a:solidFill>
                  <a:srgbClr val="2C3E50"/>
                </a:solidFill>
                <a:latin typeface="Poppins"/>
              </a:rPr>
              <a:t>Configure the FASTR analytics platform for Zambia</a:t>
            </a:r>
          </a:p>
          <a:p>
            <a:pPr>
              <a:spcAft>
                <a:spcPts val="800"/>
              </a:spcAft>
            </a:pPr>
            <a:r>
              <a:rPr sz="1800">
                <a:solidFill>
                  <a:srgbClr val="D0CB17"/>
                </a:solidFill>
                <a:latin typeface="Poppins"/>
              </a:rPr>
              <a:t>• </a:t>
            </a:r>
            <a:r>
              <a:rPr sz="1800">
                <a:solidFill>
                  <a:srgbClr val="2C3E50"/>
                </a:solidFill>
                <a:latin typeface="Poppins"/>
              </a:rPr>
              <a:t>Produce the first quarterly report</a:t>
            </a:r>
          </a:p>
          <a:p>
            <a:pPr>
              <a:spcAft>
                <a:spcPts val="800"/>
              </a:spcAft>
            </a:pPr>
            <a:r>
              <a:rPr sz="1800">
                <a:solidFill>
                  <a:srgbClr val="D0CB17"/>
                </a:solidFill>
                <a:latin typeface="Poppins"/>
              </a:rPr>
              <a:t>• </a:t>
            </a:r>
            <a:r>
              <a:rPr sz="1800">
                <a:solidFill>
                  <a:srgbClr val="2C3E50"/>
                </a:solidFill>
                <a:latin typeface="Poppins"/>
              </a:rPr>
              <a:t>Adapt the phone survey questionnaire to the Zambian context</a:t>
            </a:r>
          </a:p>
          <a:p>
            <a:pPr>
              <a:spcAft>
                <a:spcPts val="800"/>
              </a:spcAft>
            </a:pPr>
            <a:r>
              <a:rPr sz="1800">
                <a:solidFill>
                  <a:srgbClr val="D0CB17"/>
                </a:solidFill>
                <a:latin typeface="Poppins"/>
              </a:rPr>
              <a:t>• </a:t>
            </a:r>
            <a:r>
              <a:rPr sz="1800">
                <a:solidFill>
                  <a:srgbClr val="2C3E50"/>
                </a:solidFill>
                <a:latin typeface="Poppins"/>
              </a:rPr>
              <a:t>Use data downloader tools for DHIS2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Scope of Work</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Disruption Analysis Activities</a:t>
            </a:r>
          </a:p>
          <a:p>
            <a:pPr>
              <a:spcAft>
                <a:spcPts val="800"/>
              </a:spcAft>
            </a:pPr>
            <a:r>
              <a:rPr sz="1800">
                <a:solidFill>
                  <a:srgbClr val="D0CB17"/>
                </a:solidFill>
                <a:latin typeface="Poppins"/>
              </a:rPr>
              <a:t>• </a:t>
            </a:r>
            <a:r>
              <a:rPr sz="1800">
                <a:solidFill>
                  <a:srgbClr val="2C3E50"/>
                </a:solidFill>
                <a:latin typeface="Poppins"/>
              </a:rPr>
              <a:t>Data extraction and configuration of analytics platform</a:t>
            </a:r>
          </a:p>
          <a:p>
            <a:pPr>
              <a:spcAft>
                <a:spcPts val="800"/>
              </a:spcAft>
            </a:pPr>
            <a:r>
              <a:rPr sz="1800">
                <a:solidFill>
                  <a:srgbClr val="D0CB17"/>
                </a:solidFill>
                <a:latin typeface="Poppins"/>
              </a:rPr>
              <a:t>• </a:t>
            </a:r>
            <a:r>
              <a:rPr sz="1800">
                <a:solidFill>
                  <a:srgbClr val="2C3E50"/>
                </a:solidFill>
                <a:latin typeface="Poppins"/>
              </a:rPr>
              <a:t>Produce first quarterly report</a:t>
            </a:r>
          </a:p>
          <a:p>
            <a:pPr>
              <a:spcAft>
                <a:spcPts val="800"/>
              </a:spcAft>
            </a:pPr>
            <a:r>
              <a:rPr sz="1800">
                <a:solidFill>
                  <a:srgbClr val="D0CB17"/>
                </a:solidFill>
                <a:latin typeface="Poppins"/>
              </a:rPr>
              <a:t>• </a:t>
            </a:r>
            <a:r>
              <a:rPr sz="1800">
                <a:solidFill>
                  <a:srgbClr val="2C3E50"/>
                </a:solidFill>
                <a:latin typeface="Poppins"/>
              </a:rPr>
              <a:t>Review results and contextualize findings (with relevant program teams)</a:t>
            </a:r>
          </a:p>
          <a:p>
            <a:pPr>
              <a:spcBef>
                <a:spcPts val="800"/>
              </a:spcBef>
              <a:spcAft>
                <a:spcPts val="1000"/>
              </a:spcAft>
              <a:defRPr sz="2200" b="1" i="0">
                <a:solidFill>
                  <a:srgbClr val="BD5091"/>
                </a:solidFill>
                <a:latin typeface="Poppins"/>
              </a:defRPr>
            </a:pPr>
            <a:r>
              <a:t>Phone Survey Activities</a:t>
            </a:r>
          </a:p>
          <a:p>
            <a:pPr>
              <a:spcAft>
                <a:spcPts val="800"/>
              </a:spcAft>
            </a:pPr>
            <a:r>
              <a:rPr sz="1800">
                <a:solidFill>
                  <a:srgbClr val="D0CB17"/>
                </a:solidFill>
                <a:latin typeface="Poppins"/>
              </a:rPr>
              <a:t>• </a:t>
            </a:r>
            <a:r>
              <a:rPr sz="1800">
                <a:solidFill>
                  <a:srgbClr val="2C3E50"/>
                </a:solidFill>
                <a:latin typeface="Poppins"/>
              </a:rPr>
              <a:t>Adaptation of questionnaire (with program input)</a:t>
            </a:r>
          </a:p>
          <a:p>
            <a:pPr>
              <a:spcBef>
                <a:spcPts val="800"/>
              </a:spcBef>
              <a:spcAft>
                <a:spcPts val="1000"/>
              </a:spcAft>
              <a:defRPr sz="2200" b="1" i="0">
                <a:solidFill>
                  <a:srgbClr val="BD5091"/>
                </a:solidFill>
                <a:latin typeface="Poppins"/>
              </a:defRPr>
            </a:pPr>
            <a:r>
              <a:t>Capacity Building</a:t>
            </a:r>
          </a:p>
          <a:p>
            <a:pPr>
              <a:spcAft>
                <a:spcPts val="800"/>
              </a:spcAft>
            </a:pPr>
            <a:r>
              <a:rPr sz="1800">
                <a:solidFill>
                  <a:srgbClr val="D0CB17"/>
                </a:solidFill>
                <a:latin typeface="Poppins"/>
              </a:rPr>
              <a:t>• </a:t>
            </a:r>
            <a:r>
              <a:rPr sz="1800">
                <a:solidFill>
                  <a:srgbClr val="2C3E50"/>
                </a:solidFill>
                <a:latin typeface="Poppins"/>
              </a:rPr>
              <a:t>Training on data downloader for all with DHIS2 access</a:t>
            </a:r>
          </a:p>
          <a:p>
            <a:pPr>
              <a:spcAft>
                <a:spcPts val="800"/>
              </a:spcAft>
            </a:pPr>
            <a:r>
              <a:rPr sz="1800">
                <a:solidFill>
                  <a:srgbClr val="D0CB17"/>
                </a:solidFill>
                <a:latin typeface="Poppins"/>
              </a:rPr>
              <a:t>• </a:t>
            </a:r>
            <a:r>
              <a:rPr sz="1800">
                <a:solidFill>
                  <a:srgbClr val="2C3E50"/>
                </a:solidFill>
                <a:latin typeface="Poppins"/>
              </a:rPr>
              <a:t>Hybrid format: face-to-face and online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Expected Outputs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Adapted phone survey questionnaire</a:t>
            </a:r>
          </a:p>
          <a:p>
            <a:pPr>
              <a:spcAft>
                <a:spcPts val="800"/>
              </a:spcAft>
            </a:pPr>
            <a:r>
              <a:rPr sz="1800">
                <a:solidFill>
                  <a:srgbClr val="D0CB17"/>
                </a:solidFill>
                <a:latin typeface="Poppins"/>
              </a:rPr>
              <a:t>• </a:t>
            </a:r>
            <a:r>
              <a:rPr sz="1800">
                <a:solidFill>
                  <a:srgbClr val="2C3E50"/>
                </a:solidFill>
                <a:latin typeface="Poppins"/>
              </a:rPr>
              <a:t>First quarterly report draft</a:t>
            </a:r>
          </a:p>
          <a:p>
            <a:pPr>
              <a:spcAft>
                <a:spcPts val="800"/>
              </a:spcAft>
            </a:pPr>
            <a:r>
              <a:rPr sz="1800">
                <a:solidFill>
                  <a:srgbClr val="D0CB17"/>
                </a:solidFill>
                <a:latin typeface="Poppins"/>
              </a:rPr>
              <a:t>• </a:t>
            </a:r>
            <a:r>
              <a:rPr sz="1800">
                <a:solidFill>
                  <a:srgbClr val="2C3E50"/>
                </a:solidFill>
                <a:latin typeface="Poppins"/>
              </a:rPr>
              <a:t>Trained MoH team on data downloader tools</a:t>
            </a:r>
          </a:p>
          <a:p>
            <a:pPr>
              <a:spcAft>
                <a:spcPts val="800"/>
              </a:spcAft>
            </a:pPr>
            <a:r>
              <a:rPr sz="1800">
                <a:solidFill>
                  <a:srgbClr val="D0CB17"/>
                </a:solidFill>
                <a:latin typeface="Poppins"/>
              </a:rPr>
              <a:t>• </a:t>
            </a:r>
            <a:r>
              <a:rPr sz="1800">
                <a:solidFill>
                  <a:srgbClr val="2C3E50"/>
                </a:solidFill>
                <a:latin typeface="Poppins"/>
              </a:rPr>
              <a:t>Roadmap for participation in Abuja workshop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 Overview of the FASTR approach</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Introduction to FASTR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The Global Financing Facility (GFF) supports country-led efforts to strengthen the use of timely data for decision-making, with the goal of improving primary healthcare (PHC) performance and RMNCAH-N outcomes.</a:t>
            </a:r>
          </a:p>
          <a:p>
            <a:pPr>
              <a:spcAft>
                <a:spcPts val="1200"/>
              </a:spcAft>
            </a:pPr>
            <a:r>
              <a:rPr sz="1800" b="1">
                <a:solidFill>
                  <a:srgbClr val="21568C"/>
                </a:solidFill>
                <a:latin typeface="Poppins"/>
              </a:rPr>
              <a:t>Frequent Assessments and Health System Tools for Resilience (FASTR)</a:t>
            </a:r>
            <a:r>
              <a:rPr sz="1800">
                <a:solidFill>
                  <a:srgbClr val="333333"/>
                </a:solidFill>
                <a:latin typeface="Poppins"/>
              </a:rPr>
              <a:t> is the GFF's rapid-cycle analytics framework for monitoring health system performance using high-frequency data.</a:t>
            </a:r>
          </a:p>
          <a:p>
            <a:pPr>
              <a:spcAft>
                <a:spcPts val="1200"/>
              </a:spcAft>
            </a:pPr>
            <a:r>
              <a:rPr sz="1800">
                <a:solidFill>
                  <a:srgbClr val="333333"/>
                </a:solidFill>
                <a:latin typeface="Poppins"/>
              </a:rPr>
              <a:t>FASTR brings together four complementary technical approaches:</a:t>
            </a:r>
          </a:p>
          <a:p>
            <a:pPr>
              <a:spcAft>
                <a:spcPts val="800"/>
              </a:spcAft>
            </a:pPr>
            <a:r>
              <a:rPr sz="1800">
                <a:solidFill>
                  <a:srgbClr val="D0CB17"/>
                </a:solidFill>
                <a:latin typeface="Poppins"/>
              </a:rPr>
              <a:t>• </a:t>
            </a:r>
            <a:r>
              <a:rPr sz="1800">
                <a:solidFill>
                  <a:srgbClr val="2C3E50"/>
                </a:solidFill>
                <a:latin typeface="Poppins"/>
              </a:rPr>
              <a:t>Routine HMIS data analysis</a:t>
            </a:r>
          </a:p>
          <a:p>
            <a:pPr>
              <a:spcAft>
                <a:spcPts val="800"/>
              </a:spcAft>
            </a:pPr>
            <a:r>
              <a:rPr sz="1800">
                <a:solidFill>
                  <a:srgbClr val="D0CB17"/>
                </a:solidFill>
                <a:latin typeface="Poppins"/>
              </a:rPr>
              <a:t>• </a:t>
            </a:r>
            <a:r>
              <a:rPr sz="1800">
                <a:solidFill>
                  <a:srgbClr val="2C3E50"/>
                </a:solidFill>
                <a:latin typeface="Poppins"/>
              </a:rPr>
              <a:t>Health facility phone surveys</a:t>
            </a:r>
          </a:p>
          <a:p>
            <a:pPr>
              <a:spcAft>
                <a:spcPts val="800"/>
              </a:spcAft>
            </a:pPr>
            <a:r>
              <a:rPr sz="1800">
                <a:solidFill>
                  <a:srgbClr val="D0CB17"/>
                </a:solidFill>
                <a:latin typeface="Poppins"/>
              </a:rPr>
              <a:t>• </a:t>
            </a:r>
            <a:r>
              <a:rPr sz="1800">
                <a:solidFill>
                  <a:srgbClr val="2C3E50"/>
                </a:solidFill>
                <a:latin typeface="Poppins"/>
              </a:rPr>
              <a:t>High-frequency household phone surveys</a:t>
            </a:r>
          </a:p>
          <a:p>
            <a:pPr>
              <a:spcAft>
                <a:spcPts val="800"/>
              </a:spcAft>
            </a:pPr>
            <a:r>
              <a:rPr sz="1800">
                <a:solidFill>
                  <a:srgbClr val="D0CB17"/>
                </a:solidFill>
                <a:latin typeface="Poppins"/>
              </a:rPr>
              <a:t>• </a:t>
            </a:r>
            <a:r>
              <a:rPr sz="1800">
                <a:solidFill>
                  <a:srgbClr val="2C3E50"/>
                </a:solidFill>
                <a:latin typeface="Poppins"/>
              </a:rPr>
              <a:t>Follow-on, problem-driven analyses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RMNCAH-N service use monitoring</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Rapid-cycle approaches using routine HMIS data can:</a:t>
            </a:r>
          </a:p>
          <a:p>
            <a:pPr>
              <a:spcAft>
                <a:spcPts val="800"/>
              </a:spcAft>
            </a:pPr>
            <a:r>
              <a:rPr sz="1800">
                <a:solidFill>
                  <a:srgbClr val="D0CB17"/>
                </a:solidFill>
                <a:latin typeface="Poppins"/>
              </a:rPr>
              <a:t>• </a:t>
            </a:r>
            <a:r>
              <a:rPr sz="1800" b="1">
                <a:solidFill>
                  <a:srgbClr val="21568C"/>
                </a:solidFill>
                <a:latin typeface="Poppins"/>
              </a:rPr>
              <a:t>Evaluate HMIS data quality</a:t>
            </a:r>
            <a:r>
              <a:rPr sz="1800">
                <a:solidFill>
                  <a:srgbClr val="2C3E50"/>
                </a:solidFill>
                <a:latin typeface="Poppins"/>
              </a:rPr>
              <a:t> at national and sub-national levels</a:t>
            </a:r>
          </a:p>
          <a:p>
            <a:pPr>
              <a:spcAft>
                <a:spcPts val="800"/>
              </a:spcAft>
            </a:pPr>
            <a:r>
              <a:rPr sz="1800">
                <a:solidFill>
                  <a:srgbClr val="D0CB17"/>
                </a:solidFill>
                <a:latin typeface="Poppins"/>
              </a:rPr>
              <a:t>• </a:t>
            </a:r>
            <a:r>
              <a:rPr sz="1800" b="1">
                <a:solidFill>
                  <a:srgbClr val="21568C"/>
                </a:solidFill>
                <a:latin typeface="Poppins"/>
              </a:rPr>
              <a:t>Measure monthly changes</a:t>
            </a:r>
            <a:r>
              <a:rPr sz="1800">
                <a:solidFill>
                  <a:srgbClr val="2C3E50"/>
                </a:solidFill>
                <a:latin typeface="Poppins"/>
              </a:rPr>
              <a:t> in health service utilization</a:t>
            </a:r>
          </a:p>
          <a:p>
            <a:pPr>
              <a:spcAft>
                <a:spcPts val="800"/>
              </a:spcAft>
            </a:pPr>
            <a:r>
              <a:rPr sz="1800">
                <a:solidFill>
                  <a:srgbClr val="D0CB17"/>
                </a:solidFill>
                <a:latin typeface="Poppins"/>
              </a:rPr>
              <a:t>• </a:t>
            </a:r>
            <a:r>
              <a:rPr sz="1800" b="1">
                <a:solidFill>
                  <a:srgbClr val="21568C"/>
                </a:solidFill>
                <a:latin typeface="Poppins"/>
              </a:rPr>
              <a:t>Compare coverage trends</a:t>
            </a:r>
            <a:r>
              <a:rPr sz="1800">
                <a:solidFill>
                  <a:srgbClr val="2C3E50"/>
                </a:solidFill>
                <a:latin typeface="Poppins"/>
              </a:rPr>
              <a:t> with country targets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rapid-cycle analytics?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Routine health information systems are a critical source of data, but they are often underused due to concerns about data quality and long delays between data collection and analysis. Traditional household and facility surveys, while essential, are resource-intensive and infrequent.</a:t>
            </a:r>
          </a:p>
          <a:p>
            <a:pPr>
              <a:spcAft>
                <a:spcPts val="1200"/>
              </a:spcAft>
            </a:pPr>
            <a:r>
              <a:rPr sz="1800">
                <a:solidFill>
                  <a:srgbClr val="333333"/>
                </a:solidFill>
                <a:latin typeface="Poppins"/>
              </a:rPr>
              <a:t>FASTR's rapid-cycle analytics address this gap by providing:</a:t>
            </a:r>
          </a:p>
          <a:p>
            <a:pPr>
              <a:spcAft>
                <a:spcPts val="800"/>
              </a:spcAft>
            </a:pPr>
            <a:r>
              <a:rPr sz="1800">
                <a:solidFill>
                  <a:srgbClr val="D0CB17"/>
                </a:solidFill>
                <a:latin typeface="Poppins"/>
              </a:rPr>
              <a:t>• </a:t>
            </a:r>
            <a:r>
              <a:rPr sz="1800">
                <a:solidFill>
                  <a:srgbClr val="2C3E50"/>
                </a:solidFill>
                <a:latin typeface="Poppins"/>
              </a:rPr>
              <a:t>Timely insights aligned with country decision cycles</a:t>
            </a:r>
          </a:p>
          <a:p>
            <a:pPr>
              <a:spcAft>
                <a:spcPts val="800"/>
              </a:spcAft>
            </a:pPr>
            <a:r>
              <a:rPr sz="1800">
                <a:solidFill>
                  <a:srgbClr val="D0CB17"/>
                </a:solidFill>
                <a:latin typeface="Poppins"/>
              </a:rPr>
              <a:t>• </a:t>
            </a:r>
            <a:r>
              <a:rPr sz="1800">
                <a:solidFill>
                  <a:srgbClr val="2C3E50"/>
                </a:solidFill>
                <a:latin typeface="Poppins"/>
              </a:rPr>
              <a:t>Continuous learning rather than one-off assessments</a:t>
            </a:r>
          </a:p>
          <a:p>
            <a:pPr>
              <a:spcAft>
                <a:spcPts val="800"/>
              </a:spcAft>
            </a:pPr>
            <a:r>
              <a:rPr sz="1800">
                <a:solidFill>
                  <a:srgbClr val="D0CB17"/>
                </a:solidFill>
                <a:latin typeface="Poppins"/>
              </a:rPr>
              <a:t>• </a:t>
            </a:r>
            <a:r>
              <a:rPr sz="1800">
                <a:solidFill>
                  <a:srgbClr val="2C3E50"/>
                </a:solidFill>
                <a:latin typeface="Poppins"/>
              </a:rPr>
              <a:t>Direct feedback loops between data, analysis, and action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Focus of the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 Core indicators</a:t>
            </a:r>
          </a:p>
          <a:p>
            <a:pPr>
              <a:spcAft>
                <a:spcPts val="1200"/>
              </a:spcAft>
            </a:pPr>
            <a:r>
              <a:rPr sz="1800">
                <a:solidFill>
                  <a:srgbClr val="333333"/>
                </a:solidFill>
                <a:latin typeface="Poppins"/>
              </a:rPr>
              <a:t>FASTR prioritizes a core set of RMNCAH-N indicators that:</a:t>
            </a:r>
          </a:p>
          <a:p>
            <a:pPr>
              <a:spcAft>
                <a:spcPts val="800"/>
              </a:spcAft>
            </a:pPr>
            <a:r>
              <a:rPr sz="1800">
                <a:solidFill>
                  <a:srgbClr val="D0CB17"/>
                </a:solidFill>
                <a:latin typeface="Poppins"/>
              </a:rPr>
              <a:t>• </a:t>
            </a:r>
            <a:r>
              <a:rPr sz="1800">
                <a:solidFill>
                  <a:srgbClr val="2C3E50"/>
                </a:solidFill>
                <a:latin typeface="Poppins"/>
              </a:rPr>
              <a:t>Represent key service delivery contacts across the continuum of care</a:t>
            </a:r>
          </a:p>
          <a:p>
            <a:pPr>
              <a:spcAft>
                <a:spcPts val="800"/>
              </a:spcAft>
            </a:pPr>
            <a:r>
              <a:rPr sz="1800">
                <a:solidFill>
                  <a:srgbClr val="D0CB17"/>
                </a:solidFill>
                <a:latin typeface="Poppins"/>
              </a:rPr>
              <a:t>• </a:t>
            </a:r>
            <a:r>
              <a:rPr sz="1800">
                <a:solidFill>
                  <a:srgbClr val="2C3E50"/>
                </a:solidFill>
                <a:latin typeface="Poppins"/>
              </a:rPr>
              <a:t>Have relatively high reporting completeness and volumes</a:t>
            </a:r>
          </a:p>
          <a:p>
            <a:pPr>
              <a:spcAft>
                <a:spcPts val="800"/>
              </a:spcAft>
            </a:pPr>
            <a:r>
              <a:rPr sz="1800">
                <a:solidFill>
                  <a:srgbClr val="D0CB17"/>
                </a:solidFill>
                <a:latin typeface="Poppins"/>
              </a:rPr>
              <a:t>• </a:t>
            </a:r>
            <a:r>
              <a:rPr sz="1800">
                <a:solidFill>
                  <a:srgbClr val="2C3E50"/>
                </a:solidFill>
                <a:latin typeface="Poppins"/>
              </a:rPr>
              <a:t>Serve as proxies for broader service delivery performance</a:t>
            </a:r>
          </a:p>
          <a:p>
            <a:pPr>
              <a:spcAft>
                <a:spcPts val="1200"/>
              </a:spcAft>
            </a:pPr>
            <a:r>
              <a:rPr sz="1800" b="1">
                <a:solidFill>
                  <a:srgbClr val="21568C"/>
                </a:solidFill>
                <a:latin typeface="Poppins"/>
              </a:rPr>
              <a:t>The indicator set can be expanded to reflect country-specific priorities.</a:t>
            </a:r>
          </a:p>
        </p:txBody>
      </p:sp>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 Core data quality metrics</a:t>
            </a:r>
          </a:p>
          <a:p>
            <a:pPr>
              <a:spcAft>
                <a:spcPts val="1200"/>
              </a:spcAft>
            </a:pPr>
            <a:r>
              <a:rPr sz="1800">
                <a:solidFill>
                  <a:srgbClr val="333333"/>
                </a:solidFill>
                <a:latin typeface="Poppins"/>
              </a:rPr>
              <a:t>Analysis is anchored in a standardized set of data quality metrics:</a:t>
            </a:r>
          </a:p>
          <a:p>
            <a:pPr>
              <a:spcAft>
                <a:spcPts val="800"/>
              </a:spcAft>
            </a:pPr>
            <a:r>
              <a:rPr sz="1800">
                <a:solidFill>
                  <a:srgbClr val="D0CB17"/>
                </a:solidFill>
                <a:latin typeface="Poppins"/>
              </a:rPr>
              <a:t>• </a:t>
            </a:r>
            <a:r>
              <a:rPr sz="1800">
                <a:solidFill>
                  <a:srgbClr val="2C3E50"/>
                </a:solidFill>
                <a:latin typeface="Poppins"/>
              </a:rPr>
              <a:t>Reporting completeness</a:t>
            </a:r>
          </a:p>
          <a:p>
            <a:pPr>
              <a:spcAft>
                <a:spcPts val="800"/>
              </a:spcAft>
            </a:pPr>
            <a:r>
              <a:rPr sz="1800">
                <a:solidFill>
                  <a:srgbClr val="D0CB17"/>
                </a:solidFill>
                <a:latin typeface="Poppins"/>
              </a:rPr>
              <a:t>• </a:t>
            </a:r>
            <a:r>
              <a:rPr sz="1800">
                <a:solidFill>
                  <a:srgbClr val="2C3E50"/>
                </a:solidFill>
                <a:latin typeface="Poppins"/>
              </a:rPr>
              <a:t>Extreme value (outlier) detection</a:t>
            </a:r>
          </a:p>
          <a:p>
            <a:pPr>
              <a:spcAft>
                <a:spcPts val="800"/>
              </a:spcAft>
            </a:pPr>
            <a:r>
              <a:rPr sz="1800">
                <a:solidFill>
                  <a:srgbClr val="D0CB17"/>
                </a:solidFill>
                <a:latin typeface="Poppins"/>
              </a:rPr>
              <a:t>• </a:t>
            </a:r>
            <a:r>
              <a:rPr sz="1800">
                <a:solidFill>
                  <a:srgbClr val="2C3E50"/>
                </a:solidFill>
                <a:latin typeface="Poppins"/>
              </a:rPr>
              <a:t>Consistency across related indicators</a:t>
            </a:r>
          </a:p>
          <a:p>
            <a:pPr>
              <a:spcAft>
                <a:spcPts val="1200"/>
              </a:spcAft>
            </a:pPr>
            <a:r>
              <a:rPr sz="1800" b="1">
                <a:solidFill>
                  <a:srgbClr val="21568C"/>
                </a:solidFill>
                <a:latin typeface="Poppins"/>
              </a:rPr>
              <a:t>These metrics are summarized into an overall data quality score.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2: HMIS data extraction</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Data quality adjustment</a:t>
            </a:r>
          </a:p>
          <a:p>
            <a:pPr>
              <a:spcAft>
                <a:spcPts val="1400"/>
              </a:spcAft>
            </a:pPr>
            <a:r>
              <a:rPr sz="1800">
                <a:solidFill>
                  <a:srgbClr val="333333"/>
                </a:solidFill>
                <a:latin typeface="Poppins"/>
              </a:rPr>
              <a:t>The FASTR approach focuses on data quality adjustments to expand the analyses countries can do with DHIS2 data and to generate more robust estimates.</a:t>
            </a:r>
          </a:p>
          <a:p>
            <a:pPr>
              <a:spcAft>
                <a:spcPts val="1400"/>
              </a:spcAft>
            </a:pPr>
            <a:r>
              <a:rPr sz="1800">
                <a:solidFill>
                  <a:srgbClr val="333333"/>
                </a:solidFill>
                <a:latin typeface="Poppins"/>
              </a:rPr>
              <a:t>The FASTR methodology includes specific approaches to:</a:t>
            </a:r>
          </a:p>
          <a:p>
            <a:pPr>
              <a:spcAft>
                <a:spcPts val="800"/>
              </a:spcAft>
            </a:pPr>
            <a:r>
              <a:rPr sz="1800">
                <a:solidFill>
                  <a:srgbClr val="D0CB17"/>
                </a:solidFill>
                <a:latin typeface="Poppins"/>
              </a:rPr>
              <a:t>• </a:t>
            </a:r>
            <a:r>
              <a:rPr sz="1800">
                <a:solidFill>
                  <a:srgbClr val="2C3E50"/>
                </a:solidFill>
                <a:latin typeface="Poppins"/>
              </a:rPr>
              <a:t>Identify and adjust for outliers</a:t>
            </a:r>
          </a:p>
          <a:p>
            <a:pPr>
              <a:spcAft>
                <a:spcPts val="800"/>
              </a:spcAft>
            </a:pPr>
            <a:r>
              <a:rPr sz="1800">
                <a:solidFill>
                  <a:srgbClr val="D0CB17"/>
                </a:solidFill>
                <a:latin typeface="Poppins"/>
              </a:rPr>
              <a:t>• </a:t>
            </a:r>
            <a:r>
              <a:rPr sz="1800">
                <a:solidFill>
                  <a:srgbClr val="2C3E50"/>
                </a:solidFill>
                <a:latin typeface="Poppins"/>
              </a:rPr>
              <a:t>Adjust for incomplete reporting</a:t>
            </a:r>
          </a:p>
          <a:p>
            <a:pPr>
              <a:spcAft>
                <a:spcPts val="800"/>
              </a:spcAft>
            </a:pPr>
            <a:r>
              <a:rPr sz="1800">
                <a:solidFill>
                  <a:srgbClr val="D0CB17"/>
                </a:solidFill>
                <a:latin typeface="Poppins"/>
              </a:rPr>
              <a:t>• </a:t>
            </a:r>
            <a:r>
              <a:rPr sz="1800">
                <a:solidFill>
                  <a:srgbClr val="2C3E50"/>
                </a:solidFill>
                <a:latin typeface="Poppins"/>
              </a:rPr>
              <a:t>Apply consistent data quality metrics</a:t>
            </a:r>
          </a:p>
          <a:p>
            <a:pPr>
              <a:spcAft>
                <a:spcPts val="1400"/>
              </a:spcAft>
            </a:pPr>
            <a:r>
              <a:rPr sz="1800">
                <a:solidFill>
                  <a:srgbClr val="333333"/>
                </a:solidFill>
                <a:latin typeface="Poppins"/>
              </a:rPr>
              <a:t>These adjustments require processing that cannot be done within DHIS2's native analytics.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extract data from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Analysis complexity</a:t>
            </a:r>
          </a:p>
          <a:p>
            <a:pPr>
              <a:spcAft>
                <a:spcPts val="1400"/>
              </a:spcAft>
            </a:pPr>
            <a:r>
              <a:rPr sz="1800">
                <a:solidFill>
                  <a:srgbClr val="333333"/>
                </a:solidFill>
                <a:latin typeface="Poppins"/>
              </a:rPr>
              <a:t>The FASTR approach uses more advanced statistical methods, such as regression analysis, which are not available in DHIS2. While DHIS2 can plot trends over time using raw data, FASTR can go further by:</a:t>
            </a:r>
          </a:p>
          <a:p>
            <a:pPr>
              <a:spcAft>
                <a:spcPts val="800"/>
              </a:spcAft>
            </a:pPr>
            <a:r>
              <a:rPr sz="1800">
                <a:solidFill>
                  <a:srgbClr val="D0CB17"/>
                </a:solidFill>
                <a:latin typeface="Poppins"/>
              </a:rPr>
              <a:t>• </a:t>
            </a:r>
            <a:r>
              <a:rPr sz="1800">
                <a:solidFill>
                  <a:srgbClr val="2C3E50"/>
                </a:solidFill>
                <a:latin typeface="Poppins"/>
              </a:rPr>
              <a:t>Identifying significant increases or decreases in service volume</a:t>
            </a:r>
          </a:p>
          <a:p>
            <a:pPr>
              <a:spcAft>
                <a:spcPts val="800"/>
              </a:spcAft>
            </a:pPr>
            <a:r>
              <a:rPr sz="1800">
                <a:solidFill>
                  <a:srgbClr val="D0CB17"/>
                </a:solidFill>
                <a:latin typeface="Poppins"/>
              </a:rPr>
              <a:t>• </a:t>
            </a:r>
            <a:r>
              <a:rPr sz="1800">
                <a:solidFill>
                  <a:srgbClr val="2C3E50"/>
                </a:solidFill>
                <a:latin typeface="Poppins"/>
              </a:rPr>
              <a:t>Adjusting for data quality issues</a:t>
            </a:r>
          </a:p>
          <a:p>
            <a:pPr>
              <a:spcAft>
                <a:spcPts val="800"/>
              </a:spcAft>
            </a:pPr>
            <a:r>
              <a:rPr sz="1800">
                <a:solidFill>
                  <a:srgbClr val="D0CB17"/>
                </a:solidFill>
                <a:latin typeface="Poppins"/>
              </a:rPr>
              <a:t>• </a:t>
            </a:r>
            <a:r>
              <a:rPr sz="1800">
                <a:solidFill>
                  <a:srgbClr val="2C3E50"/>
                </a:solidFill>
                <a:latin typeface="Poppins"/>
              </a:rPr>
              <a:t>Accounting for expected seasonal variations</a:t>
            </a:r>
          </a:p>
          <a:p>
            <a:pPr>
              <a:spcAft>
                <a:spcPts val="800"/>
              </a:spcAft>
            </a:pPr>
            <a:r>
              <a:rPr sz="1800">
                <a:solidFill>
                  <a:srgbClr val="D0CB17"/>
                </a:solidFill>
                <a:latin typeface="Poppins"/>
              </a:rPr>
              <a:t>• </a:t>
            </a:r>
            <a:r>
              <a:rPr sz="1800">
                <a:solidFill>
                  <a:srgbClr val="2C3E50"/>
                </a:solidFill>
                <a:latin typeface="Poppins"/>
              </a:rPr>
              <a:t>Comparing key periods, such as before and after a reform</a:t>
            </a:r>
          </a:p>
          <a:p>
            <a:pPr>
              <a:spcAft>
                <a:spcPts val="1400"/>
              </a:spcAft>
            </a:pPr>
            <a:r>
              <a:rPr sz="1800">
                <a:solidFill>
                  <a:srgbClr val="333333"/>
                </a:solidFill>
                <a:latin typeface="Poppins"/>
              </a:rPr>
              <a:t>The choice between DHIS2 and the FASTR approach should be guided by the specific purpose of your analysis.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format and granularity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Data should be downloaded for each </a:t>
            </a:r>
            <a:r>
              <a:rPr sz="1800" b="1">
                <a:solidFill>
                  <a:srgbClr val="21568C"/>
                </a:solidFill>
                <a:latin typeface="Poppins"/>
              </a:rPr>
              <a:t>indicator of interest</a:t>
            </a:r>
            <a:r>
              <a:rPr sz="1800">
                <a:solidFill>
                  <a:srgbClr val="333333"/>
                </a:solidFill>
                <a:latin typeface="Poppins"/>
              </a:rPr>
              <a:t>, at </a:t>
            </a:r>
            <a:r>
              <a:rPr sz="1800" b="1">
                <a:solidFill>
                  <a:srgbClr val="21568C"/>
                </a:solidFill>
                <a:latin typeface="Poppins"/>
              </a:rPr>
              <a:t>facility level</a:t>
            </a:r>
            <a:r>
              <a:rPr sz="1800">
                <a:solidFill>
                  <a:srgbClr val="333333"/>
                </a:solidFill>
                <a:latin typeface="Poppins"/>
              </a:rPr>
              <a:t>, and </a:t>
            </a:r>
            <a:r>
              <a:rPr sz="1800" b="1">
                <a:solidFill>
                  <a:srgbClr val="21568C"/>
                </a:solidFill>
                <a:latin typeface="Poppins"/>
              </a:rPr>
              <a:t>monthly</a:t>
            </a:r>
            <a:r>
              <a:rPr sz="1800">
                <a:solidFill>
                  <a:srgbClr val="333333"/>
                </a:solidFill>
                <a:latin typeface="Poppins"/>
              </a:rPr>
              <a:t> for the </a:t>
            </a:r>
            <a:r>
              <a:rPr sz="1800" b="1">
                <a:solidFill>
                  <a:srgbClr val="21568C"/>
                </a:solidFill>
                <a:latin typeface="Poppins"/>
              </a:rPr>
              <a:t>period of interest</a:t>
            </a:r>
            <a:r>
              <a:rPr sz="1800">
                <a:solidFill>
                  <a:srgbClr val="333333"/>
                </a:solidFill>
                <a:latin typeface="Poppins"/>
              </a:rPr>
              <a:t>.</a:t>
            </a:r>
          </a:p>
          <a:p>
            <a:pPr>
              <a:spcAft>
                <a:spcPts val="800"/>
              </a:spcAft>
            </a:pPr>
            <a:r>
              <a:rPr sz="1800">
                <a:solidFill>
                  <a:srgbClr val="D0CB17"/>
                </a:solidFill>
                <a:latin typeface="Poppins"/>
              </a:rPr>
              <a:t>• </a:t>
            </a:r>
            <a:r>
              <a:rPr sz="1800">
                <a:solidFill>
                  <a:srgbClr val="2C3E50"/>
                </a:solidFill>
                <a:latin typeface="Poppins"/>
              </a:rPr>
              <a:t>Data should be saved in </a:t>
            </a:r>
            <a:r>
              <a:rPr sz="1800" b="1">
                <a:solidFill>
                  <a:srgbClr val="21568C"/>
                </a:solidFill>
                <a:latin typeface="Poppins"/>
              </a:rPr>
              <a:t>long format</a:t>
            </a:r>
            <a:r>
              <a:rPr sz="1800">
                <a:solidFill>
                  <a:srgbClr val="2C3E50"/>
                </a:solidFill>
                <a:latin typeface="Poppins"/>
              </a:rPr>
              <a:t> meaning each row represents a single observation or measurement</a:t>
            </a:r>
          </a:p>
          <a:p>
            <a:pPr>
              <a:spcAft>
                <a:spcPts val="800"/>
              </a:spcAft>
            </a:pPr>
            <a:r>
              <a:rPr sz="1800">
                <a:solidFill>
                  <a:srgbClr val="D0CB17"/>
                </a:solidFill>
                <a:latin typeface="Poppins"/>
              </a:rPr>
              <a:t>• </a:t>
            </a:r>
            <a:r>
              <a:rPr sz="1800">
                <a:solidFill>
                  <a:srgbClr val="2C3E50"/>
                </a:solidFill>
                <a:latin typeface="Poppins"/>
              </a:rPr>
              <a:t>Data should be saved in </a:t>
            </a:r>
            <a:r>
              <a:rPr sz="1800" b="1">
                <a:solidFill>
                  <a:srgbClr val="21568C"/>
                </a:solidFill>
                <a:latin typeface="Poppins"/>
              </a:rPr>
              <a:t>.csv format</a:t>
            </a:r>
            <a:r>
              <a:rPr sz="1800">
                <a:solidFill>
                  <a:srgbClr val="2C3E50"/>
                </a:solidFill>
                <a:latin typeface="Poppins"/>
              </a:rPr>
              <a:t> and can be saved in either a single .csv file or multiple .csv files</a:t>
            </a:r>
          </a:p>
          <a:p>
            <a:pPr>
              <a:spcBef>
                <a:spcPts val="800"/>
              </a:spcBef>
              <a:spcAft>
                <a:spcPts val="1000"/>
              </a:spcAft>
              <a:defRPr sz="2200" b="1" i="0">
                <a:solidFill>
                  <a:srgbClr val="BD5091"/>
                </a:solidFill>
                <a:latin typeface="Poppins"/>
              </a:defRPr>
            </a:pPr>
            <a:r>
              <a:t>Why monthly facility level data?</a:t>
            </a:r>
          </a:p>
          <a:p>
            <a:pPr>
              <a:spcAft>
                <a:spcPts val="1400"/>
              </a:spcAft>
            </a:pPr>
            <a:r>
              <a:rPr sz="1800">
                <a:solidFill>
                  <a:srgbClr val="333333"/>
                </a:solidFill>
                <a:latin typeface="Poppins"/>
              </a:rPr>
              <a:t>We want to use the most granular data we have access to in order to make more fine tuned assessments for data quality. Using monthly facility level data allows us to conduct the most robust analysis.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Key variables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The data extracted should include the following required elements: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4788834"/>
                <a:gridCol w="6458285"/>
              </a:tblGrid>
              <a:tr h="320040">
                <a:tc>
                  <a:txBody>
                    <a:bodyPr wrap="square"/>
                    <a:lstStyle/>
                    <a:p>
                      <a:pPr>
                        <a:defRPr sz="1400" b="1">
                          <a:solidFill>
                            <a:srgbClr val="21568C"/>
                          </a:solidFill>
                          <a:latin typeface="Poppins"/>
                        </a:defRPr>
                      </a:pPr>
                      <a:r>
                        <a:t>Element</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a:solidFill>
                            <a:srgbClr val="2C3E50"/>
                          </a:solidFill>
                          <a:latin typeface="Poppins"/>
                        </a:rPr>
                        <a:t>Org units</a:t>
                      </a:r>
                    </a:p>
                  </a:txBody>
                  <a:tcPr/>
                </a:tc>
                <a:tc>
                  <a:txBody>
                    <a:bodyPr wrap="square"/>
                    <a:lstStyle/>
                    <a:p>
                      <a:r>
                        <a:rPr sz="1400">
                          <a:solidFill>
                            <a:srgbClr val="2C3E50"/>
                          </a:solidFill>
                          <a:latin typeface="Poppins"/>
                        </a:rPr>
                        <a:t>Organizational unit identifier</a:t>
                      </a:r>
                    </a:p>
                  </a:txBody>
                  <a:tcPr/>
                </a:tc>
              </a:tr>
              <a:tr h="320040">
                <a:tc>
                  <a:txBody>
                    <a:bodyPr wrap="square"/>
                    <a:lstStyle/>
                    <a:p>
                      <a:r>
                        <a:rPr sz="1400">
                          <a:solidFill>
                            <a:srgbClr val="2C3E50"/>
                          </a:solidFill>
                          <a:latin typeface="Poppins"/>
                        </a:rPr>
                        <a:t>Period</a:t>
                      </a:r>
                    </a:p>
                  </a:txBody>
                  <a:tcPr/>
                </a:tc>
                <a:tc>
                  <a:txBody>
                    <a:bodyPr wrap="square"/>
                    <a:lstStyle/>
                    <a:p>
                      <a:r>
                        <a:rPr sz="1400">
                          <a:solidFill>
                            <a:srgbClr val="2C3E50"/>
                          </a:solidFill>
                          <a:latin typeface="Poppins"/>
                        </a:rPr>
                        <a:t>Time period of the data</a:t>
                      </a:r>
                    </a:p>
                  </a:txBody>
                  <a:tcPr/>
                </a:tc>
              </a:tr>
              <a:tr h="320040">
                <a:tc>
                  <a:txBody>
                    <a:bodyPr wrap="square"/>
                    <a:lstStyle/>
                    <a:p>
                      <a:r>
                        <a:rPr sz="1400">
                          <a:solidFill>
                            <a:srgbClr val="2C3E50"/>
                          </a:solidFill>
                          <a:latin typeface="Poppins"/>
                        </a:rPr>
                        <a:t>Indicator name</a:t>
                      </a:r>
                    </a:p>
                  </a:txBody>
                  <a:tcPr/>
                </a:tc>
                <a:tc>
                  <a:txBody>
                    <a:bodyPr wrap="square"/>
                    <a:lstStyle/>
                    <a:p>
                      <a:r>
                        <a:rPr sz="1400">
                          <a:solidFill>
                            <a:srgbClr val="2C3E50"/>
                          </a:solidFill>
                          <a:latin typeface="Poppins"/>
                        </a:rPr>
                        <a:t>Name of the indicator</a:t>
                      </a:r>
                    </a:p>
                  </a:txBody>
                  <a:tcPr/>
                </a:tc>
              </a:tr>
              <a:tr h="320040">
                <a:tc>
                  <a:txBody>
                    <a:bodyPr wrap="square"/>
                    <a:lstStyle/>
                    <a:p>
                      <a:r>
                        <a:rPr sz="1400">
                          <a:solidFill>
                            <a:srgbClr val="2C3E50"/>
                          </a:solidFill>
                          <a:latin typeface="Poppins"/>
                        </a:rPr>
                        <a:t>Total/count</a:t>
                      </a:r>
                    </a:p>
                  </a:txBody>
                  <a:tcPr/>
                </a:tc>
                <a:tc>
                  <a:txBody>
                    <a:bodyPr wrap="square"/>
                    <a:lstStyle/>
                    <a:p>
                      <a:r>
                        <a:rPr sz="1400">
                          <a:solidFill>
                            <a:srgbClr val="2C3E50"/>
                          </a:solidFill>
                          <a:latin typeface="Poppins"/>
                        </a:rPr>
                        <a:t>The aggregated value</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much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Initial FASTR analysis</a:t>
            </a:r>
          </a:p>
          <a:p>
            <a:pPr>
              <a:spcAft>
                <a:spcPts val="800"/>
              </a:spcAft>
            </a:pPr>
            <a:r>
              <a:rPr sz="1800">
                <a:solidFill>
                  <a:srgbClr val="D0CB17"/>
                </a:solidFill>
                <a:latin typeface="Poppins"/>
              </a:rPr>
              <a:t>• </a:t>
            </a:r>
            <a:r>
              <a:rPr sz="1800">
                <a:solidFill>
                  <a:srgbClr val="2C3E50"/>
                </a:solidFill>
                <a:latin typeface="Poppins"/>
              </a:rPr>
              <a:t>Download approximately </a:t>
            </a:r>
            <a:r>
              <a:rPr sz="1800" b="1">
                <a:solidFill>
                  <a:srgbClr val="21568C"/>
                </a:solidFill>
                <a:latin typeface="Poppins"/>
              </a:rPr>
              <a:t>five years</a:t>
            </a:r>
            <a:r>
              <a:rPr sz="1800">
                <a:solidFill>
                  <a:srgbClr val="2C3E50"/>
                </a:solidFill>
                <a:latin typeface="Poppins"/>
              </a:rPr>
              <a:t> of historical data</a:t>
            </a:r>
          </a:p>
          <a:p>
            <a:pPr>
              <a:spcAft>
                <a:spcPts val="800"/>
              </a:spcAft>
            </a:pPr>
            <a:r>
              <a:rPr sz="1800">
                <a:solidFill>
                  <a:srgbClr val="D0CB17"/>
                </a:solidFill>
                <a:latin typeface="Poppins"/>
              </a:rPr>
              <a:t>• </a:t>
            </a:r>
            <a:r>
              <a:rPr sz="1800">
                <a:solidFill>
                  <a:srgbClr val="2C3E50"/>
                </a:solidFill>
                <a:latin typeface="Poppins"/>
              </a:rPr>
              <a:t>Exact period depends on data availability and consistency in indicator definitions</a:t>
            </a:r>
          </a:p>
          <a:p>
            <a:pPr>
              <a:spcBef>
                <a:spcPts val="800"/>
              </a:spcBef>
              <a:spcAft>
                <a:spcPts val="1000"/>
              </a:spcAft>
              <a:defRPr sz="2200" b="1" i="0">
                <a:solidFill>
                  <a:srgbClr val="BD5091"/>
                </a:solidFill>
                <a:latin typeface="Poppins"/>
              </a:defRPr>
            </a:pPr>
            <a:r>
              <a:t>Routine update to FASTR analysis</a:t>
            </a:r>
          </a:p>
          <a:p>
            <a:pPr>
              <a:spcAft>
                <a:spcPts val="800"/>
              </a:spcAft>
            </a:pPr>
            <a:r>
              <a:rPr sz="1800">
                <a:solidFill>
                  <a:srgbClr val="D0CB17"/>
                </a:solidFill>
                <a:latin typeface="Poppins"/>
              </a:rPr>
              <a:t>• </a:t>
            </a:r>
            <a:r>
              <a:rPr sz="1800">
                <a:solidFill>
                  <a:srgbClr val="2C3E50"/>
                </a:solidFill>
                <a:latin typeface="Poppins"/>
              </a:rPr>
              <a:t>Download new data covering the most recent months not previously included (usually </a:t>
            </a:r>
            <a:r>
              <a:rPr sz="1800" b="1">
                <a:solidFill>
                  <a:srgbClr val="21568C"/>
                </a:solidFill>
                <a:latin typeface="Poppins"/>
              </a:rPr>
              <a:t>three months</a:t>
            </a:r>
            <a:r>
              <a:rPr sz="1800">
                <a:solidFill>
                  <a:srgbClr val="2C3E50"/>
                </a:solidFill>
                <a:latin typeface="Poppins"/>
              </a:rPr>
              <a:t> for quarterly implementation)</a:t>
            </a:r>
          </a:p>
          <a:p>
            <a:pPr>
              <a:spcAft>
                <a:spcPts val="800"/>
              </a:spcAft>
            </a:pPr>
            <a:r>
              <a:rPr sz="1800">
                <a:solidFill>
                  <a:srgbClr val="D0CB17"/>
                </a:solidFill>
                <a:latin typeface="Poppins"/>
              </a:rPr>
              <a:t>• </a:t>
            </a:r>
            <a:r>
              <a:rPr sz="1800">
                <a:solidFill>
                  <a:srgbClr val="2C3E50"/>
                </a:solidFill>
                <a:latin typeface="Poppins"/>
              </a:rPr>
              <a:t>Include the </a:t>
            </a:r>
            <a:r>
              <a:rPr sz="1800" b="1">
                <a:solidFill>
                  <a:srgbClr val="21568C"/>
                </a:solidFill>
                <a:latin typeface="Poppins"/>
              </a:rPr>
              <a:t>three preceding months</a:t>
            </a:r>
            <a:r>
              <a:rPr sz="1800">
                <a:solidFill>
                  <a:srgbClr val="2C3E50"/>
                </a:solidFill>
                <a:latin typeface="Poppins"/>
              </a:rPr>
              <a:t> as recent data is often subject to changes due to late reporting or data quality adjustments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extraction tools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We offer two tools for bulk DHIS2 data extraction:</a:t>
            </a:r>
          </a:p>
          <a:p>
            <a:pPr>
              <a:spcAft>
                <a:spcPts val="1400"/>
              </a:spcAft>
            </a:pPr>
            <a:r>
              <a:rPr sz="1800" b="1">
                <a:solidFill>
                  <a:srgbClr val="21568C"/>
                </a:solidFill>
                <a:latin typeface="Poppins"/>
              </a:rPr>
              <a:t>API Script</a:t>
            </a:r>
            <a:r>
              <a:rPr sz="1800">
                <a:solidFill>
                  <a:srgbClr val="333333"/>
                </a:solidFill>
                <a:latin typeface="Poppins"/>
              </a:rPr>
              <a:t> (Google Colab)</a:t>
            </a:r>
          </a:p>
          <a:p>
            <a:pPr>
              <a:spcAft>
                <a:spcPts val="800"/>
              </a:spcAft>
            </a:pPr>
            <a:r>
              <a:rPr sz="1800">
                <a:solidFill>
                  <a:srgbClr val="D0CB17"/>
                </a:solidFill>
                <a:latin typeface="Poppins"/>
              </a:rPr>
              <a:t>• </a:t>
            </a:r>
            <a:r>
              <a:rPr sz="1800">
                <a:solidFill>
                  <a:srgbClr val="2C3E50"/>
                </a:solidFill>
                <a:latin typeface="Poppins"/>
              </a:rPr>
              <a:t>Input login credentials, specify timeframes, indicators, and administrative levels</a:t>
            </a:r>
          </a:p>
          <a:p>
            <a:pPr>
              <a:spcAft>
                <a:spcPts val="800"/>
              </a:spcAft>
            </a:pPr>
            <a:r>
              <a:rPr sz="1800">
                <a:solidFill>
                  <a:srgbClr val="D0CB17"/>
                </a:solidFill>
                <a:latin typeface="Poppins"/>
              </a:rPr>
              <a:t>• </a:t>
            </a:r>
            <a:r>
              <a:rPr sz="1800">
                <a:solidFill>
                  <a:srgbClr val="2C3E50"/>
                </a:solidFill>
                <a:latin typeface="Poppins"/>
              </a:rPr>
              <a:t>Download data as a .csv file</a:t>
            </a:r>
          </a:p>
          <a:p>
            <a:pPr>
              <a:spcAft>
                <a:spcPts val="1400"/>
              </a:spcAft>
            </a:pPr>
            <a:r>
              <a:rPr sz="1800" b="1">
                <a:solidFill>
                  <a:srgbClr val="21568C"/>
                </a:solidFill>
                <a:latin typeface="Poppins"/>
              </a:rPr>
              <a:t>Data Downloader</a:t>
            </a:r>
          </a:p>
          <a:p>
            <a:pPr>
              <a:spcAft>
                <a:spcPts val="800"/>
              </a:spcAft>
            </a:pPr>
            <a:r>
              <a:rPr sz="1800">
                <a:solidFill>
                  <a:srgbClr val="D0CB17"/>
                </a:solidFill>
                <a:latin typeface="Poppins"/>
              </a:rPr>
              <a:t>• </a:t>
            </a:r>
            <a:r>
              <a:rPr sz="1800">
                <a:solidFill>
                  <a:srgbClr val="2C3E50"/>
                </a:solidFill>
                <a:latin typeface="Poppins"/>
              </a:rPr>
              <a:t>More intuitive, streamlined interface</a:t>
            </a:r>
          </a:p>
          <a:p>
            <a:pPr>
              <a:spcAft>
                <a:spcPts val="800"/>
              </a:spcAft>
            </a:pPr>
            <a:r>
              <a:rPr sz="1800">
                <a:solidFill>
                  <a:srgbClr val="D0CB17"/>
                </a:solidFill>
                <a:latin typeface="Poppins"/>
              </a:rPr>
              <a:t>• </a:t>
            </a:r>
            <a:r>
              <a:rPr sz="1800">
                <a:solidFill>
                  <a:srgbClr val="2C3E50"/>
                </a:solidFill>
                <a:latin typeface="Poppins"/>
              </a:rPr>
              <a:t>Recommended for most users</a:t>
            </a:r>
          </a:p>
          <a:p>
            <a:pPr>
              <a:spcAft>
                <a:spcPts val="1400"/>
              </a:spcAft>
            </a:pPr>
            <a:r>
              <a:rPr sz="1800">
                <a:solidFill>
                  <a:srgbClr val="333333"/>
                </a:solidFill>
                <a:latin typeface="Poppins"/>
              </a:rPr>
              <a:t>Both tools enable efficient data extraction, and we provide training resources to support their use.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DHIS2 Data Downloader</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Data Downloader is a desktop application for extracting data from DHIS2.</a:t>
            </a:r>
          </a:p>
          <a:p>
            <a:pPr>
              <a:spcAft>
                <a:spcPts val="1400"/>
              </a:spcAft>
            </a:pPr>
            <a:r>
              <a:rPr sz="1800" b="1">
                <a:solidFill>
                  <a:srgbClr val="21568C"/>
                </a:solidFill>
                <a:latin typeface="Poppins"/>
              </a:rPr>
              <a:t>Key features:</a:t>
            </a:r>
          </a:p>
          <a:p>
            <a:pPr>
              <a:spcAft>
                <a:spcPts val="800"/>
              </a:spcAft>
            </a:pPr>
            <a:r>
              <a:rPr sz="1800">
                <a:solidFill>
                  <a:srgbClr val="D0CB17"/>
                </a:solidFill>
                <a:latin typeface="Poppins"/>
              </a:rPr>
              <a:t>• </a:t>
            </a:r>
            <a:r>
              <a:rPr sz="1800">
                <a:solidFill>
                  <a:srgbClr val="2C3E50"/>
                </a:solidFill>
                <a:latin typeface="Poppins"/>
              </a:rPr>
              <a:t>Connect to any DHIS2 instance</a:t>
            </a:r>
          </a:p>
          <a:p>
            <a:pPr>
              <a:spcAft>
                <a:spcPts val="800"/>
              </a:spcAft>
            </a:pPr>
            <a:r>
              <a:rPr sz="1800">
                <a:solidFill>
                  <a:srgbClr val="D0CB17"/>
                </a:solidFill>
                <a:latin typeface="Poppins"/>
              </a:rPr>
              <a:t>• </a:t>
            </a:r>
            <a:r>
              <a:rPr sz="1800">
                <a:solidFill>
                  <a:srgbClr val="2C3E50"/>
                </a:solidFill>
                <a:latin typeface="Poppins"/>
              </a:rPr>
              <a:t>Browse and select data elements and indicators</a:t>
            </a:r>
          </a:p>
          <a:p>
            <a:pPr>
              <a:spcAft>
                <a:spcPts val="800"/>
              </a:spcAft>
            </a:pPr>
            <a:r>
              <a:rPr sz="1800">
                <a:solidFill>
                  <a:srgbClr val="D0CB17"/>
                </a:solidFill>
                <a:latin typeface="Poppins"/>
              </a:rPr>
              <a:t>• </a:t>
            </a:r>
            <a:r>
              <a:rPr sz="1800">
                <a:solidFill>
                  <a:srgbClr val="2C3E50"/>
                </a:solidFill>
                <a:latin typeface="Poppins"/>
              </a:rPr>
              <a:t>Download facility-level data in CSV format</a:t>
            </a:r>
          </a:p>
          <a:p>
            <a:pPr>
              <a:spcAft>
                <a:spcPts val="800"/>
              </a:spcAft>
            </a:pPr>
            <a:r>
              <a:rPr sz="1800">
                <a:solidFill>
                  <a:srgbClr val="D0CB17"/>
                </a:solidFill>
                <a:latin typeface="Poppins"/>
              </a:rPr>
              <a:t>• </a:t>
            </a:r>
            <a:r>
              <a:rPr sz="1800">
                <a:solidFill>
                  <a:srgbClr val="2C3E50"/>
                </a:solidFill>
                <a:latin typeface="Poppins"/>
              </a:rPr>
              <a:t>Maintain download history</a:t>
            </a:r>
          </a:p>
          <a:p>
            <a:pPr>
              <a:spcAft>
                <a:spcPts val="1400"/>
              </a:spcAft>
            </a:pPr>
            <a:r>
              <a:rPr sz="1800" b="1">
                <a:solidFill>
                  <a:srgbClr val="21568C"/>
                </a:solidFill>
                <a:latin typeface="Poppins"/>
              </a:rPr>
              <a:t>Download from GitHub:</a:t>
            </a:r>
          </a:p>
          <a:p>
            <a:pPr>
              <a:spcAft>
                <a:spcPts val="1400"/>
              </a:spcAft>
            </a:pPr>
            <a:r>
              <a:rPr sz="1800">
                <a:solidFill>
                  <a:srgbClr val="333333"/>
                </a:solidFill>
                <a:latin typeface="Poppins"/>
              </a:rPr>
              <a:t>https://github.com/worldbank/DHIS2-Downloader/releases/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Login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png"/>
          <p:cNvPicPr>
            <a:picLocks noChangeAspect="1"/>
          </p:cNvPicPr>
          <p:nvPr/>
        </p:nvPicPr>
        <p:blipFill>
          <a:blip r:embed="rId2"/>
          <a:stretch>
            <a:fillRect/>
          </a:stretch>
        </p:blipFill>
        <p:spPr>
          <a:xfrm>
            <a:off x="685800" y="1280160"/>
            <a:ext cx="5303520" cy="4266899"/>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Connect to your DHIS2 instance</a:t>
            </a:r>
          </a:p>
          <a:p>
            <a:pPr>
              <a:spcAft>
                <a:spcPts val="800"/>
              </a:spcAft>
            </a:pPr>
            <a:r>
              <a:rPr sz="1800">
                <a:solidFill>
                  <a:srgbClr val="D0CB17"/>
                </a:solidFill>
                <a:latin typeface="Poppins"/>
              </a:rPr>
              <a:t>• </a:t>
            </a:r>
            <a:r>
              <a:rPr sz="1800">
                <a:solidFill>
                  <a:srgbClr val="2C3E50"/>
                </a:solidFill>
                <a:latin typeface="Poppins"/>
              </a:rPr>
              <a:t>Enter your DHIS2 server URL</a:t>
            </a:r>
          </a:p>
          <a:p>
            <a:pPr>
              <a:spcAft>
                <a:spcPts val="800"/>
              </a:spcAft>
            </a:pPr>
            <a:r>
              <a:rPr sz="1800">
                <a:solidFill>
                  <a:srgbClr val="D0CB17"/>
                </a:solidFill>
                <a:latin typeface="Poppins"/>
              </a:rPr>
              <a:t>• </a:t>
            </a:r>
            <a:r>
              <a:rPr sz="1800">
                <a:solidFill>
                  <a:srgbClr val="2C3E50"/>
                </a:solidFill>
                <a:latin typeface="Poppins"/>
              </a:rPr>
              <a:t>Provide your username and password</a:t>
            </a:r>
          </a:p>
          <a:p>
            <a:pPr>
              <a:spcAft>
                <a:spcPts val="800"/>
              </a:spcAft>
            </a:pPr>
            <a:r>
              <a:rPr sz="1800">
                <a:solidFill>
                  <a:srgbClr val="D0CB17"/>
                </a:solidFill>
                <a:latin typeface="Poppins"/>
              </a:rPr>
              <a:t>• </a:t>
            </a:r>
            <a:r>
              <a:rPr sz="1800">
                <a:solidFill>
                  <a:srgbClr val="2C3E50"/>
                </a:solidFill>
                <a:latin typeface="Poppins"/>
              </a:rPr>
              <a:t>The tool securely stores credentials for future sessions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Overview</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2_overview.png"/>
          <p:cNvPicPr>
            <a:picLocks noChangeAspect="1"/>
          </p:cNvPicPr>
          <p:nvPr/>
        </p:nvPicPr>
        <p:blipFill>
          <a:blip r:embed="rId2"/>
          <a:stretch>
            <a:fillRect/>
          </a:stretch>
        </p:blipFill>
        <p:spPr>
          <a:xfrm>
            <a:off x="685800" y="1280160"/>
            <a:ext cx="5303520" cy="3102889"/>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Main interface</a:t>
            </a:r>
          </a:p>
          <a:p>
            <a:pPr>
              <a:spcAft>
                <a:spcPts val="800"/>
              </a:spcAft>
            </a:pPr>
            <a:r>
              <a:rPr sz="1800">
                <a:solidFill>
                  <a:srgbClr val="D0CB17"/>
                </a:solidFill>
                <a:latin typeface="Poppins"/>
              </a:rPr>
              <a:t>• </a:t>
            </a:r>
            <a:r>
              <a:rPr sz="1800">
                <a:solidFill>
                  <a:srgbClr val="2C3E50"/>
                </a:solidFill>
                <a:latin typeface="Poppins"/>
              </a:rPr>
              <a:t>Browse available data elements and indicators</a:t>
            </a:r>
          </a:p>
          <a:p>
            <a:pPr>
              <a:spcAft>
                <a:spcPts val="800"/>
              </a:spcAft>
            </a:pPr>
            <a:r>
              <a:rPr sz="1800">
                <a:solidFill>
                  <a:srgbClr val="D0CB17"/>
                </a:solidFill>
                <a:latin typeface="Poppins"/>
              </a:rPr>
              <a:t>• </a:t>
            </a:r>
            <a:r>
              <a:rPr sz="1800">
                <a:solidFill>
                  <a:srgbClr val="2C3E50"/>
                </a:solidFill>
                <a:latin typeface="Poppins"/>
              </a:rPr>
              <a:t>Select time periods and organization units</a:t>
            </a:r>
          </a:p>
          <a:p>
            <a:pPr>
              <a:spcAft>
                <a:spcPts val="800"/>
              </a:spcAft>
            </a:pPr>
            <a:r>
              <a:rPr sz="1800">
                <a:solidFill>
                  <a:srgbClr val="D0CB17"/>
                </a:solidFill>
                <a:latin typeface="Poppins"/>
              </a:rPr>
              <a:t>• </a:t>
            </a:r>
            <a:r>
              <a:rPr sz="1800">
                <a:solidFill>
                  <a:srgbClr val="2C3E50"/>
                </a:solidFill>
                <a:latin typeface="Poppins"/>
              </a:rPr>
              <a:t>Configure download options</a:t>
            </a:r>
          </a:p>
          <a:p>
            <a:pPr>
              <a:spcAft>
                <a:spcPts val="800"/>
              </a:spcAft>
            </a:pPr>
            <a:r>
              <a:rPr sz="1800">
                <a:solidFill>
                  <a:srgbClr val="D0CB17"/>
                </a:solidFill>
                <a:latin typeface="Poppins"/>
              </a:rPr>
              <a:t>• </a:t>
            </a:r>
            <a:r>
              <a:rPr sz="1800">
                <a:solidFill>
                  <a:srgbClr val="2C3E50"/>
                </a:solidFill>
                <a:latin typeface="Poppins"/>
              </a:rPr>
              <a:t>Start data extraction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Download history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3_history.png"/>
          <p:cNvPicPr>
            <a:picLocks noChangeAspect="1"/>
          </p:cNvPicPr>
          <p:nvPr/>
        </p:nvPicPr>
        <p:blipFill>
          <a:blip r:embed="rId2"/>
          <a:stretch>
            <a:fillRect/>
          </a:stretch>
        </p:blipFill>
        <p:spPr>
          <a:xfrm>
            <a:off x="685800" y="1280160"/>
            <a:ext cx="5303520" cy="2932457"/>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Track your downloads</a:t>
            </a:r>
          </a:p>
          <a:p>
            <a:pPr>
              <a:spcAft>
                <a:spcPts val="800"/>
              </a:spcAft>
            </a:pPr>
            <a:r>
              <a:rPr sz="1800">
                <a:solidFill>
                  <a:srgbClr val="D0CB17"/>
                </a:solidFill>
                <a:latin typeface="Poppins"/>
              </a:rPr>
              <a:t>• </a:t>
            </a:r>
            <a:r>
              <a:rPr sz="1800">
                <a:solidFill>
                  <a:srgbClr val="2C3E50"/>
                </a:solidFill>
                <a:latin typeface="Poppins"/>
              </a:rPr>
              <a:t>View all previous download sessions</a:t>
            </a:r>
          </a:p>
          <a:p>
            <a:pPr>
              <a:spcAft>
                <a:spcPts val="800"/>
              </a:spcAft>
            </a:pPr>
            <a:r>
              <a:rPr sz="1800">
                <a:solidFill>
                  <a:srgbClr val="D0CB17"/>
                </a:solidFill>
                <a:latin typeface="Poppins"/>
              </a:rPr>
              <a:t>• </a:t>
            </a:r>
            <a:r>
              <a:rPr sz="1800">
                <a:solidFill>
                  <a:srgbClr val="2C3E50"/>
                </a:solidFill>
                <a:latin typeface="Poppins"/>
              </a:rPr>
              <a:t>Re-download data with same parameters</a:t>
            </a:r>
          </a:p>
          <a:p>
            <a:pPr>
              <a:spcAft>
                <a:spcPts val="800"/>
              </a:spcAft>
            </a:pPr>
            <a:r>
              <a:rPr sz="1800">
                <a:solidFill>
                  <a:srgbClr val="D0CB17"/>
                </a:solidFill>
                <a:latin typeface="Poppins"/>
              </a:rPr>
              <a:t>• </a:t>
            </a:r>
            <a:r>
              <a:rPr sz="1800">
                <a:solidFill>
                  <a:srgbClr val="2C3E50"/>
                </a:solidFill>
                <a:latin typeface="Poppins"/>
              </a:rPr>
              <a:t>Access download logs and status</a:t>
            </a:r>
          </a:p>
          <a:p>
            <a:pPr>
              <a:spcAft>
                <a:spcPts val="800"/>
              </a:spcAft>
            </a:pPr>
            <a:r>
              <a:rPr sz="1800">
                <a:solidFill>
                  <a:srgbClr val="D0CB17"/>
                </a:solidFill>
                <a:latin typeface="Poppins"/>
              </a:rPr>
              <a:t>• </a:t>
            </a:r>
            <a:r>
              <a:rPr sz="1800">
                <a:solidFill>
                  <a:srgbClr val="2C3E50"/>
                </a:solidFill>
                <a:latin typeface="Poppins"/>
              </a:rPr>
              <a:t>Manage downloaded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Data dictionary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4_dictionary.png"/>
          <p:cNvPicPr>
            <a:picLocks noChangeAspect="1"/>
          </p:cNvPicPr>
          <p:nvPr/>
        </p:nvPicPr>
        <p:blipFill>
          <a:blip r:embed="rId2"/>
          <a:stretch>
            <a:fillRect/>
          </a:stretch>
        </p:blipFill>
        <p:spPr>
          <a:xfrm>
            <a:off x="685800" y="1280160"/>
            <a:ext cx="5303520" cy="3152906"/>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Explore available data</a:t>
            </a:r>
          </a:p>
          <a:p>
            <a:pPr>
              <a:spcAft>
                <a:spcPts val="800"/>
              </a:spcAft>
            </a:pPr>
            <a:r>
              <a:rPr sz="1800">
                <a:solidFill>
                  <a:srgbClr val="D0CB17"/>
                </a:solidFill>
                <a:latin typeface="Poppins"/>
              </a:rPr>
              <a:t>• </a:t>
            </a:r>
            <a:r>
              <a:rPr sz="1800">
                <a:solidFill>
                  <a:srgbClr val="2C3E50"/>
                </a:solidFill>
                <a:latin typeface="Poppins"/>
              </a:rPr>
              <a:t>Browse all data elements from your DHIS2</a:t>
            </a:r>
          </a:p>
          <a:p>
            <a:pPr>
              <a:spcAft>
                <a:spcPts val="800"/>
              </a:spcAft>
            </a:pPr>
            <a:r>
              <a:rPr sz="1800">
                <a:solidFill>
                  <a:srgbClr val="D0CB17"/>
                </a:solidFill>
                <a:latin typeface="Poppins"/>
              </a:rPr>
              <a:t>• </a:t>
            </a:r>
            <a:r>
              <a:rPr sz="1800">
                <a:solidFill>
                  <a:srgbClr val="2C3E50"/>
                </a:solidFill>
                <a:latin typeface="Poppins"/>
              </a:rPr>
              <a:t>Search by name or code</a:t>
            </a:r>
          </a:p>
          <a:p>
            <a:pPr>
              <a:spcAft>
                <a:spcPts val="800"/>
              </a:spcAft>
            </a:pPr>
            <a:r>
              <a:rPr sz="1800">
                <a:solidFill>
                  <a:srgbClr val="D0CB17"/>
                </a:solidFill>
                <a:latin typeface="Poppins"/>
              </a:rPr>
              <a:t>• </a:t>
            </a:r>
            <a:r>
              <a:rPr sz="1800">
                <a:solidFill>
                  <a:srgbClr val="2C3E50"/>
                </a:solidFill>
                <a:latin typeface="Poppins"/>
              </a:rPr>
              <a:t>View metadata and definitions</a:t>
            </a:r>
          </a:p>
          <a:p>
            <a:pPr>
              <a:spcAft>
                <a:spcPts val="800"/>
              </a:spcAft>
            </a:pPr>
            <a:r>
              <a:rPr sz="1800">
                <a:solidFill>
                  <a:srgbClr val="D0CB17"/>
                </a:solidFill>
                <a:latin typeface="Poppins"/>
              </a:rPr>
              <a:t>• </a:t>
            </a:r>
            <a:r>
              <a:rPr sz="1800">
                <a:solidFill>
                  <a:srgbClr val="2C3E50"/>
                </a:solidFill>
                <a:latin typeface="Poppins"/>
              </a:rPr>
              <a:t>Identify indicators for your analysis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Facility 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5_facility_list.png"/>
          <p:cNvPicPr>
            <a:picLocks noChangeAspect="1"/>
          </p:cNvPicPr>
          <p:nvPr/>
        </p:nvPicPr>
        <p:blipFill>
          <a:blip r:embed="rId2"/>
          <a:stretch>
            <a:fillRect/>
          </a:stretch>
        </p:blipFill>
        <p:spPr>
          <a:xfrm>
            <a:off x="685800" y="1280160"/>
            <a:ext cx="5303520" cy="3298935"/>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Facility management</a:t>
            </a:r>
          </a:p>
          <a:p>
            <a:pPr>
              <a:spcAft>
                <a:spcPts val="800"/>
              </a:spcAft>
            </a:pPr>
            <a:r>
              <a:rPr sz="1800">
                <a:solidFill>
                  <a:srgbClr val="D0CB17"/>
                </a:solidFill>
                <a:latin typeface="Poppins"/>
              </a:rPr>
              <a:t>• </a:t>
            </a:r>
            <a:r>
              <a:rPr sz="1800">
                <a:solidFill>
                  <a:srgbClr val="2C3E50"/>
                </a:solidFill>
                <a:latin typeface="Poppins"/>
              </a:rPr>
              <a:t>View complete facility list</a:t>
            </a:r>
          </a:p>
          <a:p>
            <a:pPr>
              <a:spcAft>
                <a:spcPts val="800"/>
              </a:spcAft>
            </a:pPr>
            <a:r>
              <a:rPr sz="1800">
                <a:solidFill>
                  <a:srgbClr val="D0CB17"/>
                </a:solidFill>
                <a:latin typeface="Poppins"/>
              </a:rPr>
              <a:t>• </a:t>
            </a:r>
            <a:r>
              <a:rPr sz="1800">
                <a:solidFill>
                  <a:srgbClr val="2C3E50"/>
                </a:solidFill>
                <a:latin typeface="Poppins"/>
              </a:rPr>
              <a:t>Filter by administrative level</a:t>
            </a:r>
          </a:p>
          <a:p>
            <a:pPr>
              <a:spcAft>
                <a:spcPts val="800"/>
              </a:spcAft>
            </a:pPr>
            <a:r>
              <a:rPr sz="1800">
                <a:solidFill>
                  <a:srgbClr val="D0CB17"/>
                </a:solidFill>
                <a:latin typeface="Poppins"/>
              </a:rPr>
              <a:t>• </a:t>
            </a:r>
            <a:r>
              <a:rPr sz="1800">
                <a:solidFill>
                  <a:srgbClr val="2C3E50"/>
                </a:solidFill>
                <a:latin typeface="Poppins"/>
              </a:rPr>
              <a:t>Search by facility name</a:t>
            </a:r>
          </a:p>
          <a:p>
            <a:pPr>
              <a:spcAft>
                <a:spcPts val="800"/>
              </a:spcAft>
            </a:pPr>
            <a:r>
              <a:rPr sz="1800">
                <a:solidFill>
                  <a:srgbClr val="D0CB17"/>
                </a:solidFill>
                <a:latin typeface="Poppins"/>
              </a:rPr>
              <a:t>• </a:t>
            </a:r>
            <a:r>
              <a:rPr sz="1800">
                <a:solidFill>
                  <a:srgbClr val="2C3E50"/>
                </a:solidFill>
                <a:latin typeface="Poppins"/>
              </a:rPr>
              <a:t>Export facility data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Downloader: Facility map</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6_facility_map.png"/>
          <p:cNvPicPr>
            <a:picLocks noChangeAspect="1"/>
          </p:cNvPicPr>
          <p:nvPr/>
        </p:nvPicPr>
        <p:blipFill>
          <a:blip r:embed="rId2"/>
          <a:stretch>
            <a:fillRect/>
          </a:stretch>
        </p:blipFill>
        <p:spPr>
          <a:xfrm>
            <a:off x="685800" y="1280160"/>
            <a:ext cx="5303520" cy="3292298"/>
          </a:xfrm>
          <a:prstGeom prst="rect">
            <a:avLst/>
          </a:prstGeom>
        </p:spPr>
      </p:pic>
      <p:sp>
        <p:nvSpPr>
          <p:cNvPr id="5" name="TextBox 4"/>
          <p:cNvSpPr txBox="1"/>
          <p:nvPr/>
        </p:nvSpPr>
        <p:spPr>
          <a:xfrm>
            <a:off x="6400800" y="1280160"/>
            <a:ext cx="5303520" cy="5029200"/>
          </a:xfrm>
          <a:prstGeom prst="rect">
            <a:avLst/>
          </a:prstGeom>
          <a:noFill/>
        </p:spPr>
        <p:txBody>
          <a:bodyPr wrap="square">
            <a:spAutoFit/>
          </a:bodyPr>
          <a:lstStyle/>
          <a:p>
            <a:pPr>
              <a:spcAft>
                <a:spcPts val="1200"/>
              </a:spcAft>
            </a:pPr>
            <a:r>
              <a:rPr sz="1800" b="1">
                <a:solidFill>
                  <a:srgbClr val="21568C"/>
                </a:solidFill>
                <a:latin typeface="Poppins"/>
              </a:rPr>
              <a:t>Geographic visualization</a:t>
            </a:r>
          </a:p>
          <a:p>
            <a:pPr>
              <a:spcAft>
                <a:spcPts val="800"/>
              </a:spcAft>
            </a:pPr>
            <a:r>
              <a:rPr sz="1800">
                <a:solidFill>
                  <a:srgbClr val="D0CB17"/>
                </a:solidFill>
                <a:latin typeface="Poppins"/>
              </a:rPr>
              <a:t>• </a:t>
            </a:r>
            <a:r>
              <a:rPr sz="1800">
                <a:solidFill>
                  <a:srgbClr val="2C3E50"/>
                </a:solidFill>
                <a:latin typeface="Poppins"/>
              </a:rPr>
              <a:t>Download GeoJSON boundary files</a:t>
            </a:r>
          </a:p>
          <a:p>
            <a:pPr>
              <a:spcAft>
                <a:spcPts val="800"/>
              </a:spcAft>
            </a:pPr>
            <a:r>
              <a:rPr sz="1800">
                <a:solidFill>
                  <a:srgbClr val="D0CB17"/>
                </a:solidFill>
                <a:latin typeface="Poppins"/>
              </a:rPr>
              <a:t>• </a:t>
            </a:r>
            <a:r>
              <a:rPr sz="1800">
                <a:solidFill>
                  <a:srgbClr val="2C3E50"/>
                </a:solidFill>
                <a:latin typeface="Poppins"/>
              </a:rPr>
              <a:t>Toggle administrative boundaries by level (Level 1 = country, Level 2 = regions, etc.)</a:t>
            </a:r>
          </a:p>
          <a:p>
            <a:pPr>
              <a:spcAft>
                <a:spcPts val="800"/>
              </a:spcAft>
            </a:pPr>
            <a:r>
              <a:rPr sz="1800">
                <a:solidFill>
                  <a:srgbClr val="D0CB17"/>
                </a:solidFill>
                <a:latin typeface="Poppins"/>
              </a:rPr>
              <a:t>• </a:t>
            </a:r>
            <a:r>
              <a:rPr sz="1800">
                <a:solidFill>
                  <a:srgbClr val="2C3E50"/>
                </a:solidFill>
                <a:latin typeface="Poppins"/>
              </a:rPr>
              <a:t>Higher levels display facility points</a:t>
            </a:r>
          </a:p>
          <a:p>
            <a:pPr>
              <a:spcAft>
                <a:spcPts val="800"/>
              </a:spcAft>
            </a:pPr>
            <a:r>
              <a:rPr sz="1800">
                <a:solidFill>
                  <a:srgbClr val="D0CB17"/>
                </a:solidFill>
                <a:latin typeface="Poppins"/>
              </a:rPr>
              <a:t>• </a:t>
            </a:r>
            <a:r>
              <a:rPr sz="1800">
                <a:solidFill>
                  <a:srgbClr val="2C3E50"/>
                </a:solidFill>
                <a:latin typeface="Poppins"/>
              </a:rPr>
              <a:t>Useful for verifying geographic structure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3: Introduction to the FASTR analytics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Introduction to the FASTR Analytics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FASTR analytics platform is a web-based tool for data quality assessment, adjustment, and analysis of routine health data.</a:t>
            </a:r>
          </a:p>
          <a:p>
            <a:pPr>
              <a:spcAft>
                <a:spcPts val="1400"/>
              </a:spcAft>
            </a:pPr>
            <a:r>
              <a:rPr sz="1800" b="1">
                <a:solidFill>
                  <a:srgbClr val="21568C"/>
                </a:solidFill>
                <a:latin typeface="Poppins"/>
              </a:rPr>
              <a:t>Key features:</a:t>
            </a:r>
          </a:p>
          <a:p>
            <a:pPr>
              <a:spcAft>
                <a:spcPts val="800"/>
              </a:spcAft>
            </a:pPr>
            <a:r>
              <a:rPr sz="1800">
                <a:solidFill>
                  <a:srgbClr val="D0CB17"/>
                </a:solidFill>
                <a:latin typeface="Poppins"/>
              </a:rPr>
              <a:t>• </a:t>
            </a:r>
            <a:r>
              <a:rPr sz="1800">
                <a:solidFill>
                  <a:srgbClr val="2C3E50"/>
                </a:solidFill>
                <a:latin typeface="Poppins"/>
              </a:rPr>
              <a:t>Upload and analyze data from DHIS2 and other sources</a:t>
            </a:r>
          </a:p>
          <a:p>
            <a:pPr>
              <a:spcAft>
                <a:spcPts val="800"/>
              </a:spcAft>
            </a:pPr>
            <a:r>
              <a:rPr sz="1800">
                <a:solidFill>
                  <a:srgbClr val="D0CB17"/>
                </a:solidFill>
                <a:latin typeface="Poppins"/>
              </a:rPr>
              <a:t>• </a:t>
            </a:r>
            <a:r>
              <a:rPr sz="1800">
                <a:solidFill>
                  <a:srgbClr val="2C3E50"/>
                </a:solidFill>
                <a:latin typeface="Poppins"/>
              </a:rPr>
              <a:t>Built-in statistical methods for data quality adjustment</a:t>
            </a:r>
          </a:p>
          <a:p>
            <a:pPr>
              <a:spcAft>
                <a:spcPts val="800"/>
              </a:spcAft>
            </a:pPr>
            <a:r>
              <a:rPr sz="1800">
                <a:solidFill>
                  <a:srgbClr val="D0CB17"/>
                </a:solidFill>
                <a:latin typeface="Poppins"/>
              </a:rPr>
              <a:t>• </a:t>
            </a:r>
            <a:r>
              <a:rPr sz="1800">
                <a:solidFill>
                  <a:srgbClr val="2C3E50"/>
                </a:solidFill>
                <a:latin typeface="Poppins"/>
              </a:rPr>
              <a:t>User-friendly interface for running analyses</a:t>
            </a:r>
          </a:p>
          <a:p>
            <a:pPr>
              <a:spcAft>
                <a:spcPts val="800"/>
              </a:spcAft>
            </a:pPr>
            <a:r>
              <a:rPr sz="1800">
                <a:solidFill>
                  <a:srgbClr val="D0CB17"/>
                </a:solidFill>
                <a:latin typeface="Poppins"/>
              </a:rPr>
              <a:t>• </a:t>
            </a:r>
            <a:r>
              <a:rPr sz="1800">
                <a:solidFill>
                  <a:srgbClr val="2C3E50"/>
                </a:solidFill>
                <a:latin typeface="Poppins"/>
              </a:rPr>
              <a:t>Flexible visualization and export options</a:t>
            </a:r>
          </a:p>
          <a:p>
            <a:pPr>
              <a:spcAft>
                <a:spcPts val="1400"/>
              </a:spcAft>
            </a:pPr>
            <a:r>
              <a:rPr sz="1800" b="1">
                <a:solidFill>
                  <a:srgbClr val="21568C"/>
                </a:solidFill>
                <a:latin typeface="Poppins"/>
              </a:rPr>
              <a:t>In this session, we will provide a conceptual walkthrough of the platform and its capabilities.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Platform Capabilities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Data flows from import through analysis to shareable outputs.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Country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Each country has its own </a:t>
            </a:r>
            <a:r>
              <a:rPr sz="1800" b="1">
                <a:solidFill>
                  <a:srgbClr val="21568C"/>
                </a:solidFill>
                <a:latin typeface="Poppins"/>
              </a:rPr>
              <a:t>instance</a:t>
            </a:r>
            <a:r>
              <a:rPr sz="1800">
                <a:solidFill>
                  <a:srgbClr val="333333"/>
                </a:solidFill>
                <a:latin typeface="Poppins"/>
              </a:rPr>
              <a:t> of the FASTR analytics platform.</a:t>
            </a:r>
          </a:p>
          <a:p>
            <a:pPr>
              <a:spcAft>
                <a:spcPts val="1400"/>
              </a:spcAft>
            </a:pPr>
            <a:r>
              <a:rPr sz="1800">
                <a:solidFill>
                  <a:srgbClr val="333333"/>
                </a:solidFill>
                <a:latin typeface="Poppins"/>
              </a:rPr>
              <a:t>An instance contains:</a:t>
            </a:r>
          </a:p>
          <a:p>
            <a:pPr>
              <a:spcAft>
                <a:spcPts val="800"/>
              </a:spcAft>
            </a:pPr>
            <a:r>
              <a:rPr sz="1800">
                <a:solidFill>
                  <a:srgbClr val="D0CB17"/>
                </a:solidFill>
                <a:latin typeface="Poppins"/>
              </a:rPr>
              <a:t>• </a:t>
            </a:r>
            <a:r>
              <a:rPr sz="1800">
                <a:solidFill>
                  <a:srgbClr val="2C3E50"/>
                </a:solidFill>
                <a:latin typeface="Poppins"/>
              </a:rPr>
              <a:t>All registered users and their accounts</a:t>
            </a:r>
          </a:p>
          <a:p>
            <a:pPr>
              <a:spcAft>
                <a:spcPts val="800"/>
              </a:spcAft>
            </a:pPr>
            <a:r>
              <a:rPr sz="1800">
                <a:solidFill>
                  <a:srgbClr val="D0CB17"/>
                </a:solidFill>
                <a:latin typeface="Poppins"/>
              </a:rPr>
              <a:t>• </a:t>
            </a:r>
            <a:r>
              <a:rPr sz="1800">
                <a:solidFill>
                  <a:srgbClr val="2C3E50"/>
                </a:solidFill>
                <a:latin typeface="Poppins"/>
              </a:rPr>
              <a:t>The shared administrative structure (regions, districts, facilities)</a:t>
            </a:r>
          </a:p>
          <a:p>
            <a:pPr>
              <a:spcAft>
                <a:spcPts val="800"/>
              </a:spcAft>
            </a:pPr>
            <a:r>
              <a:rPr sz="1800">
                <a:solidFill>
                  <a:srgbClr val="D0CB17"/>
                </a:solidFill>
                <a:latin typeface="Poppins"/>
              </a:rPr>
              <a:t>• </a:t>
            </a:r>
            <a:r>
              <a:rPr sz="1800">
                <a:solidFill>
                  <a:srgbClr val="2C3E50"/>
                </a:solidFill>
                <a:latin typeface="Poppins"/>
              </a:rPr>
              <a:t>Indicator definitions and data sources</a:t>
            </a:r>
          </a:p>
          <a:p>
            <a:pPr>
              <a:spcAft>
                <a:spcPts val="800"/>
              </a:spcAft>
            </a:pPr>
            <a:r>
              <a:rPr sz="1800">
                <a:solidFill>
                  <a:srgbClr val="D0CB17"/>
                </a:solidFill>
                <a:latin typeface="Poppins"/>
              </a:rPr>
              <a:t>• </a:t>
            </a:r>
            <a:r>
              <a:rPr sz="1800">
                <a:solidFill>
                  <a:srgbClr val="2C3E50"/>
                </a:solidFill>
                <a:latin typeface="Poppins"/>
              </a:rPr>
              <a:t>All projects created for that country</a:t>
            </a:r>
          </a:p>
          <a:p>
            <a:pPr>
              <a:spcAft>
                <a:spcPts val="1400"/>
              </a:spcAft>
            </a:pPr>
            <a:r>
              <a:rPr sz="1800" b="1">
                <a:solidFill>
                  <a:srgbClr val="21568C"/>
                </a:solidFill>
                <a:latin typeface="Poppins"/>
              </a:rPr>
              <a:t>Think of an instance as your country's dedicated workspace.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User Roles and Permissions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There are two levels of permissions in the platform:</a:t>
            </a:r>
          </a:p>
          <a:p>
            <a:pPr>
              <a:spcAft>
                <a:spcPts val="1400"/>
              </a:spcAft>
            </a:pPr>
            <a:r>
              <a:rPr sz="1800" b="1">
                <a:solidFill>
                  <a:srgbClr val="21568C"/>
                </a:solidFill>
                <a:latin typeface="Poppins"/>
              </a:rPr>
              <a:t>Instance-level roles:</a:t>
            </a:r>
          </a:p>
          <a:p>
            <a:pPr>
              <a:spcAft>
                <a:spcPts val="800"/>
              </a:spcAft>
            </a:pPr>
            <a:r>
              <a:rPr sz="1800">
                <a:solidFill>
                  <a:srgbClr val="D0CB17"/>
                </a:solidFill>
                <a:latin typeface="Poppins"/>
              </a:rPr>
              <a:t>• </a:t>
            </a:r>
            <a:r>
              <a:rPr sz="1800" b="1">
                <a:solidFill>
                  <a:srgbClr val="21568C"/>
                </a:solidFill>
                <a:latin typeface="Poppins"/>
              </a:rPr>
              <a:t>Instance Administrators</a:t>
            </a:r>
            <a:r>
              <a:rPr sz="1800">
                <a:solidFill>
                  <a:srgbClr val="2C3E50"/>
                </a:solidFill>
                <a:latin typeface="Poppins"/>
              </a:rPr>
              <a:t> can add users, create projects, assign roles, upload data, import and configure modules, and run analyses</a:t>
            </a:r>
          </a:p>
          <a:p>
            <a:pPr>
              <a:spcAft>
                <a:spcPts val="1400"/>
              </a:spcAft>
            </a:pPr>
            <a:r>
              <a:rPr sz="1800" b="1">
                <a:solidFill>
                  <a:srgbClr val="21568C"/>
                </a:solidFill>
                <a:latin typeface="Poppins"/>
              </a:rPr>
              <a:t>Project-level roles:</a:t>
            </a:r>
          </a:p>
          <a:p>
            <a:pPr>
              <a:spcAft>
                <a:spcPts val="800"/>
              </a:spcAft>
            </a:pPr>
            <a:r>
              <a:rPr sz="1800">
                <a:solidFill>
                  <a:srgbClr val="D0CB17"/>
                </a:solidFill>
                <a:latin typeface="Poppins"/>
              </a:rPr>
              <a:t>• </a:t>
            </a:r>
            <a:r>
              <a:rPr sz="1800" b="1">
                <a:solidFill>
                  <a:srgbClr val="21568C"/>
                </a:solidFill>
                <a:latin typeface="Poppins"/>
              </a:rPr>
              <a:t>Project Editors</a:t>
            </a:r>
            <a:r>
              <a:rPr sz="1800">
                <a:solidFill>
                  <a:srgbClr val="2C3E50"/>
                </a:solidFill>
                <a:latin typeface="Poppins"/>
              </a:rPr>
              <a:t> can create visualizations, create reports, and download/export results</a:t>
            </a:r>
          </a:p>
          <a:p>
            <a:pPr>
              <a:spcAft>
                <a:spcPts val="800"/>
              </a:spcAft>
            </a:pPr>
            <a:r>
              <a:rPr sz="1800">
                <a:solidFill>
                  <a:srgbClr val="D0CB17"/>
                </a:solidFill>
                <a:latin typeface="Poppins"/>
              </a:rPr>
              <a:t>• </a:t>
            </a:r>
            <a:r>
              <a:rPr sz="1800" b="1">
                <a:solidFill>
                  <a:srgbClr val="21568C"/>
                </a:solidFill>
                <a:latin typeface="Poppins"/>
              </a:rPr>
              <a:t>Project Viewers</a:t>
            </a:r>
            <a:r>
              <a:rPr sz="1800">
                <a:solidFill>
                  <a:srgbClr val="2C3E50"/>
                </a:solidFill>
                <a:latin typeface="Poppins"/>
              </a:rPr>
              <a:t> can view visualizations, view reports, and download/export results</a:t>
            </a:r>
          </a:p>
          <a:p>
            <a:pPr>
              <a:spcAft>
                <a:spcPts val="1400"/>
              </a:spcAft>
            </a:pPr>
            <a:r>
              <a:rPr sz="1800" i="1">
                <a:solidFill>
                  <a:srgbClr val="1F9A9C"/>
                </a:solidFill>
                <a:latin typeface="Poppins"/>
              </a:rPr>
              <a:t>Administrators are assigned per instance; Editors and Viewers are assigned per project.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Projects Within an Instance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Each country instance can contain </a:t>
            </a:r>
            <a:r>
              <a:rPr sz="1800" b="1">
                <a:solidFill>
                  <a:srgbClr val="21568C"/>
                </a:solidFill>
                <a:latin typeface="Poppins"/>
              </a:rPr>
              <a:t>multiple projects</a:t>
            </a:r>
            <a:r>
              <a:rPr sz="1800">
                <a:solidFill>
                  <a:srgbClr val="333333"/>
                </a:solidFill>
                <a:latin typeface="Poppins"/>
              </a:rPr>
              <a:t>.</a:t>
            </a:r>
          </a:p>
          <a:p>
            <a:pPr>
              <a:spcAft>
                <a:spcPts val="1400"/>
              </a:spcAft>
            </a:pPr>
            <a:r>
              <a:rPr sz="1800">
                <a:solidFill>
                  <a:srgbClr val="333333"/>
                </a:solidFill>
                <a:latin typeface="Poppins"/>
              </a:rPr>
              <a:t>A country may only need one project, or multiple projects can be used for:</a:t>
            </a:r>
          </a:p>
          <a:p>
            <a:pPr>
              <a:spcAft>
                <a:spcPts val="800"/>
              </a:spcAft>
            </a:pPr>
            <a:r>
              <a:rPr sz="1800">
                <a:solidFill>
                  <a:srgbClr val="D0CB17"/>
                </a:solidFill>
                <a:latin typeface="Poppins"/>
              </a:rPr>
              <a:t>• </a:t>
            </a:r>
            <a:r>
              <a:rPr sz="1800">
                <a:solidFill>
                  <a:srgbClr val="2C3E50"/>
                </a:solidFill>
                <a:latin typeface="Poppins"/>
              </a:rPr>
              <a:t>Different versions of analyses</a:t>
            </a:r>
          </a:p>
          <a:p>
            <a:pPr>
              <a:spcAft>
                <a:spcPts val="800"/>
              </a:spcAft>
            </a:pPr>
            <a:r>
              <a:rPr sz="1800">
                <a:solidFill>
                  <a:srgbClr val="D0CB17"/>
                </a:solidFill>
                <a:latin typeface="Poppins"/>
              </a:rPr>
              <a:t>• </a:t>
            </a:r>
            <a:r>
              <a:rPr sz="1800">
                <a:solidFill>
                  <a:srgbClr val="2C3E50"/>
                </a:solidFill>
                <a:latin typeface="Poppins"/>
              </a:rPr>
              <a:t>A demo or playground project</a:t>
            </a:r>
          </a:p>
          <a:p>
            <a:pPr>
              <a:spcAft>
                <a:spcPts val="800"/>
              </a:spcAft>
            </a:pPr>
            <a:r>
              <a:rPr sz="1800">
                <a:solidFill>
                  <a:srgbClr val="D0CB17"/>
                </a:solidFill>
                <a:latin typeface="Poppins"/>
              </a:rPr>
              <a:t>• </a:t>
            </a:r>
            <a:r>
              <a:rPr sz="1800">
                <a:solidFill>
                  <a:srgbClr val="2C3E50"/>
                </a:solidFill>
                <a:latin typeface="Poppins"/>
              </a:rPr>
              <a:t>Separate projects for different teams or programs</a:t>
            </a:r>
          </a:p>
          <a:p>
            <a:pPr>
              <a:spcAft>
                <a:spcPts val="1400"/>
              </a:spcAft>
            </a:pPr>
            <a:r>
              <a:rPr sz="1800" b="1">
                <a:solidFill>
                  <a:srgbClr val="21568C"/>
                </a:solidFill>
                <a:latin typeface="Poppins"/>
              </a:rPr>
              <a:t>Key questions when setting up:</a:t>
            </a:r>
          </a:p>
          <a:p>
            <a:pPr>
              <a:spcAft>
                <a:spcPts val="800"/>
              </a:spcAft>
            </a:pPr>
            <a:r>
              <a:rPr sz="1800">
                <a:solidFill>
                  <a:srgbClr val="D0CB17"/>
                </a:solidFill>
                <a:latin typeface="Poppins"/>
              </a:rPr>
              <a:t>• </a:t>
            </a:r>
            <a:r>
              <a:rPr sz="1800">
                <a:solidFill>
                  <a:srgbClr val="2C3E50"/>
                </a:solidFill>
                <a:latin typeface="Poppins"/>
              </a:rPr>
              <a:t>Who is the admin?</a:t>
            </a:r>
          </a:p>
          <a:p>
            <a:pPr>
              <a:spcAft>
                <a:spcPts val="800"/>
              </a:spcAft>
            </a:pPr>
            <a:r>
              <a:rPr sz="1800">
                <a:solidFill>
                  <a:srgbClr val="D0CB17"/>
                </a:solidFill>
                <a:latin typeface="Poppins"/>
              </a:rPr>
              <a:t>• </a:t>
            </a:r>
            <a:r>
              <a:rPr sz="1800">
                <a:solidFill>
                  <a:srgbClr val="2C3E50"/>
                </a:solidFill>
                <a:latin typeface="Poppins"/>
              </a:rPr>
              <a:t>Who can edit?</a:t>
            </a:r>
          </a:p>
          <a:p>
            <a:pPr>
              <a:spcAft>
                <a:spcPts val="800"/>
              </a:spcAft>
            </a:pPr>
            <a:r>
              <a:rPr sz="1800">
                <a:solidFill>
                  <a:srgbClr val="D0CB17"/>
                </a:solidFill>
                <a:latin typeface="Poppins"/>
              </a:rPr>
              <a:t>• </a:t>
            </a:r>
            <a:r>
              <a:rPr sz="1800">
                <a:solidFill>
                  <a:srgbClr val="2C3E50"/>
                </a:solidFill>
                <a:latin typeface="Poppins"/>
              </a:rPr>
              <a:t>Who can view?</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Practice: Logging Into the Platform</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01_login_page.png"/>
          <p:cNvPicPr>
            <a:picLocks noChangeAspect="1"/>
          </p:cNvPicPr>
          <p:nvPr/>
        </p:nvPicPr>
        <p:blipFill>
          <a:blip r:embed="rId2"/>
          <a:stretch>
            <a:fillRect/>
          </a:stretch>
        </p:blipFill>
        <p:spPr>
          <a:xfrm>
            <a:off x="685800" y="1188720"/>
            <a:ext cx="5029200" cy="2192505"/>
          </a:xfrm>
          <a:prstGeom prst="rect">
            <a:avLst/>
          </a:prstGeom>
        </p:spPr>
      </p:pic>
      <p:pic>
        <p:nvPicPr>
          <p:cNvPr id="5" name="Picture 4" descr="02_sign_up.png"/>
          <p:cNvPicPr>
            <a:picLocks noChangeAspect="1"/>
          </p:cNvPicPr>
          <p:nvPr/>
        </p:nvPicPr>
        <p:blipFill>
          <a:blip r:embed="rId3"/>
          <a:stretch>
            <a:fillRect/>
          </a:stretch>
        </p:blipFill>
        <p:spPr>
          <a:xfrm>
            <a:off x="6400800" y="1188720"/>
            <a:ext cx="5029200" cy="5144103"/>
          </a:xfrm>
          <a:prstGeom prst="rect">
            <a:avLst/>
          </a:prstGeom>
        </p:spPr>
      </p:pic>
      <p:sp>
        <p:nvSpPr>
          <p:cNvPr id="6" name="TextBox 5"/>
          <p:cNvSpPr txBox="1"/>
          <p:nvPr/>
        </p:nvSpPr>
        <p:spPr>
          <a:xfrm>
            <a:off x="685800" y="4389120"/>
            <a:ext cx="10820095" cy="2286000"/>
          </a:xfrm>
          <a:prstGeom prst="rect">
            <a:avLst/>
          </a:prstGeom>
          <a:noFill/>
        </p:spPr>
        <p:txBody>
          <a:bodyPr wrap="square">
            <a:spAutoFit/>
          </a:bodyPr>
          <a:lstStyle/>
          <a:p>
            <a:pPr>
              <a:spcAft>
                <a:spcPts val="600"/>
              </a:spcAft>
            </a:pPr>
            <a:r>
              <a:rPr sz="1800" b="1">
                <a:solidFill>
                  <a:srgbClr val="21568C"/>
                </a:solidFill>
                <a:latin typeface="Poppins"/>
              </a:rPr>
              <a:t>1.</a:t>
            </a:r>
            <a:r>
              <a:rPr sz="1800">
                <a:solidFill>
                  <a:srgbClr val="2C3E50"/>
                </a:solidFill>
                <a:latin typeface="Poppins"/>
              </a:rPr>
              <a:t> Go to https://zambia.fastr-analytics.org</a:t>
            </a:r>
          </a:p>
          <a:p>
            <a:pPr>
              <a:spcAft>
                <a:spcPts val="600"/>
              </a:spcAft>
            </a:pPr>
            <a:r>
              <a:rPr sz="1800" b="1">
                <a:solidFill>
                  <a:srgbClr val="21568C"/>
                </a:solidFill>
                <a:latin typeface="Poppins"/>
              </a:rPr>
              <a:t>2.</a:t>
            </a:r>
            <a:r>
              <a:rPr sz="1800">
                <a:solidFill>
                  <a:srgbClr val="2C3E50"/>
                </a:solidFill>
                <a:latin typeface="Poppins"/>
              </a:rPr>
              <a:t> Click Sign up and enter your details</a:t>
            </a:r>
          </a:p>
          <a:p>
            <a:pPr>
              <a:spcAft>
                <a:spcPts val="600"/>
              </a:spcAft>
            </a:pPr>
            <a:r>
              <a:rPr sz="1800" b="1">
                <a:solidFill>
                  <a:srgbClr val="21568C"/>
                </a:solidFill>
                <a:latin typeface="Poppins"/>
              </a:rPr>
              <a:t>3.</a:t>
            </a:r>
            <a:r>
              <a:rPr sz="1800">
                <a:solidFill>
                  <a:srgbClr val="2C3E50"/>
                </a:solidFill>
                <a:latin typeface="Poppins"/>
              </a:rPr>
              <a:t> Enter your information (verify email)</a:t>
            </a:r>
          </a:p>
          <a:p>
            <a:pPr>
              <a:spcAft>
                <a:spcPts val="600"/>
              </a:spcAft>
            </a:pPr>
            <a:r>
              <a:rPr sz="1800" b="1">
                <a:solidFill>
                  <a:srgbClr val="21568C"/>
                </a:solidFill>
                <a:latin typeface="Poppins"/>
              </a:rPr>
              <a:t>4.</a:t>
            </a:r>
            <a:r>
              <a:rPr sz="1800">
                <a:solidFill>
                  <a:srgbClr val="2C3E50"/>
                </a:solidFill>
                <a:latin typeface="Poppins"/>
              </a:rPr>
              <a:t> After login, you'll be added to a project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Live Demo: Platform Access &amp; Roles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Navigate to the FASTR platform</a:t>
            </a:r>
          </a:p>
          <a:p>
            <a:pPr>
              <a:spcAft>
                <a:spcPts val="800"/>
              </a:spcAft>
            </a:pPr>
            <a:r>
              <a:rPr sz="1800">
                <a:solidFill>
                  <a:srgbClr val="D0CB17"/>
                </a:solidFill>
                <a:latin typeface="Poppins"/>
              </a:rPr>
              <a:t>• </a:t>
            </a:r>
            <a:r>
              <a:rPr sz="1800">
                <a:solidFill>
                  <a:srgbClr val="2C3E50"/>
                </a:solidFill>
                <a:latin typeface="Poppins"/>
              </a:rPr>
              <a:t>Explore user roles: Administrator, Editor, Viewer</a:t>
            </a:r>
          </a:p>
          <a:p>
            <a:pPr>
              <a:spcAft>
                <a:spcPts val="800"/>
              </a:spcAft>
            </a:pPr>
            <a:r>
              <a:rPr sz="1800">
                <a:solidFill>
                  <a:srgbClr val="D0CB17"/>
                </a:solidFill>
                <a:latin typeface="Poppins"/>
              </a:rPr>
              <a:t>• </a:t>
            </a:r>
            <a:r>
              <a:rPr sz="1800">
                <a:solidFill>
                  <a:srgbClr val="2C3E50"/>
                </a:solidFill>
                <a:latin typeface="Poppins"/>
              </a:rPr>
              <a:t>Review user management and permissions</a:t>
            </a:r>
          </a:p>
          <a:p>
            <a:pPr>
              <a:spcAft>
                <a:spcPts val="800"/>
              </a:spcAft>
            </a:pPr>
            <a:r>
              <a:rPr sz="1800">
                <a:solidFill>
                  <a:srgbClr val="D0CB17"/>
                </a:solidFill>
                <a:latin typeface="Poppins"/>
              </a:rPr>
              <a:t>• </a:t>
            </a:r>
            <a:r>
              <a:rPr sz="1800">
                <a:solidFill>
                  <a:srgbClr val="2C3E50"/>
                </a:solidFill>
                <a:latin typeface="Poppins"/>
              </a:rPr>
              <a:t>Understand the workflow for uploading data and making analytical decisions</a:t>
            </a:r>
          </a:p>
          <a:p>
            <a:pPr>
              <a:spcAft>
                <a:spcPts val="1400"/>
              </a:spcAft>
            </a:pPr>
            <a:r>
              <a:rPr sz="1800" i="1">
                <a:solidFill>
                  <a:srgbClr val="1F9A9C"/>
                </a:solidFill>
                <a:latin typeface="Poppins"/>
              </a:rPr>
              <a:t>Facilitator will demonstrate in the live platform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4: Configuring the FASTR analytics platform</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Setting Up Admin Areas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Admin areas (regions, districts)</a:t>
            </a:r>
          </a:p>
          <a:p>
            <a:pPr>
              <a:spcAft>
                <a:spcPts val="800"/>
              </a:spcAft>
            </a:pPr>
            <a:r>
              <a:rPr sz="1800">
                <a:solidFill>
                  <a:srgbClr val="D0CB17"/>
                </a:solidFill>
                <a:latin typeface="Poppins"/>
              </a:rPr>
              <a:t>• </a:t>
            </a:r>
            <a:r>
              <a:rPr sz="1800">
                <a:solidFill>
                  <a:srgbClr val="2C3E50"/>
                </a:solidFill>
                <a:latin typeface="Poppins"/>
              </a:rPr>
              <a:t>Facility structure</a:t>
            </a:r>
          </a:p>
          <a:p>
            <a:pPr>
              <a:spcAft>
                <a:spcPts val="800"/>
              </a:spcAft>
            </a:pPr>
            <a:r>
              <a:rPr sz="1800">
                <a:solidFill>
                  <a:srgbClr val="D0CB17"/>
                </a:solidFill>
                <a:latin typeface="Poppins"/>
              </a:rPr>
              <a:t>• </a:t>
            </a:r>
            <a:r>
              <a:rPr sz="1800">
                <a:solidFill>
                  <a:srgbClr val="2C3E50"/>
                </a:solidFill>
                <a:latin typeface="Poppins"/>
              </a:rPr>
              <a:t>Indicator definitions</a:t>
            </a:r>
          </a:p>
          <a:p>
            <a:pPr>
              <a:spcAft>
                <a:spcPts val="1400"/>
              </a:spcAft>
            </a:pPr>
            <a:r>
              <a:rPr sz="1800" i="1">
                <a:solidFill>
                  <a:srgbClr val="1F9A9C"/>
                </a:solidFill>
                <a:latin typeface="Poppins"/>
              </a:rPr>
              <a:t>Participants will work directly in the platform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Importing Data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data format requirements</a:t>
            </a:r>
          </a:p>
          <a:p>
            <a:pPr>
              <a:spcAft>
                <a:spcPts val="800"/>
              </a:spcAft>
            </a:pPr>
            <a:r>
              <a:rPr sz="1800">
                <a:solidFill>
                  <a:srgbClr val="D0CB17"/>
                </a:solidFill>
                <a:latin typeface="Poppins"/>
              </a:rPr>
              <a:t>• </a:t>
            </a:r>
            <a:r>
              <a:rPr sz="1800">
                <a:solidFill>
                  <a:srgbClr val="2C3E50"/>
                </a:solidFill>
                <a:latin typeface="Poppins"/>
              </a:rPr>
              <a:t>Walk through the import process</a:t>
            </a:r>
          </a:p>
          <a:p>
            <a:pPr>
              <a:spcAft>
                <a:spcPts val="800"/>
              </a:spcAft>
            </a:pPr>
            <a:r>
              <a:rPr sz="1800">
                <a:solidFill>
                  <a:srgbClr val="D0CB17"/>
                </a:solidFill>
                <a:latin typeface="Poppins"/>
              </a:rPr>
              <a:t>• </a:t>
            </a:r>
            <a:r>
              <a:rPr sz="1800">
                <a:solidFill>
                  <a:srgbClr val="2C3E50"/>
                </a:solidFill>
                <a:latin typeface="Poppins"/>
              </a:rPr>
              <a:t>Handle validation and error checking</a:t>
            </a:r>
          </a:p>
          <a:p>
            <a:pPr>
              <a:spcAft>
                <a:spcPts val="1400"/>
              </a:spcAft>
            </a:pPr>
            <a:r>
              <a:rPr sz="1800" i="1">
                <a:solidFill>
                  <a:srgbClr val="1F9A9C"/>
                </a:solidFill>
                <a:latin typeface="Poppins"/>
              </a:rPr>
              <a:t>Participants will import their country's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Installing and Running Modules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Review available analysis modules</a:t>
            </a:r>
          </a:p>
          <a:p>
            <a:pPr>
              <a:spcAft>
                <a:spcPts val="800"/>
              </a:spcAft>
            </a:pPr>
            <a:r>
              <a:rPr sz="1800">
                <a:solidFill>
                  <a:srgbClr val="D0CB17"/>
                </a:solidFill>
                <a:latin typeface="Poppins"/>
              </a:rPr>
              <a:t>• </a:t>
            </a:r>
            <a:r>
              <a:rPr sz="1800">
                <a:solidFill>
                  <a:srgbClr val="2C3E50"/>
                </a:solidFill>
                <a:latin typeface="Poppins"/>
              </a:rPr>
              <a:t>Install required modules</a:t>
            </a:r>
          </a:p>
          <a:p>
            <a:pPr>
              <a:spcAft>
                <a:spcPts val="800"/>
              </a:spcAft>
            </a:pPr>
            <a:r>
              <a:rPr sz="1800">
                <a:solidFill>
                  <a:srgbClr val="D0CB17"/>
                </a:solidFill>
                <a:latin typeface="Poppins"/>
              </a:rPr>
              <a:t>• </a:t>
            </a:r>
            <a:r>
              <a:rPr sz="1800">
                <a:solidFill>
                  <a:srgbClr val="2C3E50"/>
                </a:solidFill>
                <a:latin typeface="Poppins"/>
              </a:rPr>
              <a:t>Run initial analyses</a:t>
            </a:r>
          </a:p>
          <a:p>
            <a:pPr>
              <a:spcAft>
                <a:spcPts val="1400"/>
              </a:spcAft>
            </a:pPr>
            <a:r>
              <a:rPr sz="1800" i="1">
                <a:solidFill>
                  <a:srgbClr val="1F9A9C"/>
                </a:solidFill>
                <a:latin typeface="Poppins"/>
              </a:rPr>
              <a:t>Participants will configure and run modules on their data</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1, we covered:</a:t>
            </a:r>
          </a:p>
          <a:p>
            <a:pPr>
              <a:spcAft>
                <a:spcPts val="800"/>
              </a:spcAft>
            </a:pPr>
            <a:r>
              <a:rPr sz="1800">
                <a:solidFill>
                  <a:srgbClr val="D0CB17"/>
                </a:solidFill>
                <a:latin typeface="Poppins"/>
              </a:rPr>
              <a:t>• </a:t>
            </a:r>
            <a:r>
              <a:rPr sz="1800">
                <a:solidFill>
                  <a:srgbClr val="2C3E50"/>
                </a:solidFill>
                <a:latin typeface="Poppins"/>
              </a:rPr>
              <a:t>The FASTR approach and rapid-cycle analytics methodology</a:t>
            </a:r>
          </a:p>
          <a:p>
            <a:pPr>
              <a:spcAft>
                <a:spcPts val="800"/>
              </a:spcAft>
            </a:pPr>
            <a:r>
              <a:rPr sz="1800">
                <a:solidFill>
                  <a:srgbClr val="D0CB17"/>
                </a:solidFill>
                <a:latin typeface="Poppins"/>
              </a:rPr>
              <a:t>• </a:t>
            </a:r>
            <a:r>
              <a:rPr sz="1800">
                <a:solidFill>
                  <a:srgbClr val="2C3E50"/>
                </a:solidFill>
                <a:latin typeface="Poppins"/>
              </a:rPr>
              <a:t>Data extraction from DHIS2 using the Data Downloader</a:t>
            </a:r>
          </a:p>
          <a:p>
            <a:pPr>
              <a:spcAft>
                <a:spcPts val="800"/>
              </a:spcAft>
            </a:pPr>
            <a:r>
              <a:rPr sz="1800">
                <a:solidFill>
                  <a:srgbClr val="D0CB17"/>
                </a:solidFill>
                <a:latin typeface="Poppins"/>
              </a:rPr>
              <a:t>• </a:t>
            </a:r>
            <a:r>
              <a:rPr sz="1800">
                <a:solidFill>
                  <a:srgbClr val="2C3E50"/>
                </a:solidFill>
                <a:latin typeface="Poppins"/>
              </a:rPr>
              <a:t>Introduction to the FASTR Analytics Platform</a:t>
            </a:r>
          </a:p>
          <a:p>
            <a:pPr>
              <a:spcAft>
                <a:spcPts val="800"/>
              </a:spcAft>
            </a:pPr>
            <a:r>
              <a:rPr sz="1800">
                <a:solidFill>
                  <a:srgbClr val="D0CB17"/>
                </a:solidFill>
                <a:latin typeface="Poppins"/>
              </a:rPr>
              <a:t>• </a:t>
            </a:r>
            <a:r>
              <a:rPr sz="1800">
                <a:solidFill>
                  <a:srgbClr val="2C3E50"/>
                </a:solidFill>
                <a:latin typeface="Poppins"/>
              </a:rPr>
              <a:t>Platform configuration: admin areas, data import, modules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2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will:</a:t>
            </a:r>
          </a:p>
          <a:p>
            <a:pPr>
              <a:spcAft>
                <a:spcPts val="800"/>
              </a:spcAft>
            </a:pPr>
            <a:r>
              <a:rPr sz="1800">
                <a:solidFill>
                  <a:srgbClr val="D0CB17"/>
                </a:solidFill>
                <a:latin typeface="Poppins"/>
              </a:rPr>
              <a:t>• </a:t>
            </a:r>
            <a:r>
              <a:rPr sz="1800">
                <a:solidFill>
                  <a:srgbClr val="2C3E50"/>
                </a:solidFill>
                <a:latin typeface="Poppins"/>
              </a:rPr>
              <a:t>Explore FASTR methods for data quality and analysis</a:t>
            </a:r>
          </a:p>
          <a:p>
            <a:pPr>
              <a:spcAft>
                <a:spcPts val="800"/>
              </a:spcAft>
            </a:pPr>
            <a:r>
              <a:rPr sz="1800">
                <a:solidFill>
                  <a:srgbClr val="D0CB17"/>
                </a:solidFill>
                <a:latin typeface="Poppins"/>
              </a:rPr>
              <a:t>• </a:t>
            </a:r>
            <a:r>
              <a:rPr sz="1800">
                <a:solidFill>
                  <a:srgbClr val="2C3E50"/>
                </a:solidFill>
                <a:latin typeface="Poppins"/>
              </a:rPr>
              <a:t>Create and configure projects</a:t>
            </a:r>
          </a:p>
          <a:p>
            <a:pPr>
              <a:spcAft>
                <a:spcPts val="800"/>
              </a:spcAft>
            </a:pPr>
            <a:r>
              <a:rPr sz="1800">
                <a:solidFill>
                  <a:srgbClr val="D0CB17"/>
                </a:solidFill>
                <a:latin typeface="Poppins"/>
              </a:rPr>
              <a:t>• </a:t>
            </a:r>
            <a:r>
              <a:rPr sz="1800">
                <a:solidFill>
                  <a:srgbClr val="2C3E50"/>
                </a:solidFill>
                <a:latin typeface="Poppins"/>
              </a:rPr>
              <a:t>Build visualizations</a:t>
            </a:r>
          </a:p>
          <a:p>
            <a:pPr>
              <a:spcAft>
                <a:spcPts val="800"/>
              </a:spcAft>
            </a:pPr>
            <a:r>
              <a:rPr sz="1800">
                <a:solidFill>
                  <a:srgbClr val="D0CB17"/>
                </a:solidFill>
                <a:latin typeface="Poppins"/>
              </a:rPr>
              <a:t>• </a:t>
            </a:r>
            <a:r>
              <a:rPr sz="1800">
                <a:solidFill>
                  <a:srgbClr val="2C3E50"/>
                </a:solidFill>
                <a:latin typeface="Poppins"/>
              </a:rPr>
              <a:t>Generate reports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5: Overview of FASTR methods and analytical outputs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FASTR analytical pipeline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The FASTR analysis follows a sequential workflow where each step builds on the previous:</a:t>
            </a:r>
          </a:p>
          <a:p>
            <a:pPr>
              <a:spcAft>
                <a:spcPts val="800"/>
              </a:spcAft>
            </a:pPr>
            <a:r>
              <a:rPr sz="1800">
                <a:solidFill>
                  <a:srgbClr val="D0CB17"/>
                </a:solidFill>
                <a:latin typeface="Poppins"/>
              </a:rPr>
              <a:t>• </a:t>
            </a:r>
            <a:r>
              <a:rPr sz="1800" b="1">
                <a:solidFill>
                  <a:srgbClr val="21568C"/>
                </a:solidFill>
                <a:latin typeface="Poppins"/>
              </a:rPr>
              <a:t>Assess data quality</a:t>
            </a:r>
            <a:r>
              <a:rPr sz="1800">
                <a:solidFill>
                  <a:srgbClr val="2C3E50"/>
                </a:solidFill>
                <a:latin typeface="Poppins"/>
              </a:rPr>
              <a:t> - Identify issues with completeness, outliers, and consistency</a:t>
            </a:r>
          </a:p>
          <a:p>
            <a:pPr>
              <a:spcAft>
                <a:spcPts val="800"/>
              </a:spcAft>
            </a:pPr>
            <a:r>
              <a:rPr sz="1800">
                <a:solidFill>
                  <a:srgbClr val="D0CB17"/>
                </a:solidFill>
                <a:latin typeface="Poppins"/>
              </a:rPr>
              <a:t>• </a:t>
            </a:r>
            <a:r>
              <a:rPr sz="1800" b="1">
                <a:solidFill>
                  <a:srgbClr val="21568C"/>
                </a:solidFill>
                <a:latin typeface="Poppins"/>
              </a:rPr>
              <a:t>Adjust for quality issues</a:t>
            </a:r>
            <a:r>
              <a:rPr sz="1800">
                <a:solidFill>
                  <a:srgbClr val="2C3E50"/>
                </a:solidFill>
                <a:latin typeface="Poppins"/>
              </a:rPr>
              <a:t> - Apply corrections to improve data reliability</a:t>
            </a:r>
          </a:p>
          <a:p>
            <a:pPr>
              <a:spcAft>
                <a:spcPts val="800"/>
              </a:spcAft>
            </a:pPr>
            <a:r>
              <a:rPr sz="1800">
                <a:solidFill>
                  <a:srgbClr val="D0CB17"/>
                </a:solidFill>
                <a:latin typeface="Poppins"/>
              </a:rPr>
              <a:t>• </a:t>
            </a:r>
            <a:r>
              <a:rPr sz="1800" b="1">
                <a:solidFill>
                  <a:srgbClr val="21568C"/>
                </a:solidFill>
                <a:latin typeface="Poppins"/>
              </a:rPr>
              <a:t>Analyze adjusted data</a:t>
            </a:r>
            <a:r>
              <a:rPr sz="1800">
                <a:solidFill>
                  <a:srgbClr val="2C3E50"/>
                </a:solidFill>
                <a:latin typeface="Poppins"/>
              </a:rPr>
              <a:t> - Generate service utilization and coverage estimates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assessment - Module 1</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Evaluating the reliability of routine health information system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Challenge:</a:t>
            </a:r>
            <a:r>
              <a:rPr sz="1800">
                <a:solidFill>
                  <a:srgbClr val="333333"/>
                </a:solidFill>
                <a:latin typeface="Poppins"/>
              </a:rPr>
              <a:t> Routine health facility data may contain quality limitations:</a:t>
            </a:r>
          </a:p>
          <a:p>
            <a:pPr>
              <a:spcAft>
                <a:spcPts val="800"/>
              </a:spcAft>
            </a:pPr>
            <a:r>
              <a:rPr sz="1800">
                <a:solidFill>
                  <a:srgbClr val="D0CB17"/>
                </a:solidFill>
                <a:latin typeface="Poppins"/>
              </a:rPr>
              <a:t>• </a:t>
            </a:r>
            <a:r>
              <a:rPr sz="1800">
                <a:solidFill>
                  <a:srgbClr val="2C3E50"/>
                </a:solidFill>
                <a:latin typeface="Poppins"/>
              </a:rPr>
              <a:t>Reported values may fall outside plausible ranges</a:t>
            </a:r>
          </a:p>
          <a:p>
            <a:pPr>
              <a:spcAft>
                <a:spcPts val="800"/>
              </a:spcAft>
            </a:pPr>
            <a:r>
              <a:rPr sz="1800">
                <a:solidFill>
                  <a:srgbClr val="D0CB17"/>
                </a:solidFill>
                <a:latin typeface="Poppins"/>
              </a:rPr>
              <a:t>• </a:t>
            </a:r>
            <a:r>
              <a:rPr sz="1800">
                <a:solidFill>
                  <a:srgbClr val="2C3E50"/>
                </a:solidFill>
                <a:latin typeface="Poppins"/>
              </a:rPr>
              <a:t>Reporting gaps affect data completeness</a:t>
            </a:r>
          </a:p>
          <a:p>
            <a:pPr>
              <a:spcAft>
                <a:spcPts val="800"/>
              </a:spcAft>
            </a:pPr>
            <a:r>
              <a:rPr sz="1800">
                <a:solidFill>
                  <a:srgbClr val="D0CB17"/>
                </a:solidFill>
                <a:latin typeface="Poppins"/>
              </a:rPr>
              <a:t>• </a:t>
            </a:r>
            <a:r>
              <a:rPr sz="1800">
                <a:solidFill>
                  <a:srgbClr val="2C3E50"/>
                </a:solidFill>
                <a:latin typeface="Poppins"/>
              </a:rPr>
              <a:t>Inconsistencies exist between related indicators</a:t>
            </a:r>
          </a:p>
          <a:p>
            <a:pPr>
              <a:spcAft>
                <a:spcPts val="1400"/>
              </a:spcAft>
            </a:pPr>
            <a:r>
              <a:rPr sz="1800" b="1">
                <a:solidFill>
                  <a:srgbClr val="21568C"/>
                </a:solidFill>
                <a:latin typeface="Poppins"/>
              </a:rPr>
              <a:t>Implications:</a:t>
            </a:r>
            <a:r>
              <a:rPr sz="1800">
                <a:solidFill>
                  <a:srgbClr val="333333"/>
                </a:solidFill>
                <a:latin typeface="Poppins"/>
              </a:rPr>
              <a:t> Data quality limitations affect decision-making</a:t>
            </a:r>
          </a:p>
          <a:p>
            <a:pPr>
              <a:spcAft>
                <a:spcPts val="800"/>
              </a:spcAft>
            </a:pPr>
            <a:r>
              <a:rPr sz="1800">
                <a:solidFill>
                  <a:srgbClr val="D0CB17"/>
                </a:solidFill>
                <a:latin typeface="Poppins"/>
              </a:rPr>
              <a:t>• </a:t>
            </a:r>
            <a:r>
              <a:rPr sz="1800">
                <a:solidFill>
                  <a:srgbClr val="2C3E50"/>
                </a:solidFill>
                <a:latin typeface="Poppins"/>
              </a:rPr>
              <a:t>Inaccurate assessments of service delivery trends</a:t>
            </a:r>
          </a:p>
          <a:p>
            <a:pPr>
              <a:spcAft>
                <a:spcPts val="800"/>
              </a:spcAft>
            </a:pPr>
            <a:r>
              <a:rPr sz="1800">
                <a:solidFill>
                  <a:srgbClr val="D0CB17"/>
                </a:solidFill>
                <a:latin typeface="Poppins"/>
              </a:rPr>
              <a:t>• </a:t>
            </a:r>
            <a:r>
              <a:rPr sz="1800">
                <a:solidFill>
                  <a:srgbClr val="2C3E50"/>
                </a:solidFill>
                <a:latin typeface="Poppins"/>
              </a:rPr>
              <a:t>Misidentification of areas requiring intervention</a:t>
            </a:r>
          </a:p>
          <a:p>
            <a:pPr>
              <a:spcAft>
                <a:spcPts val="800"/>
              </a:spcAft>
            </a:pPr>
            <a:r>
              <a:rPr sz="1800">
                <a:solidFill>
                  <a:srgbClr val="D0CB17"/>
                </a:solidFill>
                <a:latin typeface="Poppins"/>
              </a:rPr>
              <a:t>• </a:t>
            </a:r>
            <a:r>
              <a:rPr sz="1800">
                <a:solidFill>
                  <a:srgbClr val="2C3E50"/>
                </a:solidFill>
                <a:latin typeface="Poppins"/>
              </a:rPr>
              <a:t>Suboptimal resource allocation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 of data quality assessment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Objective 1: Enable analytical adjustment</a:t>
            </a:r>
          </a:p>
          <a:p>
            <a:pPr>
              <a:spcAft>
                <a:spcPts val="1400"/>
              </a:spcAft>
            </a:pPr>
            <a:r>
              <a:rPr sz="1800">
                <a:solidFill>
                  <a:srgbClr val="333333"/>
                </a:solidFill>
                <a:latin typeface="Poppins"/>
              </a:rPr>
              <a:t>Systematic data quality assessment supports the application of targeted adjustments, enhancing the utility of HMIS data for evidence-based decision-making.</a:t>
            </a:r>
          </a:p>
          <a:p>
            <a:pPr>
              <a:spcAft>
                <a:spcPts val="1400"/>
              </a:spcAft>
            </a:pPr>
            <a:r>
              <a:rPr sz="1800" b="1">
                <a:solidFill>
                  <a:srgbClr val="21568C"/>
                </a:solidFill>
                <a:latin typeface="Poppins"/>
              </a:rPr>
              <a:t>Objective 2: Monitor data quality trends</a:t>
            </a:r>
          </a:p>
          <a:p>
            <a:pPr>
              <a:spcAft>
                <a:spcPts val="1400"/>
              </a:spcAft>
            </a:pPr>
            <a:r>
              <a:rPr sz="1800">
                <a:solidFill>
                  <a:srgbClr val="333333"/>
                </a:solidFill>
                <a:latin typeface="Poppins"/>
              </a:rPr>
              <a:t>Data quality assessment enables ongoing monitoring to:</a:t>
            </a:r>
          </a:p>
          <a:p>
            <a:pPr>
              <a:spcAft>
                <a:spcPts val="800"/>
              </a:spcAft>
            </a:pPr>
            <a:r>
              <a:rPr sz="1800">
                <a:solidFill>
                  <a:srgbClr val="D0CB17"/>
                </a:solidFill>
                <a:latin typeface="Poppins"/>
              </a:rPr>
              <a:t>• </a:t>
            </a:r>
            <a:r>
              <a:rPr sz="1800">
                <a:solidFill>
                  <a:srgbClr val="2C3E50"/>
                </a:solidFill>
                <a:latin typeface="Poppins"/>
              </a:rPr>
              <a:t>Inform indicator selection based on quality profiles across the HMIS</a:t>
            </a:r>
          </a:p>
          <a:p>
            <a:pPr>
              <a:spcAft>
                <a:spcPts val="800"/>
              </a:spcAft>
            </a:pPr>
            <a:r>
              <a:rPr sz="1800">
                <a:solidFill>
                  <a:srgbClr val="D0CB17"/>
                </a:solidFill>
                <a:latin typeface="Poppins"/>
              </a:rPr>
              <a:t>• </a:t>
            </a:r>
            <a:r>
              <a:rPr sz="1800">
                <a:solidFill>
                  <a:srgbClr val="2C3E50"/>
                </a:solidFill>
                <a:latin typeface="Poppins"/>
              </a:rPr>
              <a:t>Guide targeted data quality interventions and supportive supervision in areas with weaker data quality</a:t>
            </a:r>
          </a:p>
          <a:p>
            <a:pPr>
              <a:spcAft>
                <a:spcPts val="800"/>
              </a:spcAft>
            </a:pPr>
            <a:r>
              <a:rPr sz="1800">
                <a:solidFill>
                  <a:srgbClr val="D0CB17"/>
                </a:solidFill>
                <a:latin typeface="Poppins"/>
              </a:rPr>
              <a:t>• </a:t>
            </a:r>
            <a:r>
              <a:rPr sz="1800">
                <a:solidFill>
                  <a:srgbClr val="2C3E50"/>
                </a:solidFill>
                <a:latin typeface="Poppins"/>
              </a:rPr>
              <a:t>Evaluate the effectiveness of data quality improvement initiatives over time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Core dimensions of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1. Completeness</a:t>
            </a:r>
          </a:p>
          <a:p>
            <a:pPr>
              <a:spcAft>
                <a:spcPts val="1400"/>
              </a:spcAft>
            </a:pPr>
            <a:r>
              <a:rPr sz="1800">
                <a:solidFill>
                  <a:srgbClr val="333333"/>
                </a:solidFill>
                <a:latin typeface="Poppins"/>
              </a:rPr>
              <a:t>Are health facilities submitting reports consistently?</a:t>
            </a:r>
          </a:p>
          <a:p>
            <a:pPr>
              <a:spcAft>
                <a:spcPts val="1400"/>
              </a:spcAft>
            </a:pPr>
            <a:r>
              <a:rPr sz="1800" b="1">
                <a:solidFill>
                  <a:srgbClr val="21568C"/>
                </a:solidFill>
                <a:latin typeface="Poppins"/>
              </a:rPr>
              <a:t>2. Outlier prevalence</a:t>
            </a:r>
          </a:p>
          <a:p>
            <a:pPr>
              <a:spcAft>
                <a:spcPts val="1400"/>
              </a:spcAft>
            </a:pPr>
            <a:r>
              <a:rPr sz="1800">
                <a:solidFill>
                  <a:srgbClr val="333333"/>
                </a:solidFill>
                <a:latin typeface="Poppins"/>
              </a:rPr>
              <a:t>Are reported values within plausible ranges?</a:t>
            </a:r>
          </a:p>
          <a:p>
            <a:pPr>
              <a:spcAft>
                <a:spcPts val="1400"/>
              </a:spcAft>
            </a:pPr>
            <a:r>
              <a:rPr sz="1800" b="1">
                <a:solidFill>
                  <a:srgbClr val="21568C"/>
                </a:solidFill>
                <a:latin typeface="Poppins"/>
              </a:rPr>
              <a:t>3. Internal consistency</a:t>
            </a:r>
          </a:p>
          <a:p>
            <a:pPr>
              <a:spcAft>
                <a:spcPts val="1400"/>
              </a:spcAft>
            </a:pPr>
            <a:r>
              <a:rPr sz="1800">
                <a:solidFill>
                  <a:srgbClr val="333333"/>
                </a:solidFill>
                <a:latin typeface="Poppins"/>
              </a:rPr>
              <a:t>Do related indicators demonstrate expected relationships?</a:t>
            </a:r>
          </a:p>
          <a:p>
            <a:pPr>
              <a:spcAft>
                <a:spcPts val="1400"/>
              </a:spcAft>
            </a:pPr>
            <a:r>
              <a:rPr sz="1800">
                <a:solidFill>
                  <a:srgbClr val="333333"/>
                </a:solidFill>
                <a:latin typeface="Poppins"/>
              </a:rPr>
              <a:t>These three dimensions provide a comprehensive assessment of data reliability for analytical purposes.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b="1">
                <a:solidFill>
                  <a:srgbClr val="21568C"/>
                </a:solidFill>
                <a:latin typeface="Poppins"/>
              </a:rPr>
              <a:t>What it measures:</a:t>
            </a:r>
            <a:r>
              <a:rPr sz="1800">
                <a:solidFill>
                  <a:srgbClr val="333333"/>
                </a:solidFill>
                <a:latin typeface="Poppins"/>
              </a:rPr>
              <a:t> The extent to which facilities report data on selected core indicators</a:t>
            </a:r>
          </a:p>
          <a:p>
            <a:pPr>
              <a:spcAft>
                <a:spcPts val="1400"/>
              </a:spcAft>
            </a:pPr>
            <a:r>
              <a:rPr sz="1800" b="1">
                <a:solidFill>
                  <a:srgbClr val="21568C"/>
                </a:solidFill>
                <a:latin typeface="Poppins"/>
              </a:rPr>
              <a:t>Why it matters:</a:t>
            </a:r>
          </a:p>
          <a:p>
            <a:pPr>
              <a:spcAft>
                <a:spcPts val="800"/>
              </a:spcAft>
            </a:pPr>
            <a:r>
              <a:rPr sz="1800">
                <a:solidFill>
                  <a:srgbClr val="D0CB17"/>
                </a:solidFill>
                <a:latin typeface="Poppins"/>
              </a:rPr>
              <a:t>• </a:t>
            </a:r>
            <a:r>
              <a:rPr sz="1800">
                <a:solidFill>
                  <a:srgbClr val="2C3E50"/>
                </a:solidFill>
                <a:latin typeface="Poppins"/>
              </a:rPr>
              <a:t>Higher completeness improves data reliability</a:t>
            </a:r>
          </a:p>
          <a:p>
            <a:pPr>
              <a:spcAft>
                <a:spcPts val="800"/>
              </a:spcAft>
            </a:pPr>
            <a:r>
              <a:rPr sz="1800">
                <a:solidFill>
                  <a:srgbClr val="D0CB17"/>
                </a:solidFill>
                <a:latin typeface="Poppins"/>
              </a:rPr>
              <a:t>• </a:t>
            </a:r>
            <a:r>
              <a:rPr sz="1800">
                <a:solidFill>
                  <a:srgbClr val="2C3E50"/>
                </a:solidFill>
                <a:latin typeface="Poppins"/>
              </a:rPr>
              <a:t>Stability over time strengthens trend analysis</a:t>
            </a:r>
          </a:p>
          <a:p>
            <a:pPr>
              <a:spcAft>
                <a:spcPts val="1400"/>
              </a:spcAft>
            </a:pPr>
            <a:r>
              <a:rPr sz="1800" b="1">
                <a:solidFill>
                  <a:srgbClr val="21568C"/>
                </a:solidFill>
                <a:latin typeface="Poppins"/>
              </a:rPr>
              <a:t>Key distinction:</a:t>
            </a:r>
          </a:p>
          <a:p>
            <a:pPr>
              <a:spcAft>
                <a:spcPts val="1400"/>
              </a:spcAft>
            </a:pPr>
            <a:r>
              <a:rPr sz="1800">
                <a:solidFill>
                  <a:srgbClr val="333333"/>
                </a:solidFill>
                <a:latin typeface="Poppins"/>
              </a:rPr>
              <a:t>Indicator completeness ≠ reporting completeness. This metric examines specific data elements, not just whether the monthly form was submitted.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Definition of indicator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the FASTR analysis, completeness is defined as:</a:t>
            </a:r>
          </a:p>
          <a:p>
            <a:pPr>
              <a:spcAft>
                <a:spcPts val="1400"/>
              </a:spcAft>
            </a:pPr>
            <a:r>
              <a:rPr sz="1800" b="1">
                <a:solidFill>
                  <a:srgbClr val="21568C"/>
                </a:solidFill>
                <a:latin typeface="Poppins"/>
              </a:rPr>
              <a:t>The percentage of reporting facilities each month out of the total number of facilities expected to report.</a:t>
            </a:r>
          </a:p>
          <a:p>
            <a:pPr>
              <a:spcAft>
                <a:spcPts val="800"/>
              </a:spcAft>
            </a:pPr>
            <a:r>
              <a:rPr sz="1800">
                <a:solidFill>
                  <a:srgbClr val="D0CB17"/>
                </a:solidFill>
                <a:latin typeface="Poppins"/>
              </a:rPr>
              <a:t>• </a:t>
            </a:r>
            <a:r>
              <a:rPr sz="1800">
                <a:solidFill>
                  <a:srgbClr val="2C3E50"/>
                </a:solidFill>
                <a:latin typeface="Poppins"/>
              </a:rPr>
              <a:t>A facility is deemed to be "reporting" if there is a non-missing, non-zero value recorded for the indicator and month</a:t>
            </a:r>
          </a:p>
          <a:p>
            <a:pPr>
              <a:spcAft>
                <a:spcPts val="800"/>
              </a:spcAft>
            </a:pPr>
            <a:r>
              <a:rPr sz="1800">
                <a:solidFill>
                  <a:srgbClr val="D0CB17"/>
                </a:solidFill>
                <a:latin typeface="Poppins"/>
              </a:rPr>
              <a:t>• </a:t>
            </a:r>
            <a:r>
              <a:rPr sz="1800">
                <a:solidFill>
                  <a:srgbClr val="2C3E50"/>
                </a:solidFill>
                <a:latin typeface="Poppins"/>
              </a:rPr>
              <a:t>A facility is expected to report if it has reported any volume for that indicator anytime within a year</a:t>
            </a:r>
          </a:p>
          <a:p>
            <a:pPr>
              <a:spcAft>
                <a:spcPts val="800"/>
              </a:spcAft>
            </a:pPr>
            <a:r>
              <a:rPr sz="1800">
                <a:solidFill>
                  <a:srgbClr val="D0CB17"/>
                </a:solidFill>
                <a:latin typeface="Poppins"/>
              </a:rPr>
              <a:t>• </a:t>
            </a:r>
            <a:r>
              <a:rPr sz="1800">
                <a:solidFill>
                  <a:srgbClr val="2C3E50"/>
                </a:solidFill>
                <a:latin typeface="Poppins"/>
              </a:rPr>
              <a:t>Facilities that do not report for six or more consecutive months at the beginning or end of their reporting period are classified as </a:t>
            </a:r>
            <a:r>
              <a:rPr sz="1800" b="1">
                <a:solidFill>
                  <a:srgbClr val="21568C"/>
                </a:solidFill>
                <a:latin typeface="Poppins"/>
              </a:rPr>
              <a:t>inactive</a:t>
            </a:r>
            <a:r>
              <a:rPr sz="1800">
                <a:solidFill>
                  <a:srgbClr val="2C3E50"/>
                </a:solidFill>
                <a:latin typeface="Poppins"/>
              </a:rPr>
              <a:t> rather than incomplete. This prevents penalizing facilities that have not yet begun reporting or have permanently ceased operations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Notes on completeness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A high level of completeness does not necessarily indicate that the HMIS is representative of all service delivery in the country as some services may not be delivered in facilities, or some facilities may not report</a:t>
            </a:r>
          </a:p>
          <a:p>
            <a:pPr>
              <a:spcAft>
                <a:spcPts val="800"/>
              </a:spcAft>
            </a:pPr>
            <a:r>
              <a:rPr sz="1800">
                <a:solidFill>
                  <a:srgbClr val="D0CB17"/>
                </a:solidFill>
                <a:latin typeface="Poppins"/>
              </a:rPr>
              <a:t>• </a:t>
            </a:r>
            <a:r>
              <a:rPr sz="1800">
                <a:solidFill>
                  <a:srgbClr val="2C3E50"/>
                </a:solidFill>
                <a:latin typeface="Poppins"/>
              </a:rPr>
              <a:t>For countries where the DHIS2 system does not store 0's, indicator completeness may be underestimated if there are many low-volume facilities for a given indicator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Percent of monthly values that are complete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roportion_of_completed_records.png"/>
          <p:cNvPicPr>
            <a:picLocks noChangeAspect="1"/>
          </p:cNvPicPr>
          <p:nvPr/>
        </p:nvPicPr>
        <p:blipFill>
          <a:blip r:embed="rId2"/>
          <a:stretch>
            <a:fillRect/>
          </a:stretch>
        </p:blipFill>
        <p:spPr>
          <a:xfrm>
            <a:off x="1523847" y="1371600"/>
            <a:ext cx="9144000" cy="5371011"/>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that are complete:</a:t>
            </a:r>
          </a:p>
          <a:p>
            <a:pPr>
              <a:spcAft>
                <a:spcPts val="1000"/>
              </a:spcAft>
            </a:pPr>
            <a:r>
              <a:rPr sz="1800" b="1">
                <a:solidFill>
                  <a:srgbClr val="21568C"/>
                </a:solidFill>
                <a:latin typeface="Poppins"/>
              </a:rPr>
              <a:t>% complete = # monthly values that are complete / total N of monthly values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The presence of outliers examines whether a data point in a series of values is extreme (either abnormally high or low) in relation to others in the series.</a:t>
            </a:r>
          </a:p>
          <a:p>
            <a:pPr>
              <a:spcAft>
                <a:spcPts val="1400"/>
              </a:spcAft>
            </a:pPr>
            <a:r>
              <a:rPr sz="1800">
                <a:solidFill>
                  <a:srgbClr val="333333"/>
                </a:solidFill>
                <a:latin typeface="Poppins"/>
              </a:rPr>
              <a:t>Outliers can be the result of changes in programmatic activities (such as an intensified campaign) or can be data quality problems.</a:t>
            </a:r>
          </a:p>
          <a:p>
            <a:pPr>
              <a:spcAft>
                <a:spcPts val="1400"/>
              </a:spcAft>
            </a:pPr>
            <a:r>
              <a:rPr sz="1800">
                <a:solidFill>
                  <a:srgbClr val="333333"/>
                </a:solidFill>
                <a:latin typeface="Poppins"/>
              </a:rPr>
              <a:t>For the FASTR analysis, we identify outliers which are suspiciously high values compared to the usual volume of services reported by the facility (e.g., low values are not identified as outliers in the FASTR analysis).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Region A displays an anomalous spike in February that substantially exceeds values reported by other regions — indicative of a data entry error or reporting issue.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detection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Outliers are identified by assessing the within-facility variation in monthly reporting for each indicator.</a:t>
            </a:r>
          </a:p>
          <a:p>
            <a:pPr>
              <a:spcAft>
                <a:spcPts val="1400"/>
              </a:spcAft>
            </a:pPr>
            <a:r>
              <a:rPr sz="1800">
                <a:solidFill>
                  <a:srgbClr val="333333"/>
                </a:solidFill>
                <a:latin typeface="Poppins"/>
              </a:rPr>
              <a:t>An outlier is defined as:</a:t>
            </a:r>
          </a:p>
          <a:p>
            <a:pPr>
              <a:spcAft>
                <a:spcPts val="1400"/>
              </a:spcAft>
            </a:pPr>
            <a:r>
              <a:rPr sz="1800">
                <a:solidFill>
                  <a:srgbClr val="333333"/>
                </a:solidFill>
                <a:latin typeface="Poppins"/>
              </a:rPr>
              <a:t>A value greater than </a:t>
            </a:r>
            <a:r>
              <a:rPr sz="1800" b="1">
                <a:solidFill>
                  <a:srgbClr val="21568C"/>
                </a:solidFill>
                <a:latin typeface="Poppins"/>
              </a:rPr>
              <a:t>10 times the median absolute deviation (MAD)</a:t>
            </a:r>
            <a:r>
              <a:rPr sz="1800">
                <a:solidFill>
                  <a:srgbClr val="333333"/>
                </a:solidFill>
                <a:latin typeface="Poppins"/>
              </a:rPr>
              <a:t> from the monthly median value for the indicator in each time period, </a:t>
            </a:r>
            <a:r>
              <a:rPr sz="1800" b="1">
                <a:solidFill>
                  <a:srgbClr val="21568C"/>
                </a:solidFill>
                <a:latin typeface="Poppins"/>
              </a:rPr>
              <a:t>OR</a:t>
            </a:r>
            <a:r>
              <a:rPr sz="1800">
                <a:solidFill>
                  <a:srgbClr val="333333"/>
                </a:solidFill>
                <a:latin typeface="Poppins"/>
              </a:rPr>
              <a:t> a value for which the proportional contribution in volume for a facility, indicator, and time period is </a:t>
            </a:r>
            <a:r>
              <a:rPr sz="1800" b="1">
                <a:solidFill>
                  <a:srgbClr val="21568C"/>
                </a:solidFill>
                <a:latin typeface="Poppins"/>
              </a:rPr>
              <a:t>greater than 80%</a:t>
            </a:r>
          </a:p>
          <a:p>
            <a:pPr>
              <a:spcAft>
                <a:spcPts val="1400"/>
              </a:spcAft>
            </a:pPr>
            <a:r>
              <a:rPr sz="1800" b="1">
                <a:solidFill>
                  <a:srgbClr val="21568C"/>
                </a:solidFill>
                <a:latin typeface="Poppins"/>
              </a:rPr>
              <a:t>AND</a:t>
            </a:r>
            <a:r>
              <a:rPr sz="1800">
                <a:solidFill>
                  <a:srgbClr val="333333"/>
                </a:solidFill>
                <a:latin typeface="Poppins"/>
              </a:rPr>
              <a:t> for which:</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greater than or equal to the median</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not missing</a:t>
            </a:r>
          </a:p>
          <a:p>
            <a:pPr>
              <a:spcAft>
                <a:spcPts val="800"/>
              </a:spcAft>
            </a:pPr>
            <a:r>
              <a:rPr sz="1800">
                <a:solidFill>
                  <a:srgbClr val="D0CB17"/>
                </a:solidFill>
                <a:latin typeface="Poppins"/>
              </a:rPr>
              <a:t>• </a:t>
            </a:r>
            <a:r>
              <a:rPr sz="1800">
                <a:solidFill>
                  <a:srgbClr val="2C3E50"/>
                </a:solidFill>
                <a:latin typeface="Poppins"/>
              </a:rPr>
              <a:t>The volume is </a:t>
            </a:r>
            <a:r>
              <a:rPr sz="1800" b="1">
                <a:solidFill>
                  <a:srgbClr val="21568C"/>
                </a:solidFill>
                <a:latin typeface="Poppins"/>
              </a:rPr>
              <a:t>greater than 100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Outliers: Percent of monthly values that are outliers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roportion_of_outliers.png"/>
          <p:cNvPicPr>
            <a:picLocks noChangeAspect="1"/>
          </p:cNvPicPr>
          <p:nvPr/>
        </p:nvPicPr>
        <p:blipFill>
          <a:blip r:embed="rId2"/>
          <a:stretch>
            <a:fillRect/>
          </a:stretch>
        </p:blipFill>
        <p:spPr>
          <a:xfrm>
            <a:off x="1523847" y="1371600"/>
            <a:ext cx="9144000" cy="327660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that are outliers:</a:t>
            </a:r>
          </a:p>
          <a:p>
            <a:pPr>
              <a:spcAft>
                <a:spcPts val="1000"/>
              </a:spcAft>
            </a:pPr>
            <a:r>
              <a:rPr sz="1800" b="1">
                <a:solidFill>
                  <a:srgbClr val="21568C"/>
                </a:solidFill>
                <a:latin typeface="Poppins"/>
              </a:rPr>
              <a:t>% outliers = # monthly values that are outliers / total N of monthly values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Consistency between related indicators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Program indicators with a predictable relationship are examined to determine whether the expected relationship exists between them. In other words, this process examines whether the observed relationship between the indicators, as shown in the reported data, is that which is expected.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 pairs assessed</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0160"/>
            <a:ext cx="5303520" cy="5029200"/>
          </a:xfrm>
          <a:prstGeom prst="rect">
            <a:avLst/>
          </a:prstGeom>
          <a:noFill/>
        </p:spPr>
        <p:txBody>
          <a:bodyPr wrap="square">
            <a:spAutoFit/>
          </a:bodyPr>
          <a:lstStyle/>
          <a:p>
            <a:pPr>
              <a:spcAft>
                <a:spcPts val="1200"/>
              </a:spcAft>
            </a:pPr>
            <a:r>
              <a:rPr sz="1800">
                <a:solidFill>
                  <a:srgbClr val="333333"/>
                </a:solidFill>
                <a:latin typeface="Poppins"/>
              </a:rPr>
              <a:t>| Indicator pair | Expected relationship |</a:t>
            </a:r>
          </a:p>
          <a:p>
            <a:pPr>
              <a:spcAft>
                <a:spcPts val="1200"/>
              </a:spcAft>
            </a:pPr>
            <a:r>
              <a:rPr sz="1800">
                <a:solidFill>
                  <a:srgbClr val="333333"/>
                </a:solidFill>
                <a:latin typeface="Poppins"/>
              </a:rPr>
              <a:t>|----------------|----------------------|</a:t>
            </a:r>
          </a:p>
          <a:p>
            <a:pPr>
              <a:spcAft>
                <a:spcPts val="1200"/>
              </a:spcAft>
            </a:pPr>
            <a:r>
              <a:rPr sz="1800">
                <a:solidFill>
                  <a:srgbClr val="333333"/>
                </a:solidFill>
                <a:latin typeface="Poppins"/>
              </a:rPr>
              <a:t>| ANC1 / ANC4 | Ratio should be ≥ 0.95 |</a:t>
            </a:r>
          </a:p>
          <a:p>
            <a:pPr>
              <a:spcAft>
                <a:spcPts val="1200"/>
              </a:spcAft>
            </a:pPr>
            <a:r>
              <a:rPr sz="1800">
                <a:solidFill>
                  <a:srgbClr val="333333"/>
                </a:solidFill>
                <a:latin typeface="Poppins"/>
              </a:rPr>
              <a:t>| Penta1 / Penta3 | Ratio should be ≥ 0.95 |</a:t>
            </a:r>
          </a:p>
          <a:p>
            <a:pPr>
              <a:spcAft>
                <a:spcPts val="1200"/>
              </a:spcAft>
            </a:pPr>
            <a:r>
              <a:rPr sz="1800">
                <a:solidFill>
                  <a:srgbClr val="333333"/>
                </a:solidFill>
                <a:latin typeface="Poppins"/>
              </a:rPr>
              <a:t>| BCG / Facility delivery | Within 30% (≥0.7 and ≤1.3) |</a:t>
            </a:r>
          </a:p>
          <a:p>
            <a:pPr>
              <a:spcAft>
                <a:spcPts val="1200"/>
              </a:spcAft>
            </a:pPr>
            <a:r>
              <a:rPr sz="1800">
                <a:solidFill>
                  <a:srgbClr val="333333"/>
                </a:solidFill>
                <a:latin typeface="Poppins"/>
              </a:rPr>
              <a:t>These pairs have expected relationships. We expect ANC1 &gt; ANC4 since not all women complete four visits.</a:t>
            </a:r>
          </a:p>
          <a:p>
            <a:pPr>
              <a:spcAft>
                <a:spcPts val="1200"/>
              </a:spcAft>
            </a:pPr>
            <a:r>
              <a:rPr sz="1800">
                <a:solidFill>
                  <a:srgbClr val="333333"/>
                </a:solidFill>
                <a:latin typeface="Poppins"/>
              </a:rPr>
              <a:t>BCG is a birth dose vaccine so we expect similar numbers to facility deliveries, with a 30% tolerance for variability.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Why assess consistency at district level?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Aft>
                <a:spcPts val="1400"/>
              </a:spcAft>
            </a:pPr>
            <a:r>
              <a:rPr sz="1800">
                <a:solidFill>
                  <a:srgbClr val="333333"/>
                </a:solidFill>
                <a:latin typeface="Poppins"/>
              </a:rPr>
              <a:t>Patients often access different services at different facilities within a district:</a:t>
            </a:r>
          </a:p>
          <a:p>
            <a:pPr>
              <a:spcAft>
                <a:spcPts val="800"/>
              </a:spcAft>
            </a:pPr>
            <a:r>
              <a:rPr sz="1800">
                <a:solidFill>
                  <a:srgbClr val="D0CB17"/>
                </a:solidFill>
                <a:latin typeface="Poppins"/>
              </a:rPr>
              <a:t>• </a:t>
            </a:r>
            <a:r>
              <a:rPr sz="1800">
                <a:solidFill>
                  <a:srgbClr val="2C3E50"/>
                </a:solidFill>
                <a:latin typeface="Poppins"/>
              </a:rPr>
              <a:t>A woman may attend </a:t>
            </a:r>
            <a:r>
              <a:rPr sz="1800" b="1">
                <a:solidFill>
                  <a:srgbClr val="21568C"/>
                </a:solidFill>
                <a:latin typeface="Poppins"/>
              </a:rPr>
              <a:t>ANC1</a:t>
            </a:r>
            <a:r>
              <a:rPr sz="1800">
                <a:solidFill>
                  <a:srgbClr val="2C3E50"/>
                </a:solidFill>
                <a:latin typeface="Poppins"/>
              </a:rPr>
              <a:t> at a nearby health post, but travel to a health centre for </a:t>
            </a:r>
            <a:r>
              <a:rPr sz="1800" b="1">
                <a:solidFill>
                  <a:srgbClr val="21568C"/>
                </a:solidFill>
                <a:latin typeface="Poppins"/>
              </a:rPr>
              <a:t>ANC4</a:t>
            </a:r>
          </a:p>
          <a:p>
            <a:pPr>
              <a:spcAft>
                <a:spcPts val="800"/>
              </a:spcAft>
            </a:pPr>
            <a:r>
              <a:rPr sz="1800">
                <a:solidFill>
                  <a:srgbClr val="D0CB17"/>
                </a:solidFill>
                <a:latin typeface="Poppins"/>
              </a:rPr>
              <a:t>• </a:t>
            </a:r>
            <a:r>
              <a:rPr sz="1800">
                <a:solidFill>
                  <a:srgbClr val="2C3E50"/>
                </a:solidFill>
                <a:latin typeface="Poppins"/>
              </a:rPr>
              <a:t>A child may receive </a:t>
            </a:r>
            <a:r>
              <a:rPr sz="1800" b="1">
                <a:solidFill>
                  <a:srgbClr val="21568C"/>
                </a:solidFill>
                <a:latin typeface="Poppins"/>
              </a:rPr>
              <a:t>Penta1</a:t>
            </a:r>
            <a:r>
              <a:rPr sz="1800">
                <a:solidFill>
                  <a:srgbClr val="2C3E50"/>
                </a:solidFill>
                <a:latin typeface="Poppins"/>
              </a:rPr>
              <a:t> at a local clinic, but complete </a:t>
            </a:r>
            <a:r>
              <a:rPr sz="1800" b="1">
                <a:solidFill>
                  <a:srgbClr val="21568C"/>
                </a:solidFill>
                <a:latin typeface="Poppins"/>
              </a:rPr>
              <a:t>Penta3</a:t>
            </a:r>
            <a:r>
              <a:rPr sz="1800">
                <a:solidFill>
                  <a:srgbClr val="2C3E50"/>
                </a:solidFill>
                <a:latin typeface="Poppins"/>
              </a:rPr>
              <a:t> at a district hospital</a:t>
            </a:r>
          </a:p>
          <a:p>
            <a:pPr>
              <a:spcAft>
                <a:spcPts val="1400"/>
              </a:spcAft>
            </a:pPr>
            <a:r>
              <a:rPr sz="1800">
                <a:solidFill>
                  <a:srgbClr val="333333"/>
                </a:solidFill>
                <a:latin typeface="Poppins"/>
              </a:rPr>
              <a:t>Checking consistency at the facility level would miss these patterns. Aggregating to district level captures the complete picture of service utilization within a geographic area.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Internal consistency: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4._Proportion_of_sub-national_areas_meeting_consistency_criteria.png"/>
          <p:cNvPicPr>
            <a:picLocks noChangeAspect="1"/>
          </p:cNvPicPr>
          <p:nvPr/>
        </p:nvPicPr>
        <p:blipFill>
          <a:blip r:embed="rId2"/>
          <a:stretch>
            <a:fillRect/>
          </a:stretch>
        </p:blipFill>
        <p:spPr>
          <a:xfrm>
            <a:off x="1523847" y="1371600"/>
            <a:ext cx="9144000" cy="3065417"/>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summary score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A composite measure of data quality provides an overall view of how well a dataset meets quality standards.</a:t>
            </a:r>
          </a:p>
          <a:p>
            <a:pPr>
              <a:spcAft>
                <a:spcPts val="1400"/>
              </a:spcAft>
            </a:pPr>
            <a:r>
              <a:rPr sz="1800">
                <a:solidFill>
                  <a:srgbClr val="333333"/>
                </a:solidFill>
                <a:latin typeface="Poppins"/>
              </a:rPr>
              <a:t>By integrating multiple dimensions of data quality into a single score, it simplifies the interpretation of detailed information from several measures. This allows health systems to quickly assess the reliability of data, making it easier to identify trends and issues at a glance.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Definition of adequate data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the FASTR analysis, we defined adequate data quality as:</a:t>
            </a:r>
          </a:p>
          <a:p>
            <a:pPr>
              <a:spcAft>
                <a:spcPts val="800"/>
              </a:spcAft>
            </a:pPr>
            <a:r>
              <a:rPr sz="1800">
                <a:solidFill>
                  <a:srgbClr val="D0CB17"/>
                </a:solidFill>
                <a:latin typeface="Poppins"/>
              </a:rPr>
              <a:t>• </a:t>
            </a:r>
            <a:r>
              <a:rPr sz="1800">
                <a:solidFill>
                  <a:srgbClr val="2C3E50"/>
                </a:solidFill>
                <a:latin typeface="Poppins"/>
              </a:rPr>
              <a:t>No missing indicator data for OPD, Penta1, and ANC1, where available, </a:t>
            </a:r>
            <a:r>
              <a:rPr sz="1800" b="1">
                <a:solidFill>
                  <a:srgbClr val="21568C"/>
                </a:solidFill>
                <a:latin typeface="Poppins"/>
              </a:rPr>
              <a:t>AND</a:t>
            </a:r>
          </a:p>
          <a:p>
            <a:pPr>
              <a:spcAft>
                <a:spcPts val="800"/>
              </a:spcAft>
            </a:pPr>
            <a:r>
              <a:rPr sz="1800">
                <a:solidFill>
                  <a:srgbClr val="D0CB17"/>
                </a:solidFill>
                <a:latin typeface="Poppins"/>
              </a:rPr>
              <a:t>• </a:t>
            </a:r>
            <a:r>
              <a:rPr sz="1800">
                <a:solidFill>
                  <a:srgbClr val="2C3E50"/>
                </a:solidFill>
                <a:latin typeface="Poppins"/>
              </a:rPr>
              <a:t>No outliers for OPD, Penta1, and ANC1, where available, </a:t>
            </a:r>
            <a:r>
              <a:rPr sz="1800" b="1">
                <a:solidFill>
                  <a:srgbClr val="21568C"/>
                </a:solidFill>
                <a:latin typeface="Poppins"/>
              </a:rPr>
              <a:t>AND</a:t>
            </a:r>
          </a:p>
          <a:p>
            <a:pPr>
              <a:spcAft>
                <a:spcPts val="800"/>
              </a:spcAft>
            </a:pPr>
            <a:r>
              <a:rPr sz="1800">
                <a:solidFill>
                  <a:srgbClr val="D0CB17"/>
                </a:solidFill>
                <a:latin typeface="Poppins"/>
              </a:rPr>
              <a:t>• </a:t>
            </a:r>
            <a:r>
              <a:rPr sz="1800">
                <a:solidFill>
                  <a:srgbClr val="2C3E50"/>
                </a:solidFill>
                <a:latin typeface="Poppins"/>
              </a:rPr>
              <a:t>Consistent reporting between Penta1/Penta3 and ANC1/ANC4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Overall DQA score: Percent of monthly values meeting all criteria</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5._Overall_DQA_score.png"/>
          <p:cNvPicPr>
            <a:picLocks noChangeAspect="1"/>
          </p:cNvPicPr>
          <p:nvPr/>
        </p:nvPicPr>
        <p:blipFill>
          <a:blip r:embed="rId2"/>
          <a:stretch>
            <a:fillRect/>
          </a:stretch>
        </p:blipFill>
        <p:spPr>
          <a:xfrm>
            <a:off x="1523847" y="1371600"/>
            <a:ext cx="9144000" cy="286512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For a given indicator in a given time period, the percent of monthly values meeting all DQA criteria:</a:t>
            </a:r>
          </a:p>
          <a:p>
            <a:pPr>
              <a:spcAft>
                <a:spcPts val="1000"/>
              </a:spcAft>
            </a:pPr>
            <a:r>
              <a:rPr sz="1800" b="1">
                <a:solidFill>
                  <a:srgbClr val="21568C"/>
                </a:solidFill>
                <a:latin typeface="Poppins"/>
              </a:rPr>
              <a:t>% adequate quality = # monthly values meeting all criteria / total N of monthly values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Mean DQA score: How close are we to adequate quality?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6._Mean_DQA_score.png"/>
          <p:cNvPicPr>
            <a:picLocks noChangeAspect="1"/>
          </p:cNvPicPr>
          <p:nvPr/>
        </p:nvPicPr>
        <p:blipFill>
          <a:blip r:embed="rId2"/>
          <a:stretch>
            <a:fillRect/>
          </a:stretch>
        </p:blipFill>
        <p:spPr>
          <a:xfrm>
            <a:off x="1523847" y="1371600"/>
            <a:ext cx="9144000" cy="296526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mean DQA score shows how close a facility's data is to meeting all quality criteria. A score of </a:t>
            </a:r>
            <a:r>
              <a:rPr sz="1800" b="1">
                <a:solidFill>
                  <a:srgbClr val="21568C"/>
                </a:solidFill>
                <a:latin typeface="Poppins"/>
              </a:rPr>
              <a:t>100% means the data passes</a:t>
            </a:r>
            <a:r>
              <a:rPr sz="1800">
                <a:solidFill>
                  <a:srgbClr val="333333"/>
                </a:solidFill>
                <a:latin typeface="Poppins"/>
              </a:rPr>
              <a:t> all DQA checks—no missing values, no outliers, and consistent reporting.</a:t>
            </a:r>
          </a:p>
          <a:p>
            <a:pPr>
              <a:spcAft>
                <a:spcPts val="1000"/>
              </a:spcAft>
            </a:pPr>
            <a:r>
              <a:rPr sz="1800" b="1">
                <a:solidFill>
                  <a:srgbClr val="21568C"/>
                </a:solidFill>
                <a:latin typeface="Poppins"/>
              </a:rPr>
              <a:t>Mean DQA = (completeness &amp; outlier score + consistency score) / 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DQA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1920240"/>
        </p:xfrm>
        <a:graphic>
          <a:graphicData uri="http://schemas.openxmlformats.org/drawingml/2006/table">
            <a:tbl>
              <a:tblPr firstRow="1" bandRow="1">
                <a:tableStyleId>{5C22544A-7EE6-4342-B048-85BDC9FD1C3A}</a:tableStyleId>
              </a:tblPr>
              <a:tblGrid>
                <a:gridCol w="3951539"/>
                <a:gridCol w="7295580"/>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Proportion threshold for outlier detection</a:t>
                      </a:r>
                    </a:p>
                  </a:txBody>
                  <a:tcPr/>
                </a:tc>
                <a:tc>
                  <a:txBody>
                    <a:bodyPr wrap="square"/>
                    <a:lstStyle/>
                    <a:p>
                      <a:r>
                        <a:rPr sz="1400">
                          <a:solidFill>
                            <a:srgbClr val="2C3E50"/>
                          </a:solidFill>
                          <a:latin typeface="Poppins"/>
                        </a:rPr>
                        <a:t>Adjusts the threshold for proportional contribution to flag a facility-month as an outlier</a:t>
                      </a:r>
                    </a:p>
                  </a:txBody>
                  <a:tcPr/>
                </a:tc>
              </a:tr>
              <a:tr h="320040">
                <a:tc>
                  <a:txBody>
                    <a:bodyPr wrap="square"/>
                    <a:lstStyle/>
                    <a:p>
                      <a:r>
                        <a:rPr sz="1400" b="1">
                          <a:solidFill>
                            <a:srgbClr val="21568C"/>
                          </a:solidFill>
                          <a:latin typeface="Poppins"/>
                        </a:rPr>
                        <a:t>Minimum count threshold for consideration</a:t>
                      </a:r>
                    </a:p>
                  </a:txBody>
                  <a:tcPr/>
                </a:tc>
                <a:tc>
                  <a:txBody>
                    <a:bodyPr wrap="square"/>
                    <a:lstStyle/>
                    <a:p>
                      <a:r>
                        <a:rPr sz="1400">
                          <a:solidFill>
                            <a:srgbClr val="2C3E50"/>
                          </a:solidFill>
                          <a:latin typeface="Poppins"/>
                        </a:rPr>
                        <a:t>Defines the minimum count required for a facility-month to be considered an outlier</a:t>
                      </a:r>
                    </a:p>
                  </a:txBody>
                  <a:tcPr/>
                </a:tc>
              </a:tr>
              <a:tr h="320040">
                <a:tc>
                  <a:txBody>
                    <a:bodyPr wrap="square"/>
                    <a:lstStyle/>
                    <a:p>
                      <a:r>
                        <a:rPr sz="1400" b="1">
                          <a:solidFill>
                            <a:srgbClr val="21568C"/>
                          </a:solidFill>
                          <a:latin typeface="Poppins"/>
                        </a:rPr>
                        <a:t>Number of MADs</a:t>
                      </a:r>
                    </a:p>
                  </a:txBody>
                  <a:tcPr/>
                </a:tc>
                <a:tc>
                  <a:txBody>
                    <a:bodyPr wrap="square"/>
                    <a:lstStyle/>
                    <a:p>
                      <a:r>
                        <a:rPr sz="1400">
                          <a:solidFill>
                            <a:srgbClr val="2C3E50"/>
                          </a:solidFill>
                          <a:latin typeface="Poppins"/>
                        </a:rPr>
                        <a:t>Outliers are defined as observations which are greater than X times the median absolute deviation (MAD) from the monthly median value for the indicator in each time period</a:t>
                      </a:r>
                    </a:p>
                  </a:txBody>
                  <a:tcPr/>
                </a:tc>
              </a:tr>
              <a:tr h="320040">
                <a:tc>
                  <a:txBody>
                    <a:bodyPr wrap="square"/>
                    <a:lstStyle/>
                    <a:p>
                      <a:r>
                        <a:rPr sz="1400" b="1">
                          <a:solidFill>
                            <a:srgbClr val="21568C"/>
                          </a:solidFill>
                          <a:latin typeface="Poppins"/>
                        </a:rPr>
                        <a:t>Indicators subjected to DQA</a:t>
                      </a:r>
                    </a:p>
                  </a:txBody>
                  <a:tcPr/>
                </a:tc>
                <a:tc>
                  <a:txBody>
                    <a:bodyPr wrap="square"/>
                    <a:lstStyle/>
                    <a:p>
                      <a:r>
                        <a:rPr sz="1400">
                          <a:solidFill>
                            <a:srgbClr val="2C3E50"/>
                          </a:solidFill>
                          <a:latin typeface="Poppins"/>
                        </a:rPr>
                        <a:t>Defines which indicators are included for assessment of outliers and completeness for inclusion in the DQA score</a:t>
                      </a:r>
                    </a:p>
                  </a:txBody>
                  <a:tcPr/>
                </a:tc>
              </a:tr>
              <a:tr h="320040">
                <a:tc>
                  <a:txBody>
                    <a:bodyPr wrap="square"/>
                    <a:lstStyle/>
                    <a:p>
                      <a:r>
                        <a:rPr sz="1400" b="1">
                          <a:solidFill>
                            <a:srgbClr val="21568C"/>
                          </a:solidFill>
                          <a:latin typeface="Poppins"/>
                        </a:rPr>
                        <a:t>Consistency pairs used</a:t>
                      </a:r>
                    </a:p>
                  </a:txBody>
                  <a:tcPr/>
                </a:tc>
                <a:tc>
                  <a:txBody>
                    <a:bodyPr wrap="square"/>
                    <a:lstStyle/>
                    <a:p>
                      <a:r>
                        <a:rPr sz="1400">
                          <a:solidFill>
                            <a:srgbClr val="2C3E50"/>
                          </a:solidFill>
                          <a:latin typeface="Poppins"/>
                        </a:rPr>
                        <a:t>Defines which indicator pairs are used for consistency analysis and the expected ratio ranges</a:t>
                      </a:r>
                    </a:p>
                  </a:txBody>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Data quality adjustment - Module 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Correcting outliers and imputing missing values to improve data reliability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Rationale for data quality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Routine HMIS data contain two common limitations that can distort analytical results: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77821"/>
                <a:gridCol w="7369298"/>
              </a:tblGrid>
              <a:tr h="320040">
                <a:tc>
                  <a:txBody>
                    <a:bodyPr wrap="square"/>
                    <a:lstStyle/>
                    <a:p>
                      <a:pPr>
                        <a:defRPr sz="1400" b="1">
                          <a:solidFill>
                            <a:srgbClr val="21568C"/>
                          </a:solidFill>
                          <a:latin typeface="Poppins"/>
                        </a:defRPr>
                      </a:pPr>
                      <a:r>
                        <a:t>Issue</a:t>
                      </a:r>
                    </a:p>
                  </a:txBody>
                  <a:tcPr>
                    <a:solidFill>
                      <a:srgbClr val="CAE6E9"/>
                    </a:solidFill>
                  </a:tcPr>
                </a:tc>
                <a:tc>
                  <a:txBody>
                    <a:bodyPr wrap="square"/>
                    <a:lstStyle/>
                    <a:p>
                      <a:pPr>
                        <a:defRPr sz="1400" b="1">
                          <a:solidFill>
                            <a:srgbClr val="21568C"/>
                          </a:solidFill>
                          <a:latin typeface="Poppins"/>
                        </a:defRPr>
                      </a:pPr>
                      <a:r>
                        <a:t>Impact on analysis</a:t>
                      </a:r>
                    </a:p>
                  </a:txBody>
                  <a:tcPr>
                    <a:solidFill>
                      <a:srgbClr val="CAE6E9"/>
                    </a:solidFill>
                  </a:tcPr>
                </a:tc>
              </a:tr>
              <a:tr h="320040">
                <a:tc>
                  <a:txBody>
                    <a:bodyPr wrap="square"/>
                    <a:lstStyle/>
                    <a:p>
                      <a:r>
                        <a:rPr sz="1400" b="1">
                          <a:solidFill>
                            <a:srgbClr val="21568C"/>
                          </a:solidFill>
                          <a:latin typeface="Poppins"/>
                        </a:rPr>
                        <a:t>Outliers</a:t>
                      </a:r>
                    </a:p>
                  </a:txBody>
                  <a:tcPr/>
                </a:tc>
                <a:tc>
                  <a:txBody>
                    <a:bodyPr wrap="square"/>
                    <a:lstStyle/>
                    <a:p>
                      <a:r>
                        <a:rPr sz="1400">
                          <a:solidFill>
                            <a:srgbClr val="2C3E50"/>
                          </a:solidFill>
                          <a:latin typeface="Poppins"/>
                        </a:rPr>
                        <a:t>Extreme values create artificial spikes in service volumes</a:t>
                      </a:r>
                    </a:p>
                  </a:txBody>
                  <a:tcPr/>
                </a:tc>
              </a:tr>
              <a:tr h="320040">
                <a:tc>
                  <a:txBody>
                    <a:bodyPr wrap="square"/>
                    <a:lstStyle/>
                    <a:p>
                      <a:r>
                        <a:rPr sz="1400" b="1">
                          <a:solidFill>
                            <a:srgbClr val="21568C"/>
                          </a:solidFill>
                          <a:latin typeface="Poppins"/>
                        </a:rPr>
                        <a:t>Incomplete reporting</a:t>
                      </a:r>
                    </a:p>
                  </a:txBody>
                  <a:tcPr/>
                </a:tc>
                <a:tc>
                  <a:txBody>
                    <a:bodyPr wrap="square"/>
                    <a:lstStyle/>
                    <a:p>
                      <a:r>
                        <a:rPr sz="1400">
                          <a:solidFill>
                            <a:srgbClr val="2C3E50"/>
                          </a:solidFill>
                          <a:latin typeface="Poppins"/>
                        </a:rPr>
                        <a:t>Missing data creates artificial declines that do not reflect actual service delivery</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Poppins"/>
              </a:rPr>
              <a:t>FASTR addresses these limitations by replacing problematic values with estimates derived from each facility's historical reporting patterns.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Adjustment scenarios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To support transparency and sensitivity analysis, FASTR produces four parallel datasets:</a:t>
            </a:r>
          </a:p>
        </p:txBody>
      </p:sp>
      <p:graphicFrame>
        <p:nvGraphicFramePr>
          <p:cNvPr id="5" name="Table 4"/>
          <p:cNvGraphicFramePr>
            <a:graphicFrameLocks noGrp="1"/>
          </p:cNvGraphicFramePr>
          <p:nvPr/>
        </p:nvGraphicFramePr>
        <p:xfrm>
          <a:off x="685800" y="1828800"/>
          <a:ext cx="11247119" cy="1600200"/>
        </p:xfrm>
        <a:graphic>
          <a:graphicData uri="http://schemas.openxmlformats.org/drawingml/2006/table">
            <a:tbl>
              <a:tblPr firstRow="1" bandRow="1">
                <a:tableStyleId>{5C22544A-7EE6-4342-B048-85BDC9FD1C3A}</a:tableStyleId>
              </a:tblPr>
              <a:tblGrid>
                <a:gridCol w="5287885"/>
                <a:gridCol w="5959234"/>
              </a:tblGrid>
              <a:tr h="320040">
                <a:tc>
                  <a:txBody>
                    <a:bodyPr wrap="square"/>
                    <a:lstStyle/>
                    <a:p>
                      <a:pPr>
                        <a:defRPr sz="1400" b="1">
                          <a:solidFill>
                            <a:srgbClr val="21568C"/>
                          </a:solidFill>
                          <a:latin typeface="Poppins"/>
                        </a:defRPr>
                      </a:pPr>
                      <a:r>
                        <a:t>Scenario</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Unadjusted</a:t>
                      </a:r>
                    </a:p>
                  </a:txBody>
                  <a:tcPr/>
                </a:tc>
                <a:tc>
                  <a:txBody>
                    <a:bodyPr wrap="square"/>
                    <a:lstStyle/>
                    <a:p>
                      <a:r>
                        <a:rPr sz="1400">
                          <a:solidFill>
                            <a:srgbClr val="2C3E50"/>
                          </a:solidFill>
                          <a:latin typeface="Poppins"/>
                        </a:rPr>
                        <a:t>Original reported values</a:t>
                      </a:r>
                    </a:p>
                  </a:txBody>
                  <a:tcPr/>
                </a:tc>
              </a:tr>
              <a:tr h="320040">
                <a:tc>
                  <a:txBody>
                    <a:bodyPr wrap="square"/>
                    <a:lstStyle/>
                    <a:p>
                      <a:r>
                        <a:rPr sz="1400" b="1">
                          <a:solidFill>
                            <a:srgbClr val="21568C"/>
                          </a:solidFill>
                          <a:latin typeface="Poppins"/>
                        </a:rPr>
                        <a:t>Outliers adjusted</a:t>
                      </a:r>
                    </a:p>
                  </a:txBody>
                  <a:tcPr/>
                </a:tc>
                <a:tc>
                  <a:txBody>
                    <a:bodyPr wrap="square"/>
                    <a:lstStyle/>
                    <a:p>
                      <a:r>
                        <a:rPr sz="1400">
                          <a:solidFill>
                            <a:srgbClr val="2C3E50"/>
                          </a:solidFill>
                          <a:latin typeface="Poppins"/>
                        </a:rPr>
                        <a:t>Extreme values replaced</a:t>
                      </a:r>
                    </a:p>
                  </a:txBody>
                  <a:tcPr/>
                </a:tc>
              </a:tr>
              <a:tr h="320040">
                <a:tc>
                  <a:txBody>
                    <a:bodyPr wrap="square"/>
                    <a:lstStyle/>
                    <a:p>
                      <a:r>
                        <a:rPr sz="1400" b="1">
                          <a:solidFill>
                            <a:srgbClr val="21568C"/>
                          </a:solidFill>
                          <a:latin typeface="Poppins"/>
                        </a:rPr>
                        <a:t>Completeness adjusted</a:t>
                      </a:r>
                    </a:p>
                  </a:txBody>
                  <a:tcPr/>
                </a:tc>
                <a:tc>
                  <a:txBody>
                    <a:bodyPr wrap="square"/>
                    <a:lstStyle/>
                    <a:p>
                      <a:r>
                        <a:rPr sz="1400">
                          <a:solidFill>
                            <a:srgbClr val="2C3E50"/>
                          </a:solidFill>
                          <a:latin typeface="Poppins"/>
                        </a:rPr>
                        <a:t>Missing values imputed</a:t>
                      </a:r>
                    </a:p>
                  </a:txBody>
                  <a:tcPr/>
                </a:tc>
              </a:tr>
              <a:tr h="320040">
                <a:tc>
                  <a:txBody>
                    <a:bodyPr wrap="square"/>
                    <a:lstStyle/>
                    <a:p>
                      <a:r>
                        <a:rPr sz="1400" b="1">
                          <a:solidFill>
                            <a:srgbClr val="21568C"/>
                          </a:solidFill>
                          <a:latin typeface="Poppins"/>
                        </a:rPr>
                        <a:t>Both adjusted</a:t>
                      </a:r>
                    </a:p>
                  </a:txBody>
                  <a:tcPr/>
                </a:tc>
                <a:tc>
                  <a:txBody>
                    <a:bodyPr wrap="square"/>
                    <a:lstStyle/>
                    <a:p>
                      <a:r>
                        <a:rPr sz="1400">
                          <a:solidFill>
                            <a:srgbClr val="2C3E50"/>
                          </a:solidFill>
                          <a:latin typeface="Poppins"/>
                        </a:rPr>
                        <a:t>All corrections applied</a:t>
                      </a:r>
                    </a:p>
                  </a:txBody>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Indicators excluded from adjustment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Certain indicators are excluded from the adjustment process:</a:t>
            </a:r>
          </a:p>
          <a:p>
            <a:pPr>
              <a:spcAft>
                <a:spcPts val="800"/>
              </a:spcAft>
            </a:pPr>
            <a:r>
              <a:rPr sz="1800">
                <a:solidFill>
                  <a:srgbClr val="D0CB17"/>
                </a:solidFill>
                <a:latin typeface="Poppins"/>
              </a:rPr>
              <a:t>• </a:t>
            </a:r>
            <a:r>
              <a:rPr sz="1800" b="1">
                <a:solidFill>
                  <a:srgbClr val="21568C"/>
                </a:solidFill>
                <a:latin typeface="Poppins"/>
              </a:rPr>
              <a:t>Mortality indicators</a:t>
            </a:r>
            <a:r>
              <a:rPr sz="1800">
                <a:solidFill>
                  <a:srgbClr val="2C3E50"/>
                </a:solidFill>
                <a:latin typeface="Poppins"/>
              </a:rPr>
              <a:t> (maternal deaths, neonatal deaths, under-5 deaths): These represent discrete events where smoothing or imputation is not appropriate</a:t>
            </a:r>
          </a:p>
          <a:p>
            <a:pPr>
              <a:spcAft>
                <a:spcPts val="800"/>
              </a:spcAft>
            </a:pPr>
            <a:r>
              <a:rPr sz="1800">
                <a:solidFill>
                  <a:srgbClr val="D0CB17"/>
                </a:solidFill>
                <a:latin typeface="Poppins"/>
              </a:rPr>
              <a:t>• </a:t>
            </a:r>
            <a:r>
              <a:rPr sz="1800" b="1">
                <a:solidFill>
                  <a:srgbClr val="21568C"/>
                </a:solidFill>
                <a:latin typeface="Poppins"/>
              </a:rPr>
              <a:t>Low-volume indicators</a:t>
            </a:r>
            <a:r>
              <a:rPr sz="1800">
                <a:solidFill>
                  <a:srgbClr val="2C3E50"/>
                </a:solidFill>
                <a:latin typeface="Poppins"/>
              </a:rPr>
              <a:t>: Indicators that never exceed 100 reported events in any month are excluded from adjustment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Outlier values are replaced using facility-specific historical data. The adjustment follows a hierarchical approach:</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2120376"/>
                <a:gridCol w="3703362"/>
                <a:gridCol w="5423381"/>
              </a:tblGrid>
              <a:tr h="320040">
                <a:tc>
                  <a:txBody>
                    <a:bodyPr wrap="square"/>
                    <a:lstStyle/>
                    <a:p>
                      <a:pPr>
                        <a:defRPr sz="1400" b="1">
                          <a:solidFill>
                            <a:srgbClr val="21568C"/>
                          </a:solidFill>
                          <a:latin typeface="Poppins"/>
                        </a:defRPr>
                      </a:pPr>
                      <a:r>
                        <a:t>Priority</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Application</a:t>
                      </a:r>
                    </a:p>
                  </a:txBody>
                  <a:tcPr>
                    <a:solidFill>
                      <a:srgbClr val="CAE6E9"/>
                    </a:solidFill>
                  </a:tcPr>
                </a:tc>
              </a:tr>
              <a:tr h="320040">
                <a:tc>
                  <a:txBody>
                    <a:bodyPr wrap="square"/>
                    <a:lstStyle/>
                    <a:p>
                      <a:r>
                        <a:rPr sz="1400">
                          <a:solidFill>
                            <a:srgbClr val="2C3E50"/>
                          </a:solidFill>
                          <a:latin typeface="Poppins"/>
                        </a:rPr>
                        <a:t>1</a:t>
                      </a:r>
                    </a:p>
                  </a:txBody>
                  <a:tcPr/>
                </a:tc>
                <a:tc>
                  <a:txBody>
                    <a:bodyPr wrap="square"/>
                    <a:lstStyle/>
                    <a:p>
                      <a:r>
                        <a:rPr sz="1400">
                          <a:solidFill>
                            <a:srgbClr val="2C3E50"/>
                          </a:solidFill>
                          <a:latin typeface="Poppins"/>
                        </a:rPr>
                        <a:t>Centered 6-month average</a:t>
                      </a:r>
                    </a:p>
                  </a:txBody>
                  <a:tcPr/>
                </a:tc>
                <a:tc>
                  <a:txBody>
                    <a:bodyPr wrap="square"/>
                    <a:lstStyle/>
                    <a:p>
                      <a:r>
                        <a:rPr sz="1400">
                          <a:solidFill>
                            <a:srgbClr val="2C3E50"/>
                          </a:solidFill>
                          <a:latin typeface="Poppins"/>
                        </a:rPr>
                        <a:t>3 months before + 3 months after the outlier</a:t>
                      </a:r>
                    </a:p>
                  </a:txBody>
                  <a:tcPr/>
                </a:tc>
              </a:tr>
              <a:tr h="320040">
                <a:tc>
                  <a:txBody>
                    <a:bodyPr wrap="square"/>
                    <a:lstStyle/>
                    <a:p>
                      <a:r>
                        <a:rPr sz="1400">
                          <a:solidFill>
                            <a:srgbClr val="2C3E50"/>
                          </a:solidFill>
                          <a:latin typeface="Poppins"/>
                        </a:rPr>
                        <a:t>2</a:t>
                      </a:r>
                    </a:p>
                  </a:txBody>
                  <a:tcPr/>
                </a:tc>
                <a:tc>
                  <a:txBody>
                    <a:bodyPr wrap="square"/>
                    <a:lstStyle/>
                    <a:p>
                      <a:r>
                        <a:rPr sz="1400">
                          <a:solidFill>
                            <a:srgbClr val="2C3E50"/>
                          </a:solidFill>
                          <a:latin typeface="Poppins"/>
                        </a:rPr>
                        <a:t>Forward 6-month average</a:t>
                      </a:r>
                    </a:p>
                  </a:txBody>
                  <a:tcPr/>
                </a:tc>
                <a:tc>
                  <a:txBody>
                    <a:bodyPr wrap="square"/>
                    <a:lstStyle/>
                    <a:p>
                      <a:r>
                        <a:rPr sz="1400">
                          <a:solidFill>
                            <a:srgbClr val="2C3E50"/>
                          </a:solidFill>
                          <a:latin typeface="Poppins"/>
                        </a:rPr>
                        <a:t>When insufficient preceding data (e.g., start of series)</a:t>
                      </a:r>
                    </a:p>
                  </a:txBody>
                  <a:tcPr/>
                </a:tc>
              </a:tr>
              <a:tr h="320040">
                <a:tc>
                  <a:txBody>
                    <a:bodyPr wrap="square"/>
                    <a:lstStyle/>
                    <a:p>
                      <a:r>
                        <a:rPr sz="1400">
                          <a:solidFill>
                            <a:srgbClr val="2C3E50"/>
                          </a:solidFill>
                          <a:latin typeface="Poppins"/>
                        </a:rPr>
                        <a:t>3</a:t>
                      </a:r>
                    </a:p>
                  </a:txBody>
                  <a:tcPr/>
                </a:tc>
                <a:tc>
                  <a:txBody>
                    <a:bodyPr wrap="square"/>
                    <a:lstStyle/>
                    <a:p>
                      <a:r>
                        <a:rPr sz="1400">
                          <a:solidFill>
                            <a:srgbClr val="2C3E50"/>
                          </a:solidFill>
                          <a:latin typeface="Poppins"/>
                        </a:rPr>
                        <a:t>Backward 6-month average</a:t>
                      </a:r>
                    </a:p>
                  </a:txBody>
                  <a:tcPr/>
                </a:tc>
                <a:tc>
                  <a:txBody>
                    <a:bodyPr wrap="square"/>
                    <a:lstStyle/>
                    <a:p>
                      <a:r>
                        <a:rPr sz="1400">
                          <a:solidFill>
                            <a:srgbClr val="2C3E50"/>
                          </a:solidFill>
                          <a:latin typeface="Poppins"/>
                        </a:rPr>
                        <a:t>When insufficient following data (e.g., end of series)</a:t>
                      </a:r>
                    </a:p>
                  </a:txBody>
                  <a:tcPr/>
                </a:tc>
              </a:tr>
              <a:tr h="320040">
                <a:tc>
                  <a:txBody>
                    <a:bodyPr wrap="square"/>
                    <a:lstStyle/>
                    <a:p>
                      <a:r>
                        <a:rPr sz="1400">
                          <a:solidFill>
                            <a:srgbClr val="2C3E50"/>
                          </a:solidFill>
                          <a:latin typeface="Poppins"/>
                        </a:rPr>
                        <a:t>4</a:t>
                      </a:r>
                    </a:p>
                  </a:txBody>
                  <a:tcPr/>
                </a:tc>
                <a:tc>
                  <a:txBody>
                    <a:bodyPr wrap="square"/>
                    <a:lstStyle/>
                    <a:p>
                      <a:r>
                        <a:rPr sz="1400">
                          <a:solidFill>
                            <a:srgbClr val="2C3E50"/>
                          </a:solidFill>
                          <a:latin typeface="Poppins"/>
                        </a:rPr>
                        <a:t>Same month, previous year</a:t>
                      </a:r>
                    </a:p>
                  </a:txBody>
                  <a:tcPr/>
                </a:tc>
                <a:tc>
                  <a:txBody>
                    <a:bodyPr wrap="square"/>
                    <a:lstStyle/>
                    <a:p>
                      <a:r>
                        <a:rPr sz="1400">
                          <a:solidFill>
                            <a:srgbClr val="2C3E50"/>
                          </a:solidFill>
                          <a:latin typeface="Poppins"/>
                        </a:rPr>
                        <a:t>When rolling averages unavailable; useful for seasonal indicators</a:t>
                      </a:r>
                    </a:p>
                  </a:txBody>
                  <a:tcPr/>
                </a:tc>
              </a:tr>
              <a:tr h="320040">
                <a:tc>
                  <a:txBody>
                    <a:bodyPr wrap="square"/>
                    <a:lstStyle/>
                    <a:p>
                      <a:r>
                        <a:rPr sz="1400">
                          <a:solidFill>
                            <a:srgbClr val="2C3E50"/>
                          </a:solidFill>
                          <a:latin typeface="Poppins"/>
                        </a:rPr>
                        <a:t>5</a:t>
                      </a:r>
                    </a:p>
                  </a:txBody>
                  <a:tcPr/>
                </a:tc>
                <a:tc>
                  <a:txBody>
                    <a:bodyPr wrap="square"/>
                    <a:lstStyle/>
                    <a:p>
                      <a:r>
                        <a:rPr sz="1400">
                          <a:solidFill>
                            <a:srgbClr val="2C3E50"/>
                          </a:solidFill>
                          <a:latin typeface="Poppins"/>
                        </a:rPr>
                        <a:t>Facility historical mean</a:t>
                      </a:r>
                    </a:p>
                  </a:txBody>
                  <a:tcPr/>
                </a:tc>
                <a:tc>
                  <a:txBody>
                    <a:bodyPr wrap="square"/>
                    <a:lstStyle/>
                    <a:p>
                      <a:r>
                        <a:rPr sz="1400">
                          <a:solidFill>
                            <a:srgbClr val="2C3E50"/>
                          </a:solidFill>
                          <a:latin typeface="Poppins"/>
                        </a:rPr>
                        <a:t>Mean of all valid values for this indicator at this facility</a:t>
                      </a:r>
                    </a:p>
                  </a:txBody>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Outlier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1._Percent_change_in_volume_due_to_outlier_adjustment.png"/>
          <p:cNvPicPr>
            <a:picLocks noChangeAspect="1"/>
          </p:cNvPicPr>
          <p:nvPr/>
        </p:nvPicPr>
        <p:blipFill>
          <a:blip r:embed="rId2"/>
          <a:stretch>
            <a:fillRect/>
          </a:stretch>
        </p:blipFill>
        <p:spPr>
          <a:xfrm>
            <a:off x="1523847" y="1371600"/>
            <a:ext cx="9144000" cy="5549537"/>
          </a:xfrm>
          <a:prstGeom prst="rect">
            <a:avLst/>
          </a:prstGeom>
        </p:spPr>
      </p:pic>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For months identified as incomplete or missing, values are imputed using the same 6-month rolling average approach applied to outlier adjustment.</a:t>
            </a:r>
          </a:p>
        </p:txBody>
      </p:sp>
      <p:graphicFrame>
        <p:nvGraphicFramePr>
          <p:cNvPr id="5" name="Table 4"/>
          <p:cNvGraphicFramePr>
            <a:graphicFrameLocks noGrp="1"/>
          </p:cNvGraphicFramePr>
          <p:nvPr/>
        </p:nvGraphicFramePr>
        <p:xfrm>
          <a:off x="685800" y="1828800"/>
          <a:ext cx="11247118" cy="1600200"/>
        </p:xfrm>
        <a:graphic>
          <a:graphicData uri="http://schemas.openxmlformats.org/drawingml/2006/table">
            <a:tbl>
              <a:tblPr firstRow="1" bandRow="1">
                <a:tableStyleId>{5C22544A-7EE6-4342-B048-85BDC9FD1C3A}</a:tableStyleId>
              </a:tblPr>
              <a:tblGrid>
                <a:gridCol w="2215563"/>
                <a:gridCol w="3773542"/>
                <a:gridCol w="5258013"/>
              </a:tblGrid>
              <a:tr h="320040">
                <a:tc>
                  <a:txBody>
                    <a:bodyPr wrap="square"/>
                    <a:lstStyle/>
                    <a:p>
                      <a:pPr>
                        <a:defRPr sz="1400" b="1">
                          <a:solidFill>
                            <a:srgbClr val="21568C"/>
                          </a:solidFill>
                          <a:latin typeface="Poppins"/>
                        </a:defRPr>
                      </a:pPr>
                      <a:r>
                        <a:t>Priority</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Application</a:t>
                      </a:r>
                    </a:p>
                  </a:txBody>
                  <a:tcPr>
                    <a:solidFill>
                      <a:srgbClr val="CAE6E9"/>
                    </a:solidFill>
                  </a:tcPr>
                </a:tc>
              </a:tr>
              <a:tr h="320040">
                <a:tc>
                  <a:txBody>
                    <a:bodyPr wrap="square"/>
                    <a:lstStyle/>
                    <a:p>
                      <a:r>
                        <a:rPr sz="1400">
                          <a:solidFill>
                            <a:srgbClr val="2C3E50"/>
                          </a:solidFill>
                          <a:latin typeface="Poppins"/>
                        </a:rPr>
                        <a:t>1</a:t>
                      </a:r>
                    </a:p>
                  </a:txBody>
                  <a:tcPr/>
                </a:tc>
                <a:tc>
                  <a:txBody>
                    <a:bodyPr wrap="square"/>
                    <a:lstStyle/>
                    <a:p>
                      <a:r>
                        <a:rPr sz="1400">
                          <a:solidFill>
                            <a:srgbClr val="2C3E50"/>
                          </a:solidFill>
                          <a:latin typeface="Poppins"/>
                        </a:rPr>
                        <a:t>Centered 6-month average</a:t>
                      </a:r>
                    </a:p>
                  </a:txBody>
                  <a:tcPr/>
                </a:tc>
                <a:tc>
                  <a:txBody>
                    <a:bodyPr wrap="square"/>
                    <a:lstStyle/>
                    <a:p>
                      <a:r>
                        <a:rPr sz="1400">
                          <a:solidFill>
                            <a:srgbClr val="2C3E50"/>
                          </a:solidFill>
                          <a:latin typeface="Poppins"/>
                        </a:rPr>
                        <a:t>When sufficient data exists before and after the gap</a:t>
                      </a:r>
                    </a:p>
                  </a:txBody>
                  <a:tcPr/>
                </a:tc>
              </a:tr>
              <a:tr h="320040">
                <a:tc>
                  <a:txBody>
                    <a:bodyPr wrap="square"/>
                    <a:lstStyle/>
                    <a:p>
                      <a:r>
                        <a:rPr sz="1400">
                          <a:solidFill>
                            <a:srgbClr val="2C3E50"/>
                          </a:solidFill>
                          <a:latin typeface="Poppins"/>
                        </a:rPr>
                        <a:t>2</a:t>
                      </a:r>
                    </a:p>
                  </a:txBody>
                  <a:tcPr/>
                </a:tc>
                <a:tc>
                  <a:txBody>
                    <a:bodyPr wrap="square"/>
                    <a:lstStyle/>
                    <a:p>
                      <a:r>
                        <a:rPr sz="1400">
                          <a:solidFill>
                            <a:srgbClr val="2C3E50"/>
                          </a:solidFill>
                          <a:latin typeface="Poppins"/>
                        </a:rPr>
                        <a:t>Forward 6-month average</a:t>
                      </a:r>
                    </a:p>
                  </a:txBody>
                  <a:tcPr/>
                </a:tc>
                <a:tc>
                  <a:txBody>
                    <a:bodyPr wrap="square"/>
                    <a:lstStyle/>
                    <a:p>
                      <a:r>
                        <a:rPr sz="1400">
                          <a:solidFill>
                            <a:srgbClr val="2C3E50"/>
                          </a:solidFill>
                          <a:latin typeface="Poppins"/>
                        </a:rPr>
                        <a:t>For gaps at the start of the time series</a:t>
                      </a:r>
                    </a:p>
                  </a:txBody>
                  <a:tcPr/>
                </a:tc>
              </a:tr>
              <a:tr h="320040">
                <a:tc>
                  <a:txBody>
                    <a:bodyPr wrap="square"/>
                    <a:lstStyle/>
                    <a:p>
                      <a:r>
                        <a:rPr sz="1400">
                          <a:solidFill>
                            <a:srgbClr val="2C3E50"/>
                          </a:solidFill>
                          <a:latin typeface="Poppins"/>
                        </a:rPr>
                        <a:t>3</a:t>
                      </a:r>
                    </a:p>
                  </a:txBody>
                  <a:tcPr/>
                </a:tc>
                <a:tc>
                  <a:txBody>
                    <a:bodyPr wrap="square"/>
                    <a:lstStyle/>
                    <a:p>
                      <a:r>
                        <a:rPr sz="1400">
                          <a:solidFill>
                            <a:srgbClr val="2C3E50"/>
                          </a:solidFill>
                          <a:latin typeface="Poppins"/>
                        </a:rPr>
                        <a:t>Backward 6-month average</a:t>
                      </a:r>
                    </a:p>
                  </a:txBody>
                  <a:tcPr/>
                </a:tc>
                <a:tc>
                  <a:txBody>
                    <a:bodyPr wrap="square"/>
                    <a:lstStyle/>
                    <a:p>
                      <a:r>
                        <a:rPr sz="1400">
                          <a:solidFill>
                            <a:srgbClr val="2C3E50"/>
                          </a:solidFill>
                          <a:latin typeface="Poppins"/>
                        </a:rPr>
                        <a:t>For gaps at the end of the time series</a:t>
                      </a:r>
                    </a:p>
                  </a:txBody>
                  <a:tcPr/>
                </a:tc>
              </a:tr>
              <a:tr h="320040">
                <a:tc>
                  <a:txBody>
                    <a:bodyPr wrap="square"/>
                    <a:lstStyle/>
                    <a:p>
                      <a:r>
                        <a:rPr sz="1400">
                          <a:solidFill>
                            <a:srgbClr val="2C3E50"/>
                          </a:solidFill>
                          <a:latin typeface="Poppins"/>
                        </a:rPr>
                        <a:t>4</a:t>
                      </a:r>
                    </a:p>
                  </a:txBody>
                  <a:tcPr/>
                </a:tc>
                <a:tc>
                  <a:txBody>
                    <a:bodyPr wrap="square"/>
                    <a:lstStyle/>
                    <a:p>
                      <a:r>
                        <a:rPr sz="1400">
                          <a:solidFill>
                            <a:srgbClr val="2C3E50"/>
                          </a:solidFill>
                          <a:latin typeface="Poppins"/>
                        </a:rPr>
                        <a:t>Facility historical mean</a:t>
                      </a:r>
                    </a:p>
                  </a:txBody>
                  <a:tcPr/>
                </a:tc>
                <a:tc>
                  <a:txBody>
                    <a:bodyPr wrap="square"/>
                    <a:lstStyle/>
                    <a:p>
                      <a:r>
                        <a:rPr sz="1400">
                          <a:solidFill>
                            <a:srgbClr val="2C3E50"/>
                          </a:solidFill>
                          <a:latin typeface="Poppins"/>
                        </a:rPr>
                        <a:t>Mean of all valid values for this indicator at this facility</a:t>
                      </a:r>
                    </a:p>
                  </a:txBody>
                  <a:tcPr/>
                </a:tc>
              </a:tr>
            </a:tbl>
          </a:graphicData>
        </a:graphic>
      </p:graphicFrame>
      <p:sp>
        <p:nvSpPr>
          <p:cNvPr id="6" name="TextBox 5"/>
          <p:cNvSpPr txBox="1"/>
          <p:nvPr/>
        </p:nvSpPr>
        <p:spPr>
          <a:xfrm>
            <a:off x="685800" y="3611880"/>
            <a:ext cx="10820095" cy="2286000"/>
          </a:xfrm>
          <a:prstGeom prst="rect">
            <a:avLst/>
          </a:prstGeom>
          <a:noFill/>
        </p:spPr>
        <p:txBody>
          <a:bodyPr wrap="square">
            <a:spAutoFit/>
          </a:bodyPr>
          <a:lstStyle/>
          <a:p>
            <a:pPr>
              <a:spcAft>
                <a:spcPts val="600"/>
              </a:spcAft>
            </a:pPr>
            <a:r>
              <a:rPr sz="1800">
                <a:solidFill>
                  <a:srgbClr val="2C3E50"/>
                </a:solidFill>
                <a:latin typeface="Poppins"/>
              </a:rPr>
              <a:t>This approach prevents temporary reporting gaps from creating artificial declines in service volumes.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Completeness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2._Percent_change_in_volume_due_to_completeness_adjustment.png"/>
          <p:cNvPicPr>
            <a:picLocks noChangeAspect="1"/>
          </p:cNvPicPr>
          <p:nvPr/>
        </p:nvPicPr>
        <p:blipFill>
          <a:blip r:embed="rId2"/>
          <a:stretch>
            <a:fillRect/>
          </a:stretch>
        </p:blipFill>
        <p:spPr>
          <a:xfrm>
            <a:off x="1523847" y="1371600"/>
            <a:ext cx="9144000" cy="5349240"/>
          </a:xfrm>
          <a:prstGeom prst="rect">
            <a:avLst/>
          </a:prstGeom>
        </p:spPr>
      </p:pic>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Combined adjustment: FASTR output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fault_3._Percent_change_in_volume_due_to_both_outlier_and_completeness_adjustment.png"/>
          <p:cNvPicPr>
            <a:picLocks noChangeAspect="1"/>
          </p:cNvPicPr>
          <p:nvPr/>
        </p:nvPicPr>
        <p:blipFill>
          <a:blip r:embed="rId2"/>
          <a:stretch>
            <a:fillRect/>
          </a:stretch>
        </p:blipFill>
        <p:spPr>
          <a:xfrm>
            <a:off x="1523847" y="1371600"/>
            <a:ext cx="9144000" cy="5249091"/>
          </a:xfrm>
          <a:prstGeom prst="rect">
            <a:avLst/>
          </a:prstGeom>
        </p:spPr>
      </p:pic>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analysis - Module 3</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Detecting and quantifying changes in health service delivery over time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Objectives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1. Measure changes in service volume</a:t>
            </a:r>
          </a:p>
          <a:p>
            <a:pPr>
              <a:spcAft>
                <a:spcPts val="1400"/>
              </a:spcAft>
            </a:pPr>
            <a:r>
              <a:rPr sz="1800">
                <a:solidFill>
                  <a:srgbClr val="333333"/>
                </a:solidFill>
                <a:latin typeface="Poppins"/>
              </a:rPr>
              <a:t>Year-over-year comparison of service volumes identifies increases or decreases across regions and indicators.</a:t>
            </a:r>
          </a:p>
          <a:p>
            <a:pPr>
              <a:spcAft>
                <a:spcPts val="1400"/>
              </a:spcAft>
            </a:pPr>
            <a:r>
              <a:rPr sz="1800" b="1">
                <a:solidFill>
                  <a:srgbClr val="21568C"/>
                </a:solidFill>
                <a:latin typeface="Poppins"/>
              </a:rPr>
              <a:t>2. Detect and quantify disruptions</a:t>
            </a:r>
          </a:p>
          <a:p>
            <a:pPr>
              <a:spcAft>
                <a:spcPts val="1400"/>
              </a:spcAft>
            </a:pPr>
            <a:r>
              <a:rPr sz="1800">
                <a:solidFill>
                  <a:srgbClr val="333333"/>
                </a:solidFill>
                <a:latin typeface="Poppins"/>
              </a:rPr>
              <a:t>Statistical comparison of observed volumes against expected levels—derived from historical trends and seasonal patterns—enables identification and quantification of service shortfalls or surpluses.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over time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5_Number_of_services_reported.png"/>
          <p:cNvPicPr>
            <a:picLocks noChangeAspect="1"/>
          </p:cNvPicPr>
          <p:nvPr/>
        </p:nvPicPr>
        <p:blipFill>
          <a:blip r:embed="rId2"/>
          <a:stretch>
            <a:fillRect/>
          </a:stretch>
        </p:blipFill>
        <p:spPr>
          <a:xfrm>
            <a:off x="1523847" y="1371600"/>
            <a:ext cx="9144000" cy="5564777"/>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Year-over-year change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Year-over-year percent change</a:t>
            </a:r>
            <a:r>
              <a:rPr sz="1800">
                <a:solidFill>
                  <a:srgbClr val="333333"/>
                </a:solidFill>
                <a:latin typeface="Poppins"/>
              </a:rPr>
              <a:t> quantifies shifts in service delivery between consecutive years.</a:t>
            </a:r>
          </a:p>
          <a:p>
            <a:pPr>
              <a:spcAft>
                <a:spcPts val="1400"/>
              </a:spcAft>
            </a:pPr>
            <a:r>
              <a:rPr sz="1800">
                <a:solidFill>
                  <a:srgbClr val="333333"/>
                </a:solidFill>
                <a:latin typeface="Poppins"/>
              </a:rPr>
              <a:t>For each indicator and region, total volume in the current year is compared to the previous year:</a:t>
            </a:r>
          </a:p>
          <a:p>
            <a:pPr>
              <a:spcAft>
                <a:spcPts val="1400"/>
              </a:spcAft>
            </a:pPr>
            <a:r>
              <a:rPr sz="1800" b="1">
                <a:solidFill>
                  <a:srgbClr val="21568C"/>
                </a:solidFill>
                <a:latin typeface="Poppins"/>
              </a:rPr>
              <a:t>Percent change</a:t>
            </a:r>
            <a:r>
              <a:rPr sz="1800">
                <a:solidFill>
                  <a:srgbClr val="333333"/>
                </a:solidFill>
                <a:latin typeface="Poppins"/>
              </a:rPr>
              <a:t> = (Current year − Previous year) ÷ Previous year × 100</a:t>
            </a:r>
          </a:p>
          <a:p>
            <a:pPr>
              <a:spcAft>
                <a:spcPts val="1400"/>
              </a:spcAft>
            </a:pPr>
            <a:r>
              <a:rPr sz="1800">
                <a:solidFill>
                  <a:srgbClr val="333333"/>
                </a:solidFill>
                <a:latin typeface="Poppins"/>
              </a:rPr>
              <a:t>Changes exceeding </a:t>
            </a:r>
            <a:r>
              <a:rPr sz="1800" b="1">
                <a:solidFill>
                  <a:srgbClr val="21568C"/>
                </a:solidFill>
                <a:latin typeface="Poppins"/>
              </a:rPr>
              <a:t>±10%</a:t>
            </a:r>
            <a:r>
              <a:rPr sz="1800">
                <a:solidFill>
                  <a:srgbClr val="333333"/>
                </a:solidFill>
                <a:latin typeface="Poppins"/>
              </a:rPr>
              <a:t> are flagged for review.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Change in service volume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5486400" cy="5029200"/>
          </a:xfrm>
          <a:prstGeom prst="rect">
            <a:avLst/>
          </a:prstGeom>
          <a:noFill/>
        </p:spPr>
        <p:txBody>
          <a:bodyPr wrap="square">
            <a:spAutoFit/>
          </a:bodyPr>
          <a:lstStyle/>
          <a:p>
            <a:pPr>
              <a:spcBef>
                <a:spcPts val="800"/>
              </a:spcBef>
              <a:spcAft>
                <a:spcPts val="1000"/>
              </a:spcAft>
              <a:defRPr sz="2200" b="1" i="0">
                <a:solidFill>
                  <a:srgbClr val="BD5091"/>
                </a:solidFill>
                <a:latin typeface="Poppins"/>
              </a:defRPr>
            </a:pPr>
            <a:r>
              <a:t>Interpretation</a:t>
            </a:r>
          </a:p>
          <a:p>
            <a:pPr>
              <a:spcAft>
                <a:spcPts val="1400"/>
              </a:spcAft>
            </a:pPr>
            <a:r>
              <a:rPr sz="1800" b="1">
                <a:solidFill>
                  <a:srgbClr val="21568C"/>
                </a:solidFill>
                <a:latin typeface="Poppins"/>
              </a:rPr>
              <a:t>Bars</a:t>
            </a:r>
            <a:r>
              <a:rPr sz="1800">
                <a:solidFill>
                  <a:srgbClr val="333333"/>
                </a:solidFill>
                <a:latin typeface="Poppins"/>
              </a:rPr>
              <a:t> show annual service volumes by region. </a:t>
            </a:r>
            <a:r>
              <a:rPr sz="1800" b="1">
                <a:solidFill>
                  <a:srgbClr val="21568C"/>
                </a:solidFill>
                <a:latin typeface="Poppins"/>
              </a:rPr>
              <a:t>Percentages</a:t>
            </a:r>
            <a:r>
              <a:rPr sz="1800">
                <a:solidFill>
                  <a:srgbClr val="333333"/>
                </a:solidFill>
                <a:latin typeface="Poppins"/>
              </a:rPr>
              <a:t> indicate year-over-year change.</a:t>
            </a:r>
          </a:p>
          <a:p>
            <a:pPr>
              <a:spcAft>
                <a:spcPts val="1400"/>
              </a:spcAft>
            </a:pPr>
            <a:r>
              <a:rPr sz="1800" b="1">
                <a:solidFill>
                  <a:srgbClr val="21568C"/>
                </a:solidFill>
                <a:latin typeface="Poppins"/>
              </a:rPr>
              <a:t>Key considerations:</a:t>
            </a:r>
          </a:p>
          <a:p>
            <a:pPr>
              <a:spcAft>
                <a:spcPts val="800"/>
              </a:spcAft>
            </a:pPr>
            <a:r>
              <a:rPr sz="1800">
                <a:solidFill>
                  <a:srgbClr val="D0CB17"/>
                </a:solidFill>
                <a:latin typeface="Poppins"/>
              </a:rPr>
              <a:t>• </a:t>
            </a:r>
            <a:r>
              <a:rPr sz="1800">
                <a:solidFill>
                  <a:srgbClr val="2C3E50"/>
                </a:solidFill>
                <a:latin typeface="Poppins"/>
              </a:rPr>
              <a:t>Which regions exhibit the largest changes?</a:t>
            </a:r>
          </a:p>
          <a:p>
            <a:pPr>
              <a:spcAft>
                <a:spcPts val="800"/>
              </a:spcAft>
            </a:pPr>
            <a:r>
              <a:rPr sz="1800">
                <a:solidFill>
                  <a:srgbClr val="D0CB17"/>
                </a:solidFill>
                <a:latin typeface="Poppins"/>
              </a:rPr>
              <a:t>• </a:t>
            </a:r>
            <a:r>
              <a:rPr sz="1800">
                <a:solidFill>
                  <a:srgbClr val="2C3E50"/>
                </a:solidFill>
                <a:latin typeface="Poppins"/>
              </a:rPr>
              <a:t>Are changes consistent across regions or geographically concentrated?</a:t>
            </a:r>
          </a:p>
          <a:p>
            <a:pPr>
              <a:spcAft>
                <a:spcPts val="800"/>
              </a:spcAft>
            </a:pPr>
            <a:r>
              <a:rPr sz="1800">
                <a:solidFill>
                  <a:srgbClr val="D0CB17"/>
                </a:solidFill>
                <a:latin typeface="Poppins"/>
              </a:rPr>
              <a:t>• </a:t>
            </a:r>
            <a:r>
              <a:rPr sz="1800">
                <a:solidFill>
                  <a:srgbClr val="2C3E50"/>
                </a:solidFill>
                <a:latin typeface="Poppins"/>
              </a:rPr>
              <a:t>Do patterns vary by indicator?</a:t>
            </a:r>
          </a:p>
        </p:txBody>
      </p:sp>
      <p:pic>
        <p:nvPicPr>
          <p:cNvPr id="5" name="Picture 4" descr="Module3_1_Change_in_service_volume.png"/>
          <p:cNvPicPr>
            <a:picLocks noChangeAspect="1"/>
          </p:cNvPicPr>
          <p:nvPr/>
        </p:nvPicPr>
        <p:blipFill>
          <a:blip r:embed="rId2"/>
          <a:stretch>
            <a:fillRect/>
          </a:stretch>
        </p:blipFill>
        <p:spPr>
          <a:xfrm>
            <a:off x="6629400" y="1371600"/>
            <a:ext cx="5321479" cy="3238500"/>
          </a:xfrm>
          <a:prstGeom prst="rect">
            <a:avLst/>
          </a:prstGeom>
        </p:spPr>
      </p:pic>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Disruption detection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Our approach to service disruptions and surpluses utilizes an interrupted time series regression with facility-level fixed effects. Previous large and unexpected changes in historical data are removed. Unexpected volume changes are estimated by comparing observed volume to expected volume based on historical trends and seasonality.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Disruptions and surpluses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isruption_chart.png"/>
          <p:cNvPicPr>
            <a:picLocks noChangeAspect="1"/>
          </p:cNvPicPr>
          <p:nvPr/>
        </p:nvPicPr>
        <p:blipFill>
          <a:blip r:embed="rId2"/>
          <a:stretch>
            <a:fillRect/>
          </a:stretch>
        </p:blipFill>
        <p:spPr>
          <a:xfrm>
            <a:off x="1523847" y="1371600"/>
            <a:ext cx="9144000" cy="4768880"/>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Disruptions</a:t>
            </a:r>
            <a:r>
              <a:rPr sz="1800">
                <a:solidFill>
                  <a:srgbClr val="333333"/>
                </a:solidFill>
                <a:latin typeface="Poppins"/>
              </a:rPr>
              <a:t> are flagged when volumes fall below anticipated levels, signaling potential barriers to access, resource shortages, or system failures.</a:t>
            </a:r>
          </a:p>
          <a:p>
            <a:pPr>
              <a:spcAft>
                <a:spcPts val="1000"/>
              </a:spcAft>
            </a:pPr>
            <a:r>
              <a:rPr sz="1800" b="1">
                <a:solidFill>
                  <a:srgbClr val="21568C"/>
                </a:solidFill>
                <a:latin typeface="Poppins"/>
              </a:rPr>
              <a:t>Surpluses</a:t>
            </a:r>
            <a:r>
              <a:rPr sz="1800">
                <a:solidFill>
                  <a:srgbClr val="333333"/>
                </a:solidFill>
                <a:latin typeface="Poppins"/>
              </a:rPr>
              <a:t> occur when volumes exceed expectations, which may indicate increased demand, over-reporting, or changes in service delivery.</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How it works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Using past data to set expectations:</a:t>
            </a:r>
            <a:r>
              <a:rPr sz="1800">
                <a:solidFill>
                  <a:srgbClr val="333333"/>
                </a:solidFill>
                <a:latin typeface="Poppins"/>
              </a:rPr>
              <a:t> We look at the past few years of data to understand the typical pattern for each month, accounting for regular seasonal changes.</a:t>
            </a:r>
          </a:p>
          <a:p>
            <a:pPr>
              <a:spcAft>
                <a:spcPts val="1400"/>
              </a:spcAft>
            </a:pPr>
            <a:r>
              <a:rPr sz="1800" b="1">
                <a:solidFill>
                  <a:srgbClr val="21568C"/>
                </a:solidFill>
                <a:latin typeface="Poppins"/>
              </a:rPr>
              <a:t>Spotting unusual changes:</a:t>
            </a:r>
            <a:r>
              <a:rPr sz="1800">
                <a:solidFill>
                  <a:srgbClr val="333333"/>
                </a:solidFill>
                <a:latin typeface="Poppins"/>
              </a:rPr>
              <a:t> We compare current service volumes to expectations. If we see volumes much higher or lower than expected, we flag it as an unusual change.</a:t>
            </a:r>
          </a:p>
          <a:p>
            <a:pPr>
              <a:spcAft>
                <a:spcPts val="1400"/>
              </a:spcAft>
            </a:pPr>
            <a:r>
              <a:rPr sz="1800" b="1">
                <a:solidFill>
                  <a:srgbClr val="21568C"/>
                </a:solidFill>
                <a:latin typeface="Poppins"/>
              </a:rPr>
              <a:t>Handling past disruptions:</a:t>
            </a:r>
            <a:r>
              <a:rPr sz="1800">
                <a:solidFill>
                  <a:srgbClr val="333333"/>
                </a:solidFill>
                <a:latin typeface="Poppins"/>
              </a:rPr>
              <a:t> We adjust historical data by removing previous big, unexpected changes so one-off events don't skew our understanding of what's "normal."</a:t>
            </a:r>
          </a:p>
          <a:p>
            <a:pPr>
              <a:spcAft>
                <a:spcPts val="1400"/>
              </a:spcAft>
            </a:pPr>
            <a:r>
              <a:rPr sz="1800" b="1">
                <a:solidFill>
                  <a:srgbClr val="21568C"/>
                </a:solidFill>
                <a:latin typeface="Poppins"/>
              </a:rPr>
              <a:t>Detecting disruptions over time:</a:t>
            </a:r>
            <a:r>
              <a:rPr sz="1800">
                <a:solidFill>
                  <a:srgbClr val="333333"/>
                </a:solidFill>
                <a:latin typeface="Poppins"/>
              </a:rPr>
              <a:t> We look at trends to see if there are clear shifts in health service use over several months.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Comparison to DHIS2</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Extension of service utilization analysis, using more complex statistical approaches not available in DHIS2.</a:t>
            </a:r>
          </a:p>
          <a:p>
            <a:pPr>
              <a:spcAft>
                <a:spcPts val="1400"/>
              </a:spcAft>
            </a:pPr>
            <a:r>
              <a:rPr sz="1800">
                <a:solidFill>
                  <a:srgbClr val="333333"/>
                </a:solidFill>
                <a:latin typeface="Poppins"/>
              </a:rPr>
              <a:t>Using a regression framework, we are able to:</a:t>
            </a:r>
          </a:p>
          <a:p>
            <a:pPr>
              <a:spcAft>
                <a:spcPts val="800"/>
              </a:spcAft>
            </a:pPr>
            <a:r>
              <a:rPr sz="1800">
                <a:solidFill>
                  <a:srgbClr val="D0CB17"/>
                </a:solidFill>
                <a:latin typeface="Poppins"/>
              </a:rPr>
              <a:t>• </a:t>
            </a:r>
            <a:r>
              <a:rPr sz="1800">
                <a:solidFill>
                  <a:srgbClr val="2C3E50"/>
                </a:solidFill>
                <a:latin typeface="Poppins"/>
              </a:rPr>
              <a:t>Account for seasonality</a:t>
            </a:r>
          </a:p>
          <a:p>
            <a:pPr>
              <a:spcAft>
                <a:spcPts val="800"/>
              </a:spcAft>
            </a:pPr>
            <a:r>
              <a:rPr sz="1800">
                <a:solidFill>
                  <a:srgbClr val="D0CB17"/>
                </a:solidFill>
                <a:latin typeface="Poppins"/>
              </a:rPr>
              <a:t>• </a:t>
            </a:r>
            <a:r>
              <a:rPr sz="1800">
                <a:solidFill>
                  <a:srgbClr val="2C3E50"/>
                </a:solidFill>
                <a:latin typeface="Poppins"/>
              </a:rPr>
              <a:t>Exclude unusual changes to ensure one-off events aren't influencing normal trends</a:t>
            </a:r>
          </a:p>
          <a:p>
            <a:pPr>
              <a:spcAft>
                <a:spcPts val="800"/>
              </a:spcAft>
            </a:pPr>
            <a:r>
              <a:rPr sz="1800">
                <a:solidFill>
                  <a:srgbClr val="D0CB17"/>
                </a:solidFill>
                <a:latin typeface="Poppins"/>
              </a:rPr>
              <a:t>• </a:t>
            </a:r>
            <a:r>
              <a:rPr sz="1800">
                <a:solidFill>
                  <a:srgbClr val="2C3E50"/>
                </a:solidFill>
                <a:latin typeface="Poppins"/>
              </a:rPr>
              <a:t>Use historical data as a baseline for context</a:t>
            </a:r>
          </a:p>
          <a:p>
            <a:pPr>
              <a:spcAft>
                <a:spcPts val="800"/>
              </a:spcAft>
            </a:pPr>
            <a:r>
              <a:rPr sz="1800">
                <a:solidFill>
                  <a:srgbClr val="D0CB17"/>
                </a:solidFill>
                <a:latin typeface="Poppins"/>
              </a:rPr>
              <a:t>• </a:t>
            </a:r>
            <a:r>
              <a:rPr sz="1800">
                <a:solidFill>
                  <a:srgbClr val="2C3E50"/>
                </a:solidFill>
                <a:latin typeface="Poppins"/>
              </a:rPr>
              <a:t>Detect disruptions and recovery patterns</a:t>
            </a:r>
          </a:p>
          <a:p>
            <a:pPr>
              <a:spcAft>
                <a:spcPts val="800"/>
              </a:spcAft>
            </a:pPr>
            <a:r>
              <a:rPr sz="1800">
                <a:solidFill>
                  <a:srgbClr val="D0CB17"/>
                </a:solidFill>
                <a:latin typeface="Poppins"/>
              </a:rPr>
              <a:t>• </a:t>
            </a:r>
            <a:r>
              <a:rPr sz="1800">
                <a:solidFill>
                  <a:srgbClr val="2C3E50"/>
                </a:solidFill>
                <a:latin typeface="Poppins"/>
              </a:rPr>
              <a:t>Quantify changes with a robust methodology as compared to just observing simple fluctuations in a trend line</a:t>
            </a:r>
          </a:p>
          <a:p>
            <a:pPr>
              <a:spcAft>
                <a:spcPts val="1400"/>
              </a:spcAft>
            </a:pPr>
            <a:r>
              <a:rPr sz="1800">
                <a:solidFill>
                  <a:srgbClr val="333333"/>
                </a:solidFill>
                <a:latin typeface="Poppins"/>
              </a:rPr>
              <a:t>This improves the ability to interpret and compare utilization data across national and sub-national areas without needing population denominators.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Actual vs expected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2_Actual_vs_expected_national.png"/>
          <p:cNvPicPr>
            <a:picLocks noChangeAspect="1"/>
          </p:cNvPicPr>
          <p:nvPr/>
        </p:nvPicPr>
        <p:blipFill>
          <a:blip r:embed="rId2"/>
          <a:stretch>
            <a:fillRect/>
          </a:stretch>
        </p:blipFill>
        <p:spPr>
          <a:xfrm>
            <a:off x="1523847" y="1371600"/>
            <a:ext cx="9144000" cy="5564777"/>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National-level comparison of observed service volumes against expected values derived from historical trends and seasonal patterns.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Output: Actual vs expected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3_3_Actual_vs_expected_subnational.png"/>
          <p:cNvPicPr>
            <a:picLocks noChangeAspect="1"/>
          </p:cNvPicPr>
          <p:nvPr/>
        </p:nvPicPr>
        <p:blipFill>
          <a:blip r:embed="rId2"/>
          <a:stretch>
            <a:fillRect/>
          </a:stretch>
        </p:blipFill>
        <p:spPr>
          <a:xfrm>
            <a:off x="1523847" y="1371600"/>
            <a:ext cx="9144000" cy="6805749"/>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Subnational disaggregation enables identification of geographic areas where disruptions are concentrated.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utilization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2880360"/>
        </p:xfrm>
        <a:graphic>
          <a:graphicData uri="http://schemas.openxmlformats.org/drawingml/2006/table">
            <a:tbl>
              <a:tblPr firstRow="1" bandRow="1">
                <a:tableStyleId>{5C22544A-7EE6-4342-B048-85BDC9FD1C3A}</a:tableStyleId>
              </a:tblPr>
              <a:tblGrid>
                <a:gridCol w="4334074"/>
                <a:gridCol w="6913045"/>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Count variable to use for modeling</a:t>
                      </a:r>
                    </a:p>
                  </a:txBody>
                  <a:tcPr/>
                </a:tc>
                <a:tc>
                  <a:txBody>
                    <a:bodyPr wrap="square"/>
                    <a:lstStyle/>
                    <a:p>
                      <a:r>
                        <a:rPr sz="1400">
                          <a:solidFill>
                            <a:srgbClr val="2C3E50"/>
                          </a:solidFill>
                          <a:latin typeface="Poppins"/>
                        </a:rPr>
                        <a:t>Which adjusted count to use for calculating expected values</a:t>
                      </a:r>
                    </a:p>
                  </a:txBody>
                  <a:tcPr/>
                </a:tc>
              </a:tr>
              <a:tr h="320040">
                <a:tc>
                  <a:txBody>
                    <a:bodyPr wrap="square"/>
                    <a:lstStyle/>
                    <a:p>
                      <a:r>
                        <a:rPr sz="1400" b="1">
                          <a:solidFill>
                            <a:srgbClr val="21568C"/>
                          </a:solidFill>
                          <a:latin typeface="Poppins"/>
                        </a:rPr>
                        <a:t>Count variable to use for visualization</a:t>
                      </a:r>
                    </a:p>
                  </a:txBody>
                  <a:tcPr/>
                </a:tc>
                <a:tc>
                  <a:txBody>
                    <a:bodyPr wrap="square"/>
                    <a:lstStyle/>
                    <a:p>
                      <a:r>
                        <a:rPr sz="1400">
                          <a:solidFill>
                            <a:srgbClr val="2C3E50"/>
                          </a:solidFill>
                          <a:latin typeface="Poppins"/>
                        </a:rPr>
                        <a:t>Which adjusted count to use as actual observed values</a:t>
                      </a:r>
                    </a:p>
                  </a:txBody>
                  <a:tcPr/>
                </a:tc>
              </a:tr>
              <a:tr h="320040">
                <a:tc>
                  <a:txBody>
                    <a:bodyPr wrap="square"/>
                    <a:lstStyle/>
                    <a:p>
                      <a:r>
                        <a:rPr sz="1400" b="1">
                          <a:solidFill>
                            <a:srgbClr val="21568C"/>
                          </a:solidFill>
                          <a:latin typeface="Poppins"/>
                        </a:rPr>
                        <a:t>Run district-level model</a:t>
                      </a:r>
                    </a:p>
                  </a:txBody>
                  <a:tcPr/>
                </a:tc>
                <a:tc>
                  <a:txBody>
                    <a:bodyPr wrap="square"/>
                    <a:lstStyle/>
                    <a:p>
                      <a:r>
                        <a:rPr sz="1400">
                          <a:solidFill>
                            <a:srgbClr val="2C3E50"/>
                          </a:solidFill>
                          <a:latin typeface="Poppins"/>
                        </a:rPr>
                        <a:t>Run regressions at admin_area_3 level. Set to Yes for detailed analysis, No for faster runtime</a:t>
                      </a:r>
                    </a:p>
                  </a:txBody>
                  <a:tcPr/>
                </a:tc>
              </a:tr>
              <a:tr h="320040">
                <a:tc>
                  <a:txBody>
                    <a:bodyPr wrap="square"/>
                    <a:lstStyle/>
                    <a:p>
                      <a:r>
                        <a:rPr sz="1400" b="1">
                          <a:solidFill>
                            <a:srgbClr val="21568C"/>
                          </a:solidFill>
                          <a:latin typeface="Poppins"/>
                        </a:rPr>
                        <a:t>Run admin_area_4 analysis</a:t>
                      </a:r>
                    </a:p>
                  </a:txBody>
                  <a:tcPr/>
                </a:tc>
                <a:tc>
                  <a:txBody>
                    <a:bodyPr wrap="square"/>
                    <a:lstStyle/>
                    <a:p>
                      <a:r>
                        <a:rPr sz="1400">
                          <a:solidFill>
                            <a:srgbClr val="2C3E50"/>
                          </a:solidFill>
                          <a:latin typeface="Poppins"/>
                        </a:rPr>
                        <a:t>Run finest-level analysis. Warning: can be very slow for large datasets</a:t>
                      </a:r>
                    </a:p>
                  </a:txBody>
                  <a:tcPr/>
                </a:tc>
              </a:tr>
              <a:tr h="320040">
                <a:tc>
                  <a:txBody>
                    <a:bodyPr wrap="square"/>
                    <a:lstStyle/>
                    <a:p>
                      <a:r>
                        <a:rPr sz="1400" b="1">
                          <a:solidFill>
                            <a:srgbClr val="21568C"/>
                          </a:solidFill>
                          <a:latin typeface="Poppins"/>
                        </a:rPr>
                        <a:t>Threshold for MAD-based control limits</a:t>
                      </a:r>
                    </a:p>
                  </a:txBody>
                  <a:tcPr/>
                </a:tc>
                <a:tc>
                  <a:txBody>
                    <a:bodyPr wrap="square"/>
                    <a:lstStyle/>
                    <a:p>
                      <a:r>
                        <a:rPr sz="1400">
                          <a:solidFill>
                            <a:srgbClr val="2C3E50"/>
                          </a:solidFill>
                          <a:latin typeface="Poppins"/>
                        </a:rPr>
                        <a:t>Number of MADs to flag sharp deviations. Default 1.5; higher = less sensitive</a:t>
                      </a:r>
                    </a:p>
                  </a:txBody>
                  <a:tcPr/>
                </a:tc>
              </a:tr>
              <a:tr h="320040">
                <a:tc>
                  <a:txBody>
                    <a:bodyPr wrap="square"/>
                    <a:lstStyle/>
                    <a:p>
                      <a:r>
                        <a:rPr sz="1400" b="1">
                          <a:solidFill>
                            <a:srgbClr val="21568C"/>
                          </a:solidFill>
                          <a:latin typeface="Poppins"/>
                        </a:rPr>
                        <a:t>Smoothing window (k)</a:t>
                      </a:r>
                    </a:p>
                  </a:txBody>
                  <a:tcPr/>
                </a:tc>
                <a:tc>
                  <a:txBody>
                    <a:bodyPr wrap="square"/>
                    <a:lstStyle/>
                    <a:p>
                      <a:r>
                        <a:rPr sz="1400">
                          <a:solidFill>
                            <a:srgbClr val="2C3E50"/>
                          </a:solidFill>
                          <a:latin typeface="Poppins"/>
                        </a:rPr>
                        <a:t>Window size in months for rolling median smoothing. Must be odd. Default 7</a:t>
                      </a:r>
                    </a:p>
                  </a:txBody>
                  <a:tcPr/>
                </a:tc>
              </a:tr>
              <a:tr h="320040">
                <a:tc>
                  <a:txBody>
                    <a:bodyPr wrap="square"/>
                    <a:lstStyle/>
                    <a:p>
                      <a:r>
                        <a:rPr sz="1400" b="1">
                          <a:solidFill>
                            <a:srgbClr val="21568C"/>
                          </a:solidFill>
                          <a:latin typeface="Poppins"/>
                        </a:rPr>
                        <a:t>Dip threshold</a:t>
                      </a:r>
                    </a:p>
                  </a:txBody>
                  <a:tcPr/>
                </a:tc>
                <a:tc>
                  <a:txBody>
                    <a:bodyPr wrap="square"/>
                    <a:lstStyle/>
                    <a:p>
                      <a:r>
                        <a:rPr sz="1400">
                          <a:solidFill>
                            <a:srgbClr val="2C3E50"/>
                          </a:solidFill>
                          <a:latin typeface="Poppins"/>
                        </a:rPr>
                        <a:t>Flag if actual falls below this proportion of expected. Default 0.9 (≥10% drop); use 0.8 to flag only big drops</a:t>
                      </a:r>
                    </a:p>
                  </a:txBody>
                  <a:tcPr/>
                </a:tc>
              </a:tr>
              <a:tr h="320040">
                <a:tc>
                  <a:txBody>
                    <a:bodyPr wrap="square"/>
                    <a:lstStyle/>
                    <a:p>
                      <a:r>
                        <a:rPr sz="1400" b="1">
                          <a:solidFill>
                            <a:srgbClr val="21568C"/>
                          </a:solidFill>
                          <a:latin typeface="Poppins"/>
                        </a:rPr>
                        <a:t>Difference percent threshold</a:t>
                      </a:r>
                    </a:p>
                  </a:txBody>
                  <a:tcPr/>
                </a:tc>
                <a:tc>
                  <a:txBody>
                    <a:bodyPr wrap="square"/>
                    <a:lstStyle/>
                    <a:p>
                      <a:r>
                        <a:rPr sz="1400">
                          <a:solidFill>
                            <a:srgbClr val="2C3E50"/>
                          </a:solidFill>
                          <a:latin typeface="Poppins"/>
                        </a:rPr>
                        <a:t>Highlight points where actual differs from expected by more than this percent. Default 10</a:t>
                      </a:r>
                    </a:p>
                  </a:txBody>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Service coverage estimates - Module 4</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Estimating the percentage of the target population that received a given health service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Our approach to service coverage analysis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Our approach derives and validates population denominators, significantly improving coverage estimates reported from HMIS systems.</a:t>
            </a:r>
          </a:p>
          <a:p>
            <a:pPr>
              <a:spcAft>
                <a:spcPts val="1400"/>
              </a:spcAft>
            </a:pPr>
            <a:r>
              <a:rPr sz="1800">
                <a:solidFill>
                  <a:srgbClr val="333333"/>
                </a:solidFill>
                <a:latin typeface="Poppins"/>
              </a:rPr>
              <a:t>In countries with accurate data, this approach helps identify subnational inequities and updates outdated estimates, while in countries with less precise data, the trends still provide valuable insights into performance.</a:t>
            </a:r>
          </a:p>
          <a:p>
            <a:pPr>
              <a:spcAft>
                <a:spcPts val="1400"/>
              </a:spcAft>
            </a:pPr>
            <a:r>
              <a:rPr sz="1800">
                <a:solidFill>
                  <a:srgbClr val="333333"/>
                </a:solidFill>
                <a:latin typeface="Poppins"/>
              </a:rPr>
              <a:t>We use these estimates to track recent trends and subnational disparities in the coverage of selected health services.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Two-part analytical process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The coverage estimation module operates in two sequential parts:</a:t>
            </a:r>
          </a:p>
        </p:txBody>
      </p:sp>
      <p:graphicFrame>
        <p:nvGraphicFramePr>
          <p:cNvPr id="5" name="Table 4"/>
          <p:cNvGraphicFramePr>
            <a:graphicFrameLocks noGrp="1"/>
          </p:cNvGraphicFramePr>
          <p:nvPr/>
        </p:nvGraphicFramePr>
        <p:xfrm>
          <a:off x="685800" y="1828800"/>
          <a:ext cx="11247119" cy="960120"/>
        </p:xfrm>
        <a:graphic>
          <a:graphicData uri="http://schemas.openxmlformats.org/drawingml/2006/table">
            <a:tbl>
              <a:tblPr firstRow="1" bandRow="1">
                <a:tableStyleId>{5C22544A-7EE6-4342-B048-85BDC9FD1C3A}</a:tableStyleId>
              </a:tblPr>
              <a:tblGrid>
                <a:gridCol w="3863101"/>
                <a:gridCol w="7384018"/>
              </a:tblGrid>
              <a:tr h="320040">
                <a:tc>
                  <a:txBody>
                    <a:bodyPr wrap="square"/>
                    <a:lstStyle/>
                    <a:p>
                      <a:pPr>
                        <a:defRPr sz="1400" b="1">
                          <a:solidFill>
                            <a:srgbClr val="21568C"/>
                          </a:solidFill>
                          <a:latin typeface="Poppins"/>
                        </a:defRPr>
                      </a:pPr>
                      <a:r>
                        <a:t>Part</a:t>
                      </a:r>
                    </a:p>
                  </a:txBody>
                  <a:tcPr>
                    <a:solidFill>
                      <a:srgbClr val="CAE6E9"/>
                    </a:solidFill>
                  </a:tcPr>
                </a:tc>
                <a:tc>
                  <a:txBody>
                    <a:bodyPr wrap="square"/>
                    <a:lstStyle/>
                    <a:p>
                      <a:pPr>
                        <a:defRPr sz="1400" b="1">
                          <a:solidFill>
                            <a:srgbClr val="21568C"/>
                          </a:solidFill>
                          <a:latin typeface="Poppins"/>
                        </a:defRPr>
                      </a:pPr>
                      <a:r>
                        <a:t>Components</a:t>
                      </a:r>
                    </a:p>
                  </a:txBody>
                  <a:tcPr>
                    <a:solidFill>
                      <a:srgbClr val="CAE6E9"/>
                    </a:solidFill>
                  </a:tcPr>
                </a:tc>
              </a:tr>
              <a:tr h="320040">
                <a:tc>
                  <a:txBody>
                    <a:bodyPr wrap="square"/>
                    <a:lstStyle/>
                    <a:p>
                      <a:r>
                        <a:rPr sz="1400" b="1">
                          <a:solidFill>
                            <a:srgbClr val="21568C"/>
                          </a:solidFill>
                          <a:latin typeface="Poppins"/>
                        </a:rPr>
                        <a:t>Part 1: Denominator calculation</a:t>
                      </a:r>
                    </a:p>
                  </a:txBody>
                  <a:tcPr/>
                </a:tc>
                <a:tc>
                  <a:txBody>
                    <a:bodyPr wrap="square"/>
                    <a:lstStyle/>
                    <a:p>
                      <a:r>
                        <a:rPr sz="1400">
                          <a:solidFill>
                            <a:srgbClr val="2C3E50"/>
                          </a:solidFill>
                          <a:latin typeface="Poppins"/>
                        </a:rPr>
                        <a:t>Calculate target populations using multiple methods; compare against survey benchmarks; select optimal denominator for each indicator</a:t>
                      </a:r>
                    </a:p>
                  </a:txBody>
                  <a:tcPr/>
                </a:tc>
              </a:tr>
              <a:tr h="320040">
                <a:tc>
                  <a:txBody>
                    <a:bodyPr wrap="square"/>
                    <a:lstStyle/>
                    <a:p>
                      <a:r>
                        <a:rPr sz="1400" b="1">
                          <a:solidFill>
                            <a:srgbClr val="21568C"/>
                          </a:solidFill>
                          <a:latin typeface="Poppins"/>
                        </a:rPr>
                        <a:t>Part 2: Coverage estimation</a:t>
                      </a:r>
                    </a:p>
                  </a:txBody>
                  <a:tcPr/>
                </a:tc>
                <a:tc>
                  <a:txBody>
                    <a:bodyPr wrap="square"/>
                    <a:lstStyle/>
                    <a:p>
                      <a:r>
                        <a:rPr sz="1400">
                          <a:solidFill>
                            <a:srgbClr val="2C3E50"/>
                          </a:solidFill>
                          <a:latin typeface="Poppins"/>
                        </a:rPr>
                        <a:t>Apply denominator selections; project survey estimates forward using HMIS trends; generate final coverage estimates</a:t>
                      </a:r>
                    </a:p>
                  </a:txBody>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What is service coverage?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0"/>
            <a:ext cx="10820095" cy="1371600"/>
          </a:xfrm>
          <a:prstGeom prst="rect">
            <a:avLst/>
          </a:prstGeom>
          <a:noFill/>
        </p:spPr>
        <p:txBody>
          <a:bodyPr wrap="square">
            <a:spAutoFit/>
          </a:bodyPr>
          <a:lstStyle/>
          <a:p>
            <a:pPr>
              <a:spcAft>
                <a:spcPts val="1000"/>
              </a:spcAft>
            </a:pPr>
            <a:r>
              <a:rPr sz="1800" b="1">
                <a:solidFill>
                  <a:srgbClr val="21568C"/>
                </a:solidFill>
                <a:latin typeface="Poppins"/>
              </a:rPr>
              <a:t>Service coverage</a:t>
            </a:r>
            <a:r>
              <a:rPr sz="1800">
                <a:solidFill>
                  <a:srgbClr val="333333"/>
                </a:solidFill>
                <a:latin typeface="Poppins"/>
              </a:rPr>
              <a:t> represents the proportion of the target population that received a specified health service.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Denominators by service type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Each health indicator corresponds to a specific target population:</a:t>
            </a:r>
          </a:p>
        </p:txBody>
      </p:sp>
      <p:graphicFrame>
        <p:nvGraphicFramePr>
          <p:cNvPr id="5" name="Table 4"/>
          <p:cNvGraphicFramePr>
            <a:graphicFrameLocks noGrp="1"/>
          </p:cNvGraphicFramePr>
          <p:nvPr/>
        </p:nvGraphicFramePr>
        <p:xfrm>
          <a:off x="685800" y="1828800"/>
          <a:ext cx="11247119" cy="1920240"/>
        </p:xfrm>
        <a:graphic>
          <a:graphicData uri="http://schemas.openxmlformats.org/drawingml/2006/table">
            <a:tbl>
              <a:tblPr firstRow="1" bandRow="1">
                <a:tableStyleId>{5C22544A-7EE6-4342-B048-85BDC9FD1C3A}</a:tableStyleId>
              </a:tblPr>
              <a:tblGrid>
                <a:gridCol w="4930177"/>
                <a:gridCol w="6316942"/>
              </a:tblGrid>
              <a:tr h="320040">
                <a:tc>
                  <a:txBody>
                    <a:bodyPr wrap="square"/>
                    <a:lstStyle/>
                    <a:p>
                      <a:pPr>
                        <a:defRPr sz="1400" b="1">
                          <a:solidFill>
                            <a:srgbClr val="21568C"/>
                          </a:solidFill>
                          <a:latin typeface="Poppins"/>
                        </a:defRPr>
                      </a:pPr>
                      <a:r>
                        <a:t>Service</a:t>
                      </a:r>
                    </a:p>
                  </a:txBody>
                  <a:tcPr>
                    <a:solidFill>
                      <a:srgbClr val="CAE6E9"/>
                    </a:solidFill>
                  </a:tcPr>
                </a:tc>
                <a:tc>
                  <a:txBody>
                    <a:bodyPr wrap="square"/>
                    <a:lstStyle/>
                    <a:p>
                      <a:pPr>
                        <a:defRPr sz="1400" b="1">
                          <a:solidFill>
                            <a:srgbClr val="21568C"/>
                          </a:solidFill>
                          <a:latin typeface="Poppins"/>
                        </a:defRPr>
                      </a:pPr>
                      <a:r>
                        <a:t>Target population (denominator)</a:t>
                      </a:r>
                    </a:p>
                  </a:txBody>
                  <a:tcPr>
                    <a:solidFill>
                      <a:srgbClr val="CAE6E9"/>
                    </a:solidFill>
                  </a:tcPr>
                </a:tc>
              </a:tr>
              <a:tr h="320040">
                <a:tc>
                  <a:txBody>
                    <a:bodyPr wrap="square"/>
                    <a:lstStyle/>
                    <a:p>
                      <a:r>
                        <a:rPr sz="1400">
                          <a:solidFill>
                            <a:srgbClr val="2C3E50"/>
                          </a:solidFill>
                          <a:latin typeface="Poppins"/>
                        </a:rPr>
                        <a:t>ANC1, ANC4</a:t>
                      </a:r>
                    </a:p>
                  </a:txBody>
                  <a:tcPr/>
                </a:tc>
                <a:tc>
                  <a:txBody>
                    <a:bodyPr wrap="square"/>
                    <a:lstStyle/>
                    <a:p>
                      <a:r>
                        <a:rPr sz="1400">
                          <a:solidFill>
                            <a:srgbClr val="2C3E50"/>
                          </a:solidFill>
                          <a:latin typeface="Poppins"/>
                        </a:rPr>
                        <a:t>Pregnant women</a:t>
                      </a:r>
                    </a:p>
                  </a:txBody>
                  <a:tcPr/>
                </a:tc>
              </a:tr>
              <a:tr h="320040">
                <a:tc>
                  <a:txBody>
                    <a:bodyPr wrap="square"/>
                    <a:lstStyle/>
                    <a:p>
                      <a:r>
                        <a:rPr sz="1400">
                          <a:solidFill>
                            <a:srgbClr val="2C3E50"/>
                          </a:solidFill>
                          <a:latin typeface="Poppins"/>
                        </a:rPr>
                        <a:t>Institutional delivery</a:t>
                      </a:r>
                    </a:p>
                  </a:txBody>
                  <a:tcPr/>
                </a:tc>
                <a:tc>
                  <a:txBody>
                    <a:bodyPr wrap="square"/>
                    <a:lstStyle/>
                    <a:p>
                      <a:r>
                        <a:rPr sz="1400">
                          <a:solidFill>
                            <a:srgbClr val="2C3E50"/>
                          </a:solidFill>
                          <a:latin typeface="Poppins"/>
                        </a:rPr>
                        <a:t>Live births</a:t>
                      </a:r>
                    </a:p>
                  </a:txBody>
                  <a:tcPr/>
                </a:tc>
              </a:tr>
              <a:tr h="320040">
                <a:tc>
                  <a:txBody>
                    <a:bodyPr wrap="square"/>
                    <a:lstStyle/>
                    <a:p>
                      <a:r>
                        <a:rPr sz="1400">
                          <a:solidFill>
                            <a:srgbClr val="2C3E50"/>
                          </a:solidFill>
                          <a:latin typeface="Poppins"/>
                        </a:rPr>
                        <a:t>BCG</a:t>
                      </a:r>
                    </a:p>
                  </a:txBody>
                  <a:tcPr/>
                </a:tc>
                <a:tc>
                  <a:txBody>
                    <a:bodyPr wrap="square"/>
                    <a:lstStyle/>
                    <a:p>
                      <a:r>
                        <a:rPr sz="1400">
                          <a:solidFill>
                            <a:srgbClr val="2C3E50"/>
                          </a:solidFill>
                          <a:latin typeface="Poppins"/>
                        </a:rPr>
                        <a:t>Live births</a:t>
                      </a:r>
                    </a:p>
                  </a:txBody>
                  <a:tcPr/>
                </a:tc>
              </a:tr>
              <a:tr h="320040">
                <a:tc>
                  <a:txBody>
                    <a:bodyPr wrap="square"/>
                    <a:lstStyle/>
                    <a:p>
                      <a:r>
                        <a:rPr sz="1400">
                          <a:solidFill>
                            <a:srgbClr val="2C3E50"/>
                          </a:solidFill>
                          <a:latin typeface="Poppins"/>
                        </a:rPr>
                        <a:t>Penta1, Penta3</a:t>
                      </a:r>
                    </a:p>
                  </a:txBody>
                  <a:tcPr/>
                </a:tc>
                <a:tc>
                  <a:txBody>
                    <a:bodyPr wrap="square"/>
                    <a:lstStyle/>
                    <a:p>
                      <a:r>
                        <a:rPr sz="1400">
                          <a:solidFill>
                            <a:srgbClr val="2C3E50"/>
                          </a:solidFill>
                          <a:latin typeface="Poppins"/>
                        </a:rPr>
                        <a:t>Infants surviving beyond neonatal period</a:t>
                      </a:r>
                    </a:p>
                  </a:txBody>
                  <a:tcPr/>
                </a:tc>
              </a:tr>
              <a:tr h="320040">
                <a:tc>
                  <a:txBody>
                    <a:bodyPr wrap="square"/>
                    <a:lstStyle/>
                    <a:p>
                      <a:r>
                        <a:rPr sz="1400">
                          <a:solidFill>
                            <a:srgbClr val="2C3E50"/>
                          </a:solidFill>
                          <a:latin typeface="Poppins"/>
                        </a:rPr>
                        <a:t>Measles1, Measles2</a:t>
                      </a:r>
                    </a:p>
                  </a:txBody>
                  <a:tcPr/>
                </a:tc>
                <a:tc>
                  <a:txBody>
                    <a:bodyPr wrap="square"/>
                    <a:lstStyle/>
                    <a:p>
                      <a:r>
                        <a:rPr sz="1400">
                          <a:solidFill>
                            <a:srgbClr val="2C3E50"/>
                          </a:solidFill>
                          <a:latin typeface="Poppins"/>
                        </a:rPr>
                        <a:t>Infants surviving beyond infancy</a:t>
                      </a:r>
                    </a:p>
                  </a:txBody>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Demographic cascade</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Sequential demographic adjustments transform one target population estimate into another. Starting from pregnancies, demographic factors are applied to derive subsequent denominators: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 cascade: Illustration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Starting from ANC1 service counts, demographic adjustment factors are applied sequentially to derive denominators for other services: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Forward and backward derivation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From any entry point, the cascade derives denominators in both directions:</a:t>
            </a:r>
          </a:p>
        </p:txBody>
      </p:sp>
      <p:graphicFrame>
        <p:nvGraphicFramePr>
          <p:cNvPr id="5" name="Table 4"/>
          <p:cNvGraphicFramePr>
            <a:graphicFrameLocks noGrp="1"/>
          </p:cNvGraphicFramePr>
          <p:nvPr/>
        </p:nvGraphicFramePr>
        <p:xfrm>
          <a:off x="685800" y="1828800"/>
          <a:ext cx="11247118" cy="960120"/>
        </p:xfrm>
        <a:graphic>
          <a:graphicData uri="http://schemas.openxmlformats.org/drawingml/2006/table">
            <a:tbl>
              <a:tblPr firstRow="1" bandRow="1">
                <a:tableStyleId>{5C22544A-7EE6-4342-B048-85BDC9FD1C3A}</a:tableStyleId>
              </a:tblPr>
              <a:tblGrid>
                <a:gridCol w="2413273"/>
                <a:gridCol w="3942711"/>
                <a:gridCol w="4891134"/>
              </a:tblGrid>
              <a:tr h="320040">
                <a:tc>
                  <a:txBody>
                    <a:bodyPr wrap="square"/>
                    <a:lstStyle/>
                    <a:p>
                      <a:pPr>
                        <a:defRPr sz="1400" b="1">
                          <a:solidFill>
                            <a:srgbClr val="21568C"/>
                          </a:solidFill>
                          <a:latin typeface="Poppins"/>
                        </a:defRPr>
                      </a:pPr>
                      <a:r>
                        <a:t>Direction</a:t>
                      </a:r>
                    </a:p>
                  </a:txBody>
                  <a:tcPr>
                    <a:solidFill>
                      <a:srgbClr val="CAE6E9"/>
                    </a:solidFill>
                  </a:tcPr>
                </a:tc>
                <a:tc>
                  <a:txBody>
                    <a:bodyPr wrap="square"/>
                    <a:lstStyle/>
                    <a:p>
                      <a:pPr>
                        <a:defRPr sz="1400" b="1">
                          <a:solidFill>
                            <a:srgbClr val="21568C"/>
                          </a:solidFill>
                          <a:latin typeface="Poppins"/>
                        </a:defRPr>
                      </a:pPr>
                      <a:r>
                        <a:t>Method</a:t>
                      </a:r>
                    </a:p>
                  </a:txBody>
                  <a:tcPr>
                    <a:solidFill>
                      <a:srgbClr val="CAE6E9"/>
                    </a:solidFill>
                  </a:tcPr>
                </a:tc>
                <a:tc>
                  <a:txBody>
                    <a:bodyPr wrap="square"/>
                    <a:lstStyle/>
                    <a:p>
                      <a:pPr>
                        <a:defRPr sz="1400" b="1">
                          <a:solidFill>
                            <a:srgbClr val="21568C"/>
                          </a:solidFill>
                          <a:latin typeface="Poppins"/>
                        </a:defRPr>
                      </a:pPr>
                      <a:r>
                        <a:t>Example from Penta1</a:t>
                      </a:r>
                    </a:p>
                  </a:txBody>
                  <a:tcPr>
                    <a:solidFill>
                      <a:srgbClr val="CAE6E9"/>
                    </a:solidFill>
                  </a:tcPr>
                </a:tc>
              </a:tr>
              <a:tr h="320040">
                <a:tc>
                  <a:txBody>
                    <a:bodyPr wrap="square"/>
                    <a:lstStyle/>
                    <a:p>
                      <a:r>
                        <a:rPr sz="1400" b="1">
                          <a:solidFill>
                            <a:srgbClr val="21568C"/>
                          </a:solidFill>
                          <a:latin typeface="Poppins"/>
                        </a:rPr>
                        <a:t>Forward</a:t>
                      </a:r>
                    </a:p>
                  </a:txBody>
                  <a:tcPr/>
                </a:tc>
                <a:tc>
                  <a:txBody>
                    <a:bodyPr wrap="square"/>
                    <a:lstStyle/>
                    <a:p>
                      <a:r>
                        <a:rPr sz="1400">
                          <a:solidFill>
                            <a:srgbClr val="2C3E50"/>
                          </a:solidFill>
                          <a:latin typeface="Poppins"/>
                        </a:rPr>
                        <a:t>Apply mortality/attrition rates</a:t>
                      </a:r>
                    </a:p>
                  </a:txBody>
                  <a:tcPr/>
                </a:tc>
                <a:tc>
                  <a:txBody>
                    <a:bodyPr wrap="square"/>
                    <a:lstStyle/>
                    <a:p>
                      <a:r>
                        <a:rPr sz="1400">
                          <a:solidFill>
                            <a:srgbClr val="2C3E50"/>
                          </a:solidFill>
                          <a:latin typeface="Poppins"/>
                        </a:rPr>
                        <a:t>DPT-eligible → Measles1-eligible → Measles2-eligible</a:t>
                      </a:r>
                    </a:p>
                  </a:txBody>
                  <a:tcPr/>
                </a:tc>
              </a:tr>
              <a:tr h="320040">
                <a:tc>
                  <a:txBody>
                    <a:bodyPr wrap="square"/>
                    <a:lstStyle/>
                    <a:p>
                      <a:r>
                        <a:rPr sz="1400" b="1">
                          <a:solidFill>
                            <a:srgbClr val="21568C"/>
                          </a:solidFill>
                          <a:latin typeface="Poppins"/>
                        </a:rPr>
                        <a:t>Backward</a:t>
                      </a:r>
                    </a:p>
                  </a:txBody>
                  <a:tcPr/>
                </a:tc>
                <a:tc>
                  <a:txBody>
                    <a:bodyPr wrap="square"/>
                    <a:lstStyle/>
                    <a:p>
                      <a:r>
                        <a:rPr sz="1400">
                          <a:solidFill>
                            <a:srgbClr val="2C3E50"/>
                          </a:solidFill>
                          <a:latin typeface="Poppins"/>
                        </a:rPr>
                        <a:t>Reverse mortality rates (add deaths back)</a:t>
                      </a:r>
                    </a:p>
                  </a:txBody>
                  <a:tcPr/>
                </a:tc>
                <a:tc>
                  <a:txBody>
                    <a:bodyPr wrap="square"/>
                    <a:lstStyle/>
                    <a:p>
                      <a:r>
                        <a:rPr sz="1400">
                          <a:solidFill>
                            <a:srgbClr val="2C3E50"/>
                          </a:solidFill>
                          <a:latin typeface="Poppins"/>
                        </a:rPr>
                        <a:t>DPT-eligible → Live births → Births → Deliveries → Pregnancies</a:t>
                      </a:r>
                    </a:p>
                  </a:txBody>
                  <a:tcPr/>
                </a:tc>
              </a:tr>
            </a:tbl>
          </a:graphicData>
        </a:graphic>
      </p:graphicFrame>
      <p:sp>
        <p:nvSpPr>
          <p:cNvPr id="6" name="TextBox 5"/>
          <p:cNvSpPr txBox="1"/>
          <p:nvPr/>
        </p:nvSpPr>
        <p:spPr>
          <a:xfrm>
            <a:off x="685800" y="2971800"/>
            <a:ext cx="10820095" cy="2286000"/>
          </a:xfrm>
          <a:prstGeom prst="rect">
            <a:avLst/>
          </a:prstGeom>
          <a:noFill/>
        </p:spPr>
        <p:txBody>
          <a:bodyPr wrap="square">
            <a:spAutoFit/>
          </a:bodyPr>
          <a:lstStyle/>
          <a:p>
            <a:pPr>
              <a:spcAft>
                <a:spcPts val="600"/>
              </a:spcAft>
            </a:pPr>
            <a:r>
              <a:rPr sz="1800">
                <a:solidFill>
                  <a:srgbClr val="2C3E50"/>
                </a:solidFill>
                <a:latin typeface="Poppins"/>
              </a:rPr>
              <a:t>Backward derivation enables estimation of upstream populations from downstream service counts.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Denominators by entry point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0"/>
            <a:ext cx="10820095" cy="731520"/>
          </a:xfrm>
          <a:prstGeom prst="rect">
            <a:avLst/>
          </a:prstGeom>
          <a:noFill/>
        </p:spPr>
        <p:txBody>
          <a:bodyPr wrap="square">
            <a:spAutoFit/>
          </a:bodyPr>
          <a:lstStyle/>
          <a:p>
            <a:pPr>
              <a:spcAft>
                <a:spcPts val="400"/>
              </a:spcAft>
            </a:pPr>
            <a:r>
              <a:rPr sz="1800">
                <a:solidFill>
                  <a:srgbClr val="2C3E50"/>
                </a:solidFill>
                <a:latin typeface="Poppins"/>
              </a:rPr>
              <a:t>Each HMIS indicator serves as an entry point. The module derives all target populations via forward and backward cascades:</a:t>
            </a:r>
          </a:p>
        </p:txBody>
      </p:sp>
      <p:graphicFrame>
        <p:nvGraphicFramePr>
          <p:cNvPr id="5" name="Table 4"/>
          <p:cNvGraphicFramePr>
            <a:graphicFrameLocks noGrp="1"/>
          </p:cNvGraphicFramePr>
          <p:nvPr/>
        </p:nvGraphicFramePr>
        <p:xfrm>
          <a:off x="685800" y="1828800"/>
          <a:ext cx="11247117" cy="1920240"/>
        </p:xfrm>
        <a:graphic>
          <a:graphicData uri="http://schemas.openxmlformats.org/drawingml/2006/table">
            <a:tbl>
              <a:tblPr firstRow="1" bandRow="1">
                <a:tableStyleId>{5C22544A-7EE6-4342-B048-85BDC9FD1C3A}</a:tableStyleId>
              </a:tblPr>
              <a:tblGrid>
                <a:gridCol w="1705154"/>
                <a:gridCol w="3550439"/>
                <a:gridCol w="3350052"/>
                <a:gridCol w="2641472"/>
              </a:tblGrid>
              <a:tr h="320040">
                <a:tc>
                  <a:txBody>
                    <a:bodyPr wrap="square"/>
                    <a:lstStyle/>
                    <a:p>
                      <a:pPr>
                        <a:defRPr sz="1400" b="1">
                          <a:solidFill>
                            <a:srgbClr val="21568C"/>
                          </a:solidFill>
                          <a:latin typeface="Poppins"/>
                        </a:defRPr>
                      </a:pPr>
                      <a:r>
                        <a:t>Entry point</a:t>
                      </a:r>
                    </a:p>
                  </a:txBody>
                  <a:tcPr>
                    <a:solidFill>
                      <a:srgbClr val="CAE6E9"/>
                    </a:solidFill>
                  </a:tcPr>
                </a:tc>
                <a:tc>
                  <a:txBody>
                    <a:bodyPr wrap="square"/>
                    <a:lstStyle/>
                    <a:p>
                      <a:pPr>
                        <a:defRPr sz="1400" b="1">
                          <a:solidFill>
                            <a:srgbClr val="21568C"/>
                          </a:solidFill>
                          <a:latin typeface="Poppins"/>
                        </a:defRPr>
                      </a:pPr>
                      <a:r>
                        <a:t>Base calculation</a:t>
                      </a:r>
                    </a:p>
                  </a:txBody>
                  <a:tcPr>
                    <a:solidFill>
                      <a:srgbClr val="CAE6E9"/>
                    </a:solidFill>
                  </a:tcPr>
                </a:tc>
                <a:tc>
                  <a:txBody>
                    <a:bodyPr wrap="square"/>
                    <a:lstStyle/>
                    <a:p>
                      <a:pPr>
                        <a:defRPr sz="1400" b="1">
                          <a:solidFill>
                            <a:srgbClr val="21568C"/>
                          </a:solidFill>
                          <a:latin typeface="Poppins"/>
                        </a:defRPr>
                      </a:pPr>
                      <a:r>
                        <a:t>Forward derivation</a:t>
                      </a:r>
                    </a:p>
                  </a:txBody>
                  <a:tcPr>
                    <a:solidFill>
                      <a:srgbClr val="CAE6E9"/>
                    </a:solidFill>
                  </a:tcPr>
                </a:tc>
                <a:tc>
                  <a:txBody>
                    <a:bodyPr wrap="square"/>
                    <a:lstStyle/>
                    <a:p>
                      <a:pPr>
                        <a:defRPr sz="1400" b="1">
                          <a:solidFill>
                            <a:srgbClr val="21568C"/>
                          </a:solidFill>
                          <a:latin typeface="Poppins"/>
                        </a:defRPr>
                      </a:pPr>
                      <a:r>
                        <a:t>Backward derivation</a:t>
                      </a:r>
                    </a:p>
                  </a:txBody>
                  <a:tcPr>
                    <a:solidFill>
                      <a:srgbClr val="CAE6E9"/>
                    </a:solidFill>
                  </a:tcPr>
                </a:tc>
              </a:tr>
              <a:tr h="320040">
                <a:tc>
                  <a:txBody>
                    <a:bodyPr wrap="square"/>
                    <a:lstStyle/>
                    <a:p>
                      <a:r>
                        <a:rPr sz="1400" b="1">
                          <a:solidFill>
                            <a:srgbClr val="21568C"/>
                          </a:solidFill>
                          <a:latin typeface="Poppins"/>
                        </a:rPr>
                        <a:t>ANC1</a:t>
                      </a:r>
                    </a:p>
                  </a:txBody>
                  <a:tcPr/>
                </a:tc>
                <a:tc>
                  <a:txBody>
                    <a:bodyPr wrap="square"/>
                    <a:lstStyle/>
                    <a:p>
                      <a:r>
                        <a:rPr sz="1400">
                          <a:solidFill>
                            <a:srgbClr val="2C3E50"/>
                          </a:solidFill>
                          <a:latin typeface="Poppins"/>
                        </a:rPr>
                        <a:t>ANC1 ÷ coverage → Pregnancies</a:t>
                      </a:r>
                    </a:p>
                  </a:txBody>
                  <a:tcPr/>
                </a:tc>
                <a:tc>
                  <a:txBody>
                    <a:bodyPr wrap="square"/>
                    <a:lstStyle/>
                    <a:p>
                      <a:r>
                        <a:rPr sz="1400">
                          <a:solidFill>
                            <a:srgbClr val="2C3E50"/>
                          </a:solidFill>
                          <a:latin typeface="Poppins"/>
                        </a:rPr>
                        <a:t>Deliveries → Live births → DPT-eligible → Measles-eligible</a:t>
                      </a:r>
                    </a:p>
                  </a:txBody>
                  <a:tcPr/>
                </a:tc>
                <a:tc>
                  <a:txBody>
                    <a:bodyPr wrap="square"/>
                    <a:lstStyle/>
                    <a:p>
                      <a:r>
                        <a:rPr sz="1400">
                          <a:solidFill>
                            <a:srgbClr val="2C3E50"/>
                          </a:solidFill>
                          <a:latin typeface="Poppins"/>
                        </a:rPr>
                        <a:t>—</a:t>
                      </a:r>
                    </a:p>
                  </a:txBody>
                  <a:tcPr/>
                </a:tc>
              </a:tr>
              <a:tr h="320040">
                <a:tc>
                  <a:txBody>
                    <a:bodyPr wrap="square"/>
                    <a:lstStyle/>
                    <a:p>
                      <a:r>
                        <a:rPr sz="1400" b="1">
                          <a:solidFill>
                            <a:srgbClr val="21568C"/>
                          </a:solidFill>
                          <a:latin typeface="Poppins"/>
                        </a:rPr>
                        <a:t>Deliveries</a:t>
                      </a:r>
                    </a:p>
                  </a:txBody>
                  <a:tcPr/>
                </a:tc>
                <a:tc>
                  <a:txBody>
                    <a:bodyPr wrap="square"/>
                    <a:lstStyle/>
                    <a:p>
                      <a:r>
                        <a:rPr sz="1400">
                          <a:solidFill>
                            <a:srgbClr val="2C3E50"/>
                          </a:solidFill>
                          <a:latin typeface="Poppins"/>
                        </a:rPr>
                        <a:t>Deliveries ÷ coverage → Deliveries</a:t>
                      </a:r>
                    </a:p>
                  </a:txBody>
                  <a:tcPr/>
                </a:tc>
                <a:tc>
                  <a:txBody>
                    <a:bodyPr wrap="square"/>
                    <a:lstStyle/>
                    <a:p>
                      <a:r>
                        <a:rPr sz="1400">
                          <a:solidFill>
                            <a:srgbClr val="2C3E50"/>
                          </a:solidFill>
                          <a:latin typeface="Poppins"/>
                        </a:rPr>
                        <a:t>Live births → DPT-eligible → Measles-eligible</a:t>
                      </a:r>
                    </a:p>
                  </a:txBody>
                  <a:tcPr/>
                </a:tc>
                <a:tc>
                  <a:txBody>
                    <a:bodyPr wrap="square"/>
                    <a:lstStyle/>
                    <a:p>
                      <a:r>
                        <a:rPr sz="1400">
                          <a:solidFill>
                            <a:srgbClr val="2C3E50"/>
                          </a:solidFill>
                          <a:latin typeface="Poppins"/>
                        </a:rPr>
                        <a:t>Pregnancies</a:t>
                      </a:r>
                    </a:p>
                  </a:txBody>
                  <a:tcPr/>
                </a:tc>
              </a:tr>
              <a:tr h="320040">
                <a:tc>
                  <a:txBody>
                    <a:bodyPr wrap="square"/>
                    <a:lstStyle/>
                    <a:p>
                      <a:r>
                        <a:rPr sz="1400" b="1">
                          <a:solidFill>
                            <a:srgbClr val="21568C"/>
                          </a:solidFill>
                          <a:latin typeface="Poppins"/>
                        </a:rPr>
                        <a:t>BCG</a:t>
                      </a:r>
                    </a:p>
                  </a:txBody>
                  <a:tcPr/>
                </a:tc>
                <a:tc>
                  <a:txBody>
                    <a:bodyPr wrap="square"/>
                    <a:lstStyle/>
                    <a:p>
                      <a:r>
                        <a:rPr sz="1400">
                          <a:solidFill>
                            <a:srgbClr val="2C3E50"/>
                          </a:solidFill>
                          <a:latin typeface="Poppins"/>
                        </a:rPr>
                        <a:t>BCG ÷ coverage → Live births</a:t>
                      </a:r>
                    </a:p>
                  </a:txBody>
                  <a:tcPr/>
                </a:tc>
                <a:tc>
                  <a:txBody>
                    <a:bodyPr wrap="square"/>
                    <a:lstStyle/>
                    <a:p>
                      <a:r>
                        <a:rPr sz="1400">
                          <a:solidFill>
                            <a:srgbClr val="2C3E50"/>
                          </a:solidFill>
                          <a:latin typeface="Poppins"/>
                        </a:rPr>
                        <a:t>DPT-eligible → Measles-eligible</a:t>
                      </a:r>
                    </a:p>
                  </a:txBody>
                  <a:tcPr/>
                </a:tc>
                <a:tc>
                  <a:txBody>
                    <a:bodyPr wrap="square"/>
                    <a:lstStyle/>
                    <a:p>
                      <a:r>
                        <a:rPr sz="1400">
                          <a:solidFill>
                            <a:srgbClr val="2C3E50"/>
                          </a:solidFill>
                          <a:latin typeface="Poppins"/>
                        </a:rPr>
                        <a:t>Deliveries → Pregnancies</a:t>
                      </a:r>
                    </a:p>
                  </a:txBody>
                  <a:tcPr/>
                </a:tc>
              </a:tr>
              <a:tr h="320040">
                <a:tc>
                  <a:txBody>
                    <a:bodyPr wrap="square"/>
                    <a:lstStyle/>
                    <a:p>
                      <a:r>
                        <a:rPr sz="1400" b="1">
                          <a:solidFill>
                            <a:srgbClr val="21568C"/>
                          </a:solidFill>
                          <a:latin typeface="Poppins"/>
                        </a:rPr>
                        <a:t>Penta1</a:t>
                      </a:r>
                    </a:p>
                  </a:txBody>
                  <a:tcPr/>
                </a:tc>
                <a:tc>
                  <a:txBody>
                    <a:bodyPr wrap="square"/>
                    <a:lstStyle/>
                    <a:p>
                      <a:r>
                        <a:rPr sz="1400">
                          <a:solidFill>
                            <a:srgbClr val="2C3E50"/>
                          </a:solidFill>
                          <a:latin typeface="Poppins"/>
                        </a:rPr>
                        <a:t>Penta1 ÷ coverage → DPT-eligible</a:t>
                      </a:r>
                    </a:p>
                  </a:txBody>
                  <a:tcPr/>
                </a:tc>
                <a:tc>
                  <a:txBody>
                    <a:bodyPr wrap="square"/>
                    <a:lstStyle/>
                    <a:p>
                      <a:r>
                        <a:rPr sz="1400">
                          <a:solidFill>
                            <a:srgbClr val="2C3E50"/>
                          </a:solidFill>
                          <a:latin typeface="Poppins"/>
                        </a:rPr>
                        <a:t>Measles1-eligible → Measles2-eligible</a:t>
                      </a:r>
                    </a:p>
                  </a:txBody>
                  <a:tcPr/>
                </a:tc>
                <a:tc>
                  <a:txBody>
                    <a:bodyPr wrap="square"/>
                    <a:lstStyle/>
                    <a:p>
                      <a:r>
                        <a:rPr sz="1400">
                          <a:solidFill>
                            <a:srgbClr val="2C3E50"/>
                          </a:solidFill>
                          <a:latin typeface="Poppins"/>
                        </a:rPr>
                        <a:t>Live births → Births → Deliveries → Pregnancies</a:t>
                      </a:r>
                    </a:p>
                  </a:txBody>
                  <a:tcPr/>
                </a:tc>
              </a:tr>
              <a:tr h="320040">
                <a:tc>
                  <a:txBody>
                    <a:bodyPr wrap="square"/>
                    <a:lstStyle/>
                    <a:p>
                      <a:r>
                        <a:rPr sz="1400" b="1">
                          <a:solidFill>
                            <a:srgbClr val="21568C"/>
                          </a:solidFill>
                          <a:latin typeface="Poppins"/>
                        </a:rPr>
                        <a:t>UN WPP</a:t>
                      </a:r>
                    </a:p>
                  </a:txBody>
                  <a:tcPr/>
                </a:tc>
                <a:tc>
                  <a:txBody>
                    <a:bodyPr wrap="square"/>
                    <a:lstStyle/>
                    <a:p>
                      <a:r>
                        <a:rPr sz="1400">
                          <a:solidFill>
                            <a:srgbClr val="2C3E50"/>
                          </a:solidFill>
                          <a:latin typeface="Poppins"/>
                        </a:rPr>
                        <a:t>Crude birth rate × population → Pregnancies, live births; Under-1 pop → DPT, measles</a:t>
                      </a:r>
                    </a:p>
                  </a:txBody>
                  <a:tcPr/>
                </a:tc>
                <a:tc>
                  <a:txBody>
                    <a:bodyPr wrap="square"/>
                    <a:lstStyle/>
                    <a:p>
                      <a:r>
                        <a:rPr sz="1400">
                          <a:solidFill>
                            <a:srgbClr val="2C3E50"/>
                          </a:solidFill>
                          <a:latin typeface="Poppins"/>
                        </a:rPr>
                        <a:t>Applies mortality rates for measles denominators</a:t>
                      </a:r>
                    </a:p>
                  </a:txBody>
                  <a:tcPr/>
                </a:tc>
                <a:tc>
                  <a:txBody>
                    <a:bodyPr wrap="square"/>
                    <a:lstStyle/>
                    <a:p>
                      <a:r>
                        <a:rPr sz="1400">
                          <a:solidFill>
                            <a:srgbClr val="2C3E50"/>
                          </a:solidFill>
                          <a:latin typeface="Poppins"/>
                        </a:rPr>
                        <a:t>—</a:t>
                      </a:r>
                    </a:p>
                  </a:txBody>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Automatic denominator selection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For each indicator, the module selects the denominator that produces coverage closest to the survey benchmark.</a:t>
            </a:r>
          </a:p>
          <a:p>
            <a:pPr>
              <a:spcAft>
                <a:spcPts val="1400"/>
              </a:spcAft>
            </a:pPr>
            <a:r>
              <a:rPr sz="1800" b="1">
                <a:solidFill>
                  <a:srgbClr val="21568C"/>
                </a:solidFill>
                <a:latin typeface="Poppins"/>
              </a:rPr>
              <a:t>Selection algorithm:</a:t>
            </a:r>
          </a:p>
          <a:p>
            <a:pPr>
              <a:spcAft>
                <a:spcPts val="800"/>
              </a:spcAft>
            </a:pPr>
            <a:r>
              <a:rPr sz="1800">
                <a:solidFill>
                  <a:srgbClr val="D0CB17"/>
                </a:solidFill>
                <a:latin typeface="Poppins"/>
              </a:rPr>
              <a:t>• </a:t>
            </a:r>
            <a:r>
              <a:rPr sz="1800">
                <a:solidFill>
                  <a:srgbClr val="2C3E50"/>
                </a:solidFill>
                <a:latin typeface="Poppins"/>
              </a:rPr>
              <a:t>Calculate coverage using each denominator option</a:t>
            </a:r>
          </a:p>
          <a:p>
            <a:pPr>
              <a:spcAft>
                <a:spcPts val="800"/>
              </a:spcAft>
            </a:pPr>
            <a:r>
              <a:rPr sz="1800">
                <a:solidFill>
                  <a:srgbClr val="D0CB17"/>
                </a:solidFill>
                <a:latin typeface="Poppins"/>
              </a:rPr>
              <a:t>• </a:t>
            </a:r>
            <a:r>
              <a:rPr sz="1800">
                <a:solidFill>
                  <a:srgbClr val="2C3E50"/>
                </a:solidFill>
                <a:latin typeface="Poppins"/>
              </a:rPr>
              <a:t>Calculate squared error against survey: $(coverage - survey)^2$</a:t>
            </a:r>
          </a:p>
          <a:p>
            <a:pPr>
              <a:spcAft>
                <a:spcPts val="800"/>
              </a:spcAft>
            </a:pPr>
            <a:r>
              <a:rPr sz="1800">
                <a:solidFill>
                  <a:srgbClr val="D0CB17"/>
                </a:solidFill>
                <a:latin typeface="Poppins"/>
              </a:rPr>
              <a:t>• </a:t>
            </a:r>
            <a:r>
              <a:rPr sz="1800">
                <a:solidFill>
                  <a:srgbClr val="2C3E50"/>
                </a:solidFill>
                <a:latin typeface="Poppins"/>
              </a:rPr>
              <a:t>Apply selection hierarchy (HMIS-based denominators prioritized over UN WPP)</a:t>
            </a:r>
          </a:p>
          <a:p>
            <a:pPr>
              <a:spcAft>
                <a:spcPts val="800"/>
              </a:spcAft>
            </a:pPr>
            <a:r>
              <a:rPr sz="1800">
                <a:solidFill>
                  <a:srgbClr val="D0CB17"/>
                </a:solidFill>
                <a:latin typeface="Poppins"/>
              </a:rPr>
              <a:t>• </a:t>
            </a:r>
            <a:r>
              <a:rPr sz="1800">
                <a:solidFill>
                  <a:srgbClr val="2C3E50"/>
                </a:solidFill>
                <a:latin typeface="Poppins"/>
              </a:rPr>
              <a:t>Select the HMIS-based denominator with minimum error</a:t>
            </a:r>
          </a:p>
          <a:p>
            <a:pPr>
              <a:spcAft>
                <a:spcPts val="1400"/>
              </a:spcAft>
            </a:pPr>
            <a:r>
              <a:rPr sz="1800">
                <a:solidFill>
                  <a:srgbClr val="333333"/>
                </a:solidFill>
                <a:latin typeface="Poppins"/>
              </a:rPr>
              <a:t>Selection is made per indicator and geographic area. Users may override automatic selections in Part 2.</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projection methodology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0"/>
            <a:ext cx="10820095" cy="1371600"/>
          </a:xfrm>
          <a:prstGeom prst="rect">
            <a:avLst/>
          </a:prstGeom>
          <a:noFill/>
        </p:spPr>
        <p:txBody>
          <a:bodyPr wrap="square">
            <a:spAutoFit/>
          </a:bodyPr>
          <a:lstStyle/>
          <a:p>
            <a:pPr>
              <a:spcAft>
                <a:spcPts val="1000"/>
              </a:spcAft>
            </a:pPr>
            <a:r>
              <a:rPr sz="1800">
                <a:solidFill>
                  <a:srgbClr val="333333"/>
                </a:solidFill>
                <a:latin typeface="Poppins"/>
              </a:rPr>
              <a:t>The module projects the most recent survey value forward using trends observed in HMIS-derived coverage:</a:t>
            </a:r>
          </a:p>
          <a:p>
            <a:pPr>
              <a:spcAft>
                <a:spcPts val="1000"/>
              </a:spcAft>
            </a:pPr>
            <a:r>
              <a:rPr sz="1800">
                <a:solidFill>
                  <a:srgbClr val="333333"/>
                </a:solidFill>
                <a:latin typeface="Poppins"/>
              </a:rPr>
              <a:t>Year-over-year changes (deltas) in HMIS coverage are calculated and applied to the last survey value. This approach preserves the survey baseline while incorporating observed service delivery trends.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1_Coverage_HMIS_National.png"/>
          <p:cNvPicPr>
            <a:picLocks noChangeAspect="1"/>
          </p:cNvPicPr>
          <p:nvPr/>
        </p:nvPicPr>
        <p:blipFill>
          <a:blip r:embed="rId2"/>
          <a:stretch>
            <a:fillRect/>
          </a:stretch>
        </p:blipFill>
        <p:spPr>
          <a:xfrm>
            <a:off x="1523847" y="1371600"/>
            <a:ext cx="9144000" cy="6405154"/>
          </a:xfrm>
          <a:prstGeom prst="rect">
            <a:avLst/>
          </a:prstGeom>
        </p:spPr>
      </p:pic>
      <p:sp>
        <p:nvSpPr>
          <p:cNvPr id="5" name="TextBox 4"/>
          <p:cNvSpPr txBox="1"/>
          <p:nvPr/>
        </p:nvSpPr>
        <p:spPr>
          <a:xfrm>
            <a:off x="685800" y="5303520"/>
            <a:ext cx="10820095" cy="1371600"/>
          </a:xfrm>
          <a:prstGeom prst="rect">
            <a:avLst/>
          </a:prstGeom>
          <a:noFill/>
        </p:spPr>
        <p:txBody>
          <a:bodyPr wrap="square">
            <a:spAutoFit/>
          </a:bodyPr>
          <a:lstStyle/>
          <a:p>
            <a:pPr>
              <a:spcAft>
                <a:spcPts val="800"/>
              </a:spcAft>
              <a:defRPr sz="2200" b="1" i="0">
                <a:solidFill>
                  <a:srgbClr val="BD5091"/>
                </a:solidFill>
                <a:latin typeface="Poppins"/>
              </a:defRPr>
            </a:pPr>
            <a:r>
              <a:t>Interpretation</a:t>
            </a:r>
          </a:p>
          <a:p>
            <a:pPr>
              <a:spcAft>
                <a:spcPts val="1000"/>
              </a:spcAft>
            </a:pPr>
            <a:r>
              <a:rPr sz="1800" b="1">
                <a:solidFill>
                  <a:srgbClr val="21568C"/>
                </a:solidFill>
                <a:latin typeface="Poppins"/>
              </a:rPr>
              <a:t>Black line/points</a:t>
            </a:r>
            <a:r>
              <a:rPr sz="1800">
                <a:solidFill>
                  <a:srgbClr val="333333"/>
                </a:solidFill>
                <a:latin typeface="Poppins"/>
              </a:rPr>
              <a:t> show survey data (DHS/MICS) as the household survey reference. </a:t>
            </a:r>
            <a:r>
              <a:rPr sz="1800" b="1">
                <a:solidFill>
                  <a:srgbClr val="21568C"/>
                </a:solidFill>
                <a:latin typeface="Poppins"/>
              </a:rPr>
              <a:t>Grey line/points</a:t>
            </a:r>
            <a:r>
              <a:rPr sz="1800">
                <a:solidFill>
                  <a:srgbClr val="333333"/>
                </a:solidFill>
                <a:latin typeface="Poppins"/>
              </a:rPr>
              <a:t> show HMIS-based coverage from facility data. </a:t>
            </a:r>
            <a:r>
              <a:rPr sz="1800" b="1">
                <a:solidFill>
                  <a:srgbClr val="21568C"/>
                </a:solidFill>
                <a:latin typeface="Poppins"/>
              </a:rPr>
              <a:t>Red line/points</a:t>
            </a:r>
            <a:r>
              <a:rPr sz="1800">
                <a:solidFill>
                  <a:srgbClr val="333333"/>
                </a:solidFill>
                <a:latin typeface="Poppins"/>
              </a:rPr>
              <a:t> show projected coverage — survey estimates extended using HMIS trends.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2_Coverage_HMIS_Admin2.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(subnational)</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odule4_3_Coverage_HMIS_Subnational.png"/>
          <p:cNvPicPr>
            <a:picLocks noChangeAspect="1"/>
          </p:cNvPicPr>
          <p:nvPr/>
        </p:nvPicPr>
        <p:blipFill>
          <a:blip r:embed="rId2"/>
          <a:stretch>
            <a:fillRect/>
          </a:stretch>
        </p:blipFill>
        <p:spPr>
          <a:xfrm>
            <a:off x="1523847" y="1371600"/>
            <a:ext cx="9144000" cy="640515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Coverage module: Configuration parameters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85800" y="1097280"/>
          <a:ext cx="11247119" cy="3200400"/>
        </p:xfrm>
        <a:graphic>
          <a:graphicData uri="http://schemas.openxmlformats.org/drawingml/2006/table">
            <a:tbl>
              <a:tblPr firstRow="1" bandRow="1">
                <a:tableStyleId>{5C22544A-7EE6-4342-B048-85BDC9FD1C3A}</a:tableStyleId>
              </a:tblPr>
              <a:tblGrid>
                <a:gridCol w="4372260"/>
                <a:gridCol w="6874859"/>
              </a:tblGrid>
              <a:tr h="320040">
                <a:tc>
                  <a:txBody>
                    <a:bodyPr wrap="square"/>
                    <a:lstStyle/>
                    <a:p>
                      <a:pPr>
                        <a:defRPr sz="1400" b="1">
                          <a:solidFill>
                            <a:srgbClr val="21568C"/>
                          </a:solidFill>
                          <a:latin typeface="Poppins"/>
                        </a:defRPr>
                      </a:pPr>
                      <a:r>
                        <a:t>Parameter</a:t>
                      </a:r>
                    </a:p>
                  </a:txBody>
                  <a:tcPr>
                    <a:solidFill>
                      <a:srgbClr val="CAE6E9"/>
                    </a:solidFill>
                  </a:tcPr>
                </a:tc>
                <a:tc>
                  <a:txBody>
                    <a:bodyPr wrap="square"/>
                    <a:lstStyle/>
                    <a:p>
                      <a:pPr>
                        <a:defRPr sz="1400" b="1">
                          <a:solidFill>
                            <a:srgbClr val="21568C"/>
                          </a:solidFill>
                          <a:latin typeface="Poppins"/>
                        </a:defRPr>
                      </a:pPr>
                      <a:r>
                        <a:t>Description</a:t>
                      </a:r>
                    </a:p>
                  </a:txBody>
                  <a:tcPr>
                    <a:solidFill>
                      <a:srgbClr val="CAE6E9"/>
                    </a:solidFill>
                  </a:tcPr>
                </a:tc>
              </a:tr>
              <a:tr h="320040">
                <a:tc>
                  <a:txBody>
                    <a:bodyPr wrap="square"/>
                    <a:lstStyle/>
                    <a:p>
                      <a:r>
                        <a:rPr sz="1400" b="1">
                          <a:solidFill>
                            <a:srgbClr val="21568C"/>
                          </a:solidFill>
                          <a:latin typeface="Poppins"/>
                        </a:rPr>
                        <a:t>Count value to use</a:t>
                      </a:r>
                    </a:p>
                  </a:txBody>
                  <a:tcPr/>
                </a:tc>
                <a:tc>
                  <a:txBody>
                    <a:bodyPr wrap="square"/>
                    <a:lstStyle/>
                    <a:p>
                      <a:r>
                        <a:rPr sz="1400">
                          <a:solidFill>
                            <a:srgbClr val="2C3E50"/>
                          </a:solidFill>
                          <a:latin typeface="Poppins"/>
                        </a:rPr>
                        <a:t>Which adjusted count to use for coverage calculation</a:t>
                      </a:r>
                    </a:p>
                  </a:txBody>
                  <a:tcPr/>
                </a:tc>
              </a:tr>
              <a:tr h="320040">
                <a:tc>
                  <a:txBody>
                    <a:bodyPr wrap="square"/>
                    <a:lstStyle/>
                    <a:p>
                      <a:r>
                        <a:rPr sz="1400" b="1">
                          <a:solidFill>
                            <a:srgbClr val="21568C"/>
                          </a:solidFill>
                          <a:latin typeface="Poppins"/>
                        </a:rPr>
                        <a:t>Level to calculate coverage for</a:t>
                      </a:r>
                    </a:p>
                  </a:txBody>
                  <a:tcPr/>
                </a:tc>
                <a:tc>
                  <a:txBody>
                    <a:bodyPr wrap="square"/>
                    <a:lstStyle/>
                    <a:p>
                      <a:r>
                        <a:rPr sz="1400">
                          <a:solidFill>
                            <a:srgbClr val="2C3E50"/>
                          </a:solidFill>
                          <a:latin typeface="Poppins"/>
                        </a:rPr>
                        <a:t>Geographic levels for coverage estimation: national, provincial (admin area 2), or district (admin area 3)</a:t>
                      </a:r>
                    </a:p>
                  </a:txBody>
                  <a:tcPr/>
                </a:tc>
              </a:tr>
              <a:tr h="320040">
                <a:tc>
                  <a:txBody>
                    <a:bodyPr wrap="square"/>
                    <a:lstStyle/>
                    <a:p>
                      <a:r>
                        <a:rPr sz="1400" b="1">
                          <a:solidFill>
                            <a:srgbClr val="21568C"/>
                          </a:solidFill>
                          <a:latin typeface="Poppins"/>
                        </a:rPr>
                        <a:t>Pregnancy loss rate</a:t>
                      </a:r>
                    </a:p>
                  </a:txBody>
                  <a:tcPr/>
                </a:tc>
                <a:tc>
                  <a:txBody>
                    <a:bodyPr wrap="square"/>
                    <a:lstStyle/>
                    <a:p>
                      <a:r>
                        <a:rPr sz="1400">
                          <a:solidFill>
                            <a:srgbClr val="2C3E50"/>
                          </a:solidFill>
                          <a:latin typeface="Poppins"/>
                        </a:rPr>
                        <a:t>Proportion of pregnancies ending in loss before delivery</a:t>
                      </a:r>
                    </a:p>
                  </a:txBody>
                  <a:tcPr/>
                </a:tc>
              </a:tr>
              <a:tr h="320040">
                <a:tc>
                  <a:txBody>
                    <a:bodyPr wrap="square"/>
                    <a:lstStyle/>
                    <a:p>
                      <a:r>
                        <a:rPr sz="1400" b="1">
                          <a:solidFill>
                            <a:srgbClr val="21568C"/>
                          </a:solidFill>
                          <a:latin typeface="Poppins"/>
                        </a:rPr>
                        <a:t>Twin rate</a:t>
                      </a:r>
                    </a:p>
                  </a:txBody>
                  <a:tcPr/>
                </a:tc>
                <a:tc>
                  <a:txBody>
                    <a:bodyPr wrap="square"/>
                    <a:lstStyle/>
                    <a:p>
                      <a:r>
                        <a:rPr sz="1400">
                          <a:solidFill>
                            <a:srgbClr val="2C3E50"/>
                          </a:solidFill>
                          <a:latin typeface="Poppins"/>
                        </a:rPr>
                        <a:t>Proportion of deliveries resulting in twins</a:t>
                      </a:r>
                    </a:p>
                  </a:txBody>
                  <a:tcPr/>
                </a:tc>
              </a:tr>
              <a:tr h="320040">
                <a:tc>
                  <a:txBody>
                    <a:bodyPr wrap="square"/>
                    <a:lstStyle/>
                    <a:p>
                      <a:r>
                        <a:rPr sz="1400" b="1">
                          <a:solidFill>
                            <a:srgbClr val="21568C"/>
                          </a:solidFill>
                          <a:latin typeface="Poppins"/>
                        </a:rPr>
                        <a:t>Stillbirth rate</a:t>
                      </a:r>
                    </a:p>
                  </a:txBody>
                  <a:tcPr/>
                </a:tc>
                <a:tc>
                  <a:txBody>
                    <a:bodyPr wrap="square"/>
                    <a:lstStyle/>
                    <a:p>
                      <a:r>
                        <a:rPr sz="1400">
                          <a:solidFill>
                            <a:srgbClr val="2C3E50"/>
                          </a:solidFill>
                          <a:latin typeface="Poppins"/>
                        </a:rPr>
                        <a:t>Proportion of births that are stillbirths</a:t>
                      </a:r>
                    </a:p>
                  </a:txBody>
                  <a:tcPr/>
                </a:tc>
              </a:tr>
              <a:tr h="320040">
                <a:tc>
                  <a:txBody>
                    <a:bodyPr wrap="square"/>
                    <a:lstStyle/>
                    <a:p>
                      <a:r>
                        <a:rPr sz="1400" b="1">
                          <a:solidFill>
                            <a:srgbClr val="21568C"/>
                          </a:solidFill>
                          <a:latin typeface="Poppins"/>
                        </a:rPr>
                        <a:t>Neonatal mortality rate</a:t>
                      </a:r>
                    </a:p>
                  </a:txBody>
                  <a:tcPr/>
                </a:tc>
                <a:tc>
                  <a:txBody>
                    <a:bodyPr wrap="square"/>
                    <a:lstStyle/>
                    <a:p>
                      <a:r>
                        <a:rPr sz="1400">
                          <a:solidFill>
                            <a:srgbClr val="2C3E50"/>
                          </a:solidFill>
                          <a:latin typeface="Poppins"/>
                        </a:rPr>
                        <a:t>Deaths in first 28 days per live birth</a:t>
                      </a:r>
                    </a:p>
                  </a:txBody>
                  <a:tcPr/>
                </a:tc>
              </a:tr>
              <a:tr h="320040">
                <a:tc>
                  <a:txBody>
                    <a:bodyPr wrap="square"/>
                    <a:lstStyle/>
                    <a:p>
                      <a:r>
                        <a:rPr sz="1400" b="1">
                          <a:solidFill>
                            <a:srgbClr val="21568C"/>
                          </a:solidFill>
                          <a:latin typeface="Poppins"/>
                        </a:rPr>
                        <a:t>Postneonatal mortality rate</a:t>
                      </a:r>
                    </a:p>
                  </a:txBody>
                  <a:tcPr/>
                </a:tc>
                <a:tc>
                  <a:txBody>
                    <a:bodyPr wrap="square"/>
                    <a:lstStyle/>
                    <a:p>
                      <a:r>
                        <a:rPr sz="1400">
                          <a:solidFill>
                            <a:srgbClr val="2C3E50"/>
                          </a:solidFill>
                          <a:latin typeface="Poppins"/>
                        </a:rPr>
                        <a:t>Deaths from 28 days to 1 year per live birth</a:t>
                      </a:r>
                    </a:p>
                  </a:txBody>
                  <a:tcPr/>
                </a:tc>
              </a:tr>
              <a:tr h="320040">
                <a:tc>
                  <a:txBody>
                    <a:bodyPr wrap="square"/>
                    <a:lstStyle/>
                    <a:p>
                      <a:r>
                        <a:rPr sz="1400" b="1">
                          <a:solidFill>
                            <a:srgbClr val="21568C"/>
                          </a:solidFill>
                          <a:latin typeface="Poppins"/>
                        </a:rPr>
                        <a:t>Infant mortality rate</a:t>
                      </a:r>
                    </a:p>
                  </a:txBody>
                  <a:tcPr/>
                </a:tc>
                <a:tc>
                  <a:txBody>
                    <a:bodyPr wrap="square"/>
                    <a:lstStyle/>
                    <a:p>
                      <a:r>
                        <a:rPr sz="1400">
                          <a:solidFill>
                            <a:srgbClr val="2C3E50"/>
                          </a:solidFill>
                          <a:latin typeface="Poppins"/>
                        </a:rPr>
                        <a:t>Deaths before age 1 per live birth</a:t>
                      </a:r>
                    </a:p>
                  </a:txBody>
                  <a:tcPr/>
                </a:tc>
              </a:tr>
              <a:tr h="320040">
                <a:tc>
                  <a:txBody>
                    <a:bodyPr wrap="square"/>
                    <a:lstStyle/>
                    <a:p>
                      <a:r>
                        <a:rPr sz="1400" b="1">
                          <a:solidFill>
                            <a:srgbClr val="21568C"/>
                          </a:solidFill>
                          <a:latin typeface="Poppins"/>
                        </a:rPr>
                        <a:t>Under 5 mortality rate</a:t>
                      </a:r>
                    </a:p>
                  </a:txBody>
                  <a:tcPr/>
                </a:tc>
                <a:tc>
                  <a:txBody>
                    <a:bodyPr wrap="square"/>
                    <a:lstStyle/>
                    <a:p>
                      <a:r>
                        <a:rPr sz="1400">
                          <a:solidFill>
                            <a:srgbClr val="2C3E50"/>
                          </a:solidFill>
                          <a:latin typeface="Poppins"/>
                        </a:rPr>
                        <a:t>Deaths before age 5 per live birth</a:t>
                      </a:r>
                    </a:p>
                  </a:txBody>
                  <a:tcPr/>
                </a:tc>
              </a:tr>
            </a:tbl>
          </a:graphicData>
        </a:graphic>
      </p:graphicFrame>
      <p:sp>
        <p:nvSpPr>
          <p:cNvPr id="5" name="TextBox 4"/>
          <p:cNvSpPr txBox="1"/>
          <p:nvPr/>
        </p:nvSpPr>
        <p:spPr>
          <a:xfrm>
            <a:off x="685800" y="4480560"/>
            <a:ext cx="10820095" cy="2286000"/>
          </a:xfrm>
          <a:prstGeom prst="rect">
            <a:avLst/>
          </a:prstGeom>
          <a:noFill/>
        </p:spPr>
        <p:txBody>
          <a:bodyPr wrap="square">
            <a:spAutoFit/>
          </a:bodyPr>
          <a:lstStyle/>
          <a:p>
            <a:pPr>
              <a:spcAft>
                <a:spcPts val="600"/>
              </a:spcAft>
            </a:pPr>
            <a:r>
              <a:rPr sz="1800">
                <a:solidFill>
                  <a:srgbClr val="2C3E50"/>
                </a:solidFill>
                <a:latin typeface="Poppins"/>
              </a:rPr>
              <a:t>Country-specific mortality rates may be obtained from DHS reports, UN IGME, or national vital statistics.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6: Creating a project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a Project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Set up a new project</a:t>
            </a:r>
          </a:p>
          <a:p>
            <a:pPr>
              <a:spcAft>
                <a:spcPts val="800"/>
              </a:spcAft>
            </a:pPr>
            <a:r>
              <a:rPr sz="1800">
                <a:solidFill>
                  <a:srgbClr val="D0CB17"/>
                </a:solidFill>
                <a:latin typeface="Poppins"/>
              </a:rPr>
              <a:t>• </a:t>
            </a:r>
            <a:r>
              <a:rPr sz="1800">
                <a:solidFill>
                  <a:srgbClr val="2C3E50"/>
                </a:solidFill>
                <a:latin typeface="Poppins"/>
              </a:rPr>
              <a:t>Configure project settings</a:t>
            </a:r>
          </a:p>
          <a:p>
            <a:pPr>
              <a:spcAft>
                <a:spcPts val="800"/>
              </a:spcAft>
            </a:pPr>
            <a:r>
              <a:rPr sz="1800">
                <a:solidFill>
                  <a:srgbClr val="D0CB17"/>
                </a:solidFill>
                <a:latin typeface="Poppins"/>
              </a:rPr>
              <a:t>• </a:t>
            </a:r>
            <a:r>
              <a:rPr sz="1800">
                <a:solidFill>
                  <a:srgbClr val="2C3E50"/>
                </a:solidFill>
                <a:latin typeface="Poppins"/>
              </a:rPr>
              <a:t>Select indicators and time periods</a:t>
            </a:r>
          </a:p>
          <a:p>
            <a:pPr>
              <a:spcAft>
                <a:spcPts val="800"/>
              </a:spcAft>
            </a:pPr>
            <a:r>
              <a:rPr sz="1800">
                <a:solidFill>
                  <a:srgbClr val="D0CB17"/>
                </a:solidFill>
                <a:latin typeface="Poppins"/>
              </a:rPr>
              <a:t>• </a:t>
            </a:r>
            <a:r>
              <a:rPr sz="1800">
                <a:solidFill>
                  <a:srgbClr val="2C3E50"/>
                </a:solidFill>
                <a:latin typeface="Poppins"/>
              </a:rPr>
              <a:t>Apply best practices for project organization</a:t>
            </a:r>
          </a:p>
          <a:p>
            <a:pPr>
              <a:spcAft>
                <a:spcPts val="1400"/>
              </a:spcAft>
            </a:pPr>
            <a:r>
              <a:rPr sz="1800" i="1">
                <a:solidFill>
                  <a:srgbClr val="1F9A9C"/>
                </a:solidFill>
                <a:latin typeface="Poppins"/>
              </a:rPr>
              <a:t>Participants will create their first project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7: Creating visualizations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Visualizations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Explore available chart types</a:t>
            </a:r>
          </a:p>
          <a:p>
            <a:pPr>
              <a:spcAft>
                <a:spcPts val="800"/>
              </a:spcAft>
            </a:pPr>
            <a:r>
              <a:rPr sz="1800">
                <a:solidFill>
                  <a:srgbClr val="D0CB17"/>
                </a:solidFill>
                <a:latin typeface="Poppins"/>
              </a:rPr>
              <a:t>• </a:t>
            </a:r>
            <a:r>
              <a:rPr sz="1800">
                <a:solidFill>
                  <a:srgbClr val="2C3E50"/>
                </a:solidFill>
                <a:latin typeface="Poppins"/>
              </a:rPr>
              <a:t>Create and customize visualizations</a:t>
            </a:r>
          </a:p>
          <a:p>
            <a:pPr>
              <a:spcAft>
                <a:spcPts val="800"/>
              </a:spcAft>
            </a:pPr>
            <a:r>
              <a:rPr sz="1800">
                <a:solidFill>
                  <a:srgbClr val="D0CB17"/>
                </a:solidFill>
                <a:latin typeface="Poppins"/>
              </a:rPr>
              <a:t>• </a:t>
            </a:r>
            <a:r>
              <a:rPr sz="1800">
                <a:solidFill>
                  <a:srgbClr val="2C3E50"/>
                </a:solidFill>
                <a:latin typeface="Poppins"/>
              </a:rPr>
              <a:t>Export charts for use in reports</a:t>
            </a:r>
          </a:p>
          <a:p>
            <a:pPr>
              <a:spcAft>
                <a:spcPts val="1400"/>
              </a:spcAft>
            </a:pPr>
            <a:r>
              <a:rPr sz="1800" i="1">
                <a:solidFill>
                  <a:srgbClr val="1F9A9C"/>
                </a:solidFill>
                <a:latin typeface="Poppins"/>
              </a:rPr>
              <a:t>Participants will build visualizations from their analysis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8: Creating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Activity: Creating Reports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800"/>
              </a:spcAft>
            </a:pPr>
            <a:r>
              <a:rPr sz="1800">
                <a:solidFill>
                  <a:srgbClr val="D0CB17"/>
                </a:solidFill>
                <a:latin typeface="Poppins"/>
              </a:rPr>
              <a:t>• </a:t>
            </a:r>
            <a:r>
              <a:rPr sz="1800">
                <a:solidFill>
                  <a:srgbClr val="2C3E50"/>
                </a:solidFill>
                <a:latin typeface="Poppins"/>
              </a:rPr>
              <a:t>Use report templates</a:t>
            </a:r>
          </a:p>
          <a:p>
            <a:pPr>
              <a:spcAft>
                <a:spcPts val="800"/>
              </a:spcAft>
            </a:pPr>
            <a:r>
              <a:rPr sz="1800">
                <a:solidFill>
                  <a:srgbClr val="D0CB17"/>
                </a:solidFill>
                <a:latin typeface="Poppins"/>
              </a:rPr>
              <a:t>• </a:t>
            </a:r>
            <a:r>
              <a:rPr sz="1800">
                <a:solidFill>
                  <a:srgbClr val="2C3E50"/>
                </a:solidFill>
                <a:latin typeface="Poppins"/>
              </a:rPr>
              <a:t>Generate automated reports</a:t>
            </a:r>
          </a:p>
          <a:p>
            <a:pPr>
              <a:spcAft>
                <a:spcPts val="800"/>
              </a:spcAft>
            </a:pPr>
            <a:r>
              <a:rPr sz="1800">
                <a:solidFill>
                  <a:srgbClr val="D0CB17"/>
                </a:solidFill>
                <a:latin typeface="Poppins"/>
              </a:rPr>
              <a:t>• </a:t>
            </a:r>
            <a:r>
              <a:rPr sz="1800">
                <a:solidFill>
                  <a:srgbClr val="2C3E50"/>
                </a:solidFill>
                <a:latin typeface="Poppins"/>
              </a:rPr>
              <a:t>Customize report content and layout</a:t>
            </a:r>
          </a:p>
          <a:p>
            <a:pPr>
              <a:spcAft>
                <a:spcPts val="1400"/>
              </a:spcAft>
            </a:pPr>
            <a:r>
              <a:rPr sz="1800" i="1">
                <a:solidFill>
                  <a:srgbClr val="1F9A9C"/>
                </a:solidFill>
                <a:latin typeface="Poppins"/>
              </a:rPr>
              <a:t>Participants will create their first quarterly report draft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2, we covered:</a:t>
            </a:r>
          </a:p>
          <a:p>
            <a:pPr>
              <a:spcAft>
                <a:spcPts val="800"/>
              </a:spcAft>
            </a:pPr>
            <a:r>
              <a:rPr sz="1800">
                <a:solidFill>
                  <a:srgbClr val="D0CB17"/>
                </a:solidFill>
                <a:latin typeface="Poppins"/>
              </a:rPr>
              <a:t>• </a:t>
            </a:r>
            <a:r>
              <a:rPr sz="1800">
                <a:solidFill>
                  <a:srgbClr val="2C3E50"/>
                </a:solidFill>
                <a:latin typeface="Poppins"/>
              </a:rPr>
              <a:t>FASTR methods for data quality assessment and adjustment</a:t>
            </a:r>
          </a:p>
          <a:p>
            <a:pPr>
              <a:spcAft>
                <a:spcPts val="800"/>
              </a:spcAft>
            </a:pPr>
            <a:r>
              <a:rPr sz="1800">
                <a:solidFill>
                  <a:srgbClr val="D0CB17"/>
                </a:solidFill>
                <a:latin typeface="Poppins"/>
              </a:rPr>
              <a:t>• </a:t>
            </a:r>
            <a:r>
              <a:rPr sz="1800">
                <a:solidFill>
                  <a:srgbClr val="2C3E50"/>
                </a:solidFill>
                <a:latin typeface="Poppins"/>
              </a:rPr>
              <a:t>Creating and configuring projects in the platform</a:t>
            </a:r>
          </a:p>
          <a:p>
            <a:pPr>
              <a:spcAft>
                <a:spcPts val="800"/>
              </a:spcAft>
            </a:pPr>
            <a:r>
              <a:rPr sz="1800">
                <a:solidFill>
                  <a:srgbClr val="D0CB17"/>
                </a:solidFill>
                <a:latin typeface="Poppins"/>
              </a:rPr>
              <a:t>• </a:t>
            </a:r>
            <a:r>
              <a:rPr sz="1800">
                <a:solidFill>
                  <a:srgbClr val="2C3E50"/>
                </a:solidFill>
                <a:latin typeface="Poppins"/>
              </a:rPr>
              <a:t>Building visualizations from Zambia data</a:t>
            </a:r>
          </a:p>
          <a:p>
            <a:pPr>
              <a:spcAft>
                <a:spcPts val="800"/>
              </a:spcAft>
            </a:pPr>
            <a:r>
              <a:rPr sz="1800">
                <a:solidFill>
                  <a:srgbClr val="D0CB17"/>
                </a:solidFill>
                <a:latin typeface="Poppins"/>
              </a:rPr>
              <a:t>• </a:t>
            </a:r>
            <a:r>
              <a:rPr sz="1800">
                <a:solidFill>
                  <a:srgbClr val="2C3E50"/>
                </a:solidFill>
                <a:latin typeface="Poppins"/>
              </a:rPr>
              <a:t>Generating reports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3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move from analysis to action:</a:t>
            </a:r>
          </a:p>
          <a:p>
            <a:pPr>
              <a:spcAft>
                <a:spcPts val="800"/>
              </a:spcAft>
            </a:pPr>
            <a:r>
              <a:rPr sz="1800">
                <a:solidFill>
                  <a:srgbClr val="D0CB17"/>
                </a:solidFill>
                <a:latin typeface="Poppins"/>
              </a:rPr>
              <a:t>• </a:t>
            </a:r>
            <a:r>
              <a:rPr sz="1800">
                <a:solidFill>
                  <a:srgbClr val="2C3E50"/>
                </a:solidFill>
                <a:latin typeface="Poppins"/>
              </a:rPr>
              <a:t>Deep dive into interpretation of results</a:t>
            </a:r>
          </a:p>
          <a:p>
            <a:pPr>
              <a:spcAft>
                <a:spcPts val="800"/>
              </a:spcAft>
            </a:pPr>
            <a:r>
              <a:rPr sz="1800">
                <a:solidFill>
                  <a:srgbClr val="D0CB17"/>
                </a:solidFill>
                <a:latin typeface="Poppins"/>
              </a:rPr>
              <a:t>• </a:t>
            </a:r>
            <a:r>
              <a:rPr sz="1800">
                <a:solidFill>
                  <a:srgbClr val="2C3E50"/>
                </a:solidFill>
                <a:latin typeface="Poppins"/>
              </a:rPr>
              <a:t>Create the Q4 2025 quarterly report</a:t>
            </a:r>
          </a:p>
          <a:p>
            <a:pPr>
              <a:spcAft>
                <a:spcPts val="800"/>
              </a:spcAft>
            </a:pPr>
            <a:r>
              <a:rPr sz="1800">
                <a:solidFill>
                  <a:srgbClr val="D0CB17"/>
                </a:solidFill>
                <a:latin typeface="Poppins"/>
              </a:rPr>
              <a:t>• </a:t>
            </a:r>
            <a:r>
              <a:rPr sz="1800">
                <a:solidFill>
                  <a:srgbClr val="2C3E50"/>
                </a:solidFill>
                <a:latin typeface="Poppins"/>
              </a:rPr>
              <a:t>Present findings to the group</a:t>
            </a:r>
          </a:p>
          <a:p>
            <a:pPr>
              <a:spcAft>
                <a:spcPts val="800"/>
              </a:spcAft>
            </a:pPr>
            <a:r>
              <a:rPr sz="1800">
                <a:solidFill>
                  <a:srgbClr val="D0CB17"/>
                </a:solidFill>
                <a:latin typeface="Poppins"/>
              </a:rPr>
              <a:t>• </a:t>
            </a:r>
            <a:r>
              <a:rPr sz="1800">
                <a:solidFill>
                  <a:srgbClr val="2C3E50"/>
                </a:solidFill>
                <a:latin typeface="Poppins"/>
              </a:rPr>
              <a:t>Develop action plans for continued work</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8: Interpretation of visualizations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Analytical thinking &amp; interpretation</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Interpretation connects </a:t>
            </a:r>
            <a:r>
              <a:rPr sz="1800" b="1">
                <a:solidFill>
                  <a:srgbClr val="21568C"/>
                </a:solidFill>
                <a:latin typeface="Poppins"/>
              </a:rPr>
              <a:t>data patterns</a:t>
            </a:r>
            <a:r>
              <a:rPr sz="1800">
                <a:solidFill>
                  <a:srgbClr val="333333"/>
                </a:solidFill>
                <a:latin typeface="Poppins"/>
              </a:rPr>
              <a:t> to </a:t>
            </a:r>
            <a:r>
              <a:rPr sz="1800" b="1">
                <a:solidFill>
                  <a:srgbClr val="21568C"/>
                </a:solidFill>
                <a:latin typeface="Poppins"/>
              </a:rPr>
              <a:t>programmatic meaning</a:t>
            </a:r>
            <a:r>
              <a:rPr sz="1800">
                <a:solidFill>
                  <a:srgbClr val="333333"/>
                </a:solidFill>
                <a:latin typeface="Poppins"/>
              </a:rPr>
              <a:t>.</a:t>
            </a:r>
          </a:p>
          <a:p>
            <a:pPr>
              <a:spcAft>
                <a:spcPts val="1400"/>
              </a:spcAft>
            </a:pPr>
            <a:r>
              <a:rPr sz="1800">
                <a:solidFill>
                  <a:srgbClr val="333333"/>
                </a:solidFill>
                <a:latin typeface="Poppins"/>
              </a:rPr>
              <a:t>For every FASTR output, ask three questions:</a:t>
            </a:r>
          </a:p>
          <a:p>
            <a:pPr>
              <a:spcAft>
                <a:spcPts val="800"/>
              </a:spcAft>
            </a:pPr>
            <a:r>
              <a:rPr sz="1800">
                <a:solidFill>
                  <a:srgbClr val="D0CB17"/>
                </a:solidFill>
                <a:latin typeface="Poppins"/>
              </a:rPr>
              <a:t>• </a:t>
            </a:r>
            <a:r>
              <a:rPr sz="1800" b="1">
                <a:solidFill>
                  <a:srgbClr val="21568C"/>
                </a:solidFill>
                <a:latin typeface="Poppins"/>
              </a:rPr>
              <a:t>What does it show?</a:t>
            </a:r>
            <a:r>
              <a:rPr sz="1800">
                <a:solidFill>
                  <a:srgbClr val="2C3E50"/>
                </a:solidFill>
                <a:latin typeface="Poppins"/>
              </a:rPr>
              <a:t> — Describe the pattern accurately</a:t>
            </a:r>
          </a:p>
          <a:p>
            <a:pPr>
              <a:spcAft>
                <a:spcPts val="800"/>
              </a:spcAft>
            </a:pPr>
            <a:r>
              <a:rPr sz="1800">
                <a:solidFill>
                  <a:srgbClr val="D0CB17"/>
                </a:solidFill>
                <a:latin typeface="Poppins"/>
              </a:rPr>
              <a:t>• </a:t>
            </a:r>
            <a:r>
              <a:rPr sz="1800" b="1">
                <a:solidFill>
                  <a:srgbClr val="21568C"/>
                </a:solidFill>
                <a:latin typeface="Poppins"/>
              </a:rPr>
              <a:t>Why might that be?</a:t>
            </a:r>
            <a:r>
              <a:rPr sz="1800">
                <a:solidFill>
                  <a:srgbClr val="2C3E50"/>
                </a:solidFill>
                <a:latin typeface="Poppins"/>
              </a:rPr>
              <a:t> — Consider multiple explanations</a:t>
            </a:r>
          </a:p>
          <a:p>
            <a:pPr>
              <a:spcAft>
                <a:spcPts val="800"/>
              </a:spcAft>
            </a:pPr>
            <a:r>
              <a:rPr sz="1800">
                <a:solidFill>
                  <a:srgbClr val="D0CB17"/>
                </a:solidFill>
                <a:latin typeface="Poppins"/>
              </a:rPr>
              <a:t>• </a:t>
            </a:r>
            <a:r>
              <a:rPr sz="1800" b="1">
                <a:solidFill>
                  <a:srgbClr val="21568C"/>
                </a:solidFill>
                <a:latin typeface="Poppins"/>
              </a:rPr>
              <a:t>What should we do?</a:t>
            </a:r>
            <a:r>
              <a:rPr sz="1800">
                <a:solidFill>
                  <a:srgbClr val="2C3E50"/>
                </a:solidFill>
                <a:latin typeface="Poppins"/>
              </a:rPr>
              <a:t> — Identify next steps or actions</a:t>
            </a:r>
          </a:p>
          <a:p>
            <a:pPr>
              <a:spcAft>
                <a:spcPts val="1400"/>
              </a:spcAft>
            </a:pPr>
            <a:r>
              <a:rPr sz="1800" b="1">
                <a:solidFill>
                  <a:srgbClr val="21568C"/>
                </a:solidFill>
                <a:latin typeface="Poppins"/>
              </a:rPr>
              <a:t>Moving from numbers to insights requires context, critical thinking, and programmatic knowledge.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Critical thinking checklist</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Before drawing conclusions from FASTR outputs, ask:</a:t>
            </a:r>
          </a:p>
          <a:p>
            <a:pPr>
              <a:spcAft>
                <a:spcPts val="800"/>
              </a:spcAft>
            </a:pPr>
            <a:r>
              <a:rPr sz="1800">
                <a:solidFill>
                  <a:srgbClr val="D0CB17"/>
                </a:solidFill>
                <a:latin typeface="Poppins"/>
              </a:rPr>
              <a:t>• </a:t>
            </a:r>
            <a:r>
              <a:rPr sz="1800" b="1">
                <a:solidFill>
                  <a:srgbClr val="21568C"/>
                </a:solidFill>
                <a:latin typeface="Poppins"/>
              </a:rPr>
              <a:t>Data quality or real change?</a:t>
            </a:r>
            <a:r>
              <a:rPr sz="1800">
                <a:solidFill>
                  <a:srgbClr val="2C3E50"/>
                </a:solidFill>
                <a:latin typeface="Poppins"/>
              </a:rPr>
              <a:t> Could this pattern reflect reporting issues rather than service delivery changes?</a:t>
            </a:r>
          </a:p>
          <a:p>
            <a:pPr>
              <a:spcAft>
                <a:spcPts val="800"/>
              </a:spcAft>
            </a:pPr>
            <a:r>
              <a:rPr sz="1800">
                <a:solidFill>
                  <a:srgbClr val="D0CB17"/>
                </a:solidFill>
                <a:latin typeface="Poppins"/>
              </a:rPr>
              <a:t>• </a:t>
            </a:r>
            <a:r>
              <a:rPr sz="1800" b="1">
                <a:solidFill>
                  <a:srgbClr val="21568C"/>
                </a:solidFill>
                <a:latin typeface="Poppins"/>
              </a:rPr>
              <a:t>What external factors apply?</a:t>
            </a:r>
            <a:r>
              <a:rPr sz="1800">
                <a:solidFill>
                  <a:srgbClr val="2C3E50"/>
                </a:solidFill>
                <a:latin typeface="Poppins"/>
              </a:rPr>
              <a:t> Policy changes, seasonal patterns, shocks, or campaigns?</a:t>
            </a:r>
          </a:p>
          <a:p>
            <a:pPr>
              <a:spcAft>
                <a:spcPts val="800"/>
              </a:spcAft>
            </a:pPr>
            <a:r>
              <a:rPr sz="1800">
                <a:solidFill>
                  <a:srgbClr val="D0CB17"/>
                </a:solidFill>
                <a:latin typeface="Poppins"/>
              </a:rPr>
              <a:t>• </a:t>
            </a:r>
            <a:r>
              <a:rPr sz="1800" b="1">
                <a:solidFill>
                  <a:srgbClr val="21568C"/>
                </a:solidFill>
                <a:latin typeface="Poppins"/>
              </a:rPr>
              <a:t>Does it make programmatic sense?</a:t>
            </a:r>
            <a:r>
              <a:rPr sz="1800">
                <a:solidFill>
                  <a:srgbClr val="2C3E50"/>
                </a:solidFill>
                <a:latin typeface="Poppins"/>
              </a:rPr>
              <a:t> Would this pattern be expected given what we know about the health system?</a:t>
            </a:r>
          </a:p>
          <a:p>
            <a:pPr>
              <a:spcAft>
                <a:spcPts val="800"/>
              </a:spcAft>
            </a:pPr>
            <a:r>
              <a:rPr sz="1800">
                <a:solidFill>
                  <a:srgbClr val="D0CB17"/>
                </a:solidFill>
                <a:latin typeface="Poppins"/>
              </a:rPr>
              <a:t>• </a:t>
            </a:r>
            <a:r>
              <a:rPr sz="1800" b="1">
                <a:solidFill>
                  <a:srgbClr val="21568C"/>
                </a:solidFill>
                <a:latin typeface="Poppins"/>
              </a:rPr>
              <a:t>What does disaggregation reveal?</a:t>
            </a:r>
            <a:r>
              <a:rPr sz="1800">
                <a:solidFill>
                  <a:srgbClr val="2C3E50"/>
                </a:solidFill>
                <a:latin typeface="Poppins"/>
              </a:rPr>
              <a:t> National trends can mask important regional variation</a:t>
            </a:r>
          </a:p>
          <a:p>
            <a:pPr>
              <a:spcAft>
                <a:spcPts val="800"/>
              </a:spcAft>
            </a:pPr>
            <a:r>
              <a:rPr sz="1800">
                <a:solidFill>
                  <a:srgbClr val="D0CB17"/>
                </a:solidFill>
                <a:latin typeface="Poppins"/>
              </a:rPr>
              <a:t>• </a:t>
            </a:r>
            <a:r>
              <a:rPr sz="1800" b="1">
                <a:solidFill>
                  <a:srgbClr val="21568C"/>
                </a:solidFill>
                <a:latin typeface="Poppins"/>
              </a:rPr>
              <a:t>What additional information is needed?</a:t>
            </a:r>
            <a:r>
              <a:rPr sz="1800">
                <a:solidFill>
                  <a:srgbClr val="2C3E50"/>
                </a:solidFill>
                <a:latin typeface="Poppins"/>
              </a:rPr>
              <a:t> What context would strengthen or challenge this interpretation?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Common interpretation pitfalls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Aggregation masking</a:t>
            </a:r>
          </a:p>
          <a:p>
            <a:pPr>
              <a:spcAft>
                <a:spcPts val="1400"/>
              </a:spcAft>
            </a:pPr>
            <a:r>
              <a:rPr sz="1800">
                <a:solidFill>
                  <a:srgbClr val="333333"/>
                </a:solidFill>
                <a:latin typeface="Poppins"/>
              </a:rPr>
              <a:t>National averages can hide critical regional variation. Always examine subnational patterns.</a:t>
            </a:r>
          </a:p>
          <a:p>
            <a:pPr>
              <a:spcAft>
                <a:spcPts val="1400"/>
              </a:spcAft>
            </a:pPr>
            <a:r>
              <a:rPr sz="1800" b="1">
                <a:solidFill>
                  <a:srgbClr val="21568C"/>
                </a:solidFill>
                <a:latin typeface="Poppins"/>
              </a:rPr>
              <a:t>Completeness ≠ representativeness</a:t>
            </a:r>
          </a:p>
          <a:p>
            <a:pPr>
              <a:spcAft>
                <a:spcPts val="1400"/>
              </a:spcAft>
            </a:pPr>
            <a:r>
              <a:rPr sz="1800">
                <a:solidFill>
                  <a:srgbClr val="333333"/>
                </a:solidFill>
                <a:latin typeface="Poppins"/>
              </a:rPr>
              <a:t>High reporting completeness doesn't mean data captures all service delivery (private sector, informal care).</a:t>
            </a:r>
          </a:p>
          <a:p>
            <a:pPr>
              <a:spcAft>
                <a:spcPts val="1400"/>
              </a:spcAft>
            </a:pPr>
            <a:r>
              <a:rPr sz="1800" b="1">
                <a:solidFill>
                  <a:srgbClr val="21568C"/>
                </a:solidFill>
                <a:latin typeface="Poppins"/>
              </a:rPr>
              <a:t>Missing context</a:t>
            </a:r>
          </a:p>
          <a:p>
            <a:pPr>
              <a:spcAft>
                <a:spcPts val="1400"/>
              </a:spcAft>
            </a:pPr>
            <a:r>
              <a:rPr sz="1800">
                <a:solidFill>
                  <a:srgbClr val="333333"/>
                </a:solidFill>
                <a:latin typeface="Poppins"/>
              </a:rPr>
              <a:t>Patterns without context are meaningless. Consider seasonality, policy changes, and external shocks.</a:t>
            </a:r>
          </a:p>
          <a:p>
            <a:pPr>
              <a:spcAft>
                <a:spcPts val="1400"/>
              </a:spcAft>
            </a:pPr>
            <a:r>
              <a:rPr sz="1800" b="1">
                <a:solidFill>
                  <a:srgbClr val="21568C"/>
                </a:solidFill>
                <a:latin typeface="Poppins"/>
              </a:rPr>
              <a:t>Over-interpreting noise</a:t>
            </a:r>
          </a:p>
          <a:p>
            <a:pPr>
              <a:spcAft>
                <a:spcPts val="1400"/>
              </a:spcAft>
            </a:pPr>
            <a:r>
              <a:rPr sz="1800">
                <a:solidFill>
                  <a:srgbClr val="333333"/>
                </a:solidFill>
                <a:latin typeface="Poppins"/>
              </a:rPr>
              <a:t>Short-term fluctuations may be normal variation. Focus on sustained trends and significant deviations.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Interpreting FASTR module outputs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Data quality assessment</a:t>
            </a:r>
          </a:p>
          <a:p>
            <a:pPr>
              <a:spcAft>
                <a:spcPts val="1400"/>
              </a:spcAft>
            </a:pPr>
            <a:r>
              <a:rPr sz="1800">
                <a:solidFill>
                  <a:srgbClr val="333333"/>
                </a:solidFill>
                <a:latin typeface="Poppins"/>
              </a:rPr>
              <a:t>Low DQA scores may reflect data entry practices rather than service quality. Focus on identifying the specific dimension (completeness, outliers, consistency) driving issues.</a:t>
            </a:r>
          </a:p>
          <a:p>
            <a:pPr>
              <a:spcAft>
                <a:spcPts val="1400"/>
              </a:spcAft>
            </a:pPr>
            <a:r>
              <a:rPr sz="1800" b="1">
                <a:solidFill>
                  <a:srgbClr val="21568C"/>
                </a:solidFill>
                <a:latin typeface="Poppins"/>
              </a:rPr>
              <a:t>Service utilization</a:t>
            </a:r>
          </a:p>
          <a:p>
            <a:pPr>
              <a:spcAft>
                <a:spcPts val="1400"/>
              </a:spcAft>
            </a:pPr>
            <a:r>
              <a:rPr sz="1800">
                <a:solidFill>
                  <a:srgbClr val="333333"/>
                </a:solidFill>
                <a:latin typeface="Poppins"/>
              </a:rPr>
              <a:t>Distinguish seasonal patterns from real disruptions. Year-over-year comparisons help isolate programmatic changes from normal fluctuation.</a:t>
            </a:r>
          </a:p>
          <a:p>
            <a:pPr>
              <a:spcAft>
                <a:spcPts val="1400"/>
              </a:spcAft>
            </a:pPr>
            <a:r>
              <a:rPr sz="1800" b="1">
                <a:solidFill>
                  <a:srgbClr val="21568C"/>
                </a:solidFill>
                <a:latin typeface="Poppins"/>
              </a:rPr>
              <a:t>Coverage estimates</a:t>
            </a:r>
          </a:p>
          <a:p>
            <a:pPr>
              <a:spcAft>
                <a:spcPts val="1400"/>
              </a:spcAft>
            </a:pPr>
            <a:r>
              <a:rPr sz="1800">
                <a:solidFill>
                  <a:srgbClr val="333333"/>
                </a:solidFill>
                <a:latin typeface="Poppins"/>
              </a:rPr>
              <a:t>Coverage &gt;100% signals reconciliation needed between HMIS and survey data. Consider whether the denominator source matches the service delivery context.</a:t>
            </a:r>
          </a:p>
          <a:p>
            <a:pPr>
              <a:spcAft>
                <a:spcPts val="1400"/>
              </a:spcAft>
            </a:pPr>
            <a:r>
              <a:rPr sz="1800" b="1">
                <a:solidFill>
                  <a:srgbClr val="21568C"/>
                </a:solidFill>
                <a:latin typeface="Poppins"/>
              </a:rPr>
              <a:t>Across all modules</a:t>
            </a:r>
          </a:p>
          <a:p>
            <a:pPr>
              <a:spcAft>
                <a:spcPts val="1400"/>
              </a:spcAft>
            </a:pPr>
            <a:r>
              <a:rPr sz="1800">
                <a:solidFill>
                  <a:srgbClr val="333333"/>
                </a:solidFill>
                <a:latin typeface="Poppins"/>
              </a:rPr>
              <a:t>Examine patterns at multiple geographic levels — subnational disaggregation often reveals the true story.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9: Creating a Q4 2025 report</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Generating quarterly reporting products</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a:p>
            <a:pPr>
              <a:spcAft>
                <a:spcPts val="1400"/>
              </a:spcAft>
            </a:pPr>
            <a:r>
              <a:rPr sz="1800">
                <a:solidFill>
                  <a:srgbClr val="333333"/>
                </a:solidFill>
                <a:latin typeface="Poppins"/>
              </a:rPr>
              <a:t>This section will cover:</a:t>
            </a:r>
          </a:p>
          <a:p>
            <a:pPr>
              <a:spcAft>
                <a:spcPts val="800"/>
              </a:spcAft>
            </a:pPr>
            <a:r>
              <a:rPr sz="1800">
                <a:solidFill>
                  <a:srgbClr val="D0CB17"/>
                </a:solidFill>
                <a:latin typeface="Poppins"/>
              </a:rPr>
              <a:t>• </a:t>
            </a:r>
            <a:r>
              <a:rPr sz="1800">
                <a:solidFill>
                  <a:srgbClr val="2C3E50"/>
                </a:solidFill>
                <a:latin typeface="Poppins"/>
              </a:rPr>
              <a:t>Quarterly reporting workflow</a:t>
            </a:r>
          </a:p>
          <a:p>
            <a:pPr>
              <a:spcAft>
                <a:spcPts val="800"/>
              </a:spcAft>
            </a:pPr>
            <a:r>
              <a:rPr sz="1800">
                <a:solidFill>
                  <a:srgbClr val="D0CB17"/>
                </a:solidFill>
                <a:latin typeface="Poppins"/>
              </a:rPr>
              <a:t>• </a:t>
            </a:r>
            <a:r>
              <a:rPr sz="1800">
                <a:solidFill>
                  <a:srgbClr val="2C3E50"/>
                </a:solidFill>
                <a:latin typeface="Poppins"/>
              </a:rPr>
              <a:t>Using the FASTR platform for automated reports</a:t>
            </a:r>
          </a:p>
          <a:p>
            <a:pPr>
              <a:spcAft>
                <a:spcPts val="800"/>
              </a:spcAft>
            </a:pPr>
            <a:r>
              <a:rPr sz="1800">
                <a:solidFill>
                  <a:srgbClr val="D0CB17"/>
                </a:solidFill>
                <a:latin typeface="Poppins"/>
              </a:rPr>
              <a:t>• </a:t>
            </a:r>
            <a:r>
              <a:rPr sz="1800">
                <a:solidFill>
                  <a:srgbClr val="2C3E50"/>
                </a:solidFill>
                <a:latin typeface="Poppins"/>
              </a:rPr>
              <a:t>Quality assurance for reports</a:t>
            </a:r>
          </a:p>
          <a:p>
            <a:pPr>
              <a:spcAft>
                <a:spcPts val="800"/>
              </a:spcAft>
            </a:pPr>
            <a:r>
              <a:rPr sz="1800">
                <a:solidFill>
                  <a:srgbClr val="D0CB17"/>
                </a:solidFill>
                <a:latin typeface="Poppins"/>
              </a:rPr>
              <a:t>• </a:t>
            </a:r>
            <a:r>
              <a:rPr sz="1800">
                <a:solidFill>
                  <a:srgbClr val="2C3E50"/>
                </a:solidFill>
                <a:latin typeface="Poppins"/>
              </a:rPr>
              <a:t>Distribution and feedback mechanisms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10: Presenting reports</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Presenting reports and group feedback</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Content to be developed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Recap</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On Day 3, we covered:</a:t>
            </a:r>
          </a:p>
          <a:p>
            <a:pPr>
              <a:spcAft>
                <a:spcPts val="800"/>
              </a:spcAft>
            </a:pPr>
            <a:r>
              <a:rPr sz="1800">
                <a:solidFill>
                  <a:srgbClr val="D0CB17"/>
                </a:solidFill>
                <a:latin typeface="Poppins"/>
              </a:rPr>
              <a:t>• </a:t>
            </a:r>
            <a:r>
              <a:rPr sz="1800">
                <a:solidFill>
                  <a:srgbClr val="2C3E50"/>
                </a:solidFill>
                <a:latin typeface="Poppins"/>
              </a:rPr>
              <a:t>Interpretation of FASTR visualizations</a:t>
            </a:r>
          </a:p>
          <a:p>
            <a:pPr>
              <a:spcAft>
                <a:spcPts val="800"/>
              </a:spcAft>
            </a:pPr>
            <a:r>
              <a:rPr sz="1800">
                <a:solidFill>
                  <a:srgbClr val="D0CB17"/>
                </a:solidFill>
                <a:latin typeface="Poppins"/>
              </a:rPr>
              <a:t>• </a:t>
            </a:r>
            <a:r>
              <a:rPr sz="1800">
                <a:solidFill>
                  <a:srgbClr val="2C3E50"/>
                </a:solidFill>
                <a:latin typeface="Poppins"/>
              </a:rPr>
              <a:t>Creation of the Q4 2025 quarterly report</a:t>
            </a:r>
          </a:p>
          <a:p>
            <a:pPr>
              <a:spcAft>
                <a:spcPts val="800"/>
              </a:spcAft>
            </a:pPr>
            <a:r>
              <a:rPr sz="1800">
                <a:solidFill>
                  <a:srgbClr val="D0CB17"/>
                </a:solidFill>
                <a:latin typeface="Poppins"/>
              </a:rPr>
              <a:t>• </a:t>
            </a:r>
            <a:r>
              <a:rPr sz="1800">
                <a:solidFill>
                  <a:srgbClr val="2C3E50"/>
                </a:solidFill>
                <a:latin typeface="Poppins"/>
              </a:rPr>
              <a:t>Presentation of findings and group feedback</a:t>
            </a:r>
          </a:p>
          <a:p>
            <a:pPr>
              <a:spcAft>
                <a:spcPts val="800"/>
              </a:spcAft>
            </a:pPr>
            <a:r>
              <a:rPr sz="1800">
                <a:solidFill>
                  <a:srgbClr val="D0CB17"/>
                </a:solidFill>
                <a:latin typeface="Poppins"/>
              </a:rPr>
              <a:t>• </a:t>
            </a:r>
            <a:r>
              <a:rPr sz="1800">
                <a:solidFill>
                  <a:srgbClr val="2C3E50"/>
                </a:solidFill>
                <a:latin typeface="Poppins"/>
              </a:rPr>
              <a:t>Action planning for continued platform use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Day 4 Focus</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Today we design the Health Facility Assessment:</a:t>
            </a:r>
          </a:p>
          <a:p>
            <a:pPr>
              <a:spcAft>
                <a:spcPts val="800"/>
              </a:spcAft>
            </a:pPr>
            <a:r>
              <a:rPr sz="1800">
                <a:solidFill>
                  <a:srgbClr val="D0CB17"/>
                </a:solidFill>
                <a:latin typeface="Poppins"/>
              </a:rPr>
              <a:t>• </a:t>
            </a:r>
            <a:r>
              <a:rPr sz="1800">
                <a:solidFill>
                  <a:srgbClr val="2C3E50"/>
                </a:solidFill>
                <a:latin typeface="Poppins"/>
              </a:rPr>
              <a:t>Overview of the FASTR HFA phone survey</a:t>
            </a:r>
          </a:p>
          <a:p>
            <a:pPr>
              <a:spcAft>
                <a:spcPts val="800"/>
              </a:spcAft>
            </a:pPr>
            <a:r>
              <a:rPr sz="1800">
                <a:solidFill>
                  <a:srgbClr val="D0CB17"/>
                </a:solidFill>
                <a:latin typeface="Poppins"/>
              </a:rPr>
              <a:t>• </a:t>
            </a:r>
            <a:r>
              <a:rPr sz="1800">
                <a:solidFill>
                  <a:srgbClr val="2C3E50"/>
                </a:solidFill>
                <a:latin typeface="Poppins"/>
              </a:rPr>
              <a:t>Review questionnaire structure</a:t>
            </a:r>
          </a:p>
          <a:p>
            <a:pPr>
              <a:spcAft>
                <a:spcPts val="800"/>
              </a:spcAft>
            </a:pPr>
            <a:r>
              <a:rPr sz="1800">
                <a:solidFill>
                  <a:srgbClr val="D0CB17"/>
                </a:solidFill>
                <a:latin typeface="Poppins"/>
              </a:rPr>
              <a:t>• </a:t>
            </a:r>
            <a:r>
              <a:rPr sz="1800">
                <a:solidFill>
                  <a:srgbClr val="2C3E50"/>
                </a:solidFill>
                <a:latin typeface="Poppins"/>
              </a:rPr>
              <a:t>Adapt questionnaire for Zambia context</a:t>
            </a:r>
          </a:p>
          <a:p>
            <a:pPr>
              <a:spcAft>
                <a:spcPts val="800"/>
              </a:spcAft>
            </a:pPr>
            <a:r>
              <a:rPr sz="1800">
                <a:solidFill>
                  <a:srgbClr val="D0CB17"/>
                </a:solidFill>
                <a:latin typeface="Poppins"/>
              </a:rPr>
              <a:t>• </a:t>
            </a:r>
            <a:r>
              <a:rPr sz="1800">
                <a:solidFill>
                  <a:srgbClr val="2C3E50"/>
                </a:solidFill>
                <a:latin typeface="Poppins"/>
              </a:rPr>
              <a:t>Plan HFA priorities and data use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ection_slid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2560320"/>
            <a:ext cx="10362895" cy="1371600"/>
          </a:xfrm>
          <a:prstGeom prst="rect">
            <a:avLst/>
          </a:prstGeom>
          <a:noFill/>
        </p:spPr>
        <p:txBody>
          <a:bodyPr wrap="square"/>
          <a:lstStyle/>
          <a:p>
            <a:pPr algn="ctr">
              <a:defRPr sz="4400" b="1" i="0">
                <a:solidFill>
                  <a:srgbClr val="FFFFFF"/>
                </a:solidFill>
                <a:latin typeface="Poppins"/>
              </a:defRPr>
            </a:pPr>
            <a:r>
              <a:t>Session 12: Overview of FASTR HFA phone survey</a:t>
            </a:r>
          </a:p>
        </p:txBody>
      </p:sp>
      <p:sp>
        <p:nvSpPr>
          <p:cNvPr id="4" name="Rectangle 3"/>
          <p:cNvSpPr/>
          <p:nvPr/>
        </p:nvSpPr>
        <p:spPr>
          <a:xfrm>
            <a:off x="3657600" y="4114800"/>
            <a:ext cx="4876495" cy="27432"/>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457200"/>
          </a:xfrm>
          <a:prstGeom prst="rect">
            <a:avLst/>
          </a:prstGeom>
          <a:noFill/>
        </p:spPr>
        <p:txBody>
          <a:bodyPr wrap="square"/>
          <a:lstStyle/>
          <a:p>
            <a:pPr algn="l">
              <a:defRPr sz="2600" b="1" i="0">
                <a:solidFill>
                  <a:srgbClr val="21568C"/>
                </a:solidFill>
                <a:latin typeface="Poppins"/>
              </a:defRPr>
            </a:pPr>
            <a:r>
              <a:t>Health Facility Assessment Phone Survey</a:t>
            </a:r>
          </a:p>
        </p:txBody>
      </p:sp>
      <p:sp>
        <p:nvSpPr>
          <p:cNvPr id="3" name="Rectangle 2"/>
          <p:cNvSpPr/>
          <p:nvPr/>
        </p:nvSpPr>
        <p:spPr>
          <a:xfrm>
            <a:off x="685800" y="1051560"/>
            <a:ext cx="2743200" cy="27432"/>
          </a:xfrm>
          <a:prstGeom prst="rect">
            <a:avLst/>
          </a:prstGeom>
          <a:solidFill>
            <a:srgbClr val="1A9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i="1">
                <a:solidFill>
                  <a:srgbClr val="1F9A9C"/>
                </a:solidFill>
                <a:latin typeface="Poppins"/>
              </a:rPr>
              <a:t>Placeholder: Content to be developed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lstStyle/>
          <a:p>
            <a:pPr algn="ctr">
              <a:defRPr sz="5600" b="1" i="0">
                <a:solidFill>
                  <a:srgbClr val="09544F"/>
                </a:solidFill>
                <a:latin typeface="Poppins"/>
              </a:defRPr>
            </a:pPr>
            <a:r>
              <a:t>Lunch Break</a:t>
            </a:r>
          </a:p>
        </p:txBody>
      </p:sp>
      <p:sp>
        <p:nvSpPr>
          <p:cNvPr id="3" name="TextBox 2"/>
          <p:cNvSpPr txBox="1"/>
          <p:nvPr/>
        </p:nvSpPr>
        <p:spPr>
          <a:xfrm>
            <a:off x="914400" y="3931920"/>
            <a:ext cx="10362895" cy="548640"/>
          </a:xfrm>
          <a:prstGeom prst="rect">
            <a:avLst/>
          </a:prstGeom>
          <a:noFill/>
        </p:spPr>
        <p:txBody>
          <a:bodyPr wrap="square"/>
          <a:lstStyle/>
          <a:p>
            <a:pPr algn="ctr">
              <a:defRPr sz="2600" b="0" i="0">
                <a:solidFill>
                  <a:srgbClr val="21568C"/>
                </a:solidFill>
                <a:latin typeface="Poppins"/>
              </a:defRPr>
            </a:pPr>
            <a:r>
              <a:t>90 minutes • Back at 14:00</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Next Steps &amp; Action Planning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Key actions to take after this working session:</a:t>
            </a:r>
          </a:p>
          <a:p>
            <a:pPr>
              <a:spcAft>
                <a:spcPts val="800"/>
              </a:spcAft>
            </a:pPr>
            <a:r>
              <a:rPr sz="1800">
                <a:solidFill>
                  <a:srgbClr val="D0CB17"/>
                </a:solidFill>
                <a:latin typeface="Poppins"/>
              </a:rPr>
              <a:t>• </a:t>
            </a:r>
            <a:r>
              <a:rPr sz="1800">
                <a:solidFill>
                  <a:srgbClr val="2C3E50"/>
                </a:solidFill>
                <a:latin typeface="Poppins"/>
              </a:rPr>
              <a:t>Finalize adapted phone survey questionnaire</a:t>
            </a:r>
          </a:p>
          <a:p>
            <a:pPr>
              <a:spcAft>
                <a:spcPts val="800"/>
              </a:spcAft>
            </a:pPr>
            <a:r>
              <a:rPr sz="1800">
                <a:solidFill>
                  <a:srgbClr val="D0CB17"/>
                </a:solidFill>
                <a:latin typeface="Poppins"/>
              </a:rPr>
              <a:t>• </a:t>
            </a:r>
            <a:r>
              <a:rPr sz="1800">
                <a:solidFill>
                  <a:srgbClr val="2C3E50"/>
                </a:solidFill>
                <a:latin typeface="Poppins"/>
              </a:rPr>
              <a:t>Complete first quarterly report draft</a:t>
            </a:r>
          </a:p>
          <a:p>
            <a:pPr>
              <a:spcAft>
                <a:spcPts val="800"/>
              </a:spcAft>
            </a:pPr>
            <a:r>
              <a:rPr sz="1800">
                <a:solidFill>
                  <a:srgbClr val="D0CB17"/>
                </a:solidFill>
                <a:latin typeface="Poppins"/>
              </a:rPr>
              <a:t>• </a:t>
            </a:r>
            <a:r>
              <a:rPr sz="1800">
                <a:solidFill>
                  <a:srgbClr val="2C3E50"/>
                </a:solidFill>
                <a:latin typeface="Poppins"/>
              </a:rPr>
              <a:t>Train remaining MoH team on data downloader tools</a:t>
            </a:r>
          </a:p>
          <a:p>
            <a:pPr>
              <a:spcAft>
                <a:spcPts val="800"/>
              </a:spcAft>
            </a:pPr>
            <a:r>
              <a:rPr sz="1800">
                <a:solidFill>
                  <a:srgbClr val="D0CB17"/>
                </a:solidFill>
                <a:latin typeface="Poppins"/>
              </a:rPr>
              <a:t>• </a:t>
            </a:r>
            <a:r>
              <a:rPr sz="1800">
                <a:solidFill>
                  <a:srgbClr val="2C3E50"/>
                </a:solidFill>
                <a:latin typeface="Poppins"/>
              </a:rPr>
              <a:t>Prepare roadmap for participation in Abuja workshop</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Quarterly Reporting Cycle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Establish a sustainable reporting rhythm:</a:t>
            </a:r>
          </a:p>
          <a:p>
            <a:pPr>
              <a:spcAft>
                <a:spcPts val="800"/>
              </a:spcAft>
            </a:pPr>
            <a:r>
              <a:rPr sz="1800">
                <a:solidFill>
                  <a:srgbClr val="D0CB17"/>
                </a:solidFill>
                <a:latin typeface="Poppins"/>
              </a:rPr>
              <a:t>• </a:t>
            </a:r>
            <a:r>
              <a:rPr sz="1800">
                <a:solidFill>
                  <a:srgbClr val="2C3E50"/>
                </a:solidFill>
                <a:latin typeface="Poppins"/>
              </a:rPr>
              <a:t>Define quarterly report timeline and responsibilities</a:t>
            </a:r>
          </a:p>
          <a:p>
            <a:pPr>
              <a:spcAft>
                <a:spcPts val="800"/>
              </a:spcAft>
            </a:pPr>
            <a:r>
              <a:rPr sz="1800">
                <a:solidFill>
                  <a:srgbClr val="D0CB17"/>
                </a:solidFill>
                <a:latin typeface="Poppins"/>
              </a:rPr>
              <a:t>• </a:t>
            </a:r>
            <a:r>
              <a:rPr sz="1800">
                <a:solidFill>
                  <a:srgbClr val="2C3E50"/>
                </a:solidFill>
                <a:latin typeface="Poppins"/>
              </a:rPr>
              <a:t>Set up data extraction schedule</a:t>
            </a:r>
          </a:p>
          <a:p>
            <a:pPr>
              <a:spcAft>
                <a:spcPts val="800"/>
              </a:spcAft>
            </a:pPr>
            <a:r>
              <a:rPr sz="1800">
                <a:solidFill>
                  <a:srgbClr val="D0CB17"/>
                </a:solidFill>
                <a:latin typeface="Poppins"/>
              </a:rPr>
              <a:t>• </a:t>
            </a:r>
            <a:r>
              <a:rPr sz="1800">
                <a:solidFill>
                  <a:srgbClr val="2C3E50"/>
                </a:solidFill>
                <a:latin typeface="Poppins"/>
              </a:rPr>
              <a:t>Establish review and approval process</a:t>
            </a:r>
          </a:p>
          <a:p>
            <a:pPr>
              <a:spcAft>
                <a:spcPts val="800"/>
              </a:spcAft>
            </a:pPr>
            <a:r>
              <a:rPr sz="1800">
                <a:solidFill>
                  <a:srgbClr val="D0CB17"/>
                </a:solidFill>
                <a:latin typeface="Poppins"/>
              </a:rPr>
              <a:t>• </a:t>
            </a:r>
            <a:r>
              <a:rPr sz="1800">
                <a:solidFill>
                  <a:srgbClr val="2C3E50"/>
                </a:solidFill>
                <a:latin typeface="Poppins"/>
              </a:rPr>
              <a:t>Plan dissemination to stakeholders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Continued Platform Usage</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Maintain momentum with the FASTR platform:</a:t>
            </a:r>
          </a:p>
          <a:p>
            <a:pPr>
              <a:spcAft>
                <a:spcPts val="800"/>
              </a:spcAft>
            </a:pPr>
            <a:r>
              <a:rPr sz="1800">
                <a:solidFill>
                  <a:srgbClr val="D0CB17"/>
                </a:solidFill>
                <a:latin typeface="Poppins"/>
              </a:rPr>
              <a:t>• </a:t>
            </a:r>
            <a:r>
              <a:rPr sz="1800">
                <a:solidFill>
                  <a:srgbClr val="2C3E50"/>
                </a:solidFill>
                <a:latin typeface="Poppins"/>
              </a:rPr>
              <a:t>Regular data updates and quality checks</a:t>
            </a:r>
          </a:p>
          <a:p>
            <a:pPr>
              <a:spcAft>
                <a:spcPts val="800"/>
              </a:spcAft>
            </a:pPr>
            <a:r>
              <a:rPr sz="1800">
                <a:solidFill>
                  <a:srgbClr val="D0CB17"/>
                </a:solidFill>
                <a:latin typeface="Poppins"/>
              </a:rPr>
              <a:t>• </a:t>
            </a:r>
            <a:r>
              <a:rPr sz="1800">
                <a:solidFill>
                  <a:srgbClr val="2C3E50"/>
                </a:solidFill>
                <a:latin typeface="Poppins"/>
              </a:rPr>
              <a:t>Expanding analysis to additional indicators</a:t>
            </a:r>
          </a:p>
          <a:p>
            <a:pPr>
              <a:spcAft>
                <a:spcPts val="800"/>
              </a:spcAft>
            </a:pPr>
            <a:r>
              <a:rPr sz="1800">
                <a:solidFill>
                  <a:srgbClr val="D0CB17"/>
                </a:solidFill>
                <a:latin typeface="Poppins"/>
              </a:rPr>
              <a:t>• </a:t>
            </a:r>
            <a:r>
              <a:rPr sz="1800">
                <a:solidFill>
                  <a:srgbClr val="2C3E50"/>
                </a:solidFill>
                <a:latin typeface="Poppins"/>
              </a:rPr>
              <a:t>Building capacity across MoH teams</a:t>
            </a:r>
          </a:p>
          <a:p>
            <a:pPr>
              <a:spcAft>
                <a:spcPts val="800"/>
              </a:spcAft>
            </a:pPr>
            <a:r>
              <a:rPr sz="1800">
                <a:solidFill>
                  <a:srgbClr val="D0CB17"/>
                </a:solidFill>
                <a:latin typeface="Poppins"/>
              </a:rPr>
              <a:t>• </a:t>
            </a:r>
            <a:r>
              <a:rPr sz="1800">
                <a:solidFill>
                  <a:srgbClr val="2C3E50"/>
                </a:solidFill>
                <a:latin typeface="Poppins"/>
              </a:rPr>
              <a:t>Documentation of lessons learned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Workshop Closing</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Thank you for your participation!</a:t>
            </a:r>
          </a:p>
          <a:p>
            <a:pPr>
              <a:spcAft>
                <a:spcPts val="1400"/>
              </a:spcAft>
            </a:pPr>
            <a:r>
              <a:rPr sz="1800">
                <a:solidFill>
                  <a:srgbClr val="333333"/>
                </a:solidFill>
                <a:latin typeface="Poppins"/>
              </a:rPr>
              <a:t>Over the past four days, we have:</a:t>
            </a:r>
          </a:p>
          <a:p>
            <a:pPr>
              <a:spcAft>
                <a:spcPts val="800"/>
              </a:spcAft>
            </a:pPr>
            <a:r>
              <a:rPr sz="1800">
                <a:solidFill>
                  <a:srgbClr val="D0CB17"/>
                </a:solidFill>
                <a:latin typeface="Poppins"/>
              </a:rPr>
              <a:t>• </a:t>
            </a:r>
            <a:r>
              <a:rPr sz="1800">
                <a:solidFill>
                  <a:srgbClr val="2C3E50"/>
                </a:solidFill>
                <a:latin typeface="Poppins"/>
              </a:rPr>
              <a:t>Configured the FASTR platform for Zambia</a:t>
            </a:r>
          </a:p>
          <a:p>
            <a:pPr>
              <a:spcAft>
                <a:spcPts val="800"/>
              </a:spcAft>
            </a:pPr>
            <a:r>
              <a:rPr sz="1800">
                <a:solidFill>
                  <a:srgbClr val="D0CB17"/>
                </a:solidFill>
                <a:latin typeface="Poppins"/>
              </a:rPr>
              <a:t>• </a:t>
            </a:r>
            <a:r>
              <a:rPr sz="1800">
                <a:solidFill>
                  <a:srgbClr val="2C3E50"/>
                </a:solidFill>
                <a:latin typeface="Poppins"/>
              </a:rPr>
              <a:t>Created the first quarterly RMNCAH-N report</a:t>
            </a:r>
          </a:p>
          <a:p>
            <a:pPr>
              <a:spcAft>
                <a:spcPts val="800"/>
              </a:spcAft>
            </a:pPr>
            <a:r>
              <a:rPr sz="1800">
                <a:solidFill>
                  <a:srgbClr val="D0CB17"/>
                </a:solidFill>
                <a:latin typeface="Poppins"/>
              </a:rPr>
              <a:t>• </a:t>
            </a:r>
            <a:r>
              <a:rPr sz="1800">
                <a:solidFill>
                  <a:srgbClr val="2C3E50"/>
                </a:solidFill>
                <a:latin typeface="Poppins"/>
              </a:rPr>
              <a:t>Adapted the HFA questionnaire for local context</a:t>
            </a:r>
          </a:p>
          <a:p>
            <a:pPr>
              <a:spcAft>
                <a:spcPts val="800"/>
              </a:spcAft>
            </a:pPr>
            <a:r>
              <a:rPr sz="1800">
                <a:solidFill>
                  <a:srgbClr val="D0CB17"/>
                </a:solidFill>
                <a:latin typeface="Poppins"/>
              </a:rPr>
              <a:t>• </a:t>
            </a:r>
            <a:r>
              <a:rPr sz="1800">
                <a:solidFill>
                  <a:srgbClr val="2C3E50"/>
                </a:solidFill>
                <a:latin typeface="Poppins"/>
              </a:rPr>
              <a:t>Built capacity for ongoing analysis and reporting</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Stay Connected</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Continue the journey:</a:t>
            </a:r>
          </a:p>
          <a:p>
            <a:pPr>
              <a:spcAft>
                <a:spcPts val="800"/>
              </a:spcAft>
            </a:pPr>
            <a:r>
              <a:rPr sz="1800">
                <a:solidFill>
                  <a:srgbClr val="D0CB17"/>
                </a:solidFill>
                <a:latin typeface="Poppins"/>
              </a:rPr>
              <a:t>• </a:t>
            </a:r>
            <a:r>
              <a:rPr sz="1800">
                <a:solidFill>
                  <a:srgbClr val="2C3E50"/>
                </a:solidFill>
                <a:latin typeface="Poppins"/>
              </a:rPr>
              <a:t>Platform access and support</a:t>
            </a:r>
          </a:p>
          <a:p>
            <a:pPr>
              <a:spcAft>
                <a:spcPts val="800"/>
              </a:spcAft>
            </a:pPr>
            <a:r>
              <a:rPr sz="1800">
                <a:solidFill>
                  <a:srgbClr val="D0CB17"/>
                </a:solidFill>
                <a:latin typeface="Poppins"/>
              </a:rPr>
              <a:t>• </a:t>
            </a:r>
            <a:r>
              <a:rPr sz="1800">
                <a:solidFill>
                  <a:srgbClr val="2C3E50"/>
                </a:solidFill>
                <a:latin typeface="Poppins"/>
              </a:rPr>
              <a:t>Quarterly report submissions</a:t>
            </a:r>
          </a:p>
          <a:p>
            <a:pPr>
              <a:spcAft>
                <a:spcPts val="800"/>
              </a:spcAft>
            </a:pPr>
            <a:r>
              <a:rPr sz="1800">
                <a:solidFill>
                  <a:srgbClr val="D0CB17"/>
                </a:solidFill>
                <a:latin typeface="Poppins"/>
              </a:rPr>
              <a:t>• </a:t>
            </a:r>
            <a:r>
              <a:rPr sz="1800">
                <a:solidFill>
                  <a:srgbClr val="2C3E50"/>
                </a:solidFill>
                <a:latin typeface="Poppins"/>
              </a:rPr>
              <a:t>Multi-country workshop in Abuja</a:t>
            </a:r>
          </a:p>
          <a:p>
            <a:pPr>
              <a:spcAft>
                <a:spcPts val="800"/>
              </a:spcAft>
            </a:pPr>
            <a:r>
              <a:rPr sz="1800">
                <a:solidFill>
                  <a:srgbClr val="D0CB17"/>
                </a:solidFill>
                <a:latin typeface="Poppins"/>
              </a:rPr>
              <a:t>• </a:t>
            </a:r>
            <a:r>
              <a:rPr sz="1800">
                <a:solidFill>
                  <a:srgbClr val="2C3E50"/>
                </a:solidFill>
                <a:latin typeface="Poppins"/>
              </a:rPr>
              <a:t>Ongoing technical assistance from GFF team</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Thank You</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a:solidFill>
                  <a:srgbClr val="333333"/>
                </a:solidFill>
                <a:latin typeface="Poppins"/>
              </a:rPr>
              <a:t>FASTR Working Session - Zambia</a:t>
            </a:r>
          </a:p>
          <a:p>
            <a:pPr>
              <a:spcAft>
                <a:spcPts val="1400"/>
              </a:spcAft>
            </a:pPr>
            <a:r>
              <a:rPr sz="1800">
                <a:solidFill>
                  <a:srgbClr val="333333"/>
                </a:solidFill>
                <a:latin typeface="Poppins"/>
              </a:rPr>
              <a:t>January 27-30, 2026</a:t>
            </a:r>
          </a:p>
          <a:p>
            <a:pPr>
              <a:spcAft>
                <a:spcPts val="1400"/>
              </a:spcAft>
            </a:pPr>
            <a:r>
              <a:rPr sz="1800">
                <a:solidFill>
                  <a:srgbClr val="333333"/>
                </a:solidFill>
                <a:latin typeface="Poppins"/>
              </a:rPr>
              <a:t>Lusaka</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48640"/>
            <a:ext cx="10820095" cy="548640"/>
          </a:xfrm>
          <a:prstGeom prst="rect">
            <a:avLst/>
          </a:prstGeom>
          <a:noFill/>
        </p:spPr>
        <p:txBody>
          <a:bodyPr wrap="square"/>
          <a:lstStyle/>
          <a:p>
            <a:pPr algn="l">
              <a:defRPr sz="3200" b="1" i="0">
                <a:solidFill>
                  <a:srgbClr val="09544F"/>
                </a:solidFill>
                <a:latin typeface="Poppins"/>
              </a:defRPr>
            </a:pPr>
            <a:r>
              <a:t>Contact Information</a:t>
            </a:r>
          </a:p>
        </p:txBody>
      </p:sp>
      <p:sp>
        <p:nvSpPr>
          <p:cNvPr id="3" name="Rectangle 2"/>
          <p:cNvSpPr/>
          <p:nvPr/>
        </p:nvSpPr>
        <p:spPr>
          <a:xfrm>
            <a:off x="685800" y="1143000"/>
            <a:ext cx="3657600" cy="36576"/>
          </a:xfrm>
          <a:prstGeom prst="rect">
            <a:avLst/>
          </a:prstGeom>
          <a:solidFill>
            <a:srgbClr val="D0CB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600"/>
            <a:ext cx="10820095" cy="5029200"/>
          </a:xfrm>
          <a:prstGeom prst="rect">
            <a:avLst/>
          </a:prstGeom>
          <a:noFill/>
        </p:spPr>
        <p:txBody>
          <a:bodyPr wrap="square">
            <a:spAutoFit/>
          </a:bodyPr>
          <a:lstStyle/>
          <a:p>
            <a:pPr>
              <a:spcAft>
                <a:spcPts val="1400"/>
              </a:spcAft>
            </a:pPr>
            <a:r>
              <a:rPr sz="1800" b="1">
                <a:solidFill>
                  <a:srgbClr val="21568C"/>
                </a:solidFill>
                <a:latin typeface="Poppins"/>
              </a:rPr>
              <a:t>FASTR Team</a:t>
            </a:r>
          </a:p>
          <a:p>
            <a:pPr>
              <a:spcAft>
                <a:spcPts val="1400"/>
              </a:spcAft>
            </a:pPr>
            <a:r>
              <a:rPr sz="1800" b="1">
                <a:solidFill>
                  <a:srgbClr val="21568C"/>
                </a:solidFill>
                <a:latin typeface="Poppins"/>
              </a:rPr>
              <a:t>Email:</a:t>
            </a:r>
          </a:p>
          <a:p>
            <a:pPr>
              <a:spcAft>
                <a:spcPts val="1400"/>
              </a:spcAft>
            </a:pPr>
            <a:r>
              <a:rPr sz="1800" b="1">
                <a:solidFill>
                  <a:srgbClr val="21568C"/>
                </a:solidFill>
                <a:latin typeface="Poppins"/>
              </a:rPr>
              <a:t>Website:</a:t>
            </a:r>
            <a:r>
              <a:rPr sz="1800">
                <a:solidFill>
                  <a:srgbClr val="333333"/>
                </a:solidFill>
                <a:latin typeface="Poppins"/>
              </a:rPr>
              <a:t> https://www.globalfinancingfacility.org/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